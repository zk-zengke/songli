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637" r:id="rId5"/>
    <p:sldId id="628" r:id="rId6"/>
    <p:sldId id="638" r:id="rId7"/>
    <p:sldId id="639" r:id="rId8"/>
    <p:sldId id="640" r:id="rId9"/>
    <p:sldId id="641" r:id="rId10"/>
    <p:sldId id="643" r:id="rId11"/>
    <p:sldId id="636" r:id="rId12"/>
    <p:sldId id="642" r:id="rId13"/>
    <p:sldId id="649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7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莉 曾" initials="嘉莉" lastIdx="2" clrIdx="0"/>
  <p:cmAuthor id="2" name="作者" initials="A" lastIdx="1" clrIdx="1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202"/>
    <a:srgbClr val="B10015"/>
    <a:srgbClr val="FFFFFF"/>
    <a:srgbClr val="FFBBCD"/>
    <a:srgbClr val="FFEEF2"/>
    <a:srgbClr val="FFEFF2"/>
    <a:srgbClr val="FFC0CD"/>
    <a:srgbClr val="FF005F"/>
    <a:srgbClr val="AC6E6E"/>
    <a:srgbClr val="FFF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714" y="108"/>
      </p:cViewPr>
      <p:guideLst>
        <p:guide orient="horz" pos="2247"/>
        <p:guide pos="38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73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5.jpeg"/><Relationship Id="rId7" Type="http://schemas.openxmlformats.org/officeDocument/2006/relationships/tags" Target="../tags/tag68.xml"/><Relationship Id="rId6" Type="http://schemas.openxmlformats.org/officeDocument/2006/relationships/image" Target="../media/image4.jpe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2.jpe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1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2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2475230" y="3161030"/>
            <a:ext cx="6861175" cy="2144395"/>
            <a:chOff x="3770" y="4978"/>
            <a:chExt cx="10805" cy="3377"/>
          </a:xfrm>
        </p:grpSpPr>
        <p:sp>
          <p:nvSpPr>
            <p:cNvPr id="6" name="矩形 5"/>
            <p:cNvSpPr/>
            <p:nvPr>
              <p:custDataLst>
                <p:tags r:id="rId13"/>
              </p:custDataLst>
            </p:nvPr>
          </p:nvSpPr>
          <p:spPr>
            <a:xfrm>
              <a:off x="3770" y="4978"/>
              <a:ext cx="10805" cy="845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第</a:t>
              </a:r>
              <a:r>
                <a:rPr lang="en-US" altLang="zh-CN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2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章：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文本数据处理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4"/>
              </p:custDataLst>
            </p:nvPr>
          </p:nvSpPr>
          <p:spPr>
            <a:xfrm>
              <a:off x="3771" y="7078"/>
              <a:ext cx="10804" cy="1277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indent="0" algn="ctr">
                <a:spcBef>
                  <a:spcPts val="600"/>
                </a:spcBef>
                <a:spcAft>
                  <a:spcPts val="600"/>
                </a:spcAft>
                <a:buFont typeface="Arial" panose="020B0604020202090204" pitchFamily="34" charset="0"/>
                <a:buNone/>
              </a:pPr>
              <a:endParaRPr lang="en-US" altLang="zh-CN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80060"/>
            <a:ext cx="8845550" cy="427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理解词嵌入</a:t>
            </a:r>
            <a:r>
              <a:rPr sz="2400" b="1" kern="0" spc="-6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</a:t>
            </a:r>
            <a:r>
              <a:rPr lang="en-US" sz="2400" b="1" kern="0" spc="-6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    </a:t>
            </a: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Understa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nding Word Embeddings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0040" y="1075055"/>
            <a:ext cx="1172273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kern="0" spc="-70" dirty="0">
                <a:solidFill>
                  <a:schemeClr val="tx1">
                    <a:alpha val="10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 Regular" panose="020B0400000000000000" charset="-122"/>
                <a:sym typeface="+mn-ea"/>
              </a:rPr>
              <a:t>深度神经网络</a:t>
            </a:r>
            <a:r>
              <a:rPr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无法处理离散的文本数据，必</a:t>
            </a:r>
            <a:r>
              <a:rPr kern="0" spc="-8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须将其转换为连续值的向量。</a:t>
            </a:r>
            <a:r>
              <a:rPr b="1" kern="0" spc="-8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嵌入</a:t>
            </a:r>
            <a:r>
              <a:rPr b="1" kern="0" spc="-37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</a:t>
            </a:r>
            <a:r>
              <a:rPr lang="en-US" b="1" kern="0" spc="-37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</a:t>
            </a:r>
            <a:r>
              <a:rPr b="1" kern="0" spc="-8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Embedding</a:t>
            </a:r>
            <a:r>
              <a:rPr kern="0" spc="-8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是将离散对</a:t>
            </a:r>
            <a:r>
              <a:rPr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象(单词、图像)映射到连续向量空间的过程。</a:t>
            </a:r>
            <a:endParaRPr dirty="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l" rtl="0" eaLnBrk="0" fontAlgn="auto">
              <a:lnSpc>
                <a:spcPct val="150000"/>
              </a:lnSpc>
              <a:spcBef>
                <a:spcPts val="0"/>
              </a:spcBef>
            </a:pPr>
            <a:endParaRPr sz="700" dirty="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l" rtl="0" eaLnBrk="0" fontAlgn="auto">
              <a:lnSpc>
                <a:spcPct val="150000"/>
              </a:lnSpc>
              <a:spcBef>
                <a:spcPts val="0"/>
              </a:spcBef>
            </a:pPr>
            <a:endParaRPr sz="300" dirty="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b="1" kern="0" spc="-7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高维特性：</a:t>
            </a:r>
            <a:r>
              <a:rPr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GPT-2</a:t>
            </a:r>
            <a:r>
              <a:rPr lang="en-US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（</a:t>
            </a:r>
            <a:r>
              <a:rPr lang="en-US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small）</a:t>
            </a:r>
            <a:r>
              <a:rPr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使用768维，</a:t>
            </a:r>
            <a:r>
              <a:rPr kern="0" spc="-31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</a:t>
            </a:r>
            <a:r>
              <a:rPr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GPT-3</a:t>
            </a:r>
            <a:r>
              <a:rPr kern="0" spc="-28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</a:t>
            </a:r>
            <a:r>
              <a:rPr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使用12,288维。高</a:t>
            </a:r>
            <a:r>
              <a:rPr kern="0" spc="-8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维度有助于捕捉复杂的语义关系。</a:t>
            </a:r>
            <a:endParaRPr lang="zh-CN" altLang="en-US" kern="0" spc="-80" dirty="0">
              <a:solidFill>
                <a:srgbClr val="000000">
                  <a:alpha val="100000"/>
                </a:srgbClr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320040" y="2839085"/>
            <a:ext cx="11439525" cy="771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4315" algn="l" rtl="0" eaLnBrk="0">
              <a:lnSpc>
                <a:spcPct val="85000"/>
              </a:lnSpc>
            </a:pP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关键点：早期方法如</a:t>
            </a:r>
            <a:r>
              <a:rPr lang="en-US" sz="1800" b="1" kern="0" spc="-7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 </a:t>
            </a:r>
            <a:r>
              <a:rPr sz="1800" b="1" kern="0" spc="-7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Word2Vec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是静态的，而</a:t>
            </a:r>
            <a:r>
              <a:rPr lang="en-US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LLM 的嵌入层是模型的一部分，在训练过程中与模型权重一起优化。</a:t>
            </a:r>
            <a:endParaRPr sz="1800" kern="0" spc="-70" dirty="0">
              <a:solidFill>
                <a:srgbClr val="000000">
                  <a:alpha val="100000"/>
                </a:srgbClr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615" y="3806190"/>
            <a:ext cx="5205730" cy="27482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795" y="3678555"/>
            <a:ext cx="3640455" cy="28771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41920" y="6584315"/>
            <a:ext cx="4804410" cy="34671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2-2, 2-3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525299"/>
            <a:ext cx="465582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基础文本分词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 Basic Tokenization</a:t>
            </a: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 </a:t>
            </a:r>
            <a:endParaRPr sz="2400" b="1" kern="0" spc="-4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Microsoft Sans Serif" panose="020B0604020202020204" pitchFamily="34" charset="0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47650" y="1184274"/>
            <a:ext cx="11426825" cy="2543176"/>
            <a:chOff x="812" y="1685"/>
            <a:chExt cx="17995" cy="4005"/>
          </a:xfrm>
        </p:grpSpPr>
        <p:grpSp>
          <p:nvGrpSpPr>
            <p:cNvPr id="19" name="组合 18"/>
            <p:cNvGrpSpPr/>
            <p:nvPr/>
          </p:nvGrpSpPr>
          <p:grpSpPr>
            <a:xfrm>
              <a:off x="812" y="1685"/>
              <a:ext cx="8428" cy="4004"/>
              <a:chOff x="515874" y="1435609"/>
              <a:chExt cx="5351525" cy="2542309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216881" y="1889593"/>
                <a:ext cx="4467012" cy="208832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gradFill>
                  <a:gsLst>
                    <a:gs pos="0">
                      <a:sysClr val="window" lastClr="FFFFFF">
                        <a:lumMod val="95000"/>
                      </a:sysClr>
                    </a:gs>
                    <a:gs pos="100000">
                      <a:sysClr val="window" lastClr="FFFFFF">
                        <a:lumMod val="8500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152400" dist="114300" dir="2700000" algn="tl" rotWithShape="0">
                  <a:prstClr val="black">
                    <a:alpha val="6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21" name="矩形: 圆角 4"/>
              <p:cNvSpPr/>
              <p:nvPr/>
            </p:nvSpPr>
            <p:spPr>
              <a:xfrm>
                <a:off x="542654" y="1664949"/>
                <a:ext cx="5324745" cy="488718"/>
              </a:xfrm>
              <a:prstGeom prst="roundRect">
                <a:avLst>
                  <a:gd name="adj" fmla="val 50000"/>
                </a:avLst>
              </a:prstGeom>
              <a:solidFill>
                <a:srgbClr val="9B131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101600" dir="5400000" algn="ctr" rotWithShape="0">
                  <a:srgbClr val="861010">
                    <a:alpha val="4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346414" y="2197540"/>
                <a:ext cx="4226359" cy="1780378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indent="0" algn="just">
                  <a:lnSpc>
                    <a:spcPct val="125000"/>
                  </a:lnSpc>
                  <a:buFont typeface="Wingdings" panose="05000000000000000000" charset="0"/>
                  <a:buNone/>
                </a:pPr>
                <a:r>
                  <a:rPr lang="en-US" altLang="zh-CN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· </a:t>
                </a:r>
                <a:r>
                  <a:rPr lang="zh-CN" altLang="en-US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文本</a:t>
                </a:r>
                <a:r>
                  <a:rPr lang="en-US" altLang="zh-CN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 (Text)</a:t>
                </a:r>
                <a:r>
                  <a:rPr lang="zh-CN" altLang="en-US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：</a:t>
                </a:r>
                <a:r>
                  <a:rPr lang="zh-CN" altLang="en-US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人类可读的符号（如</a:t>
                </a:r>
                <a:r>
                  <a:rPr lang="en-US" altLang="zh-CN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 "Life is short"</a:t>
                </a:r>
                <a:r>
                  <a:rPr lang="zh-CN" altLang="en-US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）</a:t>
                </a:r>
                <a:endParaRPr lang="zh-CN" altLang="en-US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endParaRPr lang="zh-CN" altLang="en-US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  <a:p>
                <a:pPr indent="0" algn="just">
                  <a:lnSpc>
                    <a:spcPct val="125000"/>
                  </a:lnSpc>
                  <a:buFont typeface="Wingdings" panose="05000000000000000000" charset="0"/>
                  <a:buNone/>
                </a:pPr>
                <a:r>
                  <a:rPr lang="en-US" altLang="zh-CN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· </a:t>
                </a:r>
                <a:r>
                  <a:rPr lang="zh-CN" altLang="en-US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词元</a:t>
                </a:r>
                <a:r>
                  <a:rPr lang="en-US" altLang="zh-CN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 ID (Token IDs)</a:t>
                </a:r>
                <a:r>
                  <a:rPr lang="zh-CN" altLang="en-US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：将符号映射为整数（如</a:t>
                </a:r>
                <a:r>
                  <a:rPr lang="en-US" altLang="zh-CN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 [45, 12, 99]</a:t>
                </a:r>
                <a:r>
                  <a:rPr lang="zh-CN" altLang="en-US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）</a:t>
                </a:r>
                <a:endParaRPr lang="zh-CN" altLang="en-US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endParaRPr lang="en-US" altLang="zh-CN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  <a:p>
                <a:pPr indent="0" algn="just">
                  <a:lnSpc>
                    <a:spcPct val="125000"/>
                  </a:lnSpc>
                  <a:buFont typeface="Wingdings" panose="05000000000000000000" charset="0"/>
                  <a:buNone/>
                </a:pPr>
                <a:r>
                  <a:rPr lang="en-US" altLang="zh-CN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· </a:t>
                </a:r>
                <a:r>
                  <a:rPr lang="zh-CN" altLang="en-US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嵌入向量</a:t>
                </a:r>
                <a:r>
                  <a:rPr lang="en-US" altLang="zh-CN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 (Embeddings)</a:t>
                </a:r>
                <a:r>
                  <a:rPr lang="zh-CN" altLang="en-US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：</a:t>
                </a:r>
                <a:r>
                  <a:rPr lang="zh-CN" altLang="en-US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将整数映射为连续的浮点数向量（如</a:t>
                </a:r>
                <a:r>
                  <a:rPr lang="en-US" altLang="zh-CN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 [0.12, -0.45, ...]</a:t>
                </a:r>
                <a:r>
                  <a:rPr lang="zh-CN" altLang="en-US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）</a:t>
                </a:r>
                <a:endParaRPr lang="zh-CN" altLang="en-US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23" name="组合 22"/>
              <p:cNvGrpSpPr/>
              <p:nvPr/>
            </p:nvGrpSpPr>
            <p:grpSpPr>
              <a:xfrm>
                <a:off x="515874" y="1435609"/>
                <a:ext cx="886206" cy="886206"/>
                <a:chOff x="647700" y="1597915"/>
                <a:chExt cx="982980" cy="982980"/>
              </a:xfrm>
            </p:grpSpPr>
            <p:sp>
              <p:nvSpPr>
                <p:cNvPr id="24" name="椭圆 23"/>
                <p:cNvSpPr/>
                <p:nvPr/>
              </p:nvSpPr>
              <p:spPr>
                <a:xfrm>
                  <a:off x="647700" y="1597915"/>
                  <a:ext cx="982980" cy="982980"/>
                </a:xfrm>
                <a:prstGeom prst="ellipse">
                  <a:avLst/>
                </a:prstGeom>
                <a:solidFill>
                  <a:srgbClr val="9B1313"/>
                </a:solidFill>
                <a:ln w="41275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>
                  <a:outerShdw blurRad="101600" dist="101600" dir="5400000" algn="ctr" rotWithShape="0">
                    <a:srgbClr val="861010">
                      <a:alpha val="4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709477" y="1784788"/>
                  <a:ext cx="859426" cy="5106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dirty="0">
                      <a:solidFill>
                        <a:sysClr val="window" lastClr="FFFFFF"/>
                      </a:solidFill>
                      <a:latin typeface="+mn-ea"/>
                      <a:cs typeface="+mn-ea"/>
                      <a:sym typeface="汉仪旗黑-55简" panose="00020600040101010101" pitchFamily="18" charset="-122"/>
                    </a:rPr>
                    <a:t>01</a:t>
                  </a:r>
                  <a:endParaRPr lang="zh-CN" altLang="en-US" sz="2400" dirty="0">
                    <a:solidFill>
                      <a:sysClr val="window" lastClr="FFFFFF"/>
                    </a:solidFill>
                    <a:latin typeface="+mn-ea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26" name="文本框 25"/>
              <p:cNvSpPr txBox="1"/>
              <p:nvPr/>
            </p:nvSpPr>
            <p:spPr>
              <a:xfrm>
                <a:off x="1533525" y="1709253"/>
                <a:ext cx="4086225" cy="398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离散文本</a:t>
                </a:r>
                <a:r>
                  <a:rPr lang="en-US" altLang="zh-CN" sz="2000" dirty="0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 vs </a:t>
                </a:r>
                <a:r>
                  <a:rPr lang="zh-CN" altLang="en-US" sz="2000" dirty="0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连续计算</a:t>
                </a:r>
                <a:endParaRPr lang="zh-CN" altLang="en-US" sz="2000" dirty="0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9997" y="1685"/>
              <a:ext cx="8810" cy="4005"/>
              <a:chOff x="6348071" y="-1145431"/>
              <a:chExt cx="5594084" cy="2542944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7077652" y="-691447"/>
                <a:ext cx="4574322" cy="208896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gradFill>
                  <a:gsLst>
                    <a:gs pos="0">
                      <a:sysClr val="window" lastClr="FFFFFF">
                        <a:lumMod val="95000"/>
                      </a:sysClr>
                    </a:gs>
                    <a:gs pos="100000">
                      <a:sysClr val="window" lastClr="FFFFFF">
                        <a:lumMod val="8500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152400" dist="114300" dir="2700000" algn="tl" rotWithShape="0">
                  <a:prstClr val="black">
                    <a:alpha val="6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29" name="矩形: 圆角 12"/>
              <p:cNvSpPr/>
              <p:nvPr/>
            </p:nvSpPr>
            <p:spPr>
              <a:xfrm>
                <a:off x="6617410" y="-942124"/>
                <a:ext cx="5324745" cy="488718"/>
              </a:xfrm>
              <a:prstGeom prst="roundRect">
                <a:avLst>
                  <a:gd name="adj" fmla="val 50000"/>
                </a:avLst>
              </a:prstGeom>
              <a:solidFill>
                <a:srgbClr val="9B131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101600" dir="5400000" algn="ctr" rotWithShape="0">
                  <a:srgbClr val="861010">
                    <a:alpha val="4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7394501" y="-383501"/>
                <a:ext cx="4226359" cy="1726408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indent="0" algn="just">
                  <a:lnSpc>
                    <a:spcPct val="125000"/>
                  </a:lnSpc>
                  <a:buFont typeface="Wingdings" panose="05000000000000000000" charset="0"/>
                  <a:buNone/>
                </a:pPr>
                <a:r>
                  <a:rPr lang="en-US" altLang="zh-CN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· </a:t>
                </a:r>
                <a:r>
                  <a:rPr lang="zh-CN" altLang="en-US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标准化：</a:t>
                </a:r>
                <a:r>
                  <a:rPr lang="zh-CN" altLang="en-US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读取文本，处理标点符号</a:t>
                </a:r>
                <a:endParaRPr lang="zh-CN" altLang="en-US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  <a:p>
                <a:pPr indent="0" algn="just">
                  <a:lnSpc>
                    <a:spcPct val="125000"/>
                  </a:lnSpc>
                  <a:buFont typeface="Wingdings" panose="05000000000000000000" charset="0"/>
                  <a:buNone/>
                </a:pPr>
                <a:endParaRPr lang="zh-CN" altLang="en-US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  <a:p>
                <a:pPr indent="0" algn="just">
                  <a:lnSpc>
                    <a:spcPct val="125000"/>
                  </a:lnSpc>
                  <a:buFont typeface="Wingdings" panose="05000000000000000000" charset="0"/>
                  <a:buNone/>
                </a:pPr>
                <a:r>
                  <a:rPr lang="en-US" altLang="zh-CN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· </a:t>
                </a:r>
                <a:r>
                  <a:rPr lang="zh-CN" altLang="en-US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拆分</a:t>
                </a:r>
                <a:r>
                  <a:rPr lang="en-US" altLang="zh-CN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 (Split)</a:t>
                </a:r>
                <a:r>
                  <a:rPr lang="zh-CN" altLang="en-US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：</a:t>
                </a:r>
                <a:r>
                  <a:rPr lang="zh-CN" altLang="en-US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使用</a:t>
                </a:r>
                <a:r>
                  <a:rPr lang="en-US" altLang="zh-CN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 </a:t>
                </a:r>
                <a:r>
                  <a:rPr lang="zh-CN" altLang="en-US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正则表达式将文本切分为列表</a:t>
                </a:r>
                <a:endParaRPr lang="zh-CN" altLang="en-US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  <a:p>
                <a:pPr indent="0" algn="just">
                  <a:lnSpc>
                    <a:spcPct val="125000"/>
                  </a:lnSpc>
                  <a:buFont typeface="Wingdings" panose="05000000000000000000" charset="0"/>
                  <a:buNone/>
                </a:pPr>
                <a:endParaRPr lang="zh-CN" altLang="en-US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  <a:p>
                <a:pPr indent="0" algn="just">
                  <a:lnSpc>
                    <a:spcPct val="125000"/>
                  </a:lnSpc>
                  <a:buFont typeface="Wingdings" panose="05000000000000000000" charset="0"/>
                  <a:buNone/>
                </a:pPr>
                <a:r>
                  <a:rPr lang="en-US" altLang="zh-CN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· </a:t>
                </a:r>
                <a:r>
                  <a:rPr lang="zh-CN" altLang="en-US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去重与排序：</a:t>
                </a:r>
                <a:r>
                  <a:rPr lang="zh-CN" altLang="en-US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提取所有唯一的单词</a:t>
                </a:r>
                <a:r>
                  <a:rPr lang="en-US" altLang="zh-CN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 </a:t>
                </a:r>
                <a:endParaRPr lang="en-US" altLang="zh-CN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  <a:p>
                <a:pPr indent="0" algn="just">
                  <a:lnSpc>
                    <a:spcPct val="125000"/>
                  </a:lnSpc>
                  <a:buFont typeface="Wingdings" panose="05000000000000000000" charset="0"/>
                  <a:buNone/>
                </a:pPr>
                <a:endParaRPr lang="en-US" altLang="zh-CN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  <a:p>
                <a:pPr indent="0" algn="just">
                  <a:lnSpc>
                    <a:spcPct val="125000"/>
                  </a:lnSpc>
                  <a:buFont typeface="Wingdings" panose="05000000000000000000" charset="0"/>
                  <a:buNone/>
                </a:pPr>
                <a:r>
                  <a:rPr lang="en-US" altLang="zh-CN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· </a:t>
                </a:r>
                <a:r>
                  <a:rPr lang="zh-CN" altLang="en-US" sz="1200" b="1" dirty="0">
                    <a:latin typeface="PingFang SC Semibold" panose="020B0400000000000000" charset="-122"/>
                    <a:ea typeface="PingFang SC Semibold" panose="020B0400000000000000" charset="-122"/>
                    <a:cs typeface="PingFang SC Semibold" panose="020B0400000000000000" charset="-122"/>
                    <a:sym typeface="汉仪旗黑-55简" panose="00020600040101010101" pitchFamily="18" charset="-122"/>
                  </a:rPr>
                  <a:t>构建映射表：</a:t>
                </a:r>
                <a:r>
                  <a:rPr lang="zh-CN" altLang="en-US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词</a:t>
                </a:r>
                <a:r>
                  <a:rPr lang="en-US" altLang="zh-CN" sz="1200" dirty="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  <a:sym typeface="汉仪旗黑-55简" panose="00020600040101010101" pitchFamily="18" charset="-122"/>
                  </a:rPr>
                  <a:t> —— ID </a:t>
                </a:r>
                <a:endParaRPr lang="en-US" altLang="zh-CN" sz="1200" dirty="0"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6348071" y="-1145431"/>
                <a:ext cx="886206" cy="886206"/>
                <a:chOff x="7116775" y="-1264976"/>
                <a:chExt cx="982980" cy="982980"/>
              </a:xfrm>
            </p:grpSpPr>
            <p:sp>
              <p:nvSpPr>
                <p:cNvPr id="32" name="椭圆 31"/>
                <p:cNvSpPr/>
                <p:nvPr/>
              </p:nvSpPr>
              <p:spPr>
                <a:xfrm>
                  <a:off x="7116775" y="-1264976"/>
                  <a:ext cx="982980" cy="982980"/>
                </a:xfrm>
                <a:prstGeom prst="ellipse">
                  <a:avLst/>
                </a:prstGeom>
                <a:solidFill>
                  <a:srgbClr val="9B1313"/>
                </a:solidFill>
                <a:ln w="41275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>
                  <a:outerShdw blurRad="101600" dist="101600" dir="5400000" algn="ctr" rotWithShape="0">
                    <a:srgbClr val="861010">
                      <a:alpha val="4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2" name="文本框 1"/>
                <p:cNvSpPr txBox="1"/>
                <p:nvPr/>
              </p:nvSpPr>
              <p:spPr>
                <a:xfrm>
                  <a:off x="7194046" y="-1007675"/>
                  <a:ext cx="859426" cy="5106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dirty="0">
                      <a:solidFill>
                        <a:sysClr val="window" lastClr="FFFFFF"/>
                      </a:solidFill>
                      <a:latin typeface="+mn-ea"/>
                      <a:cs typeface="+mn-ea"/>
                      <a:sym typeface="汉仪旗黑-55简" panose="00020600040101010101" pitchFamily="18" charset="-122"/>
                    </a:rPr>
                    <a:t>02</a:t>
                  </a:r>
                  <a:endParaRPr lang="zh-CN" altLang="en-US" sz="2400" dirty="0">
                    <a:solidFill>
                      <a:sysClr val="window" lastClr="FFFFFF"/>
                    </a:solidFill>
                    <a:latin typeface="+mn-ea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34" name="文本框 33"/>
              <p:cNvSpPr txBox="1"/>
              <p:nvPr/>
            </p:nvSpPr>
            <p:spPr>
              <a:xfrm>
                <a:off x="7394550" y="-892699"/>
                <a:ext cx="4257675" cy="398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基础分词实现</a:t>
                </a:r>
                <a:endParaRPr lang="zh-CN" altLang="en-US" sz="2000" dirty="0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</p:grpSp>
      </p:grpSp>
      <p:pic>
        <p:nvPicPr>
          <p:cNvPr id="4" name="图片 3" descr="08269877cc14966808a5e67abec7ad9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300" y="4126865"/>
            <a:ext cx="8153400" cy="2057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2-5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"/>
          <p:cNvSpPr txBox="1"/>
          <p:nvPr/>
        </p:nvSpPr>
        <p:spPr>
          <a:xfrm>
            <a:off x="387891" y="525299"/>
            <a:ext cx="640715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构建词汇表与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 ID </a:t>
            </a:r>
            <a:r>
              <a:rPr lang="zh-CN" altLang="en-US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映射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 Building the Vocabulary</a:t>
            </a: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 </a:t>
            </a:r>
            <a:endParaRPr sz="2400" b="1" kern="0" spc="-4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Microsoft Sans Serif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7985" y="1270635"/>
            <a:ext cx="831659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Process</a:t>
            </a:r>
            <a:endParaRPr lang="en-US" altLang="zh-CN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为了让模型理解文本，我们需要将</a:t>
            </a:r>
            <a:r>
              <a:rPr lang="zh-CN" altLang="en-US" sz="2000">
                <a:solidFill>
                  <a:srgbClr val="C7020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文本词元</a:t>
            </a:r>
            <a:r>
              <a:rPr lang="en-US" altLang="zh-CN" sz="2000">
                <a:solidFill>
                  <a:srgbClr val="C7020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(String)</a:t>
            </a:r>
            <a:endParaRPr lang="en-US" altLang="zh-CN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映射为唯一的</a:t>
            </a:r>
            <a:r>
              <a:rPr lang="zh-CN" altLang="en-US" sz="200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整数</a:t>
            </a:r>
            <a:r>
              <a:rPr lang="en-US" altLang="zh-CN" sz="200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ID (Integer)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1. Extract:  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获取训练集中所有唯一的词元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`set(preprocessed)`</a:t>
            </a: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2. Sort:  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按字母顺序排列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`sorted( )`</a:t>
            </a: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3. Map: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创建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token 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到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integer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的映射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字典</a:t>
            </a: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985" y="4813300"/>
            <a:ext cx="7078345" cy="6565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7985" y="5689600"/>
            <a:ext cx="707834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对于示例文本“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The Verdict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”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，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词汇表大小为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1130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个唯一词元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。</a:t>
            </a:r>
            <a:endParaRPr lang="en-US" altLang="zh-CN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220" y="1980565"/>
            <a:ext cx="4210685" cy="3489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"/>
          <p:cNvSpPr txBox="1"/>
          <p:nvPr/>
        </p:nvSpPr>
        <p:spPr>
          <a:xfrm>
            <a:off x="387891" y="525299"/>
            <a:ext cx="6815455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实现简易分词器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 Implementing SimpleTokenizerV1</a:t>
            </a:r>
            <a:endParaRPr sz="2400" b="1" kern="0" spc="-4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Microsoft Sans Serif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7985" y="1321435"/>
            <a:ext cx="532574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我们将封装一个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Python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类来处理</a:t>
            </a:r>
            <a:r>
              <a:rPr lang="zh-CN" altLang="en-US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编码</a:t>
            </a:r>
            <a:r>
              <a:rPr lang="en-US" altLang="zh-CN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Encode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和</a:t>
            </a:r>
            <a:r>
              <a:rPr lang="zh-CN" altLang="en-US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解码</a:t>
            </a:r>
            <a:r>
              <a:rPr lang="en-US" altLang="zh-CN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Decode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· __init__ :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存储正向映射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(str_to_int)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和反向映射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(int_to_str) 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· encode(text)：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文本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-&gt;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分词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-&gt; ID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列表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· decode(ids)：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ID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列表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-&gt;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文本词元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-&gt;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拼接字符串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985" y="5026660"/>
            <a:ext cx="5130800" cy="17278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87985" y="104902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类逻辑</a:t>
            </a:r>
            <a:r>
              <a:rPr lang="en-US" altLang="zh-CN" sz="2000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 Class Logic</a:t>
            </a:r>
            <a:endParaRPr lang="en-US" altLang="zh-CN" sz="2000" b="1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66815" y="104902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实现</a:t>
            </a:r>
            <a:r>
              <a:rPr lang="en-US" altLang="zh-CN" sz="2000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 Implementation</a:t>
            </a:r>
            <a:endParaRPr lang="en-US" altLang="zh-CN" sz="2000" b="1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49145"/>
            <a:ext cx="5819140" cy="38493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"/>
          <p:cNvSpPr txBox="1"/>
          <p:nvPr/>
        </p:nvSpPr>
        <p:spPr>
          <a:xfrm>
            <a:off x="387891" y="525299"/>
            <a:ext cx="613664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引入特殊上下文词元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 Special Context T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okens</a:t>
            </a:r>
            <a:endParaRPr lang="en-US" altLang="zh-CN" sz="2400" b="1" kern="0" spc="-4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Microsoft Sans Serif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7985" y="1078230"/>
            <a:ext cx="1038987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基础分词器无法处理未知单词，且无法区分不同的文档来源。我们需要引入特殊标记：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</a:t>
            </a:r>
            <a:r>
              <a:rPr lang="en-US" altLang="zh-CN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 &lt;|unk|&gt;: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代表未知单词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(Unknown) ，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解决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KeyError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问题。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</a:t>
            </a:r>
            <a:r>
              <a:rPr lang="en-US" altLang="zh-CN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 &lt;|endoftext|&gt;: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文档分隔符。告诉模型两个文本片段是不相关的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(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例如两篇不同的文章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)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340" y="3400425"/>
            <a:ext cx="2823845" cy="3071495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729521" y="2840509"/>
            <a:ext cx="1501775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词汇表</a:t>
            </a:r>
            <a:r>
              <a:rPr lang="zh-CN" altLang="en-US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示例</a:t>
            </a:r>
            <a:endParaRPr lang="zh-CN" altLang="en-US" sz="2400" b="1" kern="0" spc="-4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Microsoft Sans Serif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68090" y="5490210"/>
            <a:ext cx="50628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额外使用特殊词元来扩充词汇量</a:t>
            </a:r>
            <a:endParaRPr lang="zh-CN" altLang="en-US" sz="1400">
              <a:solidFill>
                <a:srgbClr val="C70202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69360" y="5868670"/>
            <a:ext cx="50628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额外使用特殊词元来扩充词汇量</a:t>
            </a:r>
            <a:endParaRPr lang="zh-CN" altLang="en-US" sz="1400">
              <a:solidFill>
                <a:srgbClr val="C70202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cxnSp>
        <p:nvCxnSpPr>
          <p:cNvPr id="9" name="直接箭头连接符 8"/>
          <p:cNvCxnSpPr>
            <a:stCxn id="6" idx="1"/>
          </p:cNvCxnSpPr>
          <p:nvPr/>
        </p:nvCxnSpPr>
        <p:spPr>
          <a:xfrm flipH="1">
            <a:off x="3446780" y="5643880"/>
            <a:ext cx="321310" cy="0"/>
          </a:xfrm>
          <a:prstGeom prst="straightConnector1">
            <a:avLst/>
          </a:prstGeom>
          <a:ln>
            <a:solidFill>
              <a:srgbClr val="C7020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3448050" y="6022340"/>
            <a:ext cx="321310" cy="0"/>
          </a:xfrm>
          <a:prstGeom prst="straightConnector1">
            <a:avLst/>
          </a:prstGeom>
          <a:ln>
            <a:solidFill>
              <a:srgbClr val="C7020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617335" y="2790190"/>
            <a:ext cx="6096000" cy="438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4000"/>
              </a:lnSpc>
            </a:pPr>
            <a:r>
              <a:rPr lang="zh-CN" altLang="en-US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SimpleTokenizerV2 更新</a:t>
            </a:r>
            <a:endParaRPr lang="zh-CN" altLang="en-US" sz="2400" b="1" kern="0" spc="-4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155" y="3535680"/>
            <a:ext cx="5288280" cy="2341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"/>
          <p:cNvSpPr txBox="1"/>
          <p:nvPr/>
        </p:nvSpPr>
        <p:spPr>
          <a:xfrm>
            <a:off x="387891" y="525299"/>
            <a:ext cx="5250815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字节对编码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 By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te Pair E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ncoding - BPE</a:t>
            </a:r>
            <a:endParaRPr lang="en-US" altLang="zh-CN" sz="2400" b="1" kern="0" spc="-4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Microsoft Sans Serif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9555" y="1263015"/>
            <a:ext cx="609600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现代大模型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(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如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GPT-2,GPT-3,GPT-4)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使用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BPE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算法，而不是基于单词的分词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BPE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的优势在于遇到未见过的新词时，可以将其拆解为已知的</a:t>
            </a:r>
            <a:r>
              <a:rPr lang="zh-CN" altLang="en-US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子词（</a:t>
            </a:r>
            <a:r>
              <a:rPr lang="en-US" altLang="zh-CN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subwords</a:t>
            </a:r>
            <a:r>
              <a:rPr lang="zh-CN" altLang="en-US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甚至单个字符来表示，因此通常不需要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&lt;|unk|&gt;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词元，也能稳定处理任意输入文本。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OpenAI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`tiktoken`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库提供了高效的分词实现（底层为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Rust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），便于在训练与推理阶段快速完成文本到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token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的转换。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以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GPT-2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为例，其词汇表大小为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50,257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个词元。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555" y="1134745"/>
            <a:ext cx="5810250" cy="2857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095" y="4325620"/>
            <a:ext cx="5296535" cy="2014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7660" y="469900"/>
            <a:ext cx="6648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滑动窗口采样</a:t>
            </a:r>
            <a: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Sliding Window Data Sampling</a:t>
            </a:r>
            <a:endParaRPr lang="en-US" altLang="zh-CN" sz="24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9250" y="1089025"/>
            <a:ext cx="115557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生成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zh-CN" altLang="en-US" sz="2000" b="1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输入</a:t>
            </a:r>
            <a:r>
              <a:rPr lang="en-US" altLang="zh-CN" sz="2000" b="1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- </a:t>
            </a:r>
            <a:r>
              <a:rPr lang="zh-CN" altLang="en-US" sz="2000" b="1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目标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对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Creating Input - Target Pairs</a:t>
            </a:r>
            <a:endParaRPr lang="en-US" altLang="zh-CN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我们要训练模型进行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“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下一词预测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” (Next-token prediction)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。给定一个输入窗口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(x), 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目标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(y)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是向右移动一个位置的序列。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6940" y="2204085"/>
            <a:ext cx="7817485" cy="3630295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499110" y="5470525"/>
            <a:ext cx="8626475" cy="138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Example</a:t>
            </a:r>
            <a:endParaRPr lang="en-US" altLang="zh-CN" b="1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  <a:cs typeface="PingFang SC Regular" panose="020B0400000000000000" charset="-122"/>
            </a:endParaRPr>
          </a:p>
          <a:p>
            <a:pPr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pc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Context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: [</a:t>
            </a:r>
            <a:r>
              <a:rPr lang="en-US" altLang="zh-CN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290, 4920, 2241, 287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] ( "</a:t>
            </a:r>
            <a:r>
              <a:rPr lang="en-US" altLang="zh-CN" spc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and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en-US" altLang="zh-CN" spc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established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en-US" altLang="zh-CN" spc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himself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en-US" altLang="zh-CN" spc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in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")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pc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Target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: [</a:t>
            </a:r>
            <a:r>
              <a:rPr lang="en-US" altLang="zh-CN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4920, 2241, 287, 257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] ( "</a:t>
            </a:r>
            <a:r>
              <a:rPr lang="en-US" altLang="zh-CN" spc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established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en-US" altLang="zh-CN" spc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himself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en-US" altLang="zh-CN" spc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in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en-US" altLang="zh-CN" spc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")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algn="l" rtl="0" eaLnBrk="0">
              <a:lnSpc>
                <a:spcPct val="106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2-12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985" y="2128520"/>
            <a:ext cx="6985635" cy="3367405"/>
          </a:xfrm>
          <a:prstGeom prst="rect">
            <a:avLst/>
          </a:prstGeom>
        </p:spPr>
      </p:pic>
      <p:sp>
        <p:nvSpPr>
          <p:cNvPr id="39" name="文本框 3"/>
          <p:cNvSpPr txBox="1"/>
          <p:nvPr/>
        </p:nvSpPr>
        <p:spPr>
          <a:xfrm>
            <a:off x="387891" y="504344"/>
            <a:ext cx="5794375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数据加载与批处理 Data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Loader &amp; B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Microsoft Sans Serif" panose="020B0604020202020204" pitchFamily="34" charset="0"/>
              </a:rPr>
              <a:t>atching</a:t>
            </a:r>
            <a:endParaRPr lang="en-US" altLang="zh-CN" sz="2400" b="1" kern="0" spc="-4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Microsoft Sans Serif" panose="020B0604020202020204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79425" y="1151255"/>
            <a:ext cx="11069955" cy="497205"/>
            <a:chOff x="755" y="1813"/>
            <a:chExt cx="17433" cy="783"/>
          </a:xfrm>
        </p:grpSpPr>
        <p:sp>
          <p:nvSpPr>
            <p:cNvPr id="17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73" y="1918"/>
              <a:ext cx="291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核心</a:t>
              </a:r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逻辑</a:t>
              </a:r>
              <a:endParaRPr lang="zh-CN" altLang="en-US" b="1" dirty="0">
                <a:solidFill>
                  <a:sysClr val="window" lastClr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361" y="1813"/>
              <a:ext cx="13827" cy="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just">
                <a:lnSpc>
                  <a:spcPct val="125000"/>
                </a:lnSpc>
                <a:spcBef>
                  <a:spcPts val="400"/>
                </a:spcBef>
              </a:pPr>
              <a:r>
                <a:rPr lang="zh-CN" altLang="en-US" sz="20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使用</a:t>
              </a:r>
              <a:r>
                <a:rPr lang="en-US" altLang="zh-CN" sz="20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 `DataLoader` </a:t>
              </a:r>
              <a:r>
                <a:rPr lang="zh-CN" altLang="en-US" sz="20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将多个样本堆叠为批次</a:t>
              </a:r>
              <a:r>
                <a:rPr lang="en-US" altLang="zh-CN" sz="20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（B</a:t>
              </a:r>
              <a:r>
                <a:rPr lang="en-US" altLang="zh-CN" sz="20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atch）</a:t>
              </a:r>
              <a:endParaRPr lang="en-US" altLang="zh-CN" sz="2000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微软雅黑" charset="0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373620" y="2128520"/>
            <a:ext cx="4672965" cy="416750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sz="1400" b="1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窗口大小 </a:t>
            </a:r>
            <a:r>
              <a:rPr lang="en-US" altLang="zh-CN" sz="1400" b="1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(Context Length / Block Size)：</a:t>
            </a:r>
            <a:endParaRPr lang="en-US" altLang="zh-CN" sz="1400" b="1" i="0">
              <a:solidFill>
                <a:srgbClr val="C70202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endParaRPr lang="en-US" altLang="zh-CN" sz="1400" b="1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r>
              <a:rPr lang="zh-CN" altLang="en-US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模型一次能“看见”的最大长度（例如 </a:t>
            </a:r>
            <a:r>
              <a:rPr lang="en-US" altLang="zh-CN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GPT-2 </a:t>
            </a:r>
            <a:r>
              <a:rPr lang="zh-CN" altLang="en-US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是 </a:t>
            </a:r>
            <a:r>
              <a:rPr lang="en-US" altLang="zh-CN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1024</a:t>
            </a:r>
            <a:r>
              <a:rPr lang="zh-CN" altLang="en-US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，本例假设为 </a:t>
            </a:r>
            <a:r>
              <a:rPr lang="en-US" altLang="zh-CN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4</a:t>
            </a:r>
            <a:r>
              <a:rPr lang="zh-CN" altLang="en-US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）。</a:t>
            </a:r>
            <a:endParaRPr lang="zh-CN" altLang="en-US" sz="14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endParaRPr lang="zh-CN" altLang="en-US" sz="14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r>
              <a:rPr lang="zh-CN" altLang="en-US" sz="14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步长</a:t>
            </a:r>
            <a:r>
              <a:rPr lang="en-US" altLang="zh-CN" sz="14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(Stride)</a:t>
            </a:r>
            <a:r>
              <a:rPr lang="zh-CN" altLang="en-US" sz="14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：</a:t>
            </a:r>
            <a:r>
              <a:rPr lang="zh-CN" altLang="en-US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窗口移动的距离。</a:t>
            </a:r>
            <a:endParaRPr lang="zh-CN" altLang="en-US" sz="14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endParaRPr lang="zh-CN" altLang="en-US" sz="14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r>
              <a:rPr lang="en-US" altLang="zh-CN" sz="1400" b="1" i="0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· Stride = 1</a:t>
            </a:r>
            <a:r>
              <a:rPr lang="zh-CN" altLang="en-US" sz="1400" b="1" i="0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：</a:t>
            </a:r>
            <a:r>
              <a:rPr lang="zh-CN" altLang="en-US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最大化数据利用率，但计算量大，数据高度重叠。</a:t>
            </a:r>
            <a:endParaRPr lang="zh-CN" altLang="en-US" sz="14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endParaRPr lang="zh-CN" altLang="en-US" sz="14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r>
              <a:rPr lang="en-US" altLang="zh-CN" sz="1400" b="1" i="0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· Stride = Context Length</a:t>
            </a:r>
            <a:r>
              <a:rPr lang="zh-CN" altLang="en-US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：数据无重叠，训练速度快，但可能丢失跨边界的语义。</a:t>
            </a:r>
            <a:endParaRPr lang="zh-CN" altLang="en-US" sz="14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endParaRPr lang="zh-CN" altLang="en-US" sz="14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r>
              <a:rPr lang="en-US" altLang="zh-CN" sz="1400" b="1" i="0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· </a:t>
            </a:r>
            <a:r>
              <a:rPr lang="zh-CN" altLang="en-US" sz="1400" b="1" i="0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最佳实践：</a:t>
            </a:r>
            <a:r>
              <a:rPr lang="zh-CN" altLang="en-US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通常</a:t>
            </a:r>
            <a:r>
              <a:rPr lang="en-US" altLang="zh-CN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Stride </a:t>
            </a:r>
            <a:r>
              <a:rPr lang="zh-CN" altLang="en-US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设置这就等于</a:t>
            </a:r>
            <a:r>
              <a:rPr lang="en-US" altLang="zh-CN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Context Length </a:t>
            </a:r>
            <a:r>
              <a:rPr lang="zh-CN" altLang="en-US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以避免过拟合，但在数据稀缺时可减小</a:t>
            </a:r>
            <a:r>
              <a:rPr lang="en-US" altLang="zh-CN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Stride</a:t>
            </a:r>
            <a:r>
              <a:rPr lang="zh-CN" altLang="en-US" sz="14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 sz="14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endParaRPr lang="zh-CN" altLang="en-US" sz="14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/>
            <a:endParaRPr lang="zh-CN" altLang="en-US" sz="14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2-13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"/>
          <p:cNvSpPr txBox="1"/>
          <p:nvPr/>
        </p:nvSpPr>
        <p:spPr>
          <a:xfrm>
            <a:off x="387985" y="504190"/>
            <a:ext cx="905002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创建词元嵌入层 Creating Token Embeddings</a:t>
            </a:r>
            <a:endParaRPr lang="zh-CN" sz="2400" b="1" kern="0" spc="-4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Microsoft Sans Serif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398905"/>
            <a:ext cx="5244465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嵌入层本质上是一个可训练的查找表</a:t>
            </a:r>
            <a:endParaRPr lang="zh-CN" altLang="en-US" sz="20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en-US" altLang="zh-CN" sz="2000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Details:</a:t>
            </a:r>
            <a:endParaRPr lang="en-US" altLang="zh-CN" sz="2000" b="1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  <a:cs typeface="PingFang SC Regular" panose="020B0400000000000000" charset="-122"/>
            </a:endParaRPr>
          </a:p>
          <a:p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 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 Rows = Vocabulary Size (e.g., 50,257)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 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 Columns = Embedding  Dimension 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                                    (e.g., 256 or 768)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给定一个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ID,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层直接返回对应的行向量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这比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One-Hot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编码加矩阵乘法更高效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095" y="1398905"/>
            <a:ext cx="6604635" cy="40824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5245735"/>
            <a:ext cx="6169660" cy="118427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2-16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"/>
          <p:cNvSpPr txBox="1"/>
          <p:nvPr/>
        </p:nvSpPr>
        <p:spPr>
          <a:xfrm>
            <a:off x="387985" y="504190"/>
            <a:ext cx="905002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实现绝对位置嵌入 </a:t>
            </a:r>
            <a:r>
              <a:rPr lang="en-US" altLang="zh-CN" sz="2400" b="1" kern="0" spc="-4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Absolute Positional Embeddings</a:t>
            </a:r>
            <a:endParaRPr lang="en-US" altLang="zh-CN" sz="2400" b="1" kern="0" spc="-4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0080" y="4020820"/>
            <a:ext cx="6192520" cy="26047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7985" y="1149350"/>
            <a:ext cx="96412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我们创建第二个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Embedding 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层，专门用于编码位置索引。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85" y="1676400"/>
            <a:ext cx="6346190" cy="22923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87985" y="4734560"/>
            <a:ext cx="50292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</a:rPr>
              <a:t>位置嵌入被添加到词元嵌入向量中，从而生成大语言模型的输入嵌入。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</a:endParaRPr>
          </a:p>
          <a:p>
            <a:endParaRPr lang="zh-CN" altLang="en-US">
              <a:latin typeface="PingFang SC Regular" panose="020B0400000000000000" charset="-122"/>
              <a:ea typeface="PingFang SC Regular" panose="020B0400000000000000" charset="-122"/>
            </a:endParaRPr>
          </a:p>
          <a:p>
            <a:endParaRPr lang="zh-CN" altLang="en-US">
              <a:latin typeface="PingFang SC Regular" panose="020B0400000000000000" charset="-122"/>
              <a:ea typeface="PingFang SC Regular" panose="020B0400000000000000" charset="-122"/>
            </a:endParaRPr>
          </a:p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</a:rPr>
              <a:t>位置向量与原始词元嵌入的维度相同。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2-18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17435" y="2165985"/>
            <a:ext cx="50292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</a:rPr>
              <a:t>词元嵌入提供了</a:t>
            </a:r>
            <a:r>
              <a:rPr lang="zh-CN" altLang="en-US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“是什么词”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</a:rPr>
              <a:t>的信息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</a:rPr>
              <a:t>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</a:endParaRPr>
          </a:p>
          <a:p>
            <a:endParaRPr lang="zh-CN" altLang="en-US">
              <a:latin typeface="PingFang SC Regular" panose="020B0400000000000000" charset="-122"/>
              <a:ea typeface="PingFang SC Regular" panose="020B0400000000000000" charset="-122"/>
            </a:endParaRPr>
          </a:p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</a:rPr>
              <a:t>位置嵌入提供了</a:t>
            </a:r>
            <a:r>
              <a:rPr lang="zh-CN" altLang="en-US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“在哪个位置”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</a:rPr>
              <a:t>的信息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</a:rPr>
              <a:t>。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2864</Words>
  <Application>WPS 演示</Application>
  <PresentationFormat>宽屏</PresentationFormat>
  <Paragraphs>156</Paragraphs>
  <Slides>11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58" baseType="lpstr">
      <vt:lpstr>Arial</vt:lpstr>
      <vt:lpstr>宋体</vt:lpstr>
      <vt:lpstr>Wingdings</vt:lpstr>
      <vt:lpstr>Wingdings</vt:lpstr>
      <vt:lpstr>微软雅黑</vt:lpstr>
      <vt:lpstr>汉仪旗黑</vt:lpstr>
      <vt:lpstr>Microsoft Sans Serif</vt:lpstr>
      <vt:lpstr>微软雅黑</vt:lpstr>
      <vt:lpstr>汉仪旗黑-55简</vt:lpstr>
      <vt:lpstr>等线</vt:lpstr>
      <vt:lpstr>微软雅黑</vt:lpstr>
      <vt:lpstr>宋体</vt:lpstr>
      <vt:lpstr>Arial Unicode MS</vt:lpstr>
      <vt:lpstr>Calibri</vt:lpstr>
      <vt:lpstr>Helvetica Neue</vt:lpstr>
      <vt:lpstr>汉仪书宋二KW</vt:lpstr>
      <vt:lpstr>等线</vt:lpstr>
      <vt:lpstr>Helvetica Neue Medium</vt:lpstr>
      <vt:lpstr>汉仪中黑KW</vt:lpstr>
      <vt:lpstr>汉仪中等线KW</vt:lpstr>
      <vt:lpstr>微软雅黑 Light</vt:lpstr>
      <vt:lpstr>Wingdings 3</vt:lpstr>
      <vt:lpstr>Alibaba PuHuiTi</vt:lpstr>
      <vt:lpstr>苹方-简</vt:lpstr>
      <vt:lpstr>Alibaba PuHuiTi</vt:lpstr>
      <vt:lpstr>Wingdings 3</vt:lpstr>
      <vt:lpstr>汉仪旗黑-55简</vt:lpstr>
      <vt:lpstr>PingFang SC Regular</vt:lpstr>
      <vt:lpstr>PingFang SC Semibold</vt:lpstr>
      <vt:lpstr>Times New Roman</vt:lpstr>
      <vt:lpstr>-webkit-standard</vt:lpstr>
      <vt:lpstr>Thonburi</vt:lpstr>
      <vt:lpstr>-webkit-standard</vt:lpstr>
      <vt:lpstr>HarmonyOS Sans SC</vt:lpstr>
      <vt:lpstr>OPPOSans R</vt:lpstr>
      <vt:lpstr>HarmonyOS Sans SC</vt:lpstr>
      <vt:lpstr>OPPOSans R</vt:lpstr>
      <vt:lpstr>DejaVuMathTeXGyre</vt:lpstr>
      <vt:lpstr>Apple Color Emoji</vt:lpstr>
      <vt:lpstr>黑体</vt:lpstr>
      <vt:lpstr>Arial</vt:lpstr>
      <vt:lpstr>黑体</vt:lpstr>
      <vt:lpstr>Times New Roman</vt:lpstr>
      <vt:lpstr>宋体</vt:lpstr>
      <vt:lpstr>PingFang SC</vt:lpstr>
      <vt:lpstr>PingFang SC 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王皓平</cp:lastModifiedBy>
  <cp:revision>354</cp:revision>
  <dcterms:created xsi:type="dcterms:W3CDTF">2026-02-03T17:31:05Z</dcterms:created>
  <dcterms:modified xsi:type="dcterms:W3CDTF">2026-02-03T17:31:05Z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3DB8B1F86091D1CDD9308269875166DA_43</vt:lpwstr>
  </property>
</Properties>
</file>