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707" r:id="rId5"/>
    <p:sldId id="697" r:id="rId6"/>
    <p:sldId id="698" r:id="rId7"/>
    <p:sldId id="699" r:id="rId8"/>
    <p:sldId id="700" r:id="rId9"/>
    <p:sldId id="701" r:id="rId10"/>
    <p:sldId id="702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莉 曾" initials="嘉莉" lastIdx="2" clrIdx="0"/>
  <p:cmAuthor id="2" name="作者" initials="A" lastIdx="1" clrIdx="1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202"/>
    <a:srgbClr val="B10015"/>
    <a:srgbClr val="FFFFFF"/>
    <a:srgbClr val="FFBBCD"/>
    <a:srgbClr val="FFEEF2"/>
    <a:srgbClr val="FFEFF2"/>
    <a:srgbClr val="FFC0CD"/>
    <a:srgbClr val="FF005F"/>
    <a:srgbClr val="AC6E6E"/>
    <a:srgbClr val="FFF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714" y="108"/>
      </p:cViewPr>
      <p:guideLst>
        <p:guide orient="horz" pos="227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3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5.jpeg"/><Relationship Id="rId7" Type="http://schemas.openxmlformats.org/officeDocument/2006/relationships/tags" Target="../tags/tag68.xml"/><Relationship Id="rId6" Type="http://schemas.openxmlformats.org/officeDocument/2006/relationships/image" Target="../media/image4.jpe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2.jpe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1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2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2475230" y="3161030"/>
            <a:ext cx="6861175" cy="2144395"/>
            <a:chOff x="3770" y="4978"/>
            <a:chExt cx="10805" cy="3377"/>
          </a:xfrm>
        </p:grpSpPr>
        <p:sp>
          <p:nvSpPr>
            <p:cNvPr id="16" name="矩形 15"/>
            <p:cNvSpPr/>
            <p:nvPr>
              <p:custDataLst>
                <p:tags r:id="rId13"/>
              </p:custDataLst>
            </p:nvPr>
          </p:nvSpPr>
          <p:spPr>
            <a:xfrm>
              <a:off x="3770" y="4978"/>
              <a:ext cx="10805" cy="845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第</a:t>
              </a:r>
              <a:r>
                <a:rPr lang="en-US" altLang="zh-CN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7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章：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指令微调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4"/>
              </p:custDataLst>
            </p:nvPr>
          </p:nvSpPr>
          <p:spPr>
            <a:xfrm>
              <a:off x="3771" y="7078"/>
              <a:ext cx="10804" cy="1277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indent="0" algn="ctr">
                <a:spcBef>
                  <a:spcPts val="600"/>
                </a:spcBef>
                <a:spcAft>
                  <a:spcPts val="600"/>
                </a:spcAft>
                <a:buFont typeface="Arial" panose="020B0604020202090204" pitchFamily="34" charset="0"/>
                <a:buNone/>
              </a:pPr>
              <a:endParaRPr lang="en-US" altLang="zh-CN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从“续写”走向“交互”</a:t>
            </a:r>
            <a:endParaRPr lang="en-US" altLang="zh-CN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4" name="图片 3" descr="83cfef8ba37d83e15c43f5ba73df3b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230" y="2089785"/>
            <a:ext cx="9512935" cy="4597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3565" y="1145540"/>
            <a:ext cx="10756265" cy="7067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早期语言模型更像“自动续写器”，给一段文字就往后接着写。</a:t>
            </a:r>
            <a:r>
              <a:rPr lang="zh-CN" altLang="en-US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指令微调</a:t>
            </a:r>
            <a:r>
              <a:rPr lang="zh-CN" altLang="en-US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让模型学会理解用户的要求，并用“回答问题、执行任务”的方式进行交互，而不只是继续补全文本。</a:t>
            </a:r>
            <a:endParaRPr lang="zh-CN" altLang="en-US" sz="20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Alpaca 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指令数据的结构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931670"/>
            <a:ext cx="6804025" cy="477139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479425" y="1004570"/>
            <a:ext cx="11069955" cy="922020"/>
            <a:chOff x="755" y="1582"/>
            <a:chExt cx="17433" cy="1452"/>
          </a:xfrm>
        </p:grpSpPr>
        <p:sp>
          <p:nvSpPr>
            <p:cNvPr id="17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73" y="1918"/>
              <a:ext cx="291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核心</a:t>
              </a:r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原理</a:t>
              </a:r>
              <a:endParaRPr lang="zh-CN" altLang="en-US" b="1" dirty="0">
                <a:solidFill>
                  <a:sysClr val="window" lastClr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361" y="1582"/>
              <a:ext cx="13827" cy="1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indent="0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指令数据是一种</a:t>
              </a:r>
              <a:r>
                <a:rPr lang="en-US" altLang="zh-CN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“</a:t>
              </a:r>
              <a:r>
                <a:rPr lang="zh-CN" altLang="en-US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结构化的知识</a:t>
              </a:r>
              <a:r>
                <a:rPr lang="en-US" altLang="zh-CN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”</a:t>
              </a:r>
              <a:r>
                <a:rPr lang="zh-CN" altLang="en-US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，它用固定格式去模拟人类的对话与任务交互，从而让模型学会按要求回答，而不只是续写文本。</a:t>
              </a:r>
              <a:endParaRPr lang="zh-CN" altLang="en-US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124065" y="2110105"/>
            <a:ext cx="5080000" cy="3415030"/>
          </a:xfrm>
          <a:prstGeom prst="rect">
            <a:avLst/>
          </a:prstGeom>
        </p:spPr>
        <p:txBody>
          <a:bodyPr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指令（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Instruction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任务定义，也就是“你希望我做什么”。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输入（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Input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上下文信息，也就是“我需要基于什么材料来完成任务”。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输出（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Output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）：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期望行为与正确答案，也就是“理想的回复应该长什么样”。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工程约束：批处理与填充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80260"/>
            <a:ext cx="11710670" cy="345694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479425" y="1004570"/>
            <a:ext cx="11069955" cy="922020"/>
            <a:chOff x="755" y="1582"/>
            <a:chExt cx="17433" cy="1452"/>
          </a:xfrm>
        </p:grpSpPr>
        <p:sp>
          <p:nvSpPr>
            <p:cNvPr id="17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73" y="1918"/>
              <a:ext cx="291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核心</a:t>
              </a:r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原理</a:t>
              </a:r>
              <a:endParaRPr lang="zh-CN" altLang="en-US" b="1" dirty="0">
                <a:solidFill>
                  <a:sysClr val="window" lastClr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361" y="1582"/>
              <a:ext cx="13827" cy="1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indent="0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我们需要把长度不一、形状参差的真人对话数据，转换成长度统一的张量矩阵，才能高效地在</a:t>
              </a:r>
              <a:r>
                <a:rPr lang="en-US" altLang="zh-CN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 GPU </a:t>
              </a:r>
              <a:r>
                <a:rPr lang="zh-CN" altLang="en-US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上做批量计算。</a:t>
              </a:r>
              <a:endParaRPr lang="zh-CN" altLang="en-US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72085" y="5896610"/>
            <a:ext cx="12019915" cy="50673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训练时要用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 attention_mask 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把这些位置遮住，避免模型去关注它们，同时在计算 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loss 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时也要把这些位置忽略掉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。</a:t>
            </a:r>
            <a:endParaRPr lang="en-US" altLang="zh-CN" b="1" i="0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训练逻辑：目标右移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1740" y="2383790"/>
            <a:ext cx="8845550" cy="41586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2930" y="1138555"/>
            <a:ext cx="1138999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为构造训练目标，我们对输入序列做一位移位操作</a:t>
            </a:r>
            <a:r>
              <a:rPr lang="zh-CN" altLang="en-US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（将目标序列相对输入序列错开 </a:t>
            </a:r>
            <a:r>
              <a:rPr lang="en-US" altLang="zh-CN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 </a:t>
            </a:r>
            <a:r>
              <a:rPr lang="zh-CN" altLang="en-US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个 </a:t>
            </a:r>
            <a:r>
              <a:rPr lang="en-US" altLang="zh-CN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token</a:t>
            </a:r>
            <a:r>
              <a:rPr lang="zh-CN" altLang="en-US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，从而形成标准的自回归训练范式；在该设置下，模型在每个时间步都以已观测到的前文条件为依据，最大化对紧随其后的下一个 </a:t>
            </a:r>
            <a:r>
              <a:rPr lang="en-US" altLang="zh-CN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token </a:t>
            </a:r>
            <a:r>
              <a:rPr lang="zh-CN" altLang="en-US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的预测概率。</a:t>
            </a:r>
            <a:endParaRPr lang="zh-CN" altLang="en-US" sz="20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615" y="1053465"/>
            <a:ext cx="10986135" cy="36245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聚焦注意力：屏蔽填充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Masking Padding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0040" y="5000625"/>
            <a:ext cx="11488420" cy="147637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· </a:t>
            </a:r>
            <a:r>
              <a:rPr lang="zh-CN" altLang="en-US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把多余的 </a:t>
            </a:r>
            <a:r>
              <a:rPr lang="en-US" altLang="zh-CN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padding </a:t>
            </a:r>
            <a:r>
              <a:rPr lang="zh-CN" altLang="en-US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位置在 </a:t>
            </a:r>
            <a:r>
              <a:rPr lang="en-US" altLang="zh-CN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labels </a:t>
            </a:r>
            <a:r>
              <a:rPr lang="zh-CN" altLang="en-US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中改成</a:t>
            </a:r>
            <a:r>
              <a:rPr lang="en-US" altLang="zh-CN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 -100</a:t>
            </a:r>
            <a:r>
              <a:rPr lang="zh-CN" altLang="en-US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，这样计算 </a:t>
            </a:r>
            <a:r>
              <a:rPr lang="en-US" altLang="zh-CN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loss </a:t>
            </a:r>
            <a:r>
              <a:rPr lang="zh-CN" altLang="en-US" sz="20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时会被忽略，模型不会学习无意义的占位符。</a:t>
            </a:r>
            <a:endParaRPr lang="zh-CN" altLang="en-US" sz="20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</a:rPr>
              <a:t>·</a:t>
            </a:r>
            <a:r>
              <a:rPr lang="en-US" altLang="zh-CN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</a:t>
            </a:r>
            <a:r>
              <a:rPr lang="zh-CN" altLang="en-US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保留一个 </a:t>
            </a:r>
            <a:r>
              <a:rPr lang="en-US" altLang="zh-CN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50256 </a:t>
            </a:r>
            <a:r>
              <a:rPr lang="zh-CN" altLang="en-US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是为了作为真正的 </a:t>
            </a:r>
            <a:r>
              <a:rPr lang="en-US" altLang="zh-CN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EOS</a:t>
            </a:r>
            <a:r>
              <a:rPr lang="zh-CN" altLang="en-US" sz="20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（结束符），让模型学会在正确位置停止生成。</a:t>
            </a:r>
            <a:endParaRPr lang="zh-CN" altLang="en-US" sz="2000" b="1" i="0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学习曲线：解读训练损失与验证损失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931670"/>
            <a:ext cx="11292205" cy="459105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79425" y="1004570"/>
            <a:ext cx="11069955" cy="922020"/>
            <a:chOff x="755" y="1582"/>
            <a:chExt cx="17433" cy="1452"/>
          </a:xfrm>
        </p:grpSpPr>
        <p:sp>
          <p:nvSpPr>
            <p:cNvPr id="8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73" y="1918"/>
              <a:ext cx="291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核心</a:t>
              </a:r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原理</a:t>
              </a:r>
              <a:endParaRPr lang="zh-CN" altLang="en-US" b="1" dirty="0">
                <a:solidFill>
                  <a:sysClr val="window" lastClr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61" y="1582"/>
              <a:ext cx="13827" cy="1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indent="0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通过对比训练集</a:t>
              </a:r>
              <a:r>
                <a:rPr lang="en-US" altLang="zh-CN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 loss </a:t>
              </a:r>
              <a:r>
                <a:rPr lang="zh-CN" altLang="en-US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和验证集</a:t>
              </a:r>
              <a:r>
                <a:rPr lang="en-US" altLang="zh-CN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 loss </a:t>
              </a:r>
              <a:r>
                <a:rPr lang="zh-CN" altLang="en-US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汉仪旗黑-55简" panose="00020600040101010101" pitchFamily="18" charset="-122"/>
                </a:rPr>
                <a:t>的变化趋势，我们可以判断模型是否在有效学习，以及是否出现过拟合或欠拟合。</a:t>
              </a:r>
              <a:endParaRPr lang="zh-CN" altLang="en-US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59105"/>
            <a:ext cx="8845550" cy="448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评估模型效果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4" name="图片 3" descr="e3e1a3ad7c3acc8ab2923c3530b10091"/>
          <p:cNvPicPr>
            <a:picLocks noChangeAspect="1"/>
          </p:cNvPicPr>
          <p:nvPr/>
        </p:nvPicPr>
        <p:blipFill>
          <a:blip r:embed="rId1"/>
          <a:srcRect l="272" t="18988" r="-272" b="22467"/>
          <a:stretch>
            <a:fillRect/>
          </a:stretch>
        </p:blipFill>
        <p:spPr>
          <a:xfrm>
            <a:off x="904875" y="2126615"/>
            <a:ext cx="10644505" cy="415480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79425" y="1004570"/>
            <a:ext cx="11069955" cy="922020"/>
            <a:chOff x="755" y="1582"/>
            <a:chExt cx="17433" cy="1452"/>
          </a:xfrm>
        </p:grpSpPr>
        <p:sp>
          <p:nvSpPr>
            <p:cNvPr id="8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73" y="1918"/>
              <a:ext cx="291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核心</a:t>
              </a:r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原理</a:t>
              </a:r>
              <a:endParaRPr lang="zh-CN" altLang="en-US" b="1" dirty="0">
                <a:solidFill>
                  <a:sysClr val="window" lastClr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61" y="1582"/>
              <a:ext cx="13827" cy="1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indent="0" algn="just" fontAlgn="auto">
                <a:lnSpc>
                  <a:spcPct val="150000"/>
                </a:lnSpc>
              </a:pPr>
              <a:r>
                <a:rPr lang="zh-CN" altLang="en-US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分类任务可以用对</a:t>
              </a:r>
              <a:r>
                <a:rPr lang="en-US" altLang="zh-CN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/</a:t>
              </a:r>
              <a:r>
                <a:rPr lang="zh-CN" altLang="en-US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错来算准确率，但指令微调的输出是开放式文本，同一句话可能有多种等价表达</a:t>
              </a:r>
              <a:r>
                <a:rPr lang="en-US" altLang="zh-CN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。</a:t>
              </a:r>
              <a:endParaRPr lang="en-US" altLang="zh-CN" dirty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WPS 演示</Application>
  <PresentationFormat>宽屏</PresentationFormat>
  <Paragraphs>48</Paragraphs>
  <Slides>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4" baseType="lpstr">
      <vt:lpstr>Arial</vt:lpstr>
      <vt:lpstr>宋体</vt:lpstr>
      <vt:lpstr>Wingdings</vt:lpstr>
      <vt:lpstr>Wingdings</vt:lpstr>
      <vt:lpstr>微软雅黑</vt:lpstr>
      <vt:lpstr>汉仪旗黑</vt:lpstr>
      <vt:lpstr>PingFang SC Semibold</vt:lpstr>
      <vt:lpstr>Arial</vt:lpstr>
      <vt:lpstr>PingFang SC Regular</vt:lpstr>
      <vt:lpstr>PingFang SC</vt:lpstr>
      <vt:lpstr>汉仪旗黑-55简</vt:lpstr>
      <vt:lpstr>等线</vt:lpstr>
      <vt:lpstr>汉仪中等线KW</vt:lpstr>
      <vt:lpstr>宋体</vt:lpstr>
      <vt:lpstr>Arial Unicode MS</vt:lpstr>
      <vt:lpstr>Calibri</vt:lpstr>
      <vt:lpstr>Helvetica Neue</vt:lpstr>
      <vt:lpstr>汉仪书宋二KW</vt:lpstr>
      <vt:lpstr>汉仪中黑KW</vt:lpstr>
      <vt:lpstr>微软雅黑</vt:lpstr>
      <vt:lpstr>汉仪旗黑-55简</vt:lpstr>
      <vt:lpstr>-webkit-standard</vt:lpstr>
      <vt:lpstr>Thonburi</vt:lpstr>
      <vt:lpstr>-webkit-standard</vt:lpstr>
      <vt:lpstr>苹方-简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王皓平</cp:lastModifiedBy>
  <cp:revision>361</cp:revision>
  <dcterms:created xsi:type="dcterms:W3CDTF">2026-02-05T09:24:31Z</dcterms:created>
  <dcterms:modified xsi:type="dcterms:W3CDTF">2026-02-05T09:24:31Z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252B1D97EF7AA109CF618469E72CB09A_43</vt:lpwstr>
  </property>
</Properties>
</file>