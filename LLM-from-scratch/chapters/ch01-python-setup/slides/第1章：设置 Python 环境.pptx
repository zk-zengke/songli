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519" r:id="rId5"/>
    <p:sldId id="522" r:id="rId6"/>
    <p:sldId id="521" r:id="rId7"/>
    <p:sldId id="520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1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  <p:cmAuthor id="1" name="嘉莉 曾" initials="嘉莉" lastIdx="2" clrIdx="0"/>
  <p:cmAuthor id="3" name="25108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E6EBF5"/>
    <a:srgbClr val="C6D5EA"/>
    <a:srgbClr val="E8EBF5"/>
    <a:srgbClr val="CBD5EA"/>
    <a:srgbClr val="FFFFFF"/>
    <a:srgbClr val="B10003"/>
    <a:srgbClr val="FDF2F2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91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6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5.jpeg"/><Relationship Id="rId7" Type="http://schemas.openxmlformats.org/officeDocument/2006/relationships/tags" Target="../tags/tag68.xml"/><Relationship Id="rId6" Type="http://schemas.openxmlformats.org/officeDocument/2006/relationships/image" Target="../media/image4.jpe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2.jpe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4.xml"/><Relationship Id="rId3" Type="http://schemas.openxmlformats.org/officeDocument/2006/relationships/image" Target="../media/image9.png"/><Relationship Id="rId2" Type="http://schemas.openxmlformats.org/officeDocument/2006/relationships/tags" Target="../tags/tag7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5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 bwMode="auto">
          <a:xfrm>
            <a:off x="4689552" y="-8702"/>
            <a:ext cx="2233808" cy="1614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14688" y="11628"/>
            <a:ext cx="2288484" cy="15942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67201" y="3801"/>
            <a:ext cx="2299923" cy="1615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 descr="透明底"/>
          <p:cNvPicPr>
            <a:picLocks noChangeAspect="1"/>
          </p:cNvPicPr>
          <p:nvPr/>
        </p:nvPicPr>
        <p:blipFill>
          <a:blip r:embed="rId11"/>
          <a:srcRect l="10822" t="13549" r="9928" b="12441"/>
          <a:stretch>
            <a:fillRect/>
          </a:stretch>
        </p:blipFill>
        <p:spPr>
          <a:xfrm>
            <a:off x="8549640" y="2045335"/>
            <a:ext cx="925195" cy="820420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2"/>
          <a:srcRect t="36843" b="36463"/>
          <a:stretch>
            <a:fillRect/>
          </a:stretch>
        </p:blipFill>
        <p:spPr>
          <a:xfrm>
            <a:off x="1033780" y="2044700"/>
            <a:ext cx="3077210" cy="82169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13"/>
            </p:custDataLst>
          </p:nvPr>
        </p:nvSpPr>
        <p:spPr>
          <a:xfrm>
            <a:off x="2996565" y="3265170"/>
            <a:ext cx="6424295" cy="536575"/>
          </a:xfrm>
          <a:prstGeom prst="rect">
            <a:avLst/>
          </a:prstGeom>
        </p:spPr>
        <p:txBody>
          <a:bodyPr wrap="square" lIns="91430" tIns="45715" rIns="91430" bIns="45715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3600" b="1" dirty="0">
                <a:solidFill>
                  <a:srgbClr val="FF0000"/>
                </a:solidFill>
                <a:latin typeface="+mj-lt"/>
                <a:ea typeface="微软雅黑" panose="020B0503020204020204" charset="-122"/>
                <a:cs typeface="+mj-lt"/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第</a:t>
            </a:r>
            <a:r>
              <a:rPr lang="en-US" altLang="zh-CN" sz="3600" b="1" dirty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1</a:t>
            </a:r>
            <a:r>
              <a:rPr lang="zh-CN" altLang="en-US" sz="3600" b="1" dirty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章：设置</a:t>
            </a:r>
            <a:r>
              <a:rPr lang="en-US" altLang="zh-CN" sz="3600" b="1" dirty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Python</a:t>
            </a:r>
            <a:r>
              <a:rPr lang="zh-CN" altLang="en-US" sz="3600" b="1" dirty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环境</a:t>
            </a:r>
            <a:r>
              <a:rPr lang="en-US" altLang="zh-CN" sz="3600" b="1" dirty="0">
                <a:solidFill>
                  <a:schemeClr val="accent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       </a:t>
            </a:r>
            <a:endParaRPr lang="en-US" altLang="zh-CN" sz="3600" b="1" dirty="0">
              <a:solidFill>
                <a:schemeClr val="accent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8" name="矩形 7"/>
          <p:cNvSpPr/>
          <p:nvPr>
            <p:custDataLst>
              <p:tags r:id="rId14"/>
            </p:custDataLst>
          </p:nvPr>
        </p:nvSpPr>
        <p:spPr>
          <a:xfrm>
            <a:off x="2996565" y="4292600"/>
            <a:ext cx="6424295" cy="536575"/>
          </a:xfrm>
          <a:prstGeom prst="rect">
            <a:avLst/>
          </a:prstGeom>
        </p:spPr>
        <p:txBody>
          <a:bodyPr wrap="square" lIns="91430" tIns="45715" rIns="91430" bIns="45715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>
                <a:solidFill>
                  <a:srgbClr val="FF0000"/>
                </a:solidFill>
                <a:ea typeface="微软雅黑" panose="020B0503020204020204" charset="-122"/>
                <a:cs typeface="+mn-lt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以使用</a:t>
            </a:r>
            <a:r>
              <a:rPr lang="en-US" altLang="zh-CN" sz="2800" dirty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uv </a:t>
            </a:r>
            <a:r>
              <a:rPr lang="zh-CN" altLang="en-US" sz="2800" dirty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为例</a:t>
            </a:r>
            <a:r>
              <a:rPr lang="en-US" altLang="zh-CN" sz="2800" dirty="0">
                <a:solidFill>
                  <a:schemeClr val="accent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       </a:t>
            </a:r>
            <a:endParaRPr lang="en-US" altLang="zh-CN" sz="2800" dirty="0">
              <a:solidFill>
                <a:schemeClr val="accent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3"/>
          <p:cNvSpPr txBox="1"/>
          <p:nvPr/>
        </p:nvSpPr>
        <p:spPr>
          <a:xfrm>
            <a:off x="347251" y="441479"/>
            <a:ext cx="217106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Microsoft Sans Serif" panose="020B0604020202020204" pitchFamily="34" charset="0"/>
              </a:rPr>
              <a:t>安装</a:t>
            </a:r>
            <a:r>
              <a:rPr lang="en-US" altLang="zh-CN" sz="3035" b="1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Microsoft Sans Serif" panose="020B0604020202020204" pitchFamily="34" charset="0"/>
              </a:rPr>
              <a:t> Python</a:t>
            </a:r>
            <a:endParaRPr lang="en-US" altLang="zh-CN" sz="3035" b="1" dirty="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Microsoft Sans Serif" panose="020B0604020202020204" pitchFamily="34" charset="0"/>
            </a:endParaRPr>
          </a:p>
        </p:txBody>
      </p:sp>
      <p:pic>
        <p:nvPicPr>
          <p:cNvPr id="10" name="图片 9" descr="3f7729b7-6b07-4118-874a-d62cef07b5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40" y="1236345"/>
            <a:ext cx="3600000" cy="2343366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5055235" y="908685"/>
            <a:ext cx="6925310" cy="1785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打开终端</a:t>
            </a: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，</a:t>
            </a:r>
            <a:r>
              <a:rPr kumimoji="1" lang="zh-CN" alt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使用命令</a:t>
            </a: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python --version </a:t>
            </a:r>
            <a:r>
              <a:rPr kumimoji="1" lang="zh-CN" alt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或</a:t>
            </a: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python3 --version </a:t>
            </a:r>
            <a:r>
              <a:rPr kumimoji="1" lang="zh-CN" alt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检查版本</a:t>
            </a: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。</a:t>
            </a:r>
            <a:endParaRPr kumimoji="1" lang="en-US" altLang="zh-CN" sz="20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</p:txBody>
      </p:sp>
      <p:pic>
        <p:nvPicPr>
          <p:cNvPr id="19" name="图片 18" descr="8173de6d-f099-4a32-94f7-c0996b049fa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45" y="4152265"/>
            <a:ext cx="3600000" cy="2343977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5055235" y="2037080"/>
            <a:ext cx="7265670" cy="4820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如果未安装</a:t>
            </a: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Python</a:t>
            </a:r>
            <a:r>
              <a:rPr kumimoji="1" lang="zh-CN" alt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或版本较旧，使用命令进行安装</a:t>
            </a: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：</a:t>
            </a:r>
            <a:endParaRPr kumimoji="1" lang="en-US" altLang="zh-CN" sz="20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· Linux：</a:t>
            </a:r>
            <a:endParaRPr kumimoji="1" lang="en-US" altLang="zh-CN" sz="2000" b="1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sudo apt update</a:t>
            </a:r>
            <a:endParaRPr kumimoji="1" lang="en-US" altLang="zh-CN" sz="20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sudo apt install python3.13 python3.13-venv python3.13-dev</a:t>
            </a:r>
            <a:endParaRPr kumimoji="1" lang="en-US" altLang="zh-CN" sz="20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 b="1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· Mac：</a:t>
            </a:r>
            <a:endParaRPr kumimoji="1" lang="zh-CN" altLang="en-US" sz="2000" b="1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brewinstallpython@3.13</a:t>
            </a:r>
            <a:r>
              <a:rPr lang="en-US" altLang="zh-CN" sz="2000">
                <a:solidFill>
                  <a:srgbClr val="CE9178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</a:t>
            </a:r>
            <a:endParaRPr lang="en-US" altLang="zh-CN" sz="2000">
              <a:solidFill>
                <a:srgbClr val="CE9178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 b="1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· Windows：</a:t>
            </a:r>
            <a:endParaRPr kumimoji="1" lang="en-US" altLang="zh-CN" sz="2000" b="1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请从官方网站下载并运行安装程序：</a:t>
            </a:r>
            <a:r>
              <a:rPr kumimoji="1"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https://www.python.org/downloads/</a:t>
            </a:r>
            <a:endParaRPr kumimoji="1" lang="en-US" altLang="zh-CN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endParaRPr kumimoji="1" lang="en-US" altLang="zh-CN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3"/>
          <p:cNvSpPr txBox="1"/>
          <p:nvPr/>
        </p:nvSpPr>
        <p:spPr>
          <a:xfrm>
            <a:off x="387891" y="441479"/>
            <a:ext cx="232029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+mn-lt"/>
                <a:sym typeface="Microsoft Sans Serif" panose="020B0604020202020204" pitchFamily="34" charset="0"/>
              </a:rPr>
              <a:t>创建虚拟环境</a:t>
            </a:r>
            <a:endParaRPr lang="zh-CN" altLang="en-US" sz="3035" b="1" dirty="0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+mn-lt"/>
              <a:sym typeface="Microsoft Sans Serif" panose="020B0604020202020204" pitchFamily="34" charset="0"/>
            </a:endParaRPr>
          </a:p>
        </p:txBody>
      </p:sp>
      <p:pic>
        <p:nvPicPr>
          <p:cNvPr id="4" name="图片 3" descr="a429ae8a-2a57-42c0-ba2d-98e6adca667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985" y="1714500"/>
            <a:ext cx="5400000" cy="3514947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6096000" y="1021715"/>
            <a:ext cx="5884545" cy="5619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· </a:t>
            </a:r>
            <a:r>
              <a:rPr kumimoji="1" lang="zh-CN" altLang="en-US" sz="2000" b="1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安装</a:t>
            </a:r>
            <a:r>
              <a:rPr kumimoji="1" lang="en-US" altLang="zh-CN" sz="2000" b="1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uv</a:t>
            </a:r>
            <a:endParaRPr kumimoji="1" lang="en-US" altLang="zh-CN" sz="2000" b="1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pip install uv. </a:t>
            </a:r>
            <a:r>
              <a:rPr kumimoji="1" lang="zh-CN" alt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或</a:t>
            </a: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pip3 install uv</a:t>
            </a:r>
            <a:endParaRPr kumimoji="1" lang="en-US" altLang="zh-CN" sz="20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· </a:t>
            </a:r>
            <a:r>
              <a:rPr kumimoji="1" lang="zh-CN" altLang="en-US" sz="2000" b="1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创建虚拟环境</a:t>
            </a:r>
            <a:endParaRPr kumimoji="1" lang="zh-CN" altLang="en-US" sz="2000" b="1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uv venv --python=python3.13</a:t>
            </a:r>
            <a:endParaRPr kumimoji="1" lang="en-US" altLang="zh-CN" sz="20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· </a:t>
            </a:r>
            <a:r>
              <a:rPr kumimoji="1" lang="zh-CN" altLang="en-US" sz="2000" b="1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激活虚拟环境</a:t>
            </a:r>
            <a:endParaRPr kumimoji="1" lang="zh-CN" altLang="en-US" sz="2000" b="1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source .venv/bin/activate</a:t>
            </a:r>
            <a:endParaRPr kumimoji="1" lang="en-US" altLang="zh-CN" sz="20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endParaRPr kumimoji="1" lang="en-US" altLang="zh-CN" sz="20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如果使用的是 Windows系统，可能需要将上面的命令替换为 `source .venv/Scripts/activate` 或 `.venv/Scripts/activate`</a:t>
            </a:r>
            <a:endParaRPr kumimoji="1" lang="zh-CN" altLang="en-US" sz="20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endParaRPr kumimoji="1" lang="zh-CN" altLang="en-US" sz="20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可以执行</a:t>
            </a:r>
            <a:r>
              <a:rPr kumimoji="1" lang="en-US" alt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deactivate </a:t>
            </a:r>
            <a:r>
              <a:rPr kumimoji="1" lang="zh-CN" alt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命令来停用环境</a:t>
            </a:r>
            <a:endParaRPr kumimoji="1" lang="zh-CN" altLang="en-US" sz="20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3"/>
          <p:cNvSpPr txBox="1"/>
          <p:nvPr/>
        </p:nvSpPr>
        <p:spPr>
          <a:xfrm>
            <a:off x="387891" y="441479"/>
            <a:ext cx="116014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+mn-lt"/>
                <a:sym typeface="Microsoft Sans Serif" panose="020B0604020202020204" pitchFamily="34" charset="0"/>
              </a:rPr>
              <a:t>安装包</a:t>
            </a:r>
            <a:endParaRPr lang="zh-CN" altLang="en-US" sz="3035" b="1" dirty="0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+mn-lt"/>
              <a:sym typeface="Microsoft Sans Serif" panose="020B0604020202020204" pitchFamily="34" charset="0"/>
            </a:endParaRPr>
          </a:p>
        </p:txBody>
      </p:sp>
      <p:pic>
        <p:nvPicPr>
          <p:cNvPr id="2" name="图片 1" descr="01f4a9c39d6d26b6603400107329834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10" y="1733550"/>
            <a:ext cx="5400000" cy="351547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99505" y="1733550"/>
            <a:ext cx="5608320" cy="470789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kumimoji="1" lang="zh-CN" altLang="en-US" sz="2000" b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在激活虚拟环境后，可以使用 uv pip 安装所需的包。</a:t>
            </a:r>
            <a:endParaRPr kumimoji="1" lang="zh-CN" altLang="en-US" sz="2000" b="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kumimoji="1" lang="zh-CN" altLang="en-US" sz="2000" b="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kumimoji="1" lang="zh-CN" altLang="en-US" sz="2000" b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例如</a:t>
            </a:r>
            <a:r>
              <a:rPr kumimoji="1" lang="en-US" altLang="zh-CN" sz="2000" b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：</a:t>
            </a:r>
            <a:endParaRPr kumimoji="1" lang="en-US" altLang="zh-CN" sz="2000" b="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kumimoji="1" lang="en-US" altLang="zh-CN" sz="2000" b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uv pip install numpy pandas </a:t>
            </a:r>
            <a:r>
              <a:rPr kumimoji="1" lang="zh-CN" altLang="en-US" sz="2000" b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或</a:t>
            </a:r>
            <a:endParaRPr kumimoji="1" lang="zh-CN" altLang="en-US" sz="2000" b="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kumimoji="1" lang="en-US" altLang="zh-CN" sz="2000" b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uv pip install </a:t>
            </a:r>
            <a:r>
              <a:rPr kumimoji="1" lang="en-US" altLang="zh-CN" sz="2000" b="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#your file path </a:t>
            </a:r>
            <a:endParaRPr kumimoji="1" lang="en-US" altLang="zh-CN" sz="2000" b="0">
              <a:solidFill>
                <a:srgbClr val="FF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kumimoji="1" lang="en-US" altLang="zh-CN" sz="2000" b="0">
              <a:solidFill>
                <a:srgbClr val="FF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kumimoji="1"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注</a:t>
            </a:r>
            <a:r>
              <a:rPr kumimoji="1"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：</a:t>
            </a:r>
            <a:r>
              <a:rPr kumimoji="1" lang="zh-CN" altLang="en-US" sz="2000" b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仓库提供了</a:t>
            </a:r>
            <a:r>
              <a:rPr kumimoji="1" lang="en-US" altLang="zh-CN" sz="2000" b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requirement.txt，</a:t>
            </a:r>
            <a:r>
              <a:rPr kumimoji="1" lang="zh-CN" altLang="en-US" sz="2000" b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可以直接下载好后续代码需要使用的包</a:t>
            </a:r>
            <a:endParaRPr kumimoji="1" lang="en-US" altLang="zh-CN" sz="2000" b="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kumimoji="1" lang="en-US" altLang="zh-CN" sz="2000" b="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3540" y="357505"/>
            <a:ext cx="6096000" cy="558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latin typeface="PingFang SC Semibold" panose="020B0400000000000000" charset="-122"/>
                <a:ea typeface="PingFang SC Semibold" panose="020B0400000000000000" charset="-122"/>
                <a:cs typeface="+mn-lt"/>
                <a:sym typeface="Microsoft Sans Serif" panose="020B0604020202020204" pitchFamily="34" charset="0"/>
              </a:rPr>
              <a:t>开始写代码</a:t>
            </a:r>
            <a:endParaRPr lang="zh-CN" altLang="en-US" sz="3035" b="1" dirty="0">
              <a:latin typeface="PingFang SC Semibold" panose="020B0400000000000000" charset="-122"/>
              <a:ea typeface="PingFang SC Semibold" panose="020B0400000000000000" charset="-122"/>
              <a:cs typeface="+mn-lt"/>
              <a:sym typeface="Microsoft Sans Serif" panose="020B0604020202020204" pitchFamily="34" charset="0"/>
            </a:endParaRPr>
          </a:p>
        </p:txBody>
      </p:sp>
      <p:pic>
        <p:nvPicPr>
          <p:cNvPr id="3" name="图片 2" descr="c5ef7f04-37cd-4126-b90e-aef960ad7bc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1278890"/>
            <a:ext cx="3600000" cy="2343406"/>
          </a:xfrm>
          <a:prstGeom prst="rect">
            <a:avLst/>
          </a:prstGeom>
        </p:spPr>
      </p:pic>
      <p:pic>
        <p:nvPicPr>
          <p:cNvPr id="4" name="图片 3" descr="ebde35078b9f86e3c3c39c8b864f292d"/>
          <p:cNvPicPr/>
          <p:nvPr/>
        </p:nvPicPr>
        <p:blipFill>
          <a:blip r:embed="rId2"/>
          <a:stretch>
            <a:fillRect/>
          </a:stretch>
        </p:blipFill>
        <p:spPr>
          <a:xfrm>
            <a:off x="828040" y="4048760"/>
            <a:ext cx="3600000" cy="2343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05070" y="1278890"/>
            <a:ext cx="6656705" cy="321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kumimoji="1" lang="zh-CN" altLang="en-US" sz="2000" b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运行</a:t>
            </a:r>
            <a:r>
              <a:rPr kumimoji="1" lang="en-US" altLang="zh-CN" sz="2000" b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`jupyter lab` </a:t>
            </a:r>
            <a:r>
              <a:rPr kumimoji="1" lang="zh-CN" altLang="en-US" sz="2000" b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命令可直接启动 Jupyter</a:t>
            </a:r>
            <a:r>
              <a:rPr kumimoji="1" lang="en-US" altLang="zh-CN" sz="2000" b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kumimoji="1" lang="zh-CN" altLang="en-US" sz="2000" b="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Lab</a:t>
            </a:r>
            <a:endParaRPr kumimoji="1" lang="zh-CN" altLang="en-US" sz="2000" b="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05070" y="2069465"/>
            <a:ext cx="7186930" cy="4105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常用的编译工具</a:t>
            </a: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：</a:t>
            </a:r>
            <a:endParaRPr lang="en-US" altLang="zh-CN" sz="2000" b="1">
              <a:latin typeface="PingFang SC Semibold" panose="020B0400000000000000" charset="-122"/>
              <a:ea typeface="PingFang SC Semibold" panose="020B0400000000000000" charset="-122"/>
              <a:cs typeface="PingFang SC Regular" panose="020B0400000000000000" charset="-122"/>
            </a:endParaRPr>
          </a:p>
          <a:p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VScode：</a:t>
            </a:r>
            <a:r>
              <a:rPr lang="en-US" altLang="zh-CN" u="sng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https://code.visualstudio.com</a:t>
            </a:r>
            <a:endParaRPr lang="en-US" altLang="zh-CN" u="sng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endParaRPr lang="zh-CN" altLang="en-US" u="sng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PyCharm：</a:t>
            </a:r>
            <a:r>
              <a:rPr lang="en-US" altLang="zh-CN" u="sng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https://www.jetbrains.com/pycharm/</a:t>
            </a:r>
            <a:endParaRPr lang="en-US" altLang="zh-CN" u="sng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endParaRPr lang="en-US" altLang="zh-CN" u="sng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Jupyter Notebook：</a:t>
            </a:r>
            <a:r>
              <a:rPr lang="en-US" altLang="zh-CN" u="sng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https://jupyter.org</a:t>
            </a:r>
            <a:endParaRPr lang="en-US" altLang="zh-CN" u="sng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Google colab：</a:t>
            </a:r>
            <a:r>
              <a:rPr lang="en-US" altLang="zh-CN" u="sng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https://colab.google</a:t>
            </a:r>
            <a:endParaRPr lang="en-US" altLang="zh-CN" u="sng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endParaRPr lang="en-US" altLang="zh-CN" u="sng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Kaggle：</a:t>
            </a:r>
            <a:r>
              <a:rPr lang="en-US" altLang="zh-CN" u="sng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https://www.kaggle.com/code</a:t>
            </a:r>
            <a:endParaRPr lang="en-US" altLang="zh-CN" u="sng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GitHub Codespaces：</a:t>
            </a:r>
            <a:r>
              <a:rPr lang="en-US" altLang="zh-CN" u="sng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https://github.com/features/codespaces</a:t>
            </a:r>
            <a:endParaRPr lang="en-US" altLang="zh-CN" u="sng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endParaRPr lang="en-US" altLang="zh-CN" u="sng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3.xml><?xml version="1.0" encoding="utf-8"?>
<p:tagLst xmlns:p="http://schemas.openxmlformats.org/presentationml/2006/main">
  <p:tag name="KSO_WM_DIAGRAM_VIRTUALLY_FRAME" val="{&quot;height&quot;:482.7,&quot;left&quot;:30.55,&quot;top&quot;:83.05,&quot;width&quot;:582.4}"/>
</p:tagLst>
</file>

<file path=ppt/tags/tag74.xml><?xml version="1.0" encoding="utf-8"?>
<p:tagLst xmlns:p="http://schemas.openxmlformats.org/presentationml/2006/main">
  <p:tag name="KSO_WM_DIAGRAM_VIRTUALLY_FRAME" val="{&quot;height&quot;:482.7,&quot;left&quot;:30.55,&quot;top&quot;:83.05,&quot;width&quot;:582.4}"/>
</p:tagLst>
</file>

<file path=ppt/tags/tag75.xml><?xml version="1.0" encoding="utf-8"?>
<p:tagLst xmlns:p="http://schemas.openxmlformats.org/presentationml/2006/main">
  <p:tag name="KSO_WM_DIAGRAM_VIRTUALLY_FRAME" val="{&quot;height&quot;:482.7,&quot;left&quot;:30.55,&quot;top&quot;:83.05,&quot;width&quot;:582.4}"/>
</p:tagLst>
</file>

<file path=ppt/tags/tag76.xml><?xml version="1.0" encoding="utf-8"?>
<p:tagLst xmlns:p="http://schemas.openxmlformats.org/presentationml/2006/main">
  <p:tag name="commondata" val="eyJoZGlkIjoiMjVhODdiNDM4NzVmNGNiNWI5YjAyNzNmMzg1OGIwZTYifQ=="/>
  <p:tag name="resource_record_key" val="{&quot;13&quot;:[20481688],&quot;8&quot;:[204708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WPS 演示</Application>
  <PresentationFormat>宽屏</PresentationFormat>
  <Paragraphs>61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36" baseType="lpstr">
      <vt:lpstr>Arial</vt:lpstr>
      <vt:lpstr>宋体</vt:lpstr>
      <vt:lpstr>Wingdings</vt:lpstr>
      <vt:lpstr>Wingdings</vt:lpstr>
      <vt:lpstr>微软雅黑</vt:lpstr>
      <vt:lpstr>汉仪旗黑</vt:lpstr>
      <vt:lpstr>Microsoft Sans Serif</vt:lpstr>
      <vt:lpstr>Garet Ultra-Bold</vt:lpstr>
      <vt:lpstr>Alibaba PuHuiTi</vt:lpstr>
      <vt:lpstr>DejaVu Math TeX Gyre</vt:lpstr>
      <vt:lpstr>汉仪书宋二KW</vt:lpstr>
      <vt:lpstr>苹方-简</vt:lpstr>
      <vt:lpstr>宋体</vt:lpstr>
      <vt:lpstr>Arial Unicode MS</vt:lpstr>
      <vt:lpstr>Calibri</vt:lpstr>
      <vt:lpstr>Helvetica Neue</vt:lpstr>
      <vt:lpstr>等线</vt:lpstr>
      <vt:lpstr>微软雅黑</vt:lpstr>
      <vt:lpstr>Times New Roman</vt:lpstr>
      <vt:lpstr>微软雅黑</vt:lpstr>
      <vt:lpstr>Thonburi</vt:lpstr>
      <vt:lpstr>汉仪中等线KW</vt:lpstr>
      <vt:lpstr>Alibaba PuHuiTi</vt:lpstr>
      <vt:lpstr>Garet Ultra-Bold</vt:lpstr>
      <vt:lpstr>Menlo</vt:lpstr>
      <vt:lpstr>Menlo</vt:lpstr>
      <vt:lpstr>凌慧体-繁</vt:lpstr>
      <vt:lpstr>SimSong Regular</vt:lpstr>
      <vt:lpstr>PingFang SC Regular</vt:lpstr>
      <vt:lpstr>PingFang SC Semibold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王皓平</cp:lastModifiedBy>
  <cp:revision>269</cp:revision>
  <dcterms:created xsi:type="dcterms:W3CDTF">2026-02-03T05:44:01Z</dcterms:created>
  <dcterms:modified xsi:type="dcterms:W3CDTF">2026-02-03T05:44:01Z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FDCF639B430DFAC0B68A81691E88F0AB_43</vt:lpwstr>
  </property>
</Properties>
</file>