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92" r:id="rId5"/>
    <p:sldId id="518" r:id="rId6"/>
    <p:sldId id="493" r:id="rId7"/>
    <p:sldId id="510" r:id="rId8"/>
    <p:sldId id="568" r:id="rId9"/>
    <p:sldId id="542" r:id="rId10"/>
    <p:sldId id="521" r:id="rId11"/>
    <p:sldId id="523" r:id="rId12"/>
    <p:sldId id="543" r:id="rId13"/>
    <p:sldId id="572" r:id="rId14"/>
    <p:sldId id="573" r:id="rId15"/>
    <p:sldId id="547" r:id="rId16"/>
    <p:sldId id="548" r:id="rId17"/>
    <p:sldId id="569" r:id="rId18"/>
    <p:sldId id="570" r:id="rId19"/>
    <p:sldId id="571" r:id="rId20"/>
    <p:sldId id="556" r:id="rId21"/>
    <p:sldId id="558" r:id="rId22"/>
    <p:sldId id="562" r:id="rId23"/>
    <p:sldId id="549" r:id="rId24"/>
    <p:sldId id="564" r:id="rId25"/>
    <p:sldId id="567" r:id="rId26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015"/>
    <a:srgbClr val="FFFFFF"/>
    <a:srgbClr val="FFF0F2"/>
    <a:srgbClr val="FFC5CD"/>
    <a:srgbClr val="FD005D"/>
    <a:srgbClr val="FEF1F2"/>
    <a:srgbClr val="FAC9CD"/>
    <a:srgbClr val="E0385C"/>
    <a:srgbClr val="FF5F70"/>
    <a:srgbClr val="BC6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20" y="1164"/>
      </p:cViewPr>
      <p:guideLst>
        <p:guide orient="horz" pos="208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09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../media/image4.jpeg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image" Target="../media/image2.jpeg"/><Relationship Id="rId13" Type="http://schemas.openxmlformats.org/officeDocument/2006/relationships/image" Target="../media/image7.png"/><Relationship Id="rId12" Type="http://schemas.openxmlformats.org/officeDocument/2006/relationships/image" Target="../media/image6.jpeg"/><Relationship Id="rId11" Type="http://schemas.openxmlformats.org/officeDocument/2006/relationships/tags" Target="../tags/tag71.xml"/><Relationship Id="rId10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108.xml"/><Relationship Id="rId27" Type="http://schemas.openxmlformats.org/officeDocument/2006/relationships/tags" Target="../tags/tag107.xml"/><Relationship Id="rId26" Type="http://schemas.openxmlformats.org/officeDocument/2006/relationships/tags" Target="../tags/tag106.xml"/><Relationship Id="rId25" Type="http://schemas.openxmlformats.org/officeDocument/2006/relationships/image" Target="../media/image18.svg"/><Relationship Id="rId24" Type="http://schemas.openxmlformats.org/officeDocument/2006/relationships/image" Target="../media/image17.png"/><Relationship Id="rId23" Type="http://schemas.openxmlformats.org/officeDocument/2006/relationships/tags" Target="../tags/tag105.xml"/><Relationship Id="rId22" Type="http://schemas.openxmlformats.org/officeDocument/2006/relationships/tags" Target="../tags/tag104.xml"/><Relationship Id="rId21" Type="http://schemas.openxmlformats.org/officeDocument/2006/relationships/tags" Target="../tags/tag103.xml"/><Relationship Id="rId20" Type="http://schemas.openxmlformats.org/officeDocument/2006/relationships/tags" Target="../tags/tag102.xml"/><Relationship Id="rId2" Type="http://schemas.openxmlformats.org/officeDocument/2006/relationships/tags" Target="../tags/tag90.xml"/><Relationship Id="rId19" Type="http://schemas.openxmlformats.org/officeDocument/2006/relationships/tags" Target="../tags/tag101.xml"/><Relationship Id="rId18" Type="http://schemas.openxmlformats.org/officeDocument/2006/relationships/image" Target="../media/image16.svg"/><Relationship Id="rId17" Type="http://schemas.openxmlformats.org/officeDocument/2006/relationships/image" Target="../media/image15.png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tags" Target="../tags/tag8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grpSp>
        <p:nvGrpSpPr>
          <p:cNvPr id="13" name="组合 12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18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章：</a:t>
              </a: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GUI Agent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与工具调用</a:t>
              </a:r>
              <a:endParaRPr lang="zh-CN" altLang="en-US" sz="3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3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4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6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学习目标与主线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270700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学习目标与主线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45845" y="1356360"/>
            <a:ext cx="10100310" cy="1219200"/>
            <a:chOff x="1647" y="2136"/>
            <a:chExt cx="15906" cy="1920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881" y="2136"/>
              <a:ext cx="14672" cy="1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5" name="矩形: 单圆角 61"/>
            <p:cNvSpPr/>
            <p:nvPr>
              <p:custDataLst>
                <p:tags r:id="rId2"/>
              </p:custDataLst>
            </p:nvPr>
          </p:nvSpPr>
          <p:spPr>
            <a:xfrm>
              <a:off x="1647" y="2466"/>
              <a:ext cx="2248" cy="126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3"/>
              </p:custDataLst>
            </p:nvPr>
          </p:nvSpPr>
          <p:spPr>
            <a:xfrm>
              <a:off x="1647" y="2587"/>
              <a:ext cx="1939" cy="1018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4"/>
              </p:custDataLst>
            </p:nvPr>
          </p:nvSpPr>
          <p:spPr>
            <a:xfrm>
              <a:off x="4643" y="2387"/>
              <a:ext cx="12472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algn="l" fontAlgn="auto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掌握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检索增强生成的核心定义与组件构成，理解检索器与生成器的协同逻辑，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明确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解决大模型幻觉、知识时效性不足的核心价值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045903" y="2715497"/>
            <a:ext cx="10100194" cy="1219200"/>
            <a:chOff x="1647" y="4325"/>
            <a:chExt cx="15906" cy="1920"/>
          </a:xfrm>
        </p:grpSpPr>
        <p:sp>
          <p:nvSpPr>
            <p:cNvPr id="21" name="矩形 20"/>
            <p:cNvSpPr/>
            <p:nvPr>
              <p:custDataLst>
                <p:tags r:id="rId5"/>
              </p:custDataLst>
            </p:nvPr>
          </p:nvSpPr>
          <p:spPr>
            <a:xfrm>
              <a:off x="2881" y="4325"/>
              <a:ext cx="14672" cy="1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22" name="矩形: 单圆角 65"/>
            <p:cNvSpPr/>
            <p:nvPr>
              <p:custDataLst>
                <p:tags r:id="rId6"/>
              </p:custDataLst>
            </p:nvPr>
          </p:nvSpPr>
          <p:spPr>
            <a:xfrm>
              <a:off x="1647" y="4655"/>
              <a:ext cx="2248" cy="126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1647" y="4776"/>
              <a:ext cx="1939" cy="1018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8"/>
              </p:custDataLst>
            </p:nvPr>
          </p:nvSpPr>
          <p:spPr>
            <a:xfrm>
              <a:off x="4643" y="4511"/>
              <a:ext cx="12472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algn="l" fontAlgn="auto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梳理从参数化知识存储到检索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生成融合的范式演变脉络，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厘清传统检索问答、端到端阅读理解、封闭书大模型到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的技术迭代路径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045845" y="4074160"/>
            <a:ext cx="10100194" cy="1219200"/>
            <a:chOff x="1045903" y="5197895"/>
            <a:chExt cx="10100194" cy="1219200"/>
          </a:xfrm>
        </p:grpSpPr>
        <p:sp>
          <p:nvSpPr>
            <p:cNvPr id="26" name="矩形 25"/>
            <p:cNvSpPr/>
            <p:nvPr>
              <p:custDataLst>
                <p:tags r:id="rId9"/>
              </p:custDataLst>
            </p:nvPr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27" name="矩形: 单圆角 69"/>
            <p:cNvSpPr/>
            <p:nvPr>
              <p:custDataLst>
                <p:tags r:id="rId10"/>
              </p:custDataLst>
            </p:nvPr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11"/>
              </p:custDataLst>
            </p:nvPr>
          </p:nvSpPr>
          <p:spPr>
            <a:xfrm>
              <a:off x="1045903" y="5484330"/>
              <a:ext cx="1231419" cy="646331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2"/>
              </p:custDataLst>
            </p:nvPr>
          </p:nvSpPr>
          <p:spPr>
            <a:xfrm>
              <a:off x="2948192" y="5324260"/>
              <a:ext cx="7919595" cy="891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拆解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检索模块、生成模块的核心技术方法与训练策略，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掌握稀疏检索、稠密检索、嵌入编码、向量索引等关键技术的落地逻辑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045845" y="5433060"/>
            <a:ext cx="10100194" cy="1219200"/>
            <a:chOff x="1045903" y="5197895"/>
            <a:chExt cx="10100194" cy="1219200"/>
          </a:xfrm>
        </p:grpSpPr>
        <p:sp>
          <p:nvSpPr>
            <p:cNvPr id="31" name="矩形 30"/>
            <p:cNvSpPr/>
            <p:nvPr>
              <p:custDataLst>
                <p:tags r:id="rId13"/>
              </p:custDataLst>
            </p:nvPr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2" name="矩形: 单圆角 69"/>
            <p:cNvSpPr/>
            <p:nvPr>
              <p:custDataLst>
                <p:tags r:id="rId14"/>
              </p:custDataLst>
            </p:nvPr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15"/>
              </p:custDataLst>
            </p:nvPr>
          </p:nvSpPr>
          <p:spPr>
            <a:xfrm>
              <a:off x="1045903" y="5484330"/>
              <a:ext cx="1231419" cy="645160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16"/>
              </p:custDataLst>
            </p:nvPr>
          </p:nvSpPr>
          <p:spPr>
            <a:xfrm>
              <a:off x="2948192" y="5324260"/>
              <a:ext cx="7919595" cy="891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落地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的典型应用模式与部署实践，识别检索准确性、多文档融合、系统效率等核心挑战，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掌握针对性优化思路与可信度保障方案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311"/>
            <a:ext cx="9044357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引言与全景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26808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GUI Agent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核心定义与技术演进路径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3"/>
          <p:cNvSpPr/>
          <p:nvPr/>
        </p:nvSpPr>
        <p:spPr>
          <a:xfrm>
            <a:off x="383313" y="1208472"/>
            <a:ext cx="5595986" cy="2645237"/>
          </a:xfrm>
          <a:custGeom>
            <a:avLst/>
            <a:gdLst/>
            <a:ahLst/>
            <a:cxnLst/>
            <a:rect l="l" t="t" r="r" b="b"/>
            <a:pathLst>
              <a:path w="5595986" h="2645237">
                <a:moveTo>
                  <a:pt x="113851" y="0"/>
                </a:moveTo>
                <a:lnTo>
                  <a:pt x="5482135" y="0"/>
                </a:lnTo>
                <a:cubicBezTo>
                  <a:pt x="5545013" y="0"/>
                  <a:pt x="5595986" y="50973"/>
                  <a:pt x="5595986" y="113851"/>
                </a:cubicBezTo>
                <a:lnTo>
                  <a:pt x="5595986" y="2531386"/>
                </a:lnTo>
                <a:cubicBezTo>
                  <a:pt x="5595986" y="2594264"/>
                  <a:pt x="5545013" y="2645237"/>
                  <a:pt x="5482135" y="2645237"/>
                </a:cubicBezTo>
                <a:lnTo>
                  <a:pt x="113851" y="2645237"/>
                </a:lnTo>
                <a:cubicBezTo>
                  <a:pt x="50973" y="2645237"/>
                  <a:pt x="0" y="2594264"/>
                  <a:pt x="0" y="2531386"/>
                </a:cubicBezTo>
                <a:lnTo>
                  <a:pt x="0" y="113851"/>
                </a:lnTo>
                <a:cubicBezTo>
                  <a:pt x="0" y="50973"/>
                  <a:pt x="50973" y="0"/>
                  <a:pt x="113851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2" name="Shape 4"/>
          <p:cNvSpPr/>
          <p:nvPr/>
        </p:nvSpPr>
        <p:spPr>
          <a:xfrm>
            <a:off x="614818" y="1439978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75905" y="0"/>
                </a:moveTo>
                <a:lnTo>
                  <a:pt x="379516" y="0"/>
                </a:lnTo>
                <a:cubicBezTo>
                  <a:pt x="421437" y="0"/>
                  <a:pt x="455421" y="33984"/>
                  <a:pt x="455421" y="75905"/>
                </a:cubicBezTo>
                <a:lnTo>
                  <a:pt x="455421" y="379516"/>
                </a:lnTo>
                <a:cubicBezTo>
                  <a:pt x="455421" y="421437"/>
                  <a:pt x="421437" y="455421"/>
                  <a:pt x="379516" y="455421"/>
                </a:cubicBezTo>
                <a:lnTo>
                  <a:pt x="75905" y="455421"/>
                </a:lnTo>
                <a:cubicBezTo>
                  <a:pt x="33984" y="455421"/>
                  <a:pt x="0" y="421437"/>
                  <a:pt x="0" y="379516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3" name="Shape 5"/>
          <p:cNvSpPr/>
          <p:nvPr/>
        </p:nvSpPr>
        <p:spPr>
          <a:xfrm>
            <a:off x="700210" y="1553833"/>
            <a:ext cx="284638" cy="227711"/>
          </a:xfrm>
          <a:custGeom>
            <a:avLst/>
            <a:gdLst/>
            <a:ahLst/>
            <a:cxnLst/>
            <a:rect l="l" t="t" r="r" b="b"/>
            <a:pathLst>
              <a:path w="284638" h="227711">
                <a:moveTo>
                  <a:pt x="156551" y="0"/>
                </a:moveTo>
                <a:cubicBezTo>
                  <a:pt x="156551" y="-7872"/>
                  <a:pt x="150191" y="-14232"/>
                  <a:pt x="142319" y="-14232"/>
                </a:cubicBezTo>
                <a:cubicBezTo>
                  <a:pt x="134447" y="-14232"/>
                  <a:pt x="128087" y="-7872"/>
                  <a:pt x="128087" y="0"/>
                </a:cubicBezTo>
                <a:lnTo>
                  <a:pt x="128087" y="28464"/>
                </a:lnTo>
                <a:lnTo>
                  <a:pt x="85391" y="28464"/>
                </a:lnTo>
                <a:cubicBezTo>
                  <a:pt x="61820" y="28464"/>
                  <a:pt x="42696" y="47588"/>
                  <a:pt x="42696" y="71160"/>
                </a:cubicBezTo>
                <a:lnTo>
                  <a:pt x="42696" y="170783"/>
                </a:lnTo>
                <a:cubicBezTo>
                  <a:pt x="42696" y="194354"/>
                  <a:pt x="61820" y="213479"/>
                  <a:pt x="85391" y="213479"/>
                </a:cubicBezTo>
                <a:lnTo>
                  <a:pt x="199247" y="213479"/>
                </a:lnTo>
                <a:cubicBezTo>
                  <a:pt x="222818" y="213479"/>
                  <a:pt x="241942" y="194354"/>
                  <a:pt x="241942" y="170783"/>
                </a:cubicBezTo>
                <a:lnTo>
                  <a:pt x="241942" y="71160"/>
                </a:lnTo>
                <a:cubicBezTo>
                  <a:pt x="241942" y="47588"/>
                  <a:pt x="222818" y="28464"/>
                  <a:pt x="199247" y="28464"/>
                </a:cubicBezTo>
                <a:lnTo>
                  <a:pt x="156551" y="28464"/>
                </a:lnTo>
                <a:lnTo>
                  <a:pt x="156551" y="0"/>
                </a:lnTo>
                <a:close/>
                <a:moveTo>
                  <a:pt x="71160" y="163667"/>
                </a:moveTo>
                <a:cubicBezTo>
                  <a:pt x="71160" y="157752"/>
                  <a:pt x="75918" y="152993"/>
                  <a:pt x="81833" y="152993"/>
                </a:cubicBezTo>
                <a:lnTo>
                  <a:pt x="96065" y="152993"/>
                </a:lnTo>
                <a:cubicBezTo>
                  <a:pt x="101981" y="152993"/>
                  <a:pt x="106739" y="157752"/>
                  <a:pt x="106739" y="163667"/>
                </a:cubicBezTo>
                <a:cubicBezTo>
                  <a:pt x="106739" y="169582"/>
                  <a:pt x="101981" y="174341"/>
                  <a:pt x="96065" y="174341"/>
                </a:cubicBezTo>
                <a:lnTo>
                  <a:pt x="81833" y="174341"/>
                </a:lnTo>
                <a:cubicBezTo>
                  <a:pt x="75918" y="174341"/>
                  <a:pt x="71160" y="169582"/>
                  <a:pt x="71160" y="163667"/>
                </a:cubicBezTo>
                <a:close/>
                <a:moveTo>
                  <a:pt x="124529" y="163667"/>
                </a:moveTo>
                <a:cubicBezTo>
                  <a:pt x="124529" y="157752"/>
                  <a:pt x="129288" y="152993"/>
                  <a:pt x="135203" y="152993"/>
                </a:cubicBezTo>
                <a:lnTo>
                  <a:pt x="149435" y="152993"/>
                </a:lnTo>
                <a:cubicBezTo>
                  <a:pt x="155350" y="152993"/>
                  <a:pt x="160109" y="157752"/>
                  <a:pt x="160109" y="163667"/>
                </a:cubicBezTo>
                <a:cubicBezTo>
                  <a:pt x="160109" y="169582"/>
                  <a:pt x="155350" y="174341"/>
                  <a:pt x="149435" y="174341"/>
                </a:cubicBezTo>
                <a:lnTo>
                  <a:pt x="135203" y="174341"/>
                </a:lnTo>
                <a:cubicBezTo>
                  <a:pt x="129288" y="174341"/>
                  <a:pt x="124529" y="169582"/>
                  <a:pt x="124529" y="163667"/>
                </a:cubicBezTo>
                <a:close/>
                <a:moveTo>
                  <a:pt x="177899" y="163667"/>
                </a:moveTo>
                <a:cubicBezTo>
                  <a:pt x="177899" y="157752"/>
                  <a:pt x="182658" y="152993"/>
                  <a:pt x="188573" y="152993"/>
                </a:cubicBezTo>
                <a:lnTo>
                  <a:pt x="202805" y="152993"/>
                </a:lnTo>
                <a:cubicBezTo>
                  <a:pt x="208720" y="152993"/>
                  <a:pt x="213479" y="157752"/>
                  <a:pt x="213479" y="163667"/>
                </a:cubicBezTo>
                <a:cubicBezTo>
                  <a:pt x="213479" y="169582"/>
                  <a:pt x="208720" y="174341"/>
                  <a:pt x="202805" y="174341"/>
                </a:cubicBezTo>
                <a:lnTo>
                  <a:pt x="188573" y="174341"/>
                </a:lnTo>
                <a:cubicBezTo>
                  <a:pt x="182658" y="174341"/>
                  <a:pt x="177899" y="169582"/>
                  <a:pt x="177899" y="163667"/>
                </a:cubicBezTo>
                <a:close/>
                <a:moveTo>
                  <a:pt x="99623" y="78275"/>
                </a:moveTo>
                <a:cubicBezTo>
                  <a:pt x="111406" y="78275"/>
                  <a:pt x="120971" y="87841"/>
                  <a:pt x="120971" y="99623"/>
                </a:cubicBezTo>
                <a:cubicBezTo>
                  <a:pt x="120971" y="111406"/>
                  <a:pt x="111406" y="120971"/>
                  <a:pt x="99623" y="120971"/>
                </a:cubicBezTo>
                <a:cubicBezTo>
                  <a:pt x="87841" y="120971"/>
                  <a:pt x="78275" y="111406"/>
                  <a:pt x="78275" y="99623"/>
                </a:cubicBezTo>
                <a:cubicBezTo>
                  <a:pt x="78275" y="87841"/>
                  <a:pt x="87841" y="78275"/>
                  <a:pt x="99623" y="78275"/>
                </a:cubicBezTo>
                <a:close/>
                <a:moveTo>
                  <a:pt x="163667" y="99623"/>
                </a:moveTo>
                <a:cubicBezTo>
                  <a:pt x="163667" y="87841"/>
                  <a:pt x="173233" y="78275"/>
                  <a:pt x="185015" y="78275"/>
                </a:cubicBezTo>
                <a:cubicBezTo>
                  <a:pt x="196797" y="78275"/>
                  <a:pt x="206363" y="87841"/>
                  <a:pt x="206363" y="99623"/>
                </a:cubicBezTo>
                <a:cubicBezTo>
                  <a:pt x="206363" y="111406"/>
                  <a:pt x="196797" y="120971"/>
                  <a:pt x="185015" y="120971"/>
                </a:cubicBezTo>
                <a:cubicBezTo>
                  <a:pt x="173233" y="120971"/>
                  <a:pt x="163667" y="111406"/>
                  <a:pt x="163667" y="99623"/>
                </a:cubicBezTo>
                <a:close/>
                <a:moveTo>
                  <a:pt x="28464" y="99623"/>
                </a:moveTo>
                <a:cubicBezTo>
                  <a:pt x="28464" y="91751"/>
                  <a:pt x="22104" y="85391"/>
                  <a:pt x="14232" y="85391"/>
                </a:cubicBezTo>
                <a:cubicBezTo>
                  <a:pt x="6360" y="85391"/>
                  <a:pt x="0" y="91751"/>
                  <a:pt x="0" y="99623"/>
                </a:cubicBezTo>
                <a:lnTo>
                  <a:pt x="0" y="142319"/>
                </a:lnTo>
                <a:cubicBezTo>
                  <a:pt x="0" y="150191"/>
                  <a:pt x="6360" y="156551"/>
                  <a:pt x="14232" y="156551"/>
                </a:cubicBezTo>
                <a:cubicBezTo>
                  <a:pt x="22104" y="156551"/>
                  <a:pt x="28464" y="150191"/>
                  <a:pt x="28464" y="142319"/>
                </a:cubicBezTo>
                <a:lnTo>
                  <a:pt x="28464" y="99623"/>
                </a:lnTo>
                <a:close/>
                <a:moveTo>
                  <a:pt x="270406" y="85391"/>
                </a:moveTo>
                <a:cubicBezTo>
                  <a:pt x="262534" y="85391"/>
                  <a:pt x="256174" y="91751"/>
                  <a:pt x="256174" y="99623"/>
                </a:cubicBezTo>
                <a:lnTo>
                  <a:pt x="256174" y="142319"/>
                </a:lnTo>
                <a:cubicBezTo>
                  <a:pt x="256174" y="150191"/>
                  <a:pt x="262534" y="156551"/>
                  <a:pt x="270406" y="156551"/>
                </a:cubicBezTo>
                <a:cubicBezTo>
                  <a:pt x="278278" y="156551"/>
                  <a:pt x="284638" y="150191"/>
                  <a:pt x="284638" y="142319"/>
                </a:cubicBezTo>
                <a:lnTo>
                  <a:pt x="284638" y="99623"/>
                </a:lnTo>
                <a:cubicBezTo>
                  <a:pt x="284638" y="91751"/>
                  <a:pt x="278278" y="85391"/>
                  <a:pt x="270406" y="8539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6"/>
          <p:cNvSpPr/>
          <p:nvPr/>
        </p:nvSpPr>
        <p:spPr>
          <a:xfrm>
            <a:off x="1249045" y="1515745"/>
            <a:ext cx="3391535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什么是GUI Agent?</a:t>
            </a:r>
            <a:endParaRPr lang="en-US" sz="20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7"/>
          <p:cNvSpPr/>
          <p:nvPr/>
        </p:nvSpPr>
        <p:spPr>
          <a:xfrm>
            <a:off x="614818" y="2047206"/>
            <a:ext cx="5208878" cy="740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它是搭载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大语言模型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的智能决策执行系统,核心能力是让LLM突破纯文本交互局限,通过调用外部能力,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自主理解并执行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用户的自然语言指令,完成需要实体操作的任务。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614818" y="2939072"/>
            <a:ext cx="1631925" cy="683132"/>
          </a:xfrm>
          <a:custGeom>
            <a:avLst/>
            <a:gdLst/>
            <a:ahLst/>
            <a:cxnLst/>
            <a:rect l="l" t="t" r="r" b="b"/>
            <a:pathLst>
              <a:path w="1631925" h="683132">
                <a:moveTo>
                  <a:pt x="75903" y="0"/>
                </a:moveTo>
                <a:lnTo>
                  <a:pt x="1556023" y="0"/>
                </a:lnTo>
                <a:cubicBezTo>
                  <a:pt x="1597942" y="0"/>
                  <a:pt x="1631925" y="33983"/>
                  <a:pt x="1631925" y="75903"/>
                </a:cubicBezTo>
                <a:lnTo>
                  <a:pt x="1631925" y="607229"/>
                </a:lnTo>
                <a:cubicBezTo>
                  <a:pt x="1631925" y="649149"/>
                  <a:pt x="1597942" y="683132"/>
                  <a:pt x="1556023" y="683132"/>
                </a:cubicBezTo>
                <a:lnTo>
                  <a:pt x="75903" y="683132"/>
                </a:lnTo>
                <a:cubicBezTo>
                  <a:pt x="33983" y="683132"/>
                  <a:pt x="0" y="649149"/>
                  <a:pt x="0" y="607229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7" name="Shape 9"/>
          <p:cNvSpPr/>
          <p:nvPr/>
        </p:nvSpPr>
        <p:spPr>
          <a:xfrm>
            <a:off x="1337562" y="3052927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44475" y="20755"/>
                </a:moveTo>
                <a:cubicBezTo>
                  <a:pt x="44475" y="9303"/>
                  <a:pt x="53777" y="0"/>
                  <a:pt x="65230" y="0"/>
                </a:cubicBezTo>
                <a:lnTo>
                  <a:pt x="74125" y="0"/>
                </a:lnTo>
                <a:cubicBezTo>
                  <a:pt x="80685" y="0"/>
                  <a:pt x="85984" y="5300"/>
                  <a:pt x="85984" y="11860"/>
                </a:cubicBezTo>
                <a:lnTo>
                  <a:pt x="85984" y="177899"/>
                </a:lnTo>
                <a:cubicBezTo>
                  <a:pt x="85984" y="184459"/>
                  <a:pt x="80685" y="189759"/>
                  <a:pt x="74125" y="189759"/>
                </a:cubicBezTo>
                <a:lnTo>
                  <a:pt x="62265" y="189759"/>
                </a:lnTo>
                <a:cubicBezTo>
                  <a:pt x="51220" y="189759"/>
                  <a:pt x="41917" y="182198"/>
                  <a:pt x="39286" y="171969"/>
                </a:cubicBezTo>
                <a:cubicBezTo>
                  <a:pt x="39027" y="171969"/>
                  <a:pt x="38804" y="171969"/>
                  <a:pt x="38545" y="171969"/>
                </a:cubicBezTo>
                <a:cubicBezTo>
                  <a:pt x="22163" y="171969"/>
                  <a:pt x="8895" y="158701"/>
                  <a:pt x="8895" y="142319"/>
                </a:cubicBezTo>
                <a:cubicBezTo>
                  <a:pt x="8895" y="135648"/>
                  <a:pt x="11119" y="129496"/>
                  <a:pt x="14825" y="124529"/>
                </a:cubicBezTo>
                <a:cubicBezTo>
                  <a:pt x="7635" y="119118"/>
                  <a:pt x="2965" y="110520"/>
                  <a:pt x="2965" y="100809"/>
                </a:cubicBezTo>
                <a:cubicBezTo>
                  <a:pt x="2965" y="89357"/>
                  <a:pt x="9488" y="79387"/>
                  <a:pt x="18976" y="74458"/>
                </a:cubicBezTo>
                <a:cubicBezTo>
                  <a:pt x="16344" y="70011"/>
                  <a:pt x="14825" y="64822"/>
                  <a:pt x="14825" y="59300"/>
                </a:cubicBezTo>
                <a:cubicBezTo>
                  <a:pt x="14825" y="42918"/>
                  <a:pt x="28093" y="29650"/>
                  <a:pt x="44475" y="29650"/>
                </a:cubicBezTo>
                <a:lnTo>
                  <a:pt x="44475" y="20755"/>
                </a:lnTo>
                <a:close/>
                <a:moveTo>
                  <a:pt x="145284" y="20755"/>
                </a:moveTo>
                <a:lnTo>
                  <a:pt x="145284" y="29650"/>
                </a:lnTo>
                <a:cubicBezTo>
                  <a:pt x="161666" y="29650"/>
                  <a:pt x="174934" y="42918"/>
                  <a:pt x="174934" y="59300"/>
                </a:cubicBezTo>
                <a:cubicBezTo>
                  <a:pt x="174934" y="64859"/>
                  <a:pt x="173414" y="70048"/>
                  <a:pt x="170783" y="74458"/>
                </a:cubicBezTo>
                <a:cubicBezTo>
                  <a:pt x="180308" y="79387"/>
                  <a:pt x="186794" y="89320"/>
                  <a:pt x="186794" y="100809"/>
                </a:cubicBezTo>
                <a:cubicBezTo>
                  <a:pt x="186794" y="110520"/>
                  <a:pt x="182124" y="119118"/>
                  <a:pt x="174934" y="124529"/>
                </a:cubicBezTo>
                <a:cubicBezTo>
                  <a:pt x="178640" y="129496"/>
                  <a:pt x="180864" y="135648"/>
                  <a:pt x="180864" y="142319"/>
                </a:cubicBezTo>
                <a:cubicBezTo>
                  <a:pt x="180864" y="158701"/>
                  <a:pt x="167596" y="171969"/>
                  <a:pt x="151214" y="171969"/>
                </a:cubicBezTo>
                <a:cubicBezTo>
                  <a:pt x="150955" y="171969"/>
                  <a:pt x="150732" y="171969"/>
                  <a:pt x="150473" y="171969"/>
                </a:cubicBezTo>
                <a:cubicBezTo>
                  <a:pt x="147841" y="182198"/>
                  <a:pt x="138539" y="189759"/>
                  <a:pt x="127494" y="189759"/>
                </a:cubicBezTo>
                <a:lnTo>
                  <a:pt x="115634" y="189759"/>
                </a:lnTo>
                <a:cubicBezTo>
                  <a:pt x="109074" y="189759"/>
                  <a:pt x="103774" y="184459"/>
                  <a:pt x="103774" y="177899"/>
                </a:cubicBezTo>
                <a:lnTo>
                  <a:pt x="103774" y="11860"/>
                </a:lnTo>
                <a:cubicBezTo>
                  <a:pt x="103774" y="5300"/>
                  <a:pt x="109074" y="0"/>
                  <a:pt x="115634" y="0"/>
                </a:cubicBezTo>
                <a:lnTo>
                  <a:pt x="124529" y="0"/>
                </a:lnTo>
                <a:cubicBezTo>
                  <a:pt x="135981" y="0"/>
                  <a:pt x="145284" y="9303"/>
                  <a:pt x="145284" y="2075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8" name="Text 10"/>
          <p:cNvSpPr/>
          <p:nvPr/>
        </p:nvSpPr>
        <p:spPr>
          <a:xfrm>
            <a:off x="695466" y="3318590"/>
            <a:ext cx="1470630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决策执行一体化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2363920" y="2939072"/>
            <a:ext cx="1631925" cy="683132"/>
          </a:xfrm>
          <a:custGeom>
            <a:avLst/>
            <a:gdLst/>
            <a:ahLst/>
            <a:cxnLst/>
            <a:rect l="l" t="t" r="r" b="b"/>
            <a:pathLst>
              <a:path w="1631925" h="683132">
                <a:moveTo>
                  <a:pt x="75903" y="0"/>
                </a:moveTo>
                <a:lnTo>
                  <a:pt x="1556023" y="0"/>
                </a:lnTo>
                <a:cubicBezTo>
                  <a:pt x="1597942" y="0"/>
                  <a:pt x="1631925" y="33983"/>
                  <a:pt x="1631925" y="75903"/>
                </a:cubicBezTo>
                <a:lnTo>
                  <a:pt x="1631925" y="607229"/>
                </a:lnTo>
                <a:cubicBezTo>
                  <a:pt x="1631925" y="649149"/>
                  <a:pt x="1597942" y="683132"/>
                  <a:pt x="1556023" y="683132"/>
                </a:cubicBezTo>
                <a:lnTo>
                  <a:pt x="75903" y="683132"/>
                </a:lnTo>
                <a:cubicBezTo>
                  <a:pt x="33983" y="683132"/>
                  <a:pt x="0" y="649149"/>
                  <a:pt x="0" y="607229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0" name="Shape 12"/>
          <p:cNvSpPr/>
          <p:nvPr/>
        </p:nvSpPr>
        <p:spPr>
          <a:xfrm>
            <a:off x="3086663" y="3052927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23720" y="11860"/>
                </a:moveTo>
                <a:cubicBezTo>
                  <a:pt x="10637" y="11860"/>
                  <a:pt x="0" y="22497"/>
                  <a:pt x="0" y="35580"/>
                </a:cubicBezTo>
                <a:lnTo>
                  <a:pt x="0" y="130459"/>
                </a:lnTo>
                <a:cubicBezTo>
                  <a:pt x="0" y="143542"/>
                  <a:pt x="10637" y="154179"/>
                  <a:pt x="23720" y="154179"/>
                </a:cubicBezTo>
                <a:lnTo>
                  <a:pt x="77089" y="154179"/>
                </a:lnTo>
                <a:lnTo>
                  <a:pt x="71160" y="171969"/>
                </a:lnTo>
                <a:lnTo>
                  <a:pt x="44475" y="171969"/>
                </a:lnTo>
                <a:cubicBezTo>
                  <a:pt x="39545" y="171969"/>
                  <a:pt x="35580" y="175935"/>
                  <a:pt x="35580" y="180864"/>
                </a:cubicBezTo>
                <a:cubicBezTo>
                  <a:pt x="35580" y="185793"/>
                  <a:pt x="39545" y="189759"/>
                  <a:pt x="44475" y="189759"/>
                </a:cubicBezTo>
                <a:lnTo>
                  <a:pt x="145284" y="189759"/>
                </a:lnTo>
                <a:cubicBezTo>
                  <a:pt x="150213" y="189759"/>
                  <a:pt x="154179" y="185793"/>
                  <a:pt x="154179" y="180864"/>
                </a:cubicBezTo>
                <a:cubicBezTo>
                  <a:pt x="154179" y="175935"/>
                  <a:pt x="150213" y="171969"/>
                  <a:pt x="145284" y="171969"/>
                </a:cubicBezTo>
                <a:lnTo>
                  <a:pt x="118599" y="171969"/>
                </a:lnTo>
                <a:lnTo>
                  <a:pt x="112669" y="154179"/>
                </a:lnTo>
                <a:lnTo>
                  <a:pt x="166039" y="154179"/>
                </a:lnTo>
                <a:cubicBezTo>
                  <a:pt x="179122" y="154179"/>
                  <a:pt x="189759" y="143542"/>
                  <a:pt x="189759" y="130459"/>
                </a:cubicBezTo>
                <a:lnTo>
                  <a:pt x="189759" y="35580"/>
                </a:lnTo>
                <a:cubicBezTo>
                  <a:pt x="189759" y="22497"/>
                  <a:pt x="179122" y="11860"/>
                  <a:pt x="166039" y="11860"/>
                </a:cubicBezTo>
                <a:lnTo>
                  <a:pt x="23720" y="11860"/>
                </a:lnTo>
                <a:close/>
                <a:moveTo>
                  <a:pt x="35580" y="35580"/>
                </a:moveTo>
                <a:lnTo>
                  <a:pt x="154179" y="35580"/>
                </a:lnTo>
                <a:cubicBezTo>
                  <a:pt x="160739" y="35580"/>
                  <a:pt x="166039" y="40880"/>
                  <a:pt x="166039" y="47440"/>
                </a:cubicBezTo>
                <a:lnTo>
                  <a:pt x="166039" y="106739"/>
                </a:lnTo>
                <a:cubicBezTo>
                  <a:pt x="166039" y="113299"/>
                  <a:pt x="160739" y="118599"/>
                  <a:pt x="154179" y="118599"/>
                </a:cubicBezTo>
                <a:lnTo>
                  <a:pt x="35580" y="118599"/>
                </a:lnTo>
                <a:cubicBezTo>
                  <a:pt x="29020" y="118599"/>
                  <a:pt x="23720" y="113299"/>
                  <a:pt x="23720" y="106739"/>
                </a:cubicBezTo>
                <a:lnTo>
                  <a:pt x="23720" y="47440"/>
                </a:lnTo>
                <a:cubicBezTo>
                  <a:pt x="23720" y="40880"/>
                  <a:pt x="29020" y="35580"/>
                  <a:pt x="35580" y="3558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1" name="Text 13"/>
          <p:cNvSpPr/>
          <p:nvPr/>
        </p:nvSpPr>
        <p:spPr>
          <a:xfrm>
            <a:off x="2444567" y="3318590"/>
            <a:ext cx="1470630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环境交互性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4113021" y="2939072"/>
            <a:ext cx="1631925" cy="683132"/>
          </a:xfrm>
          <a:custGeom>
            <a:avLst/>
            <a:gdLst/>
            <a:ahLst/>
            <a:cxnLst/>
            <a:rect l="l" t="t" r="r" b="b"/>
            <a:pathLst>
              <a:path w="1631925" h="683132">
                <a:moveTo>
                  <a:pt x="75903" y="0"/>
                </a:moveTo>
                <a:lnTo>
                  <a:pt x="1556023" y="0"/>
                </a:lnTo>
                <a:cubicBezTo>
                  <a:pt x="1597942" y="0"/>
                  <a:pt x="1631925" y="33983"/>
                  <a:pt x="1631925" y="75903"/>
                </a:cubicBezTo>
                <a:lnTo>
                  <a:pt x="1631925" y="607229"/>
                </a:lnTo>
                <a:cubicBezTo>
                  <a:pt x="1631925" y="649149"/>
                  <a:pt x="1597942" y="683132"/>
                  <a:pt x="1556023" y="683132"/>
                </a:cubicBezTo>
                <a:lnTo>
                  <a:pt x="75903" y="683132"/>
                </a:lnTo>
                <a:cubicBezTo>
                  <a:pt x="33983" y="683132"/>
                  <a:pt x="0" y="649149"/>
                  <a:pt x="0" y="607229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3" name="Shape 15"/>
          <p:cNvSpPr/>
          <p:nvPr/>
        </p:nvSpPr>
        <p:spPr>
          <a:xfrm>
            <a:off x="4835765" y="3052927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49589" y="13454"/>
                </a:moveTo>
                <a:cubicBezTo>
                  <a:pt x="53629" y="16270"/>
                  <a:pt x="54593" y="21830"/>
                  <a:pt x="51776" y="25832"/>
                </a:cubicBezTo>
                <a:lnTo>
                  <a:pt x="31021" y="55482"/>
                </a:lnTo>
                <a:cubicBezTo>
                  <a:pt x="29502" y="57632"/>
                  <a:pt x="27130" y="59003"/>
                  <a:pt x="24498" y="59225"/>
                </a:cubicBezTo>
                <a:cubicBezTo>
                  <a:pt x="21867" y="59448"/>
                  <a:pt x="19272" y="58558"/>
                  <a:pt x="17419" y="56705"/>
                </a:cubicBezTo>
                <a:lnTo>
                  <a:pt x="2594" y="41880"/>
                </a:lnTo>
                <a:cubicBezTo>
                  <a:pt x="-852" y="38396"/>
                  <a:pt x="-852" y="32763"/>
                  <a:pt x="2594" y="29279"/>
                </a:cubicBezTo>
                <a:cubicBezTo>
                  <a:pt x="6041" y="25795"/>
                  <a:pt x="11712" y="25832"/>
                  <a:pt x="15196" y="29279"/>
                </a:cubicBezTo>
                <a:lnTo>
                  <a:pt x="22534" y="36618"/>
                </a:lnTo>
                <a:lnTo>
                  <a:pt x="37211" y="15640"/>
                </a:lnTo>
                <a:cubicBezTo>
                  <a:pt x="40027" y="11600"/>
                  <a:pt x="45587" y="10637"/>
                  <a:pt x="49589" y="13454"/>
                </a:cubicBezTo>
                <a:close/>
                <a:moveTo>
                  <a:pt x="49589" y="72753"/>
                </a:moveTo>
                <a:cubicBezTo>
                  <a:pt x="53629" y="75570"/>
                  <a:pt x="54593" y="81129"/>
                  <a:pt x="51776" y="85132"/>
                </a:cubicBezTo>
                <a:lnTo>
                  <a:pt x="31021" y="114782"/>
                </a:lnTo>
                <a:cubicBezTo>
                  <a:pt x="29502" y="116931"/>
                  <a:pt x="27130" y="118303"/>
                  <a:pt x="24498" y="118525"/>
                </a:cubicBezTo>
                <a:cubicBezTo>
                  <a:pt x="21867" y="118747"/>
                  <a:pt x="19272" y="117858"/>
                  <a:pt x="17419" y="116005"/>
                </a:cubicBezTo>
                <a:lnTo>
                  <a:pt x="2594" y="101180"/>
                </a:lnTo>
                <a:cubicBezTo>
                  <a:pt x="-889" y="97696"/>
                  <a:pt x="-889" y="92063"/>
                  <a:pt x="2594" y="88616"/>
                </a:cubicBezTo>
                <a:cubicBezTo>
                  <a:pt x="6078" y="85169"/>
                  <a:pt x="11712" y="85132"/>
                  <a:pt x="15158" y="88616"/>
                </a:cubicBezTo>
                <a:lnTo>
                  <a:pt x="22497" y="95954"/>
                </a:lnTo>
                <a:lnTo>
                  <a:pt x="37173" y="74977"/>
                </a:lnTo>
                <a:cubicBezTo>
                  <a:pt x="39990" y="70937"/>
                  <a:pt x="45550" y="69974"/>
                  <a:pt x="49552" y="72790"/>
                </a:cubicBezTo>
                <a:close/>
                <a:moveTo>
                  <a:pt x="83019" y="35580"/>
                </a:moveTo>
                <a:cubicBezTo>
                  <a:pt x="83019" y="29020"/>
                  <a:pt x="88319" y="23720"/>
                  <a:pt x="94879" y="23720"/>
                </a:cubicBezTo>
                <a:lnTo>
                  <a:pt x="177899" y="23720"/>
                </a:lnTo>
                <a:cubicBezTo>
                  <a:pt x="184459" y="23720"/>
                  <a:pt x="189759" y="29020"/>
                  <a:pt x="189759" y="35580"/>
                </a:cubicBezTo>
                <a:cubicBezTo>
                  <a:pt x="189759" y="42140"/>
                  <a:pt x="184459" y="47440"/>
                  <a:pt x="177899" y="47440"/>
                </a:cubicBezTo>
                <a:lnTo>
                  <a:pt x="94879" y="47440"/>
                </a:lnTo>
                <a:cubicBezTo>
                  <a:pt x="88319" y="47440"/>
                  <a:pt x="83019" y="42140"/>
                  <a:pt x="83019" y="35580"/>
                </a:cubicBezTo>
                <a:close/>
                <a:moveTo>
                  <a:pt x="83019" y="94879"/>
                </a:moveTo>
                <a:cubicBezTo>
                  <a:pt x="83019" y="88319"/>
                  <a:pt x="88319" y="83019"/>
                  <a:pt x="94879" y="83019"/>
                </a:cubicBezTo>
                <a:lnTo>
                  <a:pt x="177899" y="83019"/>
                </a:lnTo>
                <a:cubicBezTo>
                  <a:pt x="184459" y="83019"/>
                  <a:pt x="189759" y="88319"/>
                  <a:pt x="189759" y="94879"/>
                </a:cubicBezTo>
                <a:cubicBezTo>
                  <a:pt x="189759" y="101439"/>
                  <a:pt x="184459" y="106739"/>
                  <a:pt x="177899" y="106739"/>
                </a:cubicBezTo>
                <a:lnTo>
                  <a:pt x="94879" y="106739"/>
                </a:lnTo>
                <a:cubicBezTo>
                  <a:pt x="88319" y="106739"/>
                  <a:pt x="83019" y="101439"/>
                  <a:pt x="83019" y="94879"/>
                </a:cubicBezTo>
                <a:close/>
                <a:moveTo>
                  <a:pt x="59300" y="154179"/>
                </a:moveTo>
                <a:cubicBezTo>
                  <a:pt x="59300" y="147619"/>
                  <a:pt x="64600" y="142319"/>
                  <a:pt x="71160" y="142319"/>
                </a:cubicBezTo>
                <a:lnTo>
                  <a:pt x="177899" y="142319"/>
                </a:lnTo>
                <a:cubicBezTo>
                  <a:pt x="184459" y="142319"/>
                  <a:pt x="189759" y="147619"/>
                  <a:pt x="189759" y="154179"/>
                </a:cubicBezTo>
                <a:cubicBezTo>
                  <a:pt x="189759" y="160739"/>
                  <a:pt x="184459" y="166039"/>
                  <a:pt x="177899" y="166039"/>
                </a:cubicBezTo>
                <a:lnTo>
                  <a:pt x="71160" y="166039"/>
                </a:lnTo>
                <a:cubicBezTo>
                  <a:pt x="64600" y="166039"/>
                  <a:pt x="59300" y="160739"/>
                  <a:pt x="59300" y="154179"/>
                </a:cubicBezTo>
                <a:close/>
                <a:moveTo>
                  <a:pt x="23720" y="139354"/>
                </a:moveTo>
                <a:cubicBezTo>
                  <a:pt x="31902" y="139354"/>
                  <a:pt x="38545" y="145997"/>
                  <a:pt x="38545" y="154179"/>
                </a:cubicBezTo>
                <a:cubicBezTo>
                  <a:pt x="38545" y="162361"/>
                  <a:pt x="31902" y="169004"/>
                  <a:pt x="23720" y="169004"/>
                </a:cubicBezTo>
                <a:cubicBezTo>
                  <a:pt x="15538" y="169004"/>
                  <a:pt x="8895" y="162361"/>
                  <a:pt x="8895" y="154179"/>
                </a:cubicBezTo>
                <a:cubicBezTo>
                  <a:pt x="8895" y="145997"/>
                  <a:pt x="15538" y="139354"/>
                  <a:pt x="23720" y="13935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4" name="Text 16"/>
          <p:cNvSpPr/>
          <p:nvPr/>
        </p:nvSpPr>
        <p:spPr>
          <a:xfrm>
            <a:off x="4193668" y="3318590"/>
            <a:ext cx="1470630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任务自主性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383313" y="4013107"/>
            <a:ext cx="5595986" cy="1981081"/>
          </a:xfrm>
          <a:custGeom>
            <a:avLst/>
            <a:gdLst/>
            <a:ahLst/>
            <a:cxnLst/>
            <a:rect l="l" t="t" r="r" b="b"/>
            <a:pathLst>
              <a:path w="5595986" h="1981081">
                <a:moveTo>
                  <a:pt x="113853" y="0"/>
                </a:moveTo>
                <a:lnTo>
                  <a:pt x="5482133" y="0"/>
                </a:lnTo>
                <a:cubicBezTo>
                  <a:pt x="5545012" y="0"/>
                  <a:pt x="5595986" y="50974"/>
                  <a:pt x="5595986" y="113853"/>
                </a:cubicBezTo>
                <a:lnTo>
                  <a:pt x="5595986" y="1867229"/>
                </a:lnTo>
                <a:cubicBezTo>
                  <a:pt x="5595986" y="1930108"/>
                  <a:pt x="5545012" y="1981081"/>
                  <a:pt x="5482133" y="1981081"/>
                </a:cubicBezTo>
                <a:lnTo>
                  <a:pt x="113853" y="1981081"/>
                </a:lnTo>
                <a:cubicBezTo>
                  <a:pt x="50974" y="1981081"/>
                  <a:pt x="0" y="1930108"/>
                  <a:pt x="0" y="1867229"/>
                </a:cubicBezTo>
                <a:lnTo>
                  <a:pt x="0" y="113853"/>
                </a:lnTo>
                <a:cubicBezTo>
                  <a:pt x="0" y="51016"/>
                  <a:pt x="51016" y="0"/>
                  <a:pt x="11385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6" name="Shape 18"/>
          <p:cNvSpPr/>
          <p:nvPr/>
        </p:nvSpPr>
        <p:spPr>
          <a:xfrm>
            <a:off x="638538" y="4282565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23720" y="23720"/>
                </a:moveTo>
                <a:cubicBezTo>
                  <a:pt x="23720" y="17160"/>
                  <a:pt x="18420" y="11860"/>
                  <a:pt x="11860" y="11860"/>
                </a:cubicBezTo>
                <a:cubicBezTo>
                  <a:pt x="5300" y="11860"/>
                  <a:pt x="0" y="17160"/>
                  <a:pt x="0" y="23720"/>
                </a:cubicBezTo>
                <a:lnTo>
                  <a:pt x="0" y="148249"/>
                </a:lnTo>
                <a:cubicBezTo>
                  <a:pt x="0" y="164631"/>
                  <a:pt x="13268" y="177899"/>
                  <a:pt x="29650" y="177899"/>
                </a:cubicBezTo>
                <a:lnTo>
                  <a:pt x="177899" y="177899"/>
                </a:lnTo>
                <a:cubicBezTo>
                  <a:pt x="184459" y="177899"/>
                  <a:pt x="189759" y="172599"/>
                  <a:pt x="189759" y="166039"/>
                </a:cubicBezTo>
                <a:cubicBezTo>
                  <a:pt x="189759" y="159479"/>
                  <a:pt x="184459" y="154179"/>
                  <a:pt x="177899" y="154179"/>
                </a:cubicBezTo>
                <a:lnTo>
                  <a:pt x="29650" y="154179"/>
                </a:lnTo>
                <a:cubicBezTo>
                  <a:pt x="26388" y="154179"/>
                  <a:pt x="23720" y="151511"/>
                  <a:pt x="23720" y="148249"/>
                </a:cubicBezTo>
                <a:lnTo>
                  <a:pt x="23720" y="23720"/>
                </a:lnTo>
                <a:close/>
                <a:moveTo>
                  <a:pt x="174415" y="55816"/>
                </a:moveTo>
                <a:cubicBezTo>
                  <a:pt x="179048" y="51183"/>
                  <a:pt x="179048" y="43659"/>
                  <a:pt x="174415" y="39027"/>
                </a:cubicBezTo>
                <a:cubicBezTo>
                  <a:pt x="169782" y="34394"/>
                  <a:pt x="162259" y="34394"/>
                  <a:pt x="157626" y="39027"/>
                </a:cubicBezTo>
                <a:lnTo>
                  <a:pt x="118599" y="78090"/>
                </a:lnTo>
                <a:lnTo>
                  <a:pt x="97325" y="56854"/>
                </a:lnTo>
                <a:cubicBezTo>
                  <a:pt x="92693" y="52221"/>
                  <a:pt x="85169" y="52221"/>
                  <a:pt x="80536" y="56854"/>
                </a:cubicBezTo>
                <a:lnTo>
                  <a:pt x="44957" y="92433"/>
                </a:lnTo>
                <a:cubicBezTo>
                  <a:pt x="40324" y="97066"/>
                  <a:pt x="40324" y="104590"/>
                  <a:pt x="44957" y="109222"/>
                </a:cubicBezTo>
                <a:cubicBezTo>
                  <a:pt x="49589" y="113855"/>
                  <a:pt x="57113" y="113855"/>
                  <a:pt x="61746" y="109222"/>
                </a:cubicBezTo>
                <a:lnTo>
                  <a:pt x="88949" y="82019"/>
                </a:lnTo>
                <a:lnTo>
                  <a:pt x="110223" y="103293"/>
                </a:lnTo>
                <a:cubicBezTo>
                  <a:pt x="114856" y="107925"/>
                  <a:pt x="122380" y="107925"/>
                  <a:pt x="127012" y="103293"/>
                </a:cubicBezTo>
                <a:lnTo>
                  <a:pt x="174452" y="5585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37" name="Text 19"/>
          <p:cNvSpPr/>
          <p:nvPr/>
        </p:nvSpPr>
        <p:spPr>
          <a:xfrm>
            <a:off x="916787" y="4244613"/>
            <a:ext cx="4990655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GPT-4V实际表现数据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614818" y="4662082"/>
            <a:ext cx="2495328" cy="1100601"/>
          </a:xfrm>
          <a:custGeom>
            <a:avLst/>
            <a:gdLst/>
            <a:ahLst/>
            <a:cxnLst/>
            <a:rect l="l" t="t" r="r" b="b"/>
            <a:pathLst>
              <a:path w="2495328" h="1100601">
                <a:moveTo>
                  <a:pt x="75908" y="0"/>
                </a:moveTo>
                <a:lnTo>
                  <a:pt x="2419419" y="0"/>
                </a:lnTo>
                <a:cubicBezTo>
                  <a:pt x="2461342" y="0"/>
                  <a:pt x="2495328" y="33985"/>
                  <a:pt x="2495328" y="75908"/>
                </a:cubicBezTo>
                <a:lnTo>
                  <a:pt x="2495328" y="1024692"/>
                </a:lnTo>
                <a:cubicBezTo>
                  <a:pt x="2495328" y="1066615"/>
                  <a:pt x="2461342" y="1100601"/>
                  <a:pt x="2419419" y="1100601"/>
                </a:cubicBezTo>
                <a:lnTo>
                  <a:pt x="75908" y="1100601"/>
                </a:lnTo>
                <a:cubicBezTo>
                  <a:pt x="34013" y="1100601"/>
                  <a:pt x="0" y="1066587"/>
                  <a:pt x="0" y="1024692"/>
                </a:cubicBezTo>
                <a:lnTo>
                  <a:pt x="0" y="75908"/>
                </a:lnTo>
                <a:cubicBezTo>
                  <a:pt x="0" y="34013"/>
                  <a:pt x="34013" y="0"/>
                  <a:pt x="75908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0" name="Text 21"/>
          <p:cNvSpPr/>
          <p:nvPr/>
        </p:nvSpPr>
        <p:spPr>
          <a:xfrm>
            <a:off x="766625" y="4813889"/>
            <a:ext cx="2258129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Mind2Web测试成功率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766625" y="5073985"/>
            <a:ext cx="2362496" cy="379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61.3%</a:t>
            </a:r>
            <a:endParaRPr 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766625" y="5459069"/>
            <a:ext cx="2248641" cy="151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Operator Agent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3257446" y="4662082"/>
            <a:ext cx="2495328" cy="1100601"/>
          </a:xfrm>
          <a:custGeom>
            <a:avLst/>
            <a:gdLst/>
            <a:ahLst/>
            <a:cxnLst/>
            <a:rect l="l" t="t" r="r" b="b"/>
            <a:pathLst>
              <a:path w="2495328" h="1100601">
                <a:moveTo>
                  <a:pt x="75908" y="0"/>
                </a:moveTo>
                <a:lnTo>
                  <a:pt x="2419419" y="0"/>
                </a:lnTo>
                <a:cubicBezTo>
                  <a:pt x="2461342" y="0"/>
                  <a:pt x="2495328" y="33985"/>
                  <a:pt x="2495328" y="75908"/>
                </a:cubicBezTo>
                <a:lnTo>
                  <a:pt x="2495328" y="1024692"/>
                </a:lnTo>
                <a:cubicBezTo>
                  <a:pt x="2495328" y="1066615"/>
                  <a:pt x="2461342" y="1100601"/>
                  <a:pt x="2419419" y="1100601"/>
                </a:cubicBezTo>
                <a:lnTo>
                  <a:pt x="75908" y="1100601"/>
                </a:lnTo>
                <a:cubicBezTo>
                  <a:pt x="34013" y="1100601"/>
                  <a:pt x="0" y="1066587"/>
                  <a:pt x="0" y="1024692"/>
                </a:cubicBezTo>
                <a:lnTo>
                  <a:pt x="0" y="75908"/>
                </a:lnTo>
                <a:cubicBezTo>
                  <a:pt x="0" y="34013"/>
                  <a:pt x="34013" y="0"/>
                  <a:pt x="75908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4" name="Text 25"/>
          <p:cNvSpPr/>
          <p:nvPr/>
        </p:nvSpPr>
        <p:spPr>
          <a:xfrm>
            <a:off x="3409253" y="4813889"/>
            <a:ext cx="2258129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其他Agent对比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3409253" y="5073985"/>
            <a:ext cx="2362496" cy="379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28-30%</a:t>
            </a:r>
            <a:endParaRPr 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3409253" y="5459069"/>
            <a:ext cx="2248641" cy="151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成功率差距显著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7" name="Shape 28"/>
          <p:cNvSpPr/>
          <p:nvPr/>
        </p:nvSpPr>
        <p:spPr>
          <a:xfrm>
            <a:off x="6215193" y="1208472"/>
            <a:ext cx="5595986" cy="2891923"/>
          </a:xfrm>
          <a:custGeom>
            <a:avLst/>
            <a:gdLst/>
            <a:ahLst/>
            <a:cxnLst/>
            <a:rect l="l" t="t" r="r" b="b"/>
            <a:pathLst>
              <a:path w="5595986" h="2891923">
                <a:moveTo>
                  <a:pt x="113855" y="0"/>
                </a:moveTo>
                <a:lnTo>
                  <a:pt x="5482131" y="0"/>
                </a:lnTo>
                <a:cubicBezTo>
                  <a:pt x="5545011" y="0"/>
                  <a:pt x="5595986" y="50975"/>
                  <a:pt x="5595986" y="113855"/>
                </a:cubicBezTo>
                <a:lnTo>
                  <a:pt x="5595986" y="2778068"/>
                </a:lnTo>
                <a:cubicBezTo>
                  <a:pt x="5595986" y="2840949"/>
                  <a:pt x="5545011" y="2891923"/>
                  <a:pt x="5482131" y="2891923"/>
                </a:cubicBezTo>
                <a:lnTo>
                  <a:pt x="113855" y="2891923"/>
                </a:lnTo>
                <a:cubicBezTo>
                  <a:pt x="50975" y="2891923"/>
                  <a:pt x="0" y="2840949"/>
                  <a:pt x="0" y="2778068"/>
                </a:cubicBezTo>
                <a:lnTo>
                  <a:pt x="0" y="113855"/>
                </a:lnTo>
                <a:cubicBezTo>
                  <a:pt x="0" y="50975"/>
                  <a:pt x="50975" y="0"/>
                  <a:pt x="11385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8" name="Shape 29"/>
          <p:cNvSpPr/>
          <p:nvPr/>
        </p:nvSpPr>
        <p:spPr>
          <a:xfrm>
            <a:off x="6470418" y="1477930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189759" y="35580"/>
                </a:moveTo>
                <a:cubicBezTo>
                  <a:pt x="189759" y="54185"/>
                  <a:pt x="167855" y="81945"/>
                  <a:pt x="158404" y="93026"/>
                </a:cubicBezTo>
                <a:cubicBezTo>
                  <a:pt x="156996" y="94657"/>
                  <a:pt x="154920" y="95287"/>
                  <a:pt x="153030" y="94879"/>
                </a:cubicBezTo>
                <a:lnTo>
                  <a:pt x="118599" y="94879"/>
                </a:lnTo>
                <a:cubicBezTo>
                  <a:pt x="112039" y="94879"/>
                  <a:pt x="106739" y="100179"/>
                  <a:pt x="106739" y="106739"/>
                </a:cubicBezTo>
                <a:cubicBezTo>
                  <a:pt x="106739" y="113299"/>
                  <a:pt x="112039" y="118599"/>
                  <a:pt x="118599" y="118599"/>
                </a:cubicBezTo>
                <a:lnTo>
                  <a:pt x="154179" y="118599"/>
                </a:lnTo>
                <a:cubicBezTo>
                  <a:pt x="173822" y="118599"/>
                  <a:pt x="189759" y="134536"/>
                  <a:pt x="189759" y="154179"/>
                </a:cubicBezTo>
                <a:cubicBezTo>
                  <a:pt x="189759" y="173822"/>
                  <a:pt x="173822" y="189759"/>
                  <a:pt x="154179" y="189759"/>
                </a:cubicBezTo>
                <a:lnTo>
                  <a:pt x="51739" y="189759"/>
                </a:lnTo>
                <a:cubicBezTo>
                  <a:pt x="54963" y="186090"/>
                  <a:pt x="58892" y="181383"/>
                  <a:pt x="62858" y="176120"/>
                </a:cubicBezTo>
                <a:cubicBezTo>
                  <a:pt x="65193" y="173007"/>
                  <a:pt x="67602" y="169597"/>
                  <a:pt x="69899" y="166039"/>
                </a:cubicBezTo>
                <a:lnTo>
                  <a:pt x="154179" y="166039"/>
                </a:lnTo>
                <a:cubicBezTo>
                  <a:pt x="160739" y="166039"/>
                  <a:pt x="166039" y="160739"/>
                  <a:pt x="166039" y="154179"/>
                </a:cubicBezTo>
                <a:cubicBezTo>
                  <a:pt x="166039" y="147619"/>
                  <a:pt x="160739" y="142319"/>
                  <a:pt x="154179" y="142319"/>
                </a:cubicBezTo>
                <a:lnTo>
                  <a:pt x="118599" y="142319"/>
                </a:lnTo>
                <a:cubicBezTo>
                  <a:pt x="98956" y="142319"/>
                  <a:pt x="83019" y="126382"/>
                  <a:pt x="83019" y="106739"/>
                </a:cubicBezTo>
                <a:cubicBezTo>
                  <a:pt x="83019" y="87096"/>
                  <a:pt x="98956" y="71160"/>
                  <a:pt x="118599" y="71160"/>
                </a:cubicBezTo>
                <a:lnTo>
                  <a:pt x="133350" y="71160"/>
                </a:lnTo>
                <a:cubicBezTo>
                  <a:pt x="125567" y="59485"/>
                  <a:pt x="118599" y="46068"/>
                  <a:pt x="118599" y="35580"/>
                </a:cubicBezTo>
                <a:cubicBezTo>
                  <a:pt x="118599" y="15937"/>
                  <a:pt x="134536" y="0"/>
                  <a:pt x="154179" y="0"/>
                </a:cubicBezTo>
                <a:cubicBezTo>
                  <a:pt x="173822" y="0"/>
                  <a:pt x="189759" y="15937"/>
                  <a:pt x="189759" y="35580"/>
                </a:cubicBezTo>
                <a:close/>
                <a:moveTo>
                  <a:pt x="43400" y="181271"/>
                </a:moveTo>
                <a:cubicBezTo>
                  <a:pt x="41992" y="182865"/>
                  <a:pt x="40731" y="184274"/>
                  <a:pt x="39657" y="185460"/>
                </a:cubicBezTo>
                <a:lnTo>
                  <a:pt x="38989" y="186201"/>
                </a:lnTo>
                <a:lnTo>
                  <a:pt x="38915" y="186127"/>
                </a:lnTo>
                <a:cubicBezTo>
                  <a:pt x="36692" y="187832"/>
                  <a:pt x="33504" y="187609"/>
                  <a:pt x="31503" y="185460"/>
                </a:cubicBezTo>
                <a:cubicBezTo>
                  <a:pt x="22163" y="175304"/>
                  <a:pt x="0" y="149176"/>
                  <a:pt x="0" y="130459"/>
                </a:cubicBezTo>
                <a:cubicBezTo>
                  <a:pt x="0" y="110816"/>
                  <a:pt x="15937" y="94879"/>
                  <a:pt x="35580" y="94879"/>
                </a:cubicBezTo>
                <a:cubicBezTo>
                  <a:pt x="55223" y="94879"/>
                  <a:pt x="71160" y="110816"/>
                  <a:pt x="71160" y="130459"/>
                </a:cubicBezTo>
                <a:cubicBezTo>
                  <a:pt x="71160" y="141578"/>
                  <a:pt x="63339" y="155291"/>
                  <a:pt x="55037" y="166743"/>
                </a:cubicBezTo>
                <a:cubicBezTo>
                  <a:pt x="51072" y="172191"/>
                  <a:pt x="46995" y="177121"/>
                  <a:pt x="43622" y="181012"/>
                </a:cubicBezTo>
                <a:lnTo>
                  <a:pt x="43400" y="181271"/>
                </a:lnTo>
                <a:close/>
                <a:moveTo>
                  <a:pt x="47440" y="130459"/>
                </a:moveTo>
                <a:cubicBezTo>
                  <a:pt x="47440" y="123913"/>
                  <a:pt x="42125" y="118599"/>
                  <a:pt x="35580" y="118599"/>
                </a:cubicBezTo>
                <a:cubicBezTo>
                  <a:pt x="29034" y="118599"/>
                  <a:pt x="23720" y="123913"/>
                  <a:pt x="23720" y="130459"/>
                </a:cubicBezTo>
                <a:cubicBezTo>
                  <a:pt x="23720" y="137005"/>
                  <a:pt x="29034" y="142319"/>
                  <a:pt x="35580" y="142319"/>
                </a:cubicBezTo>
                <a:cubicBezTo>
                  <a:pt x="42125" y="142319"/>
                  <a:pt x="47440" y="137005"/>
                  <a:pt x="47440" y="130459"/>
                </a:cubicBezTo>
                <a:close/>
                <a:moveTo>
                  <a:pt x="154179" y="47440"/>
                </a:moveTo>
                <a:cubicBezTo>
                  <a:pt x="160725" y="47440"/>
                  <a:pt x="166039" y="42125"/>
                  <a:pt x="166039" y="35580"/>
                </a:cubicBezTo>
                <a:cubicBezTo>
                  <a:pt x="166039" y="29034"/>
                  <a:pt x="160725" y="23720"/>
                  <a:pt x="154179" y="23720"/>
                </a:cubicBezTo>
                <a:cubicBezTo>
                  <a:pt x="147633" y="23720"/>
                  <a:pt x="142319" y="29034"/>
                  <a:pt x="142319" y="35580"/>
                </a:cubicBezTo>
                <a:cubicBezTo>
                  <a:pt x="142319" y="42125"/>
                  <a:pt x="147633" y="47440"/>
                  <a:pt x="154179" y="4744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9" name="Text 30"/>
          <p:cNvSpPr/>
          <p:nvPr/>
        </p:nvSpPr>
        <p:spPr>
          <a:xfrm>
            <a:off x="6748667" y="1439978"/>
            <a:ext cx="4990655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技术演进路径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50" name="Shape 31"/>
          <p:cNvSpPr/>
          <p:nvPr/>
        </p:nvSpPr>
        <p:spPr>
          <a:xfrm>
            <a:off x="6446698" y="1895399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151807" y="0"/>
                </a:moveTo>
                <a:lnTo>
                  <a:pt x="151807" y="0"/>
                </a:lnTo>
                <a:cubicBezTo>
                  <a:pt x="235592" y="0"/>
                  <a:pt x="303614" y="68022"/>
                  <a:pt x="303614" y="151807"/>
                </a:cubicBezTo>
                <a:lnTo>
                  <a:pt x="303614" y="151807"/>
                </a:lnTo>
                <a:cubicBezTo>
                  <a:pt x="303614" y="235592"/>
                  <a:pt x="235592" y="303614"/>
                  <a:pt x="151807" y="303614"/>
                </a:cubicBezTo>
                <a:lnTo>
                  <a:pt x="151807" y="303614"/>
                </a:lnTo>
                <a:cubicBezTo>
                  <a:pt x="68022" y="303614"/>
                  <a:pt x="0" y="235592"/>
                  <a:pt x="0" y="151807"/>
                </a:cubicBezTo>
                <a:lnTo>
                  <a:pt x="0" y="151807"/>
                </a:lnTo>
                <a:cubicBezTo>
                  <a:pt x="0" y="68022"/>
                  <a:pt x="68022" y="0"/>
                  <a:pt x="151807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51" name="Text 32"/>
          <p:cNvSpPr/>
          <p:nvPr/>
        </p:nvSpPr>
        <p:spPr>
          <a:xfrm>
            <a:off x="6572295" y="1952326"/>
            <a:ext cx="123343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Text 33"/>
          <p:cNvSpPr/>
          <p:nvPr/>
        </p:nvSpPr>
        <p:spPr>
          <a:xfrm>
            <a:off x="6864167" y="1857447"/>
            <a:ext cx="1935539" cy="22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传统检索问答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3" name="Text 34"/>
          <p:cNvSpPr/>
          <p:nvPr/>
        </p:nvSpPr>
        <p:spPr>
          <a:xfrm>
            <a:off x="6864350" y="2085340"/>
            <a:ext cx="2847975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基于关键词匹配的简单信息检索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Shape 35"/>
          <p:cNvSpPr/>
          <p:nvPr/>
        </p:nvSpPr>
        <p:spPr>
          <a:xfrm>
            <a:off x="6446698" y="2426723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151807" y="0"/>
                </a:moveTo>
                <a:lnTo>
                  <a:pt x="151807" y="0"/>
                </a:lnTo>
                <a:cubicBezTo>
                  <a:pt x="235592" y="0"/>
                  <a:pt x="303614" y="68022"/>
                  <a:pt x="303614" y="151807"/>
                </a:cubicBezTo>
                <a:lnTo>
                  <a:pt x="303614" y="151807"/>
                </a:lnTo>
                <a:cubicBezTo>
                  <a:pt x="303614" y="235592"/>
                  <a:pt x="235592" y="303614"/>
                  <a:pt x="151807" y="303614"/>
                </a:cubicBezTo>
                <a:lnTo>
                  <a:pt x="151807" y="303614"/>
                </a:lnTo>
                <a:cubicBezTo>
                  <a:pt x="68022" y="303614"/>
                  <a:pt x="0" y="235592"/>
                  <a:pt x="0" y="151807"/>
                </a:cubicBezTo>
                <a:lnTo>
                  <a:pt x="0" y="151807"/>
                </a:lnTo>
                <a:cubicBezTo>
                  <a:pt x="0" y="68022"/>
                  <a:pt x="68022" y="0"/>
                  <a:pt x="151807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55" name="Text 36"/>
          <p:cNvSpPr/>
          <p:nvPr/>
        </p:nvSpPr>
        <p:spPr>
          <a:xfrm>
            <a:off x="6561146" y="2483651"/>
            <a:ext cx="142319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Text 37"/>
          <p:cNvSpPr/>
          <p:nvPr/>
        </p:nvSpPr>
        <p:spPr>
          <a:xfrm>
            <a:off x="6864167" y="2388772"/>
            <a:ext cx="1935539" cy="22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端到端阅读理解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7" name="Text 38"/>
          <p:cNvSpPr/>
          <p:nvPr/>
        </p:nvSpPr>
        <p:spPr>
          <a:xfrm>
            <a:off x="6864350" y="2616200"/>
            <a:ext cx="2573655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能够理解上下文并生成连贯回答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Shape 39"/>
          <p:cNvSpPr/>
          <p:nvPr/>
        </p:nvSpPr>
        <p:spPr>
          <a:xfrm>
            <a:off x="6446698" y="2958048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151807" y="0"/>
                </a:moveTo>
                <a:lnTo>
                  <a:pt x="151807" y="0"/>
                </a:lnTo>
                <a:cubicBezTo>
                  <a:pt x="235592" y="0"/>
                  <a:pt x="303614" y="68022"/>
                  <a:pt x="303614" y="151807"/>
                </a:cubicBezTo>
                <a:lnTo>
                  <a:pt x="303614" y="151807"/>
                </a:lnTo>
                <a:cubicBezTo>
                  <a:pt x="303614" y="235592"/>
                  <a:pt x="235592" y="303614"/>
                  <a:pt x="151807" y="303614"/>
                </a:cubicBezTo>
                <a:lnTo>
                  <a:pt x="151807" y="303614"/>
                </a:lnTo>
                <a:cubicBezTo>
                  <a:pt x="68022" y="303614"/>
                  <a:pt x="0" y="235592"/>
                  <a:pt x="0" y="151807"/>
                </a:cubicBezTo>
                <a:lnTo>
                  <a:pt x="0" y="151807"/>
                </a:lnTo>
                <a:cubicBezTo>
                  <a:pt x="0" y="68022"/>
                  <a:pt x="68022" y="0"/>
                  <a:pt x="151807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59" name="Text 40"/>
          <p:cNvSpPr/>
          <p:nvPr/>
        </p:nvSpPr>
        <p:spPr>
          <a:xfrm>
            <a:off x="6559367" y="3014976"/>
            <a:ext cx="142319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0" name="Text 41"/>
          <p:cNvSpPr/>
          <p:nvPr/>
        </p:nvSpPr>
        <p:spPr>
          <a:xfrm>
            <a:off x="6864167" y="2920096"/>
            <a:ext cx="2201202" cy="22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封闭书大模型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1" name="Text 42"/>
          <p:cNvSpPr/>
          <p:nvPr/>
        </p:nvSpPr>
        <p:spPr>
          <a:xfrm>
            <a:off x="6864350" y="3147695"/>
            <a:ext cx="2907665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具备丰富知识但无法与外部系统交互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2" name="Shape 43"/>
          <p:cNvSpPr/>
          <p:nvPr/>
        </p:nvSpPr>
        <p:spPr>
          <a:xfrm>
            <a:off x="6446698" y="3489372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151807" y="0"/>
                </a:moveTo>
                <a:lnTo>
                  <a:pt x="151807" y="0"/>
                </a:lnTo>
                <a:cubicBezTo>
                  <a:pt x="235592" y="0"/>
                  <a:pt x="303614" y="68022"/>
                  <a:pt x="303614" y="151807"/>
                </a:cubicBezTo>
                <a:lnTo>
                  <a:pt x="303614" y="151807"/>
                </a:lnTo>
                <a:cubicBezTo>
                  <a:pt x="303614" y="235592"/>
                  <a:pt x="235592" y="303614"/>
                  <a:pt x="151807" y="303614"/>
                </a:cubicBezTo>
                <a:lnTo>
                  <a:pt x="151807" y="303614"/>
                </a:lnTo>
                <a:cubicBezTo>
                  <a:pt x="68022" y="303614"/>
                  <a:pt x="0" y="235592"/>
                  <a:pt x="0" y="151807"/>
                </a:cubicBezTo>
                <a:lnTo>
                  <a:pt x="0" y="151807"/>
                </a:lnTo>
                <a:cubicBezTo>
                  <a:pt x="0" y="68022"/>
                  <a:pt x="68022" y="0"/>
                  <a:pt x="151807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3" name="Text 44"/>
          <p:cNvSpPr/>
          <p:nvPr/>
        </p:nvSpPr>
        <p:spPr>
          <a:xfrm>
            <a:off x="6559486" y="3546300"/>
            <a:ext cx="142319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Text 45"/>
          <p:cNvSpPr/>
          <p:nvPr/>
        </p:nvSpPr>
        <p:spPr>
          <a:xfrm>
            <a:off x="6864167" y="3451421"/>
            <a:ext cx="2466864" cy="22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GUI Agent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Text 46"/>
          <p:cNvSpPr/>
          <p:nvPr/>
        </p:nvSpPr>
        <p:spPr>
          <a:xfrm>
            <a:off x="6864350" y="3679190"/>
            <a:ext cx="3462655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能够调用工具、操作界面、完成实体任务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6" name="Shape 47"/>
          <p:cNvSpPr/>
          <p:nvPr/>
        </p:nvSpPr>
        <p:spPr>
          <a:xfrm>
            <a:off x="6215193" y="4259793"/>
            <a:ext cx="5595986" cy="2360599"/>
          </a:xfrm>
          <a:custGeom>
            <a:avLst/>
            <a:gdLst/>
            <a:ahLst/>
            <a:cxnLst/>
            <a:rect l="l" t="t" r="r" b="b"/>
            <a:pathLst>
              <a:path w="5595986" h="2360599">
                <a:moveTo>
                  <a:pt x="113852" y="0"/>
                </a:moveTo>
                <a:lnTo>
                  <a:pt x="5482134" y="0"/>
                </a:lnTo>
                <a:cubicBezTo>
                  <a:pt x="5545013" y="0"/>
                  <a:pt x="5595986" y="50973"/>
                  <a:pt x="5595986" y="113852"/>
                </a:cubicBezTo>
                <a:lnTo>
                  <a:pt x="5595986" y="2246747"/>
                </a:lnTo>
                <a:cubicBezTo>
                  <a:pt x="5595986" y="2309626"/>
                  <a:pt x="5545013" y="2360599"/>
                  <a:pt x="5482134" y="2360599"/>
                </a:cubicBezTo>
                <a:lnTo>
                  <a:pt x="113852" y="2360599"/>
                </a:lnTo>
                <a:cubicBezTo>
                  <a:pt x="50973" y="2360599"/>
                  <a:pt x="0" y="2309626"/>
                  <a:pt x="0" y="2246747"/>
                </a:cubicBezTo>
                <a:lnTo>
                  <a:pt x="0" y="113852"/>
                </a:lnTo>
                <a:cubicBezTo>
                  <a:pt x="0" y="50973"/>
                  <a:pt x="50973" y="0"/>
                  <a:pt x="113852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7" name="Shape 48"/>
          <p:cNvSpPr/>
          <p:nvPr/>
        </p:nvSpPr>
        <p:spPr>
          <a:xfrm>
            <a:off x="6470418" y="4529251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94879" y="0"/>
                </a:moveTo>
                <a:cubicBezTo>
                  <a:pt x="100328" y="0"/>
                  <a:pt x="105331" y="3002"/>
                  <a:pt x="107925" y="7783"/>
                </a:cubicBezTo>
                <a:lnTo>
                  <a:pt x="187980" y="156032"/>
                </a:lnTo>
                <a:cubicBezTo>
                  <a:pt x="190463" y="160628"/>
                  <a:pt x="190352" y="166187"/>
                  <a:pt x="187683" y="170672"/>
                </a:cubicBezTo>
                <a:cubicBezTo>
                  <a:pt x="185015" y="175156"/>
                  <a:pt x="180160" y="177899"/>
                  <a:pt x="174934" y="177899"/>
                </a:cubicBezTo>
                <a:lnTo>
                  <a:pt x="14825" y="177899"/>
                </a:lnTo>
                <a:cubicBezTo>
                  <a:pt x="9599" y="177899"/>
                  <a:pt x="4781" y="175156"/>
                  <a:pt x="2075" y="170672"/>
                </a:cubicBezTo>
                <a:cubicBezTo>
                  <a:pt x="-630" y="166187"/>
                  <a:pt x="-704" y="160628"/>
                  <a:pt x="1779" y="156032"/>
                </a:cubicBezTo>
                <a:lnTo>
                  <a:pt x="81833" y="7783"/>
                </a:lnTo>
                <a:cubicBezTo>
                  <a:pt x="84428" y="3002"/>
                  <a:pt x="89431" y="0"/>
                  <a:pt x="94879" y="0"/>
                </a:cubicBezTo>
                <a:close/>
                <a:moveTo>
                  <a:pt x="94879" y="62265"/>
                </a:moveTo>
                <a:cubicBezTo>
                  <a:pt x="89950" y="62265"/>
                  <a:pt x="85984" y="66230"/>
                  <a:pt x="85984" y="71160"/>
                </a:cubicBezTo>
                <a:lnTo>
                  <a:pt x="85984" y="112669"/>
                </a:lnTo>
                <a:cubicBezTo>
                  <a:pt x="85984" y="117599"/>
                  <a:pt x="89950" y="121564"/>
                  <a:pt x="94879" y="121564"/>
                </a:cubicBezTo>
                <a:cubicBezTo>
                  <a:pt x="99809" y="121564"/>
                  <a:pt x="103774" y="117599"/>
                  <a:pt x="103774" y="112669"/>
                </a:cubicBezTo>
                <a:lnTo>
                  <a:pt x="103774" y="71160"/>
                </a:lnTo>
                <a:cubicBezTo>
                  <a:pt x="103774" y="66230"/>
                  <a:pt x="99809" y="62265"/>
                  <a:pt x="94879" y="62265"/>
                </a:cubicBezTo>
                <a:close/>
                <a:moveTo>
                  <a:pt x="104775" y="142319"/>
                </a:moveTo>
                <a:cubicBezTo>
                  <a:pt x="105000" y="138646"/>
                  <a:pt x="103168" y="135151"/>
                  <a:pt x="100020" y="133247"/>
                </a:cubicBezTo>
                <a:cubicBezTo>
                  <a:pt x="96871" y="131342"/>
                  <a:pt x="92925" y="131342"/>
                  <a:pt x="89776" y="133247"/>
                </a:cubicBezTo>
                <a:cubicBezTo>
                  <a:pt x="86627" y="135151"/>
                  <a:pt x="84796" y="138646"/>
                  <a:pt x="85021" y="142319"/>
                </a:cubicBezTo>
                <a:cubicBezTo>
                  <a:pt x="84796" y="145992"/>
                  <a:pt x="86627" y="149487"/>
                  <a:pt x="89776" y="151392"/>
                </a:cubicBezTo>
                <a:cubicBezTo>
                  <a:pt x="92925" y="153296"/>
                  <a:pt x="96871" y="153296"/>
                  <a:pt x="100020" y="151392"/>
                </a:cubicBezTo>
                <a:cubicBezTo>
                  <a:pt x="103168" y="149487"/>
                  <a:pt x="105000" y="145992"/>
                  <a:pt x="104775" y="14231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8" name="Text 49"/>
          <p:cNvSpPr/>
          <p:nvPr/>
        </p:nvSpPr>
        <p:spPr>
          <a:xfrm>
            <a:off x="6748667" y="4491300"/>
            <a:ext cx="4990655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解决的三大核心痛点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9" name="Shape 50"/>
          <p:cNvSpPr/>
          <p:nvPr/>
        </p:nvSpPr>
        <p:spPr>
          <a:xfrm>
            <a:off x="6446698" y="4927745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70" name="Text 51"/>
          <p:cNvSpPr/>
          <p:nvPr/>
        </p:nvSpPr>
        <p:spPr>
          <a:xfrm>
            <a:off x="6602893" y="4984672"/>
            <a:ext cx="151807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1" name="Text 52"/>
          <p:cNvSpPr/>
          <p:nvPr/>
        </p:nvSpPr>
        <p:spPr>
          <a:xfrm>
            <a:off x="6940071" y="4908769"/>
            <a:ext cx="1688853" cy="22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人工重复操作效率低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2" name="Text 53"/>
          <p:cNvSpPr/>
          <p:nvPr/>
        </p:nvSpPr>
        <p:spPr>
          <a:xfrm>
            <a:off x="6939915" y="5136515"/>
            <a:ext cx="2646680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24小时不间断处理繁琐工作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Shape 54"/>
          <p:cNvSpPr/>
          <p:nvPr/>
        </p:nvSpPr>
        <p:spPr>
          <a:xfrm>
            <a:off x="6446698" y="5459069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74" name="Text 55"/>
          <p:cNvSpPr/>
          <p:nvPr/>
        </p:nvSpPr>
        <p:spPr>
          <a:xfrm>
            <a:off x="6588424" y="5515997"/>
            <a:ext cx="180271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5" name="Text 56"/>
          <p:cNvSpPr/>
          <p:nvPr/>
        </p:nvSpPr>
        <p:spPr>
          <a:xfrm>
            <a:off x="6940071" y="5440093"/>
            <a:ext cx="1537046" cy="22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复杂任务步骤繁琐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6" name="Text 57"/>
          <p:cNvSpPr/>
          <p:nvPr/>
        </p:nvSpPr>
        <p:spPr>
          <a:xfrm>
            <a:off x="6939915" y="5668010"/>
            <a:ext cx="2251710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多步操作简化为一条指令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7" name="Shape 58"/>
          <p:cNvSpPr/>
          <p:nvPr/>
        </p:nvSpPr>
        <p:spPr>
          <a:xfrm>
            <a:off x="6446698" y="5990394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78" name="Text 59"/>
          <p:cNvSpPr/>
          <p:nvPr/>
        </p:nvSpPr>
        <p:spPr>
          <a:xfrm>
            <a:off x="6586171" y="6047321"/>
            <a:ext cx="189759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9" name="Text 60"/>
          <p:cNvSpPr/>
          <p:nvPr/>
        </p:nvSpPr>
        <p:spPr>
          <a:xfrm>
            <a:off x="6940071" y="5971418"/>
            <a:ext cx="1669877" cy="22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跨系统操作协同难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0" name="Text 61"/>
          <p:cNvSpPr/>
          <p:nvPr/>
        </p:nvSpPr>
        <p:spPr>
          <a:xfrm>
            <a:off x="6939915" y="6198870"/>
            <a:ext cx="2300605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打破信息孤岛实现无缝协同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84669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GPT-4V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与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OmniParser: 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视觉解析的技术突破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3"/>
          <p:cNvSpPr/>
          <p:nvPr/>
        </p:nvSpPr>
        <p:spPr>
          <a:xfrm>
            <a:off x="352582" y="1135726"/>
            <a:ext cx="6805527" cy="2433164"/>
          </a:xfrm>
          <a:custGeom>
            <a:avLst/>
            <a:gdLst/>
            <a:ahLst/>
            <a:cxnLst/>
            <a:rect l="l" t="t" r="r" b="b"/>
            <a:pathLst>
              <a:path w="6805527" h="2433164">
                <a:moveTo>
                  <a:pt x="104723" y="0"/>
                </a:moveTo>
                <a:lnTo>
                  <a:pt x="6700804" y="0"/>
                </a:lnTo>
                <a:cubicBezTo>
                  <a:pt x="6758641" y="0"/>
                  <a:pt x="6805527" y="46886"/>
                  <a:pt x="6805527" y="104723"/>
                </a:cubicBezTo>
                <a:lnTo>
                  <a:pt x="6805527" y="2328440"/>
                </a:lnTo>
                <a:cubicBezTo>
                  <a:pt x="6805527" y="2386277"/>
                  <a:pt x="6758641" y="2433164"/>
                  <a:pt x="6700804" y="2433164"/>
                </a:cubicBezTo>
                <a:lnTo>
                  <a:pt x="104723" y="2433164"/>
                </a:lnTo>
                <a:cubicBezTo>
                  <a:pt x="46886" y="2433164"/>
                  <a:pt x="0" y="2386277"/>
                  <a:pt x="0" y="2328440"/>
                </a:cubicBezTo>
                <a:lnTo>
                  <a:pt x="0" y="104723"/>
                </a:lnTo>
                <a:cubicBezTo>
                  <a:pt x="0" y="46886"/>
                  <a:pt x="46886" y="0"/>
                  <a:pt x="10472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2" name="Shape 4"/>
          <p:cNvSpPr/>
          <p:nvPr/>
        </p:nvSpPr>
        <p:spPr>
          <a:xfrm>
            <a:off x="576436" y="1383581"/>
            <a:ext cx="196364" cy="174545"/>
          </a:xfrm>
          <a:custGeom>
            <a:avLst/>
            <a:gdLst/>
            <a:ahLst/>
            <a:cxnLst/>
            <a:rect l="l" t="t" r="r" b="b"/>
            <a:pathLst>
              <a:path w="196364" h="174545">
                <a:moveTo>
                  <a:pt x="98182" y="10909"/>
                </a:moveTo>
                <a:cubicBezTo>
                  <a:pt x="70636" y="10909"/>
                  <a:pt x="48580" y="23455"/>
                  <a:pt x="32523" y="38386"/>
                </a:cubicBezTo>
                <a:cubicBezTo>
                  <a:pt x="16568" y="53216"/>
                  <a:pt x="5898" y="70909"/>
                  <a:pt x="818" y="83080"/>
                </a:cubicBezTo>
                <a:cubicBezTo>
                  <a:pt x="-307" y="85773"/>
                  <a:pt x="-307" y="88773"/>
                  <a:pt x="818" y="91466"/>
                </a:cubicBezTo>
                <a:cubicBezTo>
                  <a:pt x="5898" y="103636"/>
                  <a:pt x="16568" y="121364"/>
                  <a:pt x="32523" y="136159"/>
                </a:cubicBezTo>
                <a:cubicBezTo>
                  <a:pt x="48580" y="151057"/>
                  <a:pt x="70636" y="163636"/>
                  <a:pt x="98182" y="163636"/>
                </a:cubicBezTo>
                <a:cubicBezTo>
                  <a:pt x="125727" y="163636"/>
                  <a:pt x="147784" y="151091"/>
                  <a:pt x="163841" y="136159"/>
                </a:cubicBezTo>
                <a:cubicBezTo>
                  <a:pt x="179795" y="121330"/>
                  <a:pt x="190466" y="103636"/>
                  <a:pt x="195545" y="91466"/>
                </a:cubicBezTo>
                <a:cubicBezTo>
                  <a:pt x="196670" y="88773"/>
                  <a:pt x="196670" y="85773"/>
                  <a:pt x="195545" y="83080"/>
                </a:cubicBezTo>
                <a:cubicBezTo>
                  <a:pt x="190466" y="70909"/>
                  <a:pt x="179795" y="53182"/>
                  <a:pt x="163841" y="38386"/>
                </a:cubicBezTo>
                <a:cubicBezTo>
                  <a:pt x="147784" y="23489"/>
                  <a:pt x="125727" y="10909"/>
                  <a:pt x="98182" y="10909"/>
                </a:cubicBezTo>
                <a:close/>
                <a:moveTo>
                  <a:pt x="49091" y="87273"/>
                </a:moveTo>
                <a:cubicBezTo>
                  <a:pt x="49091" y="60179"/>
                  <a:pt x="71088" y="38182"/>
                  <a:pt x="98182" y="38182"/>
                </a:cubicBezTo>
                <a:cubicBezTo>
                  <a:pt x="125276" y="38182"/>
                  <a:pt x="147273" y="60179"/>
                  <a:pt x="147273" y="87273"/>
                </a:cubicBezTo>
                <a:cubicBezTo>
                  <a:pt x="147273" y="114367"/>
                  <a:pt x="125276" y="136364"/>
                  <a:pt x="98182" y="136364"/>
                </a:cubicBezTo>
                <a:cubicBezTo>
                  <a:pt x="71088" y="136364"/>
                  <a:pt x="49091" y="114367"/>
                  <a:pt x="49091" y="87273"/>
                </a:cubicBezTo>
                <a:close/>
                <a:moveTo>
                  <a:pt x="98182" y="65455"/>
                </a:moveTo>
                <a:cubicBezTo>
                  <a:pt x="98182" y="77489"/>
                  <a:pt x="88398" y="87273"/>
                  <a:pt x="76364" y="87273"/>
                </a:cubicBezTo>
                <a:cubicBezTo>
                  <a:pt x="72443" y="87273"/>
                  <a:pt x="68761" y="86250"/>
                  <a:pt x="65557" y="84409"/>
                </a:cubicBezTo>
                <a:cubicBezTo>
                  <a:pt x="65216" y="88125"/>
                  <a:pt x="65523" y="91943"/>
                  <a:pt x="66545" y="95727"/>
                </a:cubicBezTo>
                <a:cubicBezTo>
                  <a:pt x="71216" y="113182"/>
                  <a:pt x="89182" y="123545"/>
                  <a:pt x="106636" y="118875"/>
                </a:cubicBezTo>
                <a:cubicBezTo>
                  <a:pt x="124091" y="114205"/>
                  <a:pt x="134455" y="96239"/>
                  <a:pt x="129784" y="78784"/>
                </a:cubicBezTo>
                <a:cubicBezTo>
                  <a:pt x="125625" y="63205"/>
                  <a:pt x="110864" y="53284"/>
                  <a:pt x="95318" y="54648"/>
                </a:cubicBezTo>
                <a:cubicBezTo>
                  <a:pt x="97125" y="57818"/>
                  <a:pt x="98182" y="61500"/>
                  <a:pt x="98182" y="6545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3" name="Text 5"/>
          <p:cNvSpPr/>
          <p:nvPr/>
        </p:nvSpPr>
        <p:spPr>
          <a:xfrm>
            <a:off x="844669" y="1348672"/>
            <a:ext cx="6248727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OmniParser核心技术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6"/>
          <p:cNvSpPr/>
          <p:nvPr/>
        </p:nvSpPr>
        <p:spPr>
          <a:xfrm>
            <a:off x="565527" y="1732672"/>
            <a:ext cx="6449455" cy="680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Microsoft开发的OmniParser是一种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纯视觉屏幕解析技术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,通过将UI截图转换为结构化元素,显著增强GPT-4V生成可在界面相应区域准确定位的动作能力。该技术结合可交互区域检测、图标功能描述和OCR集成三大模块。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565527" y="2553036"/>
            <a:ext cx="2059636" cy="802909"/>
          </a:xfrm>
          <a:custGeom>
            <a:avLst/>
            <a:gdLst/>
            <a:ahLst/>
            <a:cxnLst/>
            <a:rect l="l" t="t" r="r" b="b"/>
            <a:pathLst>
              <a:path w="2059636" h="802909">
                <a:moveTo>
                  <a:pt x="69821" y="0"/>
                </a:moveTo>
                <a:lnTo>
                  <a:pt x="1989815" y="0"/>
                </a:lnTo>
                <a:cubicBezTo>
                  <a:pt x="2028376" y="0"/>
                  <a:pt x="2059636" y="31260"/>
                  <a:pt x="2059636" y="69821"/>
                </a:cubicBezTo>
                <a:lnTo>
                  <a:pt x="2059636" y="733088"/>
                </a:lnTo>
                <a:cubicBezTo>
                  <a:pt x="2059636" y="771649"/>
                  <a:pt x="2028376" y="802909"/>
                  <a:pt x="1989815" y="802909"/>
                </a:cubicBezTo>
                <a:lnTo>
                  <a:pt x="69821" y="802909"/>
                </a:lnTo>
                <a:cubicBezTo>
                  <a:pt x="31260" y="802909"/>
                  <a:pt x="0" y="771649"/>
                  <a:pt x="0" y="733088"/>
                </a:cubicBezTo>
                <a:lnTo>
                  <a:pt x="0" y="69821"/>
                </a:lnTo>
                <a:cubicBezTo>
                  <a:pt x="0" y="31286"/>
                  <a:pt x="31286" y="0"/>
                  <a:pt x="6982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6" name="Shape 8"/>
          <p:cNvSpPr/>
          <p:nvPr/>
        </p:nvSpPr>
        <p:spPr>
          <a:xfrm>
            <a:off x="702982" y="2657763"/>
            <a:ext cx="152727" cy="174545"/>
          </a:xfrm>
          <a:custGeom>
            <a:avLst/>
            <a:gdLst/>
            <a:ahLst/>
            <a:cxnLst/>
            <a:rect l="l" t="t" r="r" b="b"/>
            <a:pathLst>
              <a:path w="152727" h="174545">
                <a:moveTo>
                  <a:pt x="26352" y="852"/>
                </a:moveTo>
                <a:cubicBezTo>
                  <a:pt x="29114" y="-545"/>
                  <a:pt x="32455" y="-239"/>
                  <a:pt x="34909" y="1636"/>
                </a:cubicBezTo>
                <a:lnTo>
                  <a:pt x="144000" y="83420"/>
                </a:lnTo>
                <a:cubicBezTo>
                  <a:pt x="146830" y="85534"/>
                  <a:pt x="147955" y="89216"/>
                  <a:pt x="146864" y="92557"/>
                </a:cubicBezTo>
                <a:cubicBezTo>
                  <a:pt x="145773" y="95898"/>
                  <a:pt x="142636" y="98148"/>
                  <a:pt x="139091" y="98148"/>
                </a:cubicBezTo>
                <a:lnTo>
                  <a:pt x="87170" y="98148"/>
                </a:lnTo>
                <a:lnTo>
                  <a:pt x="117477" y="158727"/>
                </a:lnTo>
                <a:cubicBezTo>
                  <a:pt x="120170" y="164114"/>
                  <a:pt x="117989" y="170659"/>
                  <a:pt x="112602" y="173352"/>
                </a:cubicBezTo>
                <a:cubicBezTo>
                  <a:pt x="107216" y="176045"/>
                  <a:pt x="100670" y="173864"/>
                  <a:pt x="97977" y="168477"/>
                </a:cubicBezTo>
                <a:lnTo>
                  <a:pt x="67670" y="107898"/>
                </a:lnTo>
                <a:lnTo>
                  <a:pt x="36545" y="149420"/>
                </a:lnTo>
                <a:cubicBezTo>
                  <a:pt x="34432" y="152250"/>
                  <a:pt x="30750" y="153375"/>
                  <a:pt x="27409" y="152284"/>
                </a:cubicBezTo>
                <a:cubicBezTo>
                  <a:pt x="24068" y="151193"/>
                  <a:pt x="21818" y="148057"/>
                  <a:pt x="21818" y="144545"/>
                </a:cubicBezTo>
                <a:lnTo>
                  <a:pt x="21818" y="8182"/>
                </a:lnTo>
                <a:cubicBezTo>
                  <a:pt x="21818" y="5080"/>
                  <a:pt x="23557" y="2250"/>
                  <a:pt x="26352" y="85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7" name="Text 9"/>
          <p:cNvSpPr/>
          <p:nvPr/>
        </p:nvSpPr>
        <p:spPr>
          <a:xfrm>
            <a:off x="670255" y="2902127"/>
            <a:ext cx="1911273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可交互区域检测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670255" y="3111581"/>
            <a:ext cx="1902545" cy="139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67K+截图训练数据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2727491" y="2553036"/>
            <a:ext cx="2059636" cy="802909"/>
          </a:xfrm>
          <a:custGeom>
            <a:avLst/>
            <a:gdLst/>
            <a:ahLst/>
            <a:cxnLst/>
            <a:rect l="l" t="t" r="r" b="b"/>
            <a:pathLst>
              <a:path w="2059636" h="802909">
                <a:moveTo>
                  <a:pt x="69821" y="0"/>
                </a:moveTo>
                <a:lnTo>
                  <a:pt x="1989815" y="0"/>
                </a:lnTo>
                <a:cubicBezTo>
                  <a:pt x="2028376" y="0"/>
                  <a:pt x="2059636" y="31260"/>
                  <a:pt x="2059636" y="69821"/>
                </a:cubicBezTo>
                <a:lnTo>
                  <a:pt x="2059636" y="733088"/>
                </a:lnTo>
                <a:cubicBezTo>
                  <a:pt x="2059636" y="771649"/>
                  <a:pt x="2028376" y="802909"/>
                  <a:pt x="1989815" y="802909"/>
                </a:cubicBezTo>
                <a:lnTo>
                  <a:pt x="69821" y="802909"/>
                </a:lnTo>
                <a:cubicBezTo>
                  <a:pt x="31260" y="802909"/>
                  <a:pt x="0" y="771649"/>
                  <a:pt x="0" y="733088"/>
                </a:cubicBezTo>
                <a:lnTo>
                  <a:pt x="0" y="69821"/>
                </a:lnTo>
                <a:cubicBezTo>
                  <a:pt x="0" y="31286"/>
                  <a:pt x="31286" y="0"/>
                  <a:pt x="6982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0" name="Shape 12"/>
          <p:cNvSpPr/>
          <p:nvPr/>
        </p:nvSpPr>
        <p:spPr>
          <a:xfrm>
            <a:off x="2854036" y="2657763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11080" y="32727"/>
                </a:moveTo>
                <a:lnTo>
                  <a:pt x="11080" y="83693"/>
                </a:lnTo>
                <a:cubicBezTo>
                  <a:pt x="11080" y="89489"/>
                  <a:pt x="13364" y="95045"/>
                  <a:pt x="17455" y="99136"/>
                </a:cubicBezTo>
                <a:lnTo>
                  <a:pt x="82909" y="164591"/>
                </a:lnTo>
                <a:cubicBezTo>
                  <a:pt x="91432" y="173114"/>
                  <a:pt x="105239" y="173114"/>
                  <a:pt x="113761" y="164591"/>
                </a:cubicBezTo>
                <a:lnTo>
                  <a:pt x="164727" y="113625"/>
                </a:lnTo>
                <a:cubicBezTo>
                  <a:pt x="173250" y="105102"/>
                  <a:pt x="173250" y="91295"/>
                  <a:pt x="164727" y="82773"/>
                </a:cubicBezTo>
                <a:lnTo>
                  <a:pt x="99273" y="17318"/>
                </a:lnTo>
                <a:cubicBezTo>
                  <a:pt x="95182" y="13193"/>
                  <a:pt x="89659" y="10909"/>
                  <a:pt x="83864" y="10909"/>
                </a:cubicBezTo>
                <a:lnTo>
                  <a:pt x="32898" y="10909"/>
                </a:lnTo>
                <a:cubicBezTo>
                  <a:pt x="20864" y="10909"/>
                  <a:pt x="11080" y="20693"/>
                  <a:pt x="11080" y="32727"/>
                </a:cubicBezTo>
                <a:close/>
                <a:moveTo>
                  <a:pt x="49261" y="38182"/>
                </a:moveTo>
                <a:cubicBezTo>
                  <a:pt x="55282" y="38182"/>
                  <a:pt x="60170" y="43070"/>
                  <a:pt x="60170" y="49091"/>
                </a:cubicBezTo>
                <a:cubicBezTo>
                  <a:pt x="60170" y="55112"/>
                  <a:pt x="55282" y="60000"/>
                  <a:pt x="49261" y="60000"/>
                </a:cubicBezTo>
                <a:cubicBezTo>
                  <a:pt x="43240" y="60000"/>
                  <a:pt x="38352" y="55112"/>
                  <a:pt x="38352" y="49091"/>
                </a:cubicBezTo>
                <a:cubicBezTo>
                  <a:pt x="38352" y="43070"/>
                  <a:pt x="43240" y="38182"/>
                  <a:pt x="49261" y="3818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1" name="Text 13"/>
          <p:cNvSpPr/>
          <p:nvPr/>
        </p:nvSpPr>
        <p:spPr>
          <a:xfrm>
            <a:off x="2832218" y="2902127"/>
            <a:ext cx="1911273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图标功能描述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2832218" y="3111581"/>
            <a:ext cx="1902545" cy="139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7K图标-描述对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4889455" y="2553036"/>
            <a:ext cx="2059636" cy="802909"/>
          </a:xfrm>
          <a:custGeom>
            <a:avLst/>
            <a:gdLst/>
            <a:ahLst/>
            <a:cxnLst/>
            <a:rect l="l" t="t" r="r" b="b"/>
            <a:pathLst>
              <a:path w="2059636" h="802909">
                <a:moveTo>
                  <a:pt x="69821" y="0"/>
                </a:moveTo>
                <a:lnTo>
                  <a:pt x="1989815" y="0"/>
                </a:lnTo>
                <a:cubicBezTo>
                  <a:pt x="2028376" y="0"/>
                  <a:pt x="2059636" y="31260"/>
                  <a:pt x="2059636" y="69821"/>
                </a:cubicBezTo>
                <a:lnTo>
                  <a:pt x="2059636" y="733088"/>
                </a:lnTo>
                <a:cubicBezTo>
                  <a:pt x="2059636" y="771649"/>
                  <a:pt x="2028376" y="802909"/>
                  <a:pt x="1989815" y="802909"/>
                </a:cubicBezTo>
                <a:lnTo>
                  <a:pt x="69821" y="802909"/>
                </a:lnTo>
                <a:cubicBezTo>
                  <a:pt x="31260" y="802909"/>
                  <a:pt x="0" y="771649"/>
                  <a:pt x="0" y="733088"/>
                </a:cubicBezTo>
                <a:lnTo>
                  <a:pt x="0" y="69821"/>
                </a:lnTo>
                <a:cubicBezTo>
                  <a:pt x="0" y="31286"/>
                  <a:pt x="31286" y="0"/>
                  <a:pt x="6982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4" name="Shape 16"/>
          <p:cNvSpPr/>
          <p:nvPr/>
        </p:nvSpPr>
        <p:spPr>
          <a:xfrm>
            <a:off x="5016000" y="2657763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97193" y="17284"/>
                </a:moveTo>
                <a:cubicBezTo>
                  <a:pt x="95420" y="13398"/>
                  <a:pt x="91534" y="10909"/>
                  <a:pt x="87273" y="10909"/>
                </a:cubicBezTo>
                <a:cubicBezTo>
                  <a:pt x="83011" y="10909"/>
                  <a:pt x="79125" y="13398"/>
                  <a:pt x="77352" y="17284"/>
                </a:cubicBezTo>
                <a:lnTo>
                  <a:pt x="20284" y="141818"/>
                </a:lnTo>
                <a:lnTo>
                  <a:pt x="16364" y="141818"/>
                </a:lnTo>
                <a:cubicBezTo>
                  <a:pt x="10330" y="141818"/>
                  <a:pt x="5455" y="146693"/>
                  <a:pt x="5455" y="152727"/>
                </a:cubicBezTo>
                <a:cubicBezTo>
                  <a:pt x="5455" y="158761"/>
                  <a:pt x="10330" y="163636"/>
                  <a:pt x="16364" y="163636"/>
                </a:cubicBezTo>
                <a:lnTo>
                  <a:pt x="46364" y="163636"/>
                </a:lnTo>
                <a:cubicBezTo>
                  <a:pt x="52398" y="163636"/>
                  <a:pt x="57273" y="158761"/>
                  <a:pt x="57273" y="152727"/>
                </a:cubicBezTo>
                <a:cubicBezTo>
                  <a:pt x="57273" y="146693"/>
                  <a:pt x="52398" y="141818"/>
                  <a:pt x="46364" y="141818"/>
                </a:cubicBezTo>
                <a:lnTo>
                  <a:pt x="44284" y="141818"/>
                </a:lnTo>
                <a:lnTo>
                  <a:pt x="51784" y="125455"/>
                </a:lnTo>
                <a:lnTo>
                  <a:pt x="122795" y="125455"/>
                </a:lnTo>
                <a:lnTo>
                  <a:pt x="130295" y="141818"/>
                </a:lnTo>
                <a:lnTo>
                  <a:pt x="128216" y="141818"/>
                </a:lnTo>
                <a:cubicBezTo>
                  <a:pt x="122182" y="141818"/>
                  <a:pt x="117307" y="146693"/>
                  <a:pt x="117307" y="152727"/>
                </a:cubicBezTo>
                <a:cubicBezTo>
                  <a:pt x="117307" y="158761"/>
                  <a:pt x="122182" y="163636"/>
                  <a:pt x="128216" y="163636"/>
                </a:cubicBezTo>
                <a:lnTo>
                  <a:pt x="158216" y="163636"/>
                </a:lnTo>
                <a:cubicBezTo>
                  <a:pt x="164250" y="163636"/>
                  <a:pt x="169125" y="158761"/>
                  <a:pt x="169125" y="152727"/>
                </a:cubicBezTo>
                <a:cubicBezTo>
                  <a:pt x="169125" y="146693"/>
                  <a:pt x="164250" y="141818"/>
                  <a:pt x="158216" y="141818"/>
                </a:cubicBezTo>
                <a:lnTo>
                  <a:pt x="154295" y="141818"/>
                </a:lnTo>
                <a:lnTo>
                  <a:pt x="97227" y="17284"/>
                </a:lnTo>
                <a:close/>
                <a:moveTo>
                  <a:pt x="112773" y="103636"/>
                </a:moveTo>
                <a:lnTo>
                  <a:pt x="61773" y="103636"/>
                </a:lnTo>
                <a:lnTo>
                  <a:pt x="87273" y="48000"/>
                </a:lnTo>
                <a:lnTo>
                  <a:pt x="112773" y="103636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35" name="Text 17"/>
          <p:cNvSpPr/>
          <p:nvPr/>
        </p:nvSpPr>
        <p:spPr>
          <a:xfrm>
            <a:off x="4994182" y="2902127"/>
            <a:ext cx="1911273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OCR集成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4994182" y="3111581"/>
            <a:ext cx="1902545" cy="139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文本元素提取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352582" y="3715400"/>
            <a:ext cx="6805527" cy="2939345"/>
          </a:xfrm>
          <a:custGeom>
            <a:avLst/>
            <a:gdLst/>
            <a:ahLst/>
            <a:cxnLst/>
            <a:rect l="l" t="t" r="r" b="b"/>
            <a:pathLst>
              <a:path w="6805527" h="2939345">
                <a:moveTo>
                  <a:pt x="104729" y="0"/>
                </a:moveTo>
                <a:lnTo>
                  <a:pt x="6700798" y="0"/>
                </a:lnTo>
                <a:cubicBezTo>
                  <a:pt x="6758639" y="0"/>
                  <a:pt x="6805527" y="46889"/>
                  <a:pt x="6805527" y="104729"/>
                </a:cubicBezTo>
                <a:lnTo>
                  <a:pt x="6805527" y="2834617"/>
                </a:lnTo>
                <a:cubicBezTo>
                  <a:pt x="6805527" y="2892457"/>
                  <a:pt x="6758639" y="2939345"/>
                  <a:pt x="6700798" y="2939345"/>
                </a:cubicBezTo>
                <a:lnTo>
                  <a:pt x="104729" y="2939345"/>
                </a:lnTo>
                <a:cubicBezTo>
                  <a:pt x="46889" y="2939345"/>
                  <a:pt x="0" y="2892457"/>
                  <a:pt x="0" y="2834617"/>
                </a:cubicBezTo>
                <a:lnTo>
                  <a:pt x="0" y="104729"/>
                </a:lnTo>
                <a:cubicBezTo>
                  <a:pt x="0" y="46889"/>
                  <a:pt x="46889" y="0"/>
                  <a:pt x="10472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8" name="Shape 20"/>
          <p:cNvSpPr/>
          <p:nvPr/>
        </p:nvSpPr>
        <p:spPr>
          <a:xfrm>
            <a:off x="587345" y="3963255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49193" y="0"/>
                </a:moveTo>
                <a:lnTo>
                  <a:pt x="125557" y="0"/>
                </a:lnTo>
                <a:cubicBezTo>
                  <a:pt x="134591" y="0"/>
                  <a:pt x="141955" y="7432"/>
                  <a:pt x="141614" y="16432"/>
                </a:cubicBezTo>
                <a:cubicBezTo>
                  <a:pt x="141545" y="18239"/>
                  <a:pt x="141477" y="20045"/>
                  <a:pt x="141375" y="21818"/>
                </a:cubicBezTo>
                <a:lnTo>
                  <a:pt x="158284" y="21818"/>
                </a:lnTo>
                <a:cubicBezTo>
                  <a:pt x="167182" y="21818"/>
                  <a:pt x="175023" y="29182"/>
                  <a:pt x="174341" y="38795"/>
                </a:cubicBezTo>
                <a:cubicBezTo>
                  <a:pt x="171784" y="74148"/>
                  <a:pt x="153716" y="93580"/>
                  <a:pt x="134114" y="103739"/>
                </a:cubicBezTo>
                <a:cubicBezTo>
                  <a:pt x="128727" y="106534"/>
                  <a:pt x="123239" y="108614"/>
                  <a:pt x="118023" y="110148"/>
                </a:cubicBezTo>
                <a:cubicBezTo>
                  <a:pt x="111136" y="119898"/>
                  <a:pt x="103977" y="125045"/>
                  <a:pt x="98284" y="127807"/>
                </a:cubicBezTo>
                <a:lnTo>
                  <a:pt x="98284" y="152727"/>
                </a:lnTo>
                <a:lnTo>
                  <a:pt x="120102" y="152727"/>
                </a:lnTo>
                <a:cubicBezTo>
                  <a:pt x="126136" y="152727"/>
                  <a:pt x="131011" y="157602"/>
                  <a:pt x="131011" y="163636"/>
                </a:cubicBezTo>
                <a:cubicBezTo>
                  <a:pt x="131011" y="169670"/>
                  <a:pt x="126136" y="174545"/>
                  <a:pt x="120102" y="174545"/>
                </a:cubicBezTo>
                <a:lnTo>
                  <a:pt x="54648" y="174545"/>
                </a:lnTo>
                <a:cubicBezTo>
                  <a:pt x="48614" y="174545"/>
                  <a:pt x="43739" y="169670"/>
                  <a:pt x="43739" y="163636"/>
                </a:cubicBezTo>
                <a:cubicBezTo>
                  <a:pt x="43739" y="157602"/>
                  <a:pt x="48614" y="152727"/>
                  <a:pt x="54648" y="152727"/>
                </a:cubicBezTo>
                <a:lnTo>
                  <a:pt x="76466" y="152727"/>
                </a:lnTo>
                <a:lnTo>
                  <a:pt x="76466" y="127807"/>
                </a:lnTo>
                <a:cubicBezTo>
                  <a:pt x="71011" y="125182"/>
                  <a:pt x="64227" y="120307"/>
                  <a:pt x="57614" y="111341"/>
                </a:cubicBezTo>
                <a:cubicBezTo>
                  <a:pt x="51341" y="109705"/>
                  <a:pt x="44523" y="107216"/>
                  <a:pt x="37875" y="103466"/>
                </a:cubicBezTo>
                <a:cubicBezTo>
                  <a:pt x="19432" y="93136"/>
                  <a:pt x="2795" y="73670"/>
                  <a:pt x="409" y="38727"/>
                </a:cubicBezTo>
                <a:cubicBezTo>
                  <a:pt x="-239" y="29148"/>
                  <a:pt x="7568" y="21784"/>
                  <a:pt x="16466" y="21784"/>
                </a:cubicBezTo>
                <a:lnTo>
                  <a:pt x="33375" y="21784"/>
                </a:lnTo>
                <a:cubicBezTo>
                  <a:pt x="33273" y="20011"/>
                  <a:pt x="33205" y="18239"/>
                  <a:pt x="33136" y="16398"/>
                </a:cubicBezTo>
                <a:cubicBezTo>
                  <a:pt x="32795" y="7364"/>
                  <a:pt x="40159" y="-34"/>
                  <a:pt x="49193" y="-34"/>
                </a:cubicBezTo>
                <a:close/>
                <a:moveTo>
                  <a:pt x="34602" y="38182"/>
                </a:moveTo>
                <a:lnTo>
                  <a:pt x="16739" y="38182"/>
                </a:lnTo>
                <a:cubicBezTo>
                  <a:pt x="18852" y="67057"/>
                  <a:pt x="32114" y="81511"/>
                  <a:pt x="45784" y="89182"/>
                </a:cubicBezTo>
                <a:cubicBezTo>
                  <a:pt x="40875" y="76466"/>
                  <a:pt x="36818" y="59864"/>
                  <a:pt x="34602" y="38182"/>
                </a:cubicBezTo>
                <a:close/>
                <a:moveTo>
                  <a:pt x="129545" y="87545"/>
                </a:moveTo>
                <a:cubicBezTo>
                  <a:pt x="143352" y="79432"/>
                  <a:pt x="155830" y="65011"/>
                  <a:pt x="157943" y="38182"/>
                </a:cubicBezTo>
                <a:lnTo>
                  <a:pt x="140114" y="38182"/>
                </a:lnTo>
                <a:cubicBezTo>
                  <a:pt x="138000" y="58943"/>
                  <a:pt x="134182" y="75068"/>
                  <a:pt x="129545" y="8754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0" name="Text 21"/>
          <p:cNvSpPr/>
          <p:nvPr/>
        </p:nvSpPr>
        <p:spPr>
          <a:xfrm>
            <a:off x="844669" y="3928346"/>
            <a:ext cx="6248727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基准测试性能提升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565527" y="4312346"/>
            <a:ext cx="3124364" cy="1047273"/>
          </a:xfrm>
          <a:custGeom>
            <a:avLst/>
            <a:gdLst/>
            <a:ahLst/>
            <a:cxnLst/>
            <a:rect l="l" t="t" r="r" b="b"/>
            <a:pathLst>
              <a:path w="3124364" h="1047273">
                <a:moveTo>
                  <a:pt x="69822" y="0"/>
                </a:moveTo>
                <a:lnTo>
                  <a:pt x="3054542" y="0"/>
                </a:lnTo>
                <a:cubicBezTo>
                  <a:pt x="3093103" y="0"/>
                  <a:pt x="3124364" y="31260"/>
                  <a:pt x="3124364" y="69822"/>
                </a:cubicBezTo>
                <a:lnTo>
                  <a:pt x="3124364" y="977451"/>
                </a:lnTo>
                <a:cubicBezTo>
                  <a:pt x="3124364" y="1016012"/>
                  <a:pt x="3093103" y="1047273"/>
                  <a:pt x="3054542" y="1047273"/>
                </a:cubicBezTo>
                <a:lnTo>
                  <a:pt x="69822" y="1047273"/>
                </a:lnTo>
                <a:cubicBezTo>
                  <a:pt x="31260" y="1047273"/>
                  <a:pt x="0" y="1016012"/>
                  <a:pt x="0" y="977451"/>
                </a:cubicBezTo>
                <a:lnTo>
                  <a:pt x="0" y="69822"/>
                </a:lnTo>
                <a:cubicBezTo>
                  <a:pt x="0" y="31286"/>
                  <a:pt x="31286" y="0"/>
                  <a:pt x="6982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2" name="Text 23"/>
          <p:cNvSpPr/>
          <p:nvPr/>
        </p:nvSpPr>
        <p:spPr>
          <a:xfrm>
            <a:off x="704850" y="4451985"/>
            <a:ext cx="1532255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SeeAssign任务准确率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704850" y="4731385"/>
            <a:ext cx="1391285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70.5%</a:t>
            </a:r>
            <a:endParaRPr 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" name="Shape 25"/>
          <p:cNvSpPr/>
          <p:nvPr/>
        </p:nvSpPr>
        <p:spPr>
          <a:xfrm>
            <a:off x="1913073" y="4835983"/>
            <a:ext cx="139636" cy="139636"/>
          </a:xfrm>
          <a:custGeom>
            <a:avLst/>
            <a:gdLst/>
            <a:ahLst/>
            <a:cxnLst/>
            <a:rect l="l" t="t" r="r" b="b"/>
            <a:pathLst>
              <a:path w="139636" h="139636">
                <a:moveTo>
                  <a:pt x="137073" y="75982"/>
                </a:moveTo>
                <a:cubicBezTo>
                  <a:pt x="140482" y="72573"/>
                  <a:pt x="140482" y="67036"/>
                  <a:pt x="137073" y="63627"/>
                </a:cubicBezTo>
                <a:lnTo>
                  <a:pt x="93436" y="19991"/>
                </a:lnTo>
                <a:cubicBezTo>
                  <a:pt x="90027" y="16582"/>
                  <a:pt x="84491" y="16582"/>
                  <a:pt x="81082" y="19991"/>
                </a:cubicBezTo>
                <a:cubicBezTo>
                  <a:pt x="77673" y="23400"/>
                  <a:pt x="77673" y="28936"/>
                  <a:pt x="81082" y="32345"/>
                </a:cubicBezTo>
                <a:lnTo>
                  <a:pt x="109827" y="61091"/>
                </a:lnTo>
                <a:lnTo>
                  <a:pt x="8727" y="61091"/>
                </a:lnTo>
                <a:cubicBezTo>
                  <a:pt x="3900" y="61091"/>
                  <a:pt x="0" y="64991"/>
                  <a:pt x="0" y="69818"/>
                </a:cubicBezTo>
                <a:cubicBezTo>
                  <a:pt x="0" y="74645"/>
                  <a:pt x="3900" y="78545"/>
                  <a:pt x="8727" y="78545"/>
                </a:cubicBezTo>
                <a:lnTo>
                  <a:pt x="109827" y="78545"/>
                </a:lnTo>
                <a:lnTo>
                  <a:pt x="81082" y="107291"/>
                </a:lnTo>
                <a:cubicBezTo>
                  <a:pt x="77673" y="110700"/>
                  <a:pt x="77673" y="116236"/>
                  <a:pt x="81082" y="119645"/>
                </a:cubicBezTo>
                <a:cubicBezTo>
                  <a:pt x="84491" y="123055"/>
                  <a:pt x="90027" y="123055"/>
                  <a:pt x="93436" y="119645"/>
                </a:cubicBezTo>
                <a:lnTo>
                  <a:pt x="137073" y="76009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5" name="Text 26"/>
          <p:cNvSpPr/>
          <p:nvPr/>
        </p:nvSpPr>
        <p:spPr>
          <a:xfrm>
            <a:off x="2139950" y="4696460"/>
            <a:ext cx="1569720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93.8%</a:t>
            </a:r>
            <a:endParaRPr lang="en-US" sz="3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705164" y="5080346"/>
            <a:ext cx="2897455" cy="139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GPT-4V + OmniParser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7" name="Shape 28"/>
          <p:cNvSpPr/>
          <p:nvPr/>
        </p:nvSpPr>
        <p:spPr>
          <a:xfrm>
            <a:off x="565527" y="5464235"/>
            <a:ext cx="3124364" cy="977455"/>
          </a:xfrm>
          <a:custGeom>
            <a:avLst/>
            <a:gdLst/>
            <a:ahLst/>
            <a:cxnLst/>
            <a:rect l="l" t="t" r="r" b="b"/>
            <a:pathLst>
              <a:path w="3124364" h="977455">
                <a:moveTo>
                  <a:pt x="69820" y="0"/>
                </a:moveTo>
                <a:lnTo>
                  <a:pt x="3054544" y="0"/>
                </a:lnTo>
                <a:cubicBezTo>
                  <a:pt x="3093079" y="0"/>
                  <a:pt x="3124364" y="31285"/>
                  <a:pt x="3124364" y="69820"/>
                </a:cubicBezTo>
                <a:lnTo>
                  <a:pt x="3124364" y="907635"/>
                </a:lnTo>
                <a:cubicBezTo>
                  <a:pt x="3124364" y="946169"/>
                  <a:pt x="3093079" y="977455"/>
                  <a:pt x="3054544" y="977455"/>
                </a:cubicBezTo>
                <a:lnTo>
                  <a:pt x="69820" y="977455"/>
                </a:lnTo>
                <a:cubicBezTo>
                  <a:pt x="31285" y="977455"/>
                  <a:pt x="0" y="946169"/>
                  <a:pt x="0" y="907635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8" name="Text 29"/>
          <p:cNvSpPr/>
          <p:nvPr/>
        </p:nvSpPr>
        <p:spPr>
          <a:xfrm>
            <a:off x="705164" y="5603872"/>
            <a:ext cx="2906182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Mind2Web跨网站任务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705164" y="5848235"/>
            <a:ext cx="2949818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+4.1%~5.2%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0" name="Text 31"/>
          <p:cNvSpPr/>
          <p:nvPr/>
        </p:nvSpPr>
        <p:spPr>
          <a:xfrm>
            <a:off x="705164" y="6162309"/>
            <a:ext cx="2897455" cy="139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成功率提升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1" name="Shape 32"/>
          <p:cNvSpPr/>
          <p:nvPr/>
        </p:nvSpPr>
        <p:spPr>
          <a:xfrm>
            <a:off x="3825927" y="4312346"/>
            <a:ext cx="3124364" cy="977455"/>
          </a:xfrm>
          <a:custGeom>
            <a:avLst/>
            <a:gdLst/>
            <a:ahLst/>
            <a:cxnLst/>
            <a:rect l="l" t="t" r="r" b="b"/>
            <a:pathLst>
              <a:path w="3124364" h="977455">
                <a:moveTo>
                  <a:pt x="69820" y="0"/>
                </a:moveTo>
                <a:lnTo>
                  <a:pt x="3054544" y="0"/>
                </a:lnTo>
                <a:cubicBezTo>
                  <a:pt x="3093079" y="0"/>
                  <a:pt x="3124364" y="31285"/>
                  <a:pt x="3124364" y="69820"/>
                </a:cubicBezTo>
                <a:lnTo>
                  <a:pt x="3124364" y="907635"/>
                </a:lnTo>
                <a:cubicBezTo>
                  <a:pt x="3124364" y="946169"/>
                  <a:pt x="3093079" y="977455"/>
                  <a:pt x="3054544" y="977455"/>
                </a:cubicBezTo>
                <a:lnTo>
                  <a:pt x="69820" y="977455"/>
                </a:lnTo>
                <a:cubicBezTo>
                  <a:pt x="31285" y="977455"/>
                  <a:pt x="0" y="946169"/>
                  <a:pt x="0" y="907635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2" name="Text 33"/>
          <p:cNvSpPr/>
          <p:nvPr/>
        </p:nvSpPr>
        <p:spPr>
          <a:xfrm>
            <a:off x="3965564" y="4451983"/>
            <a:ext cx="2906182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ScreenSpot文本/图标识别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 34"/>
          <p:cNvSpPr/>
          <p:nvPr/>
        </p:nvSpPr>
        <p:spPr>
          <a:xfrm>
            <a:off x="3965564" y="4696346"/>
            <a:ext cx="2949818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+20%+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Text 35"/>
          <p:cNvSpPr/>
          <p:nvPr/>
        </p:nvSpPr>
        <p:spPr>
          <a:xfrm>
            <a:off x="3965564" y="5010417"/>
            <a:ext cx="2897455" cy="139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准确率提升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3825927" y="5394309"/>
            <a:ext cx="3124364" cy="977455"/>
          </a:xfrm>
          <a:custGeom>
            <a:avLst/>
            <a:gdLst/>
            <a:ahLst/>
            <a:cxnLst/>
            <a:rect l="l" t="t" r="r" b="b"/>
            <a:pathLst>
              <a:path w="3124364" h="977455">
                <a:moveTo>
                  <a:pt x="69820" y="0"/>
                </a:moveTo>
                <a:lnTo>
                  <a:pt x="3054544" y="0"/>
                </a:lnTo>
                <a:cubicBezTo>
                  <a:pt x="3093079" y="0"/>
                  <a:pt x="3124364" y="31285"/>
                  <a:pt x="3124364" y="69820"/>
                </a:cubicBezTo>
                <a:lnTo>
                  <a:pt x="3124364" y="907635"/>
                </a:lnTo>
                <a:cubicBezTo>
                  <a:pt x="3124364" y="946169"/>
                  <a:pt x="3093079" y="977455"/>
                  <a:pt x="3054544" y="977455"/>
                </a:cubicBezTo>
                <a:lnTo>
                  <a:pt x="69820" y="977455"/>
                </a:lnTo>
                <a:cubicBezTo>
                  <a:pt x="31285" y="977455"/>
                  <a:pt x="0" y="946169"/>
                  <a:pt x="0" y="907635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6" name="Text 37"/>
          <p:cNvSpPr/>
          <p:nvPr/>
        </p:nvSpPr>
        <p:spPr>
          <a:xfrm>
            <a:off x="3965564" y="5533945"/>
            <a:ext cx="2906182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AITW移动应用导航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 38"/>
          <p:cNvSpPr/>
          <p:nvPr/>
        </p:nvSpPr>
        <p:spPr>
          <a:xfrm>
            <a:off x="3965564" y="5778309"/>
            <a:ext cx="2949818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+4.7%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Text 39"/>
          <p:cNvSpPr/>
          <p:nvPr/>
        </p:nvSpPr>
        <p:spPr>
          <a:xfrm>
            <a:off x="3965564" y="6092382"/>
            <a:ext cx="2897455" cy="139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超越GPT-4V基线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Shape 40"/>
          <p:cNvSpPr/>
          <p:nvPr/>
        </p:nvSpPr>
        <p:spPr>
          <a:xfrm>
            <a:off x="7376160" y="1136015"/>
            <a:ext cx="4466590" cy="5518785"/>
          </a:xfrm>
          <a:custGeom>
            <a:avLst/>
            <a:gdLst/>
            <a:ahLst/>
            <a:cxnLst/>
            <a:rect l="l" t="t" r="r" b="b"/>
            <a:pathLst>
              <a:path w="4466618" h="5801891">
                <a:moveTo>
                  <a:pt x="104742" y="0"/>
                </a:moveTo>
                <a:lnTo>
                  <a:pt x="4361876" y="0"/>
                </a:lnTo>
                <a:cubicBezTo>
                  <a:pt x="4419724" y="0"/>
                  <a:pt x="4466618" y="46895"/>
                  <a:pt x="4466618" y="104742"/>
                </a:cubicBezTo>
                <a:lnTo>
                  <a:pt x="4466618" y="5697149"/>
                </a:lnTo>
                <a:cubicBezTo>
                  <a:pt x="4466618" y="5754996"/>
                  <a:pt x="4419724" y="5801891"/>
                  <a:pt x="4361876" y="5801891"/>
                </a:cubicBezTo>
                <a:lnTo>
                  <a:pt x="104742" y="5801891"/>
                </a:lnTo>
                <a:cubicBezTo>
                  <a:pt x="46895" y="5801891"/>
                  <a:pt x="0" y="5754996"/>
                  <a:pt x="0" y="5697149"/>
                </a:cubicBezTo>
                <a:lnTo>
                  <a:pt x="0" y="104742"/>
                </a:lnTo>
                <a:cubicBezTo>
                  <a:pt x="0" y="46933"/>
                  <a:pt x="46933" y="0"/>
                  <a:pt x="104742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0" name="Shape 41"/>
          <p:cNvSpPr/>
          <p:nvPr/>
        </p:nvSpPr>
        <p:spPr>
          <a:xfrm>
            <a:off x="7610946" y="1383581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10909" y="10909"/>
                </a:moveTo>
                <a:cubicBezTo>
                  <a:pt x="16943" y="10909"/>
                  <a:pt x="21818" y="15784"/>
                  <a:pt x="21818" y="21818"/>
                </a:cubicBezTo>
                <a:lnTo>
                  <a:pt x="21818" y="136364"/>
                </a:lnTo>
                <a:cubicBezTo>
                  <a:pt x="21818" y="139364"/>
                  <a:pt x="24273" y="141818"/>
                  <a:pt x="27273" y="141818"/>
                </a:cubicBezTo>
                <a:lnTo>
                  <a:pt x="163636" y="141818"/>
                </a:lnTo>
                <a:cubicBezTo>
                  <a:pt x="169670" y="141818"/>
                  <a:pt x="174545" y="146693"/>
                  <a:pt x="174545" y="152727"/>
                </a:cubicBezTo>
                <a:cubicBezTo>
                  <a:pt x="174545" y="158761"/>
                  <a:pt x="169670" y="163636"/>
                  <a:pt x="163636" y="163636"/>
                </a:cubicBezTo>
                <a:lnTo>
                  <a:pt x="27273" y="163636"/>
                </a:lnTo>
                <a:cubicBezTo>
                  <a:pt x="12205" y="163636"/>
                  <a:pt x="0" y="151432"/>
                  <a:pt x="0" y="136364"/>
                </a:cubicBezTo>
                <a:lnTo>
                  <a:pt x="0" y="21818"/>
                </a:lnTo>
                <a:cubicBezTo>
                  <a:pt x="0" y="15784"/>
                  <a:pt x="4875" y="10909"/>
                  <a:pt x="10909" y="10909"/>
                </a:cubicBezTo>
                <a:close/>
                <a:moveTo>
                  <a:pt x="43636" y="32727"/>
                </a:moveTo>
                <a:cubicBezTo>
                  <a:pt x="43636" y="26693"/>
                  <a:pt x="48511" y="21818"/>
                  <a:pt x="54545" y="21818"/>
                </a:cubicBezTo>
                <a:lnTo>
                  <a:pt x="120000" y="21818"/>
                </a:lnTo>
                <a:cubicBezTo>
                  <a:pt x="126034" y="21818"/>
                  <a:pt x="130909" y="26693"/>
                  <a:pt x="130909" y="32727"/>
                </a:cubicBezTo>
                <a:cubicBezTo>
                  <a:pt x="130909" y="38761"/>
                  <a:pt x="126034" y="43636"/>
                  <a:pt x="120000" y="43636"/>
                </a:cubicBezTo>
                <a:lnTo>
                  <a:pt x="54545" y="43636"/>
                </a:lnTo>
                <a:cubicBezTo>
                  <a:pt x="48511" y="43636"/>
                  <a:pt x="43636" y="38761"/>
                  <a:pt x="43636" y="32727"/>
                </a:cubicBezTo>
                <a:close/>
                <a:moveTo>
                  <a:pt x="54545" y="60000"/>
                </a:moveTo>
                <a:lnTo>
                  <a:pt x="98182" y="60000"/>
                </a:lnTo>
                <a:cubicBezTo>
                  <a:pt x="104216" y="60000"/>
                  <a:pt x="109091" y="64875"/>
                  <a:pt x="109091" y="70909"/>
                </a:cubicBezTo>
                <a:cubicBezTo>
                  <a:pt x="109091" y="76943"/>
                  <a:pt x="104216" y="81818"/>
                  <a:pt x="98182" y="81818"/>
                </a:cubicBezTo>
                <a:lnTo>
                  <a:pt x="54545" y="81818"/>
                </a:lnTo>
                <a:cubicBezTo>
                  <a:pt x="48511" y="81818"/>
                  <a:pt x="43636" y="76943"/>
                  <a:pt x="43636" y="70909"/>
                </a:cubicBezTo>
                <a:cubicBezTo>
                  <a:pt x="43636" y="64875"/>
                  <a:pt x="48511" y="60000"/>
                  <a:pt x="54545" y="60000"/>
                </a:cubicBezTo>
                <a:close/>
                <a:moveTo>
                  <a:pt x="54545" y="98182"/>
                </a:moveTo>
                <a:lnTo>
                  <a:pt x="141818" y="98182"/>
                </a:lnTo>
                <a:cubicBezTo>
                  <a:pt x="147852" y="98182"/>
                  <a:pt x="152727" y="103057"/>
                  <a:pt x="152727" y="109091"/>
                </a:cubicBezTo>
                <a:cubicBezTo>
                  <a:pt x="152727" y="115125"/>
                  <a:pt x="147852" y="120000"/>
                  <a:pt x="141818" y="120000"/>
                </a:cubicBezTo>
                <a:lnTo>
                  <a:pt x="54545" y="120000"/>
                </a:lnTo>
                <a:cubicBezTo>
                  <a:pt x="48511" y="120000"/>
                  <a:pt x="43636" y="115125"/>
                  <a:pt x="43636" y="109091"/>
                </a:cubicBezTo>
                <a:cubicBezTo>
                  <a:pt x="43636" y="103057"/>
                  <a:pt x="48511" y="98182"/>
                  <a:pt x="54545" y="9818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1" name="Text 42"/>
          <p:cNvSpPr/>
          <p:nvPr/>
        </p:nvSpPr>
        <p:spPr>
          <a:xfrm>
            <a:off x="7868269" y="1348672"/>
            <a:ext cx="3909818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性能对比图表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pic>
        <p:nvPicPr>
          <p:cNvPr id="62" name="Image 0" descr="https://kimi-img.moonshot.cn/pub/slides/26-02-04-14:27:16-d61edh5kjflrchmar7o0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589127" y="1732672"/>
            <a:ext cx="3630545" cy="4712727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311"/>
            <a:ext cx="9044357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核心架构设计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599186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ReAct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范式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: 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思考与行动的协同机制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3"/>
          <p:cNvSpPr/>
          <p:nvPr/>
        </p:nvSpPr>
        <p:spPr>
          <a:xfrm>
            <a:off x="345897" y="1045738"/>
            <a:ext cx="5640512" cy="3054849"/>
          </a:xfrm>
          <a:custGeom>
            <a:avLst/>
            <a:gdLst/>
            <a:ahLst/>
            <a:cxnLst/>
            <a:rect l="l" t="t" r="r" b="b"/>
            <a:pathLst>
              <a:path w="5640512" h="3054849">
                <a:moveTo>
                  <a:pt x="102735" y="0"/>
                </a:moveTo>
                <a:lnTo>
                  <a:pt x="5537778" y="0"/>
                </a:lnTo>
                <a:cubicBezTo>
                  <a:pt x="5594517" y="0"/>
                  <a:pt x="5640512" y="45996"/>
                  <a:pt x="5640512" y="102735"/>
                </a:cubicBezTo>
                <a:lnTo>
                  <a:pt x="5640512" y="2952115"/>
                </a:lnTo>
                <a:cubicBezTo>
                  <a:pt x="5640512" y="3008854"/>
                  <a:pt x="5594517" y="3054849"/>
                  <a:pt x="5537778" y="3054849"/>
                </a:cubicBezTo>
                <a:lnTo>
                  <a:pt x="102735" y="3054849"/>
                </a:lnTo>
                <a:cubicBezTo>
                  <a:pt x="45996" y="3054849"/>
                  <a:pt x="0" y="3008854"/>
                  <a:pt x="0" y="2952115"/>
                </a:cubicBezTo>
                <a:lnTo>
                  <a:pt x="0" y="102735"/>
                </a:lnTo>
                <a:cubicBezTo>
                  <a:pt x="0" y="46034"/>
                  <a:pt x="46034" y="0"/>
                  <a:pt x="10273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4" name="Shape 4"/>
          <p:cNvSpPr/>
          <p:nvPr/>
        </p:nvSpPr>
        <p:spPr>
          <a:xfrm>
            <a:off x="576209" y="1288896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40133" y="18729"/>
                </a:moveTo>
                <a:cubicBezTo>
                  <a:pt x="40133" y="8395"/>
                  <a:pt x="48528" y="0"/>
                  <a:pt x="58862" y="0"/>
                </a:cubicBezTo>
                <a:lnTo>
                  <a:pt x="66889" y="0"/>
                </a:lnTo>
                <a:cubicBezTo>
                  <a:pt x="72809" y="0"/>
                  <a:pt x="77591" y="4783"/>
                  <a:pt x="77591" y="10702"/>
                </a:cubicBezTo>
                <a:lnTo>
                  <a:pt x="77591" y="160534"/>
                </a:lnTo>
                <a:cubicBezTo>
                  <a:pt x="77591" y="166453"/>
                  <a:pt x="72809" y="171236"/>
                  <a:pt x="66889" y="171236"/>
                </a:cubicBezTo>
                <a:lnTo>
                  <a:pt x="56187" y="171236"/>
                </a:lnTo>
                <a:cubicBezTo>
                  <a:pt x="46220" y="171236"/>
                  <a:pt x="37826" y="164413"/>
                  <a:pt x="35451" y="155183"/>
                </a:cubicBezTo>
                <a:cubicBezTo>
                  <a:pt x="35217" y="155183"/>
                  <a:pt x="35016" y="155183"/>
                  <a:pt x="34782" y="155183"/>
                </a:cubicBezTo>
                <a:cubicBezTo>
                  <a:pt x="20000" y="155183"/>
                  <a:pt x="8027" y="143209"/>
                  <a:pt x="8027" y="128427"/>
                </a:cubicBezTo>
                <a:cubicBezTo>
                  <a:pt x="8027" y="122407"/>
                  <a:pt x="10033" y="116855"/>
                  <a:pt x="13378" y="112374"/>
                </a:cubicBezTo>
                <a:cubicBezTo>
                  <a:pt x="6890" y="107491"/>
                  <a:pt x="2676" y="99732"/>
                  <a:pt x="2676" y="90969"/>
                </a:cubicBezTo>
                <a:cubicBezTo>
                  <a:pt x="2676" y="80635"/>
                  <a:pt x="8562" y="71638"/>
                  <a:pt x="17124" y="67190"/>
                </a:cubicBezTo>
                <a:cubicBezTo>
                  <a:pt x="14749" y="63177"/>
                  <a:pt x="13378" y="58494"/>
                  <a:pt x="13378" y="53511"/>
                </a:cubicBezTo>
                <a:cubicBezTo>
                  <a:pt x="13378" y="38729"/>
                  <a:pt x="25351" y="26756"/>
                  <a:pt x="40133" y="26756"/>
                </a:cubicBezTo>
                <a:lnTo>
                  <a:pt x="40133" y="18729"/>
                </a:lnTo>
                <a:close/>
                <a:moveTo>
                  <a:pt x="131103" y="18729"/>
                </a:moveTo>
                <a:lnTo>
                  <a:pt x="131103" y="26756"/>
                </a:lnTo>
                <a:cubicBezTo>
                  <a:pt x="145885" y="26756"/>
                  <a:pt x="157858" y="38729"/>
                  <a:pt x="157858" y="53511"/>
                </a:cubicBezTo>
                <a:cubicBezTo>
                  <a:pt x="157858" y="58528"/>
                  <a:pt x="156487" y="63210"/>
                  <a:pt x="154112" y="67190"/>
                </a:cubicBezTo>
                <a:cubicBezTo>
                  <a:pt x="162708" y="71638"/>
                  <a:pt x="168560" y="80601"/>
                  <a:pt x="168560" y="90969"/>
                </a:cubicBezTo>
                <a:cubicBezTo>
                  <a:pt x="168560" y="99732"/>
                  <a:pt x="164346" y="107491"/>
                  <a:pt x="157858" y="112374"/>
                </a:cubicBezTo>
                <a:cubicBezTo>
                  <a:pt x="161203" y="116855"/>
                  <a:pt x="163209" y="122407"/>
                  <a:pt x="163209" y="128427"/>
                </a:cubicBezTo>
                <a:cubicBezTo>
                  <a:pt x="163209" y="143209"/>
                  <a:pt x="151236" y="155183"/>
                  <a:pt x="136454" y="155183"/>
                </a:cubicBezTo>
                <a:cubicBezTo>
                  <a:pt x="136220" y="155183"/>
                  <a:pt x="136019" y="155183"/>
                  <a:pt x="135785" y="155183"/>
                </a:cubicBezTo>
                <a:cubicBezTo>
                  <a:pt x="133410" y="164413"/>
                  <a:pt x="125016" y="171236"/>
                  <a:pt x="115049" y="171236"/>
                </a:cubicBezTo>
                <a:lnTo>
                  <a:pt x="104347" y="171236"/>
                </a:lnTo>
                <a:cubicBezTo>
                  <a:pt x="98427" y="171236"/>
                  <a:pt x="93645" y="166453"/>
                  <a:pt x="93645" y="160534"/>
                </a:cubicBezTo>
                <a:lnTo>
                  <a:pt x="93645" y="10702"/>
                </a:lnTo>
                <a:cubicBezTo>
                  <a:pt x="93645" y="4783"/>
                  <a:pt x="98427" y="0"/>
                  <a:pt x="104347" y="0"/>
                </a:cubicBezTo>
                <a:lnTo>
                  <a:pt x="112374" y="0"/>
                </a:lnTo>
                <a:cubicBezTo>
                  <a:pt x="122708" y="0"/>
                  <a:pt x="131103" y="8395"/>
                  <a:pt x="131103" y="1872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6" name="Text 5"/>
          <p:cNvSpPr/>
          <p:nvPr/>
        </p:nvSpPr>
        <p:spPr>
          <a:xfrm>
            <a:off x="768849" y="1254648"/>
            <a:ext cx="5094270" cy="23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核心逻辑: Reason + Act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6"/>
          <p:cNvSpPr/>
          <p:nvPr/>
        </p:nvSpPr>
        <p:spPr>
          <a:xfrm>
            <a:off x="554990" y="1547495"/>
            <a:ext cx="5291455" cy="71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ReAct模拟人类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"先思考,再行动"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的决策模式: 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Thought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(思维链)推理当前状态,规划下一步策略; 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Action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(行动指令)执行具体操作,完成任务目标。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554805" y="2358350"/>
            <a:ext cx="5222697" cy="1678112"/>
          </a:xfrm>
          <a:custGeom>
            <a:avLst/>
            <a:gdLst/>
            <a:ahLst/>
            <a:cxnLst/>
            <a:rect l="l" t="t" r="r" b="b"/>
            <a:pathLst>
              <a:path w="5222697" h="1678112">
                <a:moveTo>
                  <a:pt x="68501" y="0"/>
                </a:moveTo>
                <a:lnTo>
                  <a:pt x="5154196" y="0"/>
                </a:lnTo>
                <a:cubicBezTo>
                  <a:pt x="5192028" y="0"/>
                  <a:pt x="5222697" y="30669"/>
                  <a:pt x="5222697" y="68501"/>
                </a:cubicBezTo>
                <a:lnTo>
                  <a:pt x="5222697" y="1609612"/>
                </a:lnTo>
                <a:cubicBezTo>
                  <a:pt x="5222697" y="1647444"/>
                  <a:pt x="5192028" y="1678112"/>
                  <a:pt x="5154196" y="1678112"/>
                </a:cubicBezTo>
                <a:lnTo>
                  <a:pt x="68501" y="1678112"/>
                </a:lnTo>
                <a:cubicBezTo>
                  <a:pt x="30669" y="1678112"/>
                  <a:pt x="0" y="1647444"/>
                  <a:pt x="0" y="1609612"/>
                </a:cubicBezTo>
                <a:lnTo>
                  <a:pt x="0" y="68501"/>
                </a:lnTo>
                <a:cubicBezTo>
                  <a:pt x="0" y="30669"/>
                  <a:pt x="30669" y="0"/>
                  <a:pt x="6850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9" name="Text 8"/>
          <p:cNvSpPr/>
          <p:nvPr/>
        </p:nvSpPr>
        <p:spPr>
          <a:xfrm>
            <a:off x="691793" y="2495338"/>
            <a:ext cx="5008652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ReAct执行示例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 9"/>
          <p:cNvSpPr/>
          <p:nvPr/>
        </p:nvSpPr>
        <p:spPr>
          <a:xfrm>
            <a:off x="691793" y="2735069"/>
            <a:ext cx="5008652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Thought: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828782" y="2906305"/>
            <a:ext cx="4871663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我需要先打开外卖应用才能搜索披萨。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91793" y="3146035"/>
            <a:ext cx="5008652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Action: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828782" y="3317271"/>
            <a:ext cx="4871663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OpenApp(app_name='外卖平台')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691793" y="3557001"/>
            <a:ext cx="5008652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Observation: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828782" y="3728237"/>
            <a:ext cx="4871663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应用已启动,显示首页...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hape 15"/>
          <p:cNvSpPr/>
          <p:nvPr/>
        </p:nvSpPr>
        <p:spPr>
          <a:xfrm>
            <a:off x="345897" y="4244426"/>
            <a:ext cx="5640512" cy="2352782"/>
          </a:xfrm>
          <a:custGeom>
            <a:avLst/>
            <a:gdLst/>
            <a:ahLst/>
            <a:cxnLst/>
            <a:rect l="l" t="t" r="r" b="b"/>
            <a:pathLst>
              <a:path w="5640512" h="2352782">
                <a:moveTo>
                  <a:pt x="102746" y="0"/>
                </a:moveTo>
                <a:lnTo>
                  <a:pt x="5537766" y="0"/>
                </a:lnTo>
                <a:cubicBezTo>
                  <a:pt x="5594511" y="0"/>
                  <a:pt x="5640512" y="46001"/>
                  <a:pt x="5640512" y="102746"/>
                </a:cubicBezTo>
                <a:lnTo>
                  <a:pt x="5640512" y="2250036"/>
                </a:lnTo>
                <a:cubicBezTo>
                  <a:pt x="5640512" y="2306781"/>
                  <a:pt x="5594511" y="2352782"/>
                  <a:pt x="5537766" y="2352782"/>
                </a:cubicBezTo>
                <a:lnTo>
                  <a:pt x="102746" y="2352782"/>
                </a:lnTo>
                <a:cubicBezTo>
                  <a:pt x="46001" y="2352782"/>
                  <a:pt x="0" y="2306781"/>
                  <a:pt x="0" y="2250036"/>
                </a:cubicBezTo>
                <a:lnTo>
                  <a:pt x="0" y="102746"/>
                </a:lnTo>
                <a:cubicBezTo>
                  <a:pt x="0" y="46039"/>
                  <a:pt x="46039" y="0"/>
                  <a:pt x="102746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7" name="Shape 16"/>
          <p:cNvSpPr/>
          <p:nvPr/>
        </p:nvSpPr>
        <p:spPr>
          <a:xfrm>
            <a:off x="576209" y="4487580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160567" y="64213"/>
                </a:moveTo>
                <a:lnTo>
                  <a:pt x="163209" y="64213"/>
                </a:lnTo>
                <a:cubicBezTo>
                  <a:pt x="167657" y="64213"/>
                  <a:pt x="171236" y="60635"/>
                  <a:pt x="171236" y="56187"/>
                </a:cubicBezTo>
                <a:lnTo>
                  <a:pt x="171236" y="8027"/>
                </a:lnTo>
                <a:cubicBezTo>
                  <a:pt x="171236" y="4783"/>
                  <a:pt x="169296" y="1839"/>
                  <a:pt x="166286" y="602"/>
                </a:cubicBezTo>
                <a:cubicBezTo>
                  <a:pt x="163276" y="-635"/>
                  <a:pt x="159831" y="67"/>
                  <a:pt x="157524" y="2341"/>
                </a:cubicBezTo>
                <a:lnTo>
                  <a:pt x="140233" y="19665"/>
                </a:lnTo>
                <a:cubicBezTo>
                  <a:pt x="125417" y="7391"/>
                  <a:pt x="106354" y="0"/>
                  <a:pt x="85618" y="0"/>
                </a:cubicBezTo>
                <a:cubicBezTo>
                  <a:pt x="42475" y="0"/>
                  <a:pt x="6789" y="31906"/>
                  <a:pt x="870" y="73411"/>
                </a:cubicBezTo>
                <a:cubicBezTo>
                  <a:pt x="33" y="79264"/>
                  <a:pt x="4080" y="84682"/>
                  <a:pt x="9933" y="85518"/>
                </a:cubicBezTo>
                <a:cubicBezTo>
                  <a:pt x="15786" y="86354"/>
                  <a:pt x="21204" y="82274"/>
                  <a:pt x="22040" y="76454"/>
                </a:cubicBezTo>
                <a:cubicBezTo>
                  <a:pt x="26488" y="45317"/>
                  <a:pt x="53277" y="21404"/>
                  <a:pt x="85618" y="21404"/>
                </a:cubicBezTo>
                <a:cubicBezTo>
                  <a:pt x="100467" y="21404"/>
                  <a:pt x="114113" y="26421"/>
                  <a:pt x="124982" y="34883"/>
                </a:cubicBezTo>
                <a:lnTo>
                  <a:pt x="109364" y="50501"/>
                </a:lnTo>
                <a:cubicBezTo>
                  <a:pt x="107056" y="52809"/>
                  <a:pt x="106387" y="56254"/>
                  <a:pt x="107624" y="59264"/>
                </a:cubicBezTo>
                <a:cubicBezTo>
                  <a:pt x="108862" y="62274"/>
                  <a:pt x="111805" y="64213"/>
                  <a:pt x="115049" y="64213"/>
                </a:cubicBezTo>
                <a:lnTo>
                  <a:pt x="160567" y="64213"/>
                </a:lnTo>
                <a:close/>
                <a:moveTo>
                  <a:pt x="170400" y="97825"/>
                </a:moveTo>
                <a:cubicBezTo>
                  <a:pt x="171236" y="91972"/>
                  <a:pt x="167156" y="86554"/>
                  <a:pt x="161336" y="85718"/>
                </a:cubicBezTo>
                <a:cubicBezTo>
                  <a:pt x="155517" y="84882"/>
                  <a:pt x="150066" y="88962"/>
                  <a:pt x="149229" y="94782"/>
                </a:cubicBezTo>
                <a:cubicBezTo>
                  <a:pt x="144781" y="125885"/>
                  <a:pt x="117992" y="149798"/>
                  <a:pt x="85651" y="149798"/>
                </a:cubicBezTo>
                <a:cubicBezTo>
                  <a:pt x="70802" y="149798"/>
                  <a:pt x="57157" y="144781"/>
                  <a:pt x="46287" y="136320"/>
                </a:cubicBezTo>
                <a:lnTo>
                  <a:pt x="61872" y="120735"/>
                </a:lnTo>
                <a:cubicBezTo>
                  <a:pt x="64180" y="118427"/>
                  <a:pt x="64849" y="114982"/>
                  <a:pt x="63611" y="111972"/>
                </a:cubicBezTo>
                <a:cubicBezTo>
                  <a:pt x="62374" y="108962"/>
                  <a:pt x="59431" y="107022"/>
                  <a:pt x="56187" y="107022"/>
                </a:cubicBezTo>
                <a:lnTo>
                  <a:pt x="8027" y="107022"/>
                </a:lnTo>
                <a:cubicBezTo>
                  <a:pt x="3579" y="107022"/>
                  <a:pt x="0" y="110601"/>
                  <a:pt x="0" y="115049"/>
                </a:cubicBezTo>
                <a:lnTo>
                  <a:pt x="0" y="163209"/>
                </a:lnTo>
                <a:cubicBezTo>
                  <a:pt x="0" y="166453"/>
                  <a:pt x="1940" y="169397"/>
                  <a:pt x="4950" y="170634"/>
                </a:cubicBezTo>
                <a:cubicBezTo>
                  <a:pt x="7960" y="171871"/>
                  <a:pt x="11405" y="171169"/>
                  <a:pt x="13712" y="168895"/>
                </a:cubicBezTo>
                <a:lnTo>
                  <a:pt x="31037" y="151571"/>
                </a:lnTo>
                <a:cubicBezTo>
                  <a:pt x="45819" y="163845"/>
                  <a:pt x="64882" y="171236"/>
                  <a:pt x="85618" y="171236"/>
                </a:cubicBezTo>
                <a:cubicBezTo>
                  <a:pt x="128761" y="171236"/>
                  <a:pt x="164447" y="139330"/>
                  <a:pt x="170366" y="9782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8" name="Text 17"/>
          <p:cNvSpPr/>
          <p:nvPr/>
        </p:nvSpPr>
        <p:spPr>
          <a:xfrm>
            <a:off x="768849" y="4453333"/>
            <a:ext cx="5094270" cy="23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闭环反馈机制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554805" y="4830052"/>
            <a:ext cx="5291191" cy="66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闭环反馈机制是GUI Agent处理复杂任务的关键。它让模型能够根据每一步的实际执行结果,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动态调整后续的决策和行动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,而不是僵化地执行预设步骤,从而具备了处理动态变化环境的能力。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554805" y="5634861"/>
            <a:ext cx="1669551" cy="753438"/>
          </a:xfrm>
          <a:custGeom>
            <a:avLst/>
            <a:gdLst/>
            <a:ahLst/>
            <a:cxnLst/>
            <a:rect l="l" t="t" r="r" b="b"/>
            <a:pathLst>
              <a:path w="1669551" h="753438">
                <a:moveTo>
                  <a:pt x="68495" y="0"/>
                </a:moveTo>
                <a:lnTo>
                  <a:pt x="1601055" y="0"/>
                </a:lnTo>
                <a:cubicBezTo>
                  <a:pt x="1638884" y="0"/>
                  <a:pt x="1669551" y="30666"/>
                  <a:pt x="1669551" y="68495"/>
                </a:cubicBezTo>
                <a:lnTo>
                  <a:pt x="1669551" y="684943"/>
                </a:lnTo>
                <a:cubicBezTo>
                  <a:pt x="1669551" y="722772"/>
                  <a:pt x="1638884" y="753438"/>
                  <a:pt x="1601055" y="753438"/>
                </a:cubicBezTo>
                <a:lnTo>
                  <a:pt x="68495" y="753438"/>
                </a:lnTo>
                <a:cubicBezTo>
                  <a:pt x="30666" y="753438"/>
                  <a:pt x="0" y="722772"/>
                  <a:pt x="0" y="684943"/>
                </a:cubicBezTo>
                <a:lnTo>
                  <a:pt x="0" y="68495"/>
                </a:lnTo>
                <a:cubicBezTo>
                  <a:pt x="0" y="30692"/>
                  <a:pt x="30692" y="0"/>
                  <a:pt x="6849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2" name="Shape 20"/>
          <p:cNvSpPr/>
          <p:nvPr/>
        </p:nvSpPr>
        <p:spPr>
          <a:xfrm>
            <a:off x="1305888" y="5737602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85618" y="171236"/>
                </a:moveTo>
                <a:cubicBezTo>
                  <a:pt x="132872" y="171236"/>
                  <a:pt x="171236" y="132872"/>
                  <a:pt x="171236" y="85618"/>
                </a:cubicBezTo>
                <a:cubicBezTo>
                  <a:pt x="171236" y="38364"/>
                  <a:pt x="132872" y="0"/>
                  <a:pt x="85618" y="0"/>
                </a:cubicBezTo>
                <a:cubicBezTo>
                  <a:pt x="38364" y="0"/>
                  <a:pt x="0" y="38364"/>
                  <a:pt x="0" y="85618"/>
                </a:cubicBezTo>
                <a:cubicBezTo>
                  <a:pt x="0" y="132872"/>
                  <a:pt x="38364" y="171236"/>
                  <a:pt x="85618" y="171236"/>
                </a:cubicBezTo>
                <a:close/>
                <a:moveTo>
                  <a:pt x="113845" y="71136"/>
                </a:moveTo>
                <a:lnTo>
                  <a:pt x="87090" y="113945"/>
                </a:lnTo>
                <a:cubicBezTo>
                  <a:pt x="85685" y="116186"/>
                  <a:pt x="83277" y="117591"/>
                  <a:pt x="80635" y="117725"/>
                </a:cubicBezTo>
                <a:cubicBezTo>
                  <a:pt x="77993" y="117858"/>
                  <a:pt x="75451" y="116654"/>
                  <a:pt x="73879" y="114514"/>
                </a:cubicBezTo>
                <a:lnTo>
                  <a:pt x="57826" y="93110"/>
                </a:lnTo>
                <a:cubicBezTo>
                  <a:pt x="55150" y="89564"/>
                  <a:pt x="55886" y="84548"/>
                  <a:pt x="59431" y="81872"/>
                </a:cubicBezTo>
                <a:cubicBezTo>
                  <a:pt x="62976" y="79197"/>
                  <a:pt x="67993" y="79932"/>
                  <a:pt x="70668" y="83478"/>
                </a:cubicBezTo>
                <a:lnTo>
                  <a:pt x="79698" y="95518"/>
                </a:lnTo>
                <a:lnTo>
                  <a:pt x="100233" y="62642"/>
                </a:lnTo>
                <a:cubicBezTo>
                  <a:pt x="102574" y="58896"/>
                  <a:pt x="107524" y="57725"/>
                  <a:pt x="111303" y="60100"/>
                </a:cubicBezTo>
                <a:cubicBezTo>
                  <a:pt x="115083" y="62474"/>
                  <a:pt x="116220" y="67391"/>
                  <a:pt x="113845" y="7117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3" name="Text 21"/>
          <p:cNvSpPr/>
          <p:nvPr/>
        </p:nvSpPr>
        <p:spPr>
          <a:xfrm>
            <a:off x="627580" y="5977333"/>
            <a:ext cx="1524000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结构无关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631861" y="6205719"/>
            <a:ext cx="151543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无需修改模型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" name="Shape 23"/>
          <p:cNvSpPr/>
          <p:nvPr/>
        </p:nvSpPr>
        <p:spPr>
          <a:xfrm>
            <a:off x="2331057" y="5634861"/>
            <a:ext cx="1669551" cy="753438"/>
          </a:xfrm>
          <a:custGeom>
            <a:avLst/>
            <a:gdLst/>
            <a:ahLst/>
            <a:cxnLst/>
            <a:rect l="l" t="t" r="r" b="b"/>
            <a:pathLst>
              <a:path w="1669551" h="753438">
                <a:moveTo>
                  <a:pt x="68495" y="0"/>
                </a:moveTo>
                <a:lnTo>
                  <a:pt x="1601055" y="0"/>
                </a:lnTo>
                <a:cubicBezTo>
                  <a:pt x="1638884" y="0"/>
                  <a:pt x="1669551" y="30666"/>
                  <a:pt x="1669551" y="68495"/>
                </a:cubicBezTo>
                <a:lnTo>
                  <a:pt x="1669551" y="684943"/>
                </a:lnTo>
                <a:cubicBezTo>
                  <a:pt x="1669551" y="722772"/>
                  <a:pt x="1638884" y="753438"/>
                  <a:pt x="1601055" y="753438"/>
                </a:cubicBezTo>
                <a:lnTo>
                  <a:pt x="68495" y="753438"/>
                </a:lnTo>
                <a:cubicBezTo>
                  <a:pt x="30666" y="753438"/>
                  <a:pt x="0" y="722772"/>
                  <a:pt x="0" y="684943"/>
                </a:cubicBezTo>
                <a:lnTo>
                  <a:pt x="0" y="68495"/>
                </a:lnTo>
                <a:cubicBezTo>
                  <a:pt x="0" y="30692"/>
                  <a:pt x="30692" y="0"/>
                  <a:pt x="6849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6" name="Shape 24"/>
          <p:cNvSpPr/>
          <p:nvPr/>
        </p:nvSpPr>
        <p:spPr>
          <a:xfrm>
            <a:off x="3082140" y="5737602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74916" y="0"/>
                </a:moveTo>
                <a:cubicBezTo>
                  <a:pt x="86722" y="0"/>
                  <a:pt x="96320" y="7191"/>
                  <a:pt x="96320" y="16053"/>
                </a:cubicBezTo>
                <a:cubicBezTo>
                  <a:pt x="96320" y="19532"/>
                  <a:pt x="94849" y="22742"/>
                  <a:pt x="92307" y="25384"/>
                </a:cubicBezTo>
                <a:cubicBezTo>
                  <a:pt x="90100" y="27692"/>
                  <a:pt x="88294" y="30501"/>
                  <a:pt x="88294" y="33712"/>
                </a:cubicBezTo>
                <a:cubicBezTo>
                  <a:pt x="88294" y="38729"/>
                  <a:pt x="92374" y="42809"/>
                  <a:pt x="97390" y="42809"/>
                </a:cubicBezTo>
                <a:lnTo>
                  <a:pt x="112374" y="42809"/>
                </a:lnTo>
                <a:cubicBezTo>
                  <a:pt x="121236" y="42809"/>
                  <a:pt x="128427" y="50000"/>
                  <a:pt x="128427" y="58862"/>
                </a:cubicBezTo>
                <a:lnTo>
                  <a:pt x="128427" y="73846"/>
                </a:lnTo>
                <a:cubicBezTo>
                  <a:pt x="128427" y="78862"/>
                  <a:pt x="132507" y="82942"/>
                  <a:pt x="137524" y="82942"/>
                </a:cubicBezTo>
                <a:cubicBezTo>
                  <a:pt x="140701" y="82942"/>
                  <a:pt x="143544" y="81136"/>
                  <a:pt x="145852" y="78929"/>
                </a:cubicBezTo>
                <a:cubicBezTo>
                  <a:pt x="148494" y="76421"/>
                  <a:pt x="151704" y="74916"/>
                  <a:pt x="155183" y="74916"/>
                </a:cubicBezTo>
                <a:cubicBezTo>
                  <a:pt x="164045" y="74916"/>
                  <a:pt x="171236" y="84514"/>
                  <a:pt x="171236" y="96320"/>
                </a:cubicBezTo>
                <a:cubicBezTo>
                  <a:pt x="171236" y="108126"/>
                  <a:pt x="164045" y="117725"/>
                  <a:pt x="155183" y="117725"/>
                </a:cubicBezTo>
                <a:cubicBezTo>
                  <a:pt x="151704" y="117725"/>
                  <a:pt x="148460" y="116253"/>
                  <a:pt x="145852" y="113711"/>
                </a:cubicBezTo>
                <a:cubicBezTo>
                  <a:pt x="143544" y="111504"/>
                  <a:pt x="140735" y="109698"/>
                  <a:pt x="137524" y="109698"/>
                </a:cubicBezTo>
                <a:cubicBezTo>
                  <a:pt x="132507" y="109698"/>
                  <a:pt x="128427" y="113778"/>
                  <a:pt x="128427" y="118795"/>
                </a:cubicBezTo>
                <a:lnTo>
                  <a:pt x="128427" y="155183"/>
                </a:lnTo>
                <a:cubicBezTo>
                  <a:pt x="128427" y="164045"/>
                  <a:pt x="121236" y="171236"/>
                  <a:pt x="112374" y="171236"/>
                </a:cubicBezTo>
                <a:lnTo>
                  <a:pt x="93377" y="171236"/>
                </a:lnTo>
                <a:cubicBezTo>
                  <a:pt x="89096" y="171236"/>
                  <a:pt x="85618" y="167758"/>
                  <a:pt x="85618" y="163477"/>
                </a:cubicBezTo>
                <a:cubicBezTo>
                  <a:pt x="85618" y="160400"/>
                  <a:pt x="87558" y="157691"/>
                  <a:pt x="90033" y="155851"/>
                </a:cubicBezTo>
                <a:cubicBezTo>
                  <a:pt x="93912" y="152942"/>
                  <a:pt x="96320" y="148928"/>
                  <a:pt x="96320" y="144480"/>
                </a:cubicBezTo>
                <a:cubicBezTo>
                  <a:pt x="96320" y="135618"/>
                  <a:pt x="86722" y="128427"/>
                  <a:pt x="74916" y="128427"/>
                </a:cubicBezTo>
                <a:cubicBezTo>
                  <a:pt x="63110" y="128427"/>
                  <a:pt x="53511" y="135618"/>
                  <a:pt x="53511" y="144480"/>
                </a:cubicBezTo>
                <a:cubicBezTo>
                  <a:pt x="53511" y="148928"/>
                  <a:pt x="55919" y="152942"/>
                  <a:pt x="59799" y="155851"/>
                </a:cubicBezTo>
                <a:cubicBezTo>
                  <a:pt x="62274" y="157691"/>
                  <a:pt x="64213" y="160366"/>
                  <a:pt x="64213" y="163477"/>
                </a:cubicBezTo>
                <a:cubicBezTo>
                  <a:pt x="64213" y="167758"/>
                  <a:pt x="60735" y="171236"/>
                  <a:pt x="56454" y="171236"/>
                </a:cubicBezTo>
                <a:lnTo>
                  <a:pt x="16053" y="171236"/>
                </a:lnTo>
                <a:cubicBezTo>
                  <a:pt x="7191" y="171236"/>
                  <a:pt x="0" y="164045"/>
                  <a:pt x="0" y="155183"/>
                </a:cubicBezTo>
                <a:lnTo>
                  <a:pt x="0" y="114782"/>
                </a:lnTo>
                <a:cubicBezTo>
                  <a:pt x="0" y="110501"/>
                  <a:pt x="3478" y="107022"/>
                  <a:pt x="7759" y="107022"/>
                </a:cubicBezTo>
                <a:cubicBezTo>
                  <a:pt x="10836" y="107022"/>
                  <a:pt x="13545" y="108962"/>
                  <a:pt x="15384" y="111437"/>
                </a:cubicBezTo>
                <a:cubicBezTo>
                  <a:pt x="18294" y="115317"/>
                  <a:pt x="22307" y="117725"/>
                  <a:pt x="26756" y="117725"/>
                </a:cubicBezTo>
                <a:cubicBezTo>
                  <a:pt x="35618" y="117725"/>
                  <a:pt x="42809" y="108126"/>
                  <a:pt x="42809" y="96320"/>
                </a:cubicBezTo>
                <a:cubicBezTo>
                  <a:pt x="42809" y="84514"/>
                  <a:pt x="35618" y="74916"/>
                  <a:pt x="26756" y="74916"/>
                </a:cubicBezTo>
                <a:cubicBezTo>
                  <a:pt x="22307" y="74916"/>
                  <a:pt x="18294" y="77324"/>
                  <a:pt x="15384" y="81203"/>
                </a:cubicBezTo>
                <a:cubicBezTo>
                  <a:pt x="13545" y="83678"/>
                  <a:pt x="10869" y="85618"/>
                  <a:pt x="7759" y="85618"/>
                </a:cubicBezTo>
                <a:cubicBezTo>
                  <a:pt x="3478" y="85618"/>
                  <a:pt x="0" y="82140"/>
                  <a:pt x="0" y="77859"/>
                </a:cubicBezTo>
                <a:lnTo>
                  <a:pt x="0" y="58862"/>
                </a:lnTo>
                <a:cubicBezTo>
                  <a:pt x="0" y="50000"/>
                  <a:pt x="7191" y="42809"/>
                  <a:pt x="16053" y="42809"/>
                </a:cubicBezTo>
                <a:lnTo>
                  <a:pt x="52441" y="42809"/>
                </a:lnTo>
                <a:cubicBezTo>
                  <a:pt x="57458" y="42809"/>
                  <a:pt x="61538" y="38729"/>
                  <a:pt x="61538" y="33712"/>
                </a:cubicBezTo>
                <a:cubicBezTo>
                  <a:pt x="61538" y="30535"/>
                  <a:pt x="59732" y="27692"/>
                  <a:pt x="57525" y="25384"/>
                </a:cubicBezTo>
                <a:cubicBezTo>
                  <a:pt x="55016" y="22742"/>
                  <a:pt x="53511" y="19532"/>
                  <a:pt x="53511" y="16053"/>
                </a:cubicBezTo>
                <a:cubicBezTo>
                  <a:pt x="53511" y="7191"/>
                  <a:pt x="63110" y="0"/>
                  <a:pt x="7491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7" name="Text 25"/>
          <p:cNvSpPr/>
          <p:nvPr/>
        </p:nvSpPr>
        <p:spPr>
          <a:xfrm>
            <a:off x="2403832" y="5977333"/>
            <a:ext cx="1524000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高度适配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" name="Text 26"/>
          <p:cNvSpPr/>
          <p:nvPr/>
        </p:nvSpPr>
        <p:spPr>
          <a:xfrm>
            <a:off x="2408113" y="6205719"/>
            <a:ext cx="151543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兼容主流大模型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4107308" y="5634861"/>
            <a:ext cx="1669551" cy="753438"/>
          </a:xfrm>
          <a:custGeom>
            <a:avLst/>
            <a:gdLst/>
            <a:ahLst/>
            <a:cxnLst/>
            <a:rect l="l" t="t" r="r" b="b"/>
            <a:pathLst>
              <a:path w="1669551" h="753438">
                <a:moveTo>
                  <a:pt x="68495" y="0"/>
                </a:moveTo>
                <a:lnTo>
                  <a:pt x="1601055" y="0"/>
                </a:lnTo>
                <a:cubicBezTo>
                  <a:pt x="1638884" y="0"/>
                  <a:pt x="1669551" y="30666"/>
                  <a:pt x="1669551" y="68495"/>
                </a:cubicBezTo>
                <a:lnTo>
                  <a:pt x="1669551" y="684943"/>
                </a:lnTo>
                <a:cubicBezTo>
                  <a:pt x="1669551" y="722772"/>
                  <a:pt x="1638884" y="753438"/>
                  <a:pt x="1601055" y="753438"/>
                </a:cubicBezTo>
                <a:lnTo>
                  <a:pt x="68495" y="753438"/>
                </a:lnTo>
                <a:cubicBezTo>
                  <a:pt x="30666" y="753438"/>
                  <a:pt x="0" y="722772"/>
                  <a:pt x="0" y="684943"/>
                </a:cubicBezTo>
                <a:lnTo>
                  <a:pt x="0" y="68495"/>
                </a:lnTo>
                <a:cubicBezTo>
                  <a:pt x="0" y="30692"/>
                  <a:pt x="30692" y="0"/>
                  <a:pt x="6849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0" name="Shape 28"/>
          <p:cNvSpPr/>
          <p:nvPr/>
        </p:nvSpPr>
        <p:spPr>
          <a:xfrm>
            <a:off x="4847690" y="5737602"/>
            <a:ext cx="192640" cy="171236"/>
          </a:xfrm>
          <a:custGeom>
            <a:avLst/>
            <a:gdLst/>
            <a:ahLst/>
            <a:cxnLst/>
            <a:rect l="l" t="t" r="r" b="b"/>
            <a:pathLst>
              <a:path w="192640" h="171236">
                <a:moveTo>
                  <a:pt x="96320" y="10702"/>
                </a:moveTo>
                <a:cubicBezTo>
                  <a:pt x="69297" y="10702"/>
                  <a:pt x="47658" y="23010"/>
                  <a:pt x="31906" y="37659"/>
                </a:cubicBezTo>
                <a:cubicBezTo>
                  <a:pt x="16254" y="52207"/>
                  <a:pt x="5786" y="69565"/>
                  <a:pt x="803" y="81504"/>
                </a:cubicBezTo>
                <a:cubicBezTo>
                  <a:pt x="-301" y="84146"/>
                  <a:pt x="-301" y="87090"/>
                  <a:pt x="803" y="89732"/>
                </a:cubicBezTo>
                <a:cubicBezTo>
                  <a:pt x="5786" y="101671"/>
                  <a:pt x="16254" y="119063"/>
                  <a:pt x="31906" y="133577"/>
                </a:cubicBezTo>
                <a:cubicBezTo>
                  <a:pt x="47658" y="148193"/>
                  <a:pt x="69297" y="160534"/>
                  <a:pt x="96320" y="160534"/>
                </a:cubicBezTo>
                <a:cubicBezTo>
                  <a:pt x="123343" y="160534"/>
                  <a:pt x="144982" y="148226"/>
                  <a:pt x="160734" y="133577"/>
                </a:cubicBezTo>
                <a:cubicBezTo>
                  <a:pt x="176386" y="119029"/>
                  <a:pt x="186855" y="101671"/>
                  <a:pt x="191838" y="89732"/>
                </a:cubicBezTo>
                <a:cubicBezTo>
                  <a:pt x="192941" y="87090"/>
                  <a:pt x="192941" y="84146"/>
                  <a:pt x="191838" y="81504"/>
                </a:cubicBezTo>
                <a:cubicBezTo>
                  <a:pt x="186855" y="69565"/>
                  <a:pt x="176386" y="52173"/>
                  <a:pt x="160734" y="37659"/>
                </a:cubicBezTo>
                <a:cubicBezTo>
                  <a:pt x="144982" y="23043"/>
                  <a:pt x="123343" y="10702"/>
                  <a:pt x="96320" y="10702"/>
                </a:cubicBezTo>
                <a:close/>
                <a:moveTo>
                  <a:pt x="48160" y="85618"/>
                </a:moveTo>
                <a:cubicBezTo>
                  <a:pt x="48160" y="59038"/>
                  <a:pt x="69740" y="37458"/>
                  <a:pt x="96320" y="37458"/>
                </a:cubicBezTo>
                <a:cubicBezTo>
                  <a:pt x="122901" y="37458"/>
                  <a:pt x="144480" y="59038"/>
                  <a:pt x="144480" y="85618"/>
                </a:cubicBezTo>
                <a:cubicBezTo>
                  <a:pt x="144480" y="112198"/>
                  <a:pt x="122901" y="133778"/>
                  <a:pt x="96320" y="133778"/>
                </a:cubicBezTo>
                <a:cubicBezTo>
                  <a:pt x="69740" y="133778"/>
                  <a:pt x="48160" y="112198"/>
                  <a:pt x="48160" y="85618"/>
                </a:cubicBezTo>
                <a:close/>
                <a:moveTo>
                  <a:pt x="96320" y="64213"/>
                </a:moveTo>
                <a:cubicBezTo>
                  <a:pt x="96320" y="76019"/>
                  <a:pt x="86722" y="85618"/>
                  <a:pt x="74916" y="85618"/>
                </a:cubicBezTo>
                <a:cubicBezTo>
                  <a:pt x="71070" y="85618"/>
                  <a:pt x="67458" y="84615"/>
                  <a:pt x="64314" y="82809"/>
                </a:cubicBezTo>
                <a:cubicBezTo>
                  <a:pt x="63979" y="86454"/>
                  <a:pt x="64280" y="90200"/>
                  <a:pt x="65284" y="93912"/>
                </a:cubicBezTo>
                <a:cubicBezTo>
                  <a:pt x="69866" y="111036"/>
                  <a:pt x="87491" y="121203"/>
                  <a:pt x="104614" y="116621"/>
                </a:cubicBezTo>
                <a:cubicBezTo>
                  <a:pt x="121738" y="112039"/>
                  <a:pt x="131905" y="94414"/>
                  <a:pt x="127323" y="77290"/>
                </a:cubicBezTo>
                <a:cubicBezTo>
                  <a:pt x="123243" y="62006"/>
                  <a:pt x="108762" y="52274"/>
                  <a:pt x="93511" y="53612"/>
                </a:cubicBezTo>
                <a:cubicBezTo>
                  <a:pt x="95283" y="56722"/>
                  <a:pt x="96320" y="60334"/>
                  <a:pt x="96320" y="6421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1" name="Text 29"/>
          <p:cNvSpPr/>
          <p:nvPr/>
        </p:nvSpPr>
        <p:spPr>
          <a:xfrm>
            <a:off x="4180084" y="5977333"/>
            <a:ext cx="1524000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过程透明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Text 30"/>
          <p:cNvSpPr/>
          <p:nvPr/>
        </p:nvSpPr>
        <p:spPr>
          <a:xfrm>
            <a:off x="4184365" y="6205719"/>
            <a:ext cx="151543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决策可追溯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3" name="Shape 31"/>
          <p:cNvSpPr/>
          <p:nvPr/>
        </p:nvSpPr>
        <p:spPr>
          <a:xfrm>
            <a:off x="6202166" y="1045738"/>
            <a:ext cx="5640512" cy="3054849"/>
          </a:xfrm>
          <a:custGeom>
            <a:avLst/>
            <a:gdLst/>
            <a:ahLst/>
            <a:cxnLst/>
            <a:rect l="l" t="t" r="r" b="b"/>
            <a:pathLst>
              <a:path w="5640512" h="3054849">
                <a:moveTo>
                  <a:pt x="102735" y="0"/>
                </a:moveTo>
                <a:lnTo>
                  <a:pt x="5537778" y="0"/>
                </a:lnTo>
                <a:cubicBezTo>
                  <a:pt x="5594517" y="0"/>
                  <a:pt x="5640512" y="45996"/>
                  <a:pt x="5640512" y="102735"/>
                </a:cubicBezTo>
                <a:lnTo>
                  <a:pt x="5640512" y="2952115"/>
                </a:lnTo>
                <a:cubicBezTo>
                  <a:pt x="5640512" y="3008854"/>
                  <a:pt x="5594517" y="3054849"/>
                  <a:pt x="5537778" y="3054849"/>
                </a:cubicBezTo>
                <a:lnTo>
                  <a:pt x="102735" y="3054849"/>
                </a:lnTo>
                <a:cubicBezTo>
                  <a:pt x="45996" y="3054849"/>
                  <a:pt x="0" y="3008854"/>
                  <a:pt x="0" y="2952115"/>
                </a:cubicBezTo>
                <a:lnTo>
                  <a:pt x="0" y="102735"/>
                </a:lnTo>
                <a:cubicBezTo>
                  <a:pt x="0" y="46034"/>
                  <a:pt x="46034" y="0"/>
                  <a:pt x="10273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4" name="Shape 32"/>
          <p:cNvSpPr/>
          <p:nvPr/>
        </p:nvSpPr>
        <p:spPr>
          <a:xfrm>
            <a:off x="6432479" y="1288896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21404" y="21404"/>
                </a:moveTo>
                <a:cubicBezTo>
                  <a:pt x="21404" y="15485"/>
                  <a:pt x="16622" y="10702"/>
                  <a:pt x="10702" y="10702"/>
                </a:cubicBezTo>
                <a:cubicBezTo>
                  <a:pt x="4783" y="10702"/>
                  <a:pt x="0" y="15485"/>
                  <a:pt x="0" y="21404"/>
                </a:cubicBezTo>
                <a:lnTo>
                  <a:pt x="0" y="133778"/>
                </a:lnTo>
                <a:cubicBezTo>
                  <a:pt x="0" y="148561"/>
                  <a:pt x="11973" y="160534"/>
                  <a:pt x="26756" y="160534"/>
                </a:cubicBezTo>
                <a:lnTo>
                  <a:pt x="160534" y="160534"/>
                </a:lnTo>
                <a:cubicBezTo>
                  <a:pt x="166453" y="160534"/>
                  <a:pt x="171236" y="155751"/>
                  <a:pt x="171236" y="149831"/>
                </a:cubicBezTo>
                <a:cubicBezTo>
                  <a:pt x="171236" y="143912"/>
                  <a:pt x="166453" y="139129"/>
                  <a:pt x="160534" y="139129"/>
                </a:cubicBezTo>
                <a:lnTo>
                  <a:pt x="26756" y="139129"/>
                </a:lnTo>
                <a:cubicBezTo>
                  <a:pt x="23813" y="139129"/>
                  <a:pt x="21404" y="136721"/>
                  <a:pt x="21404" y="133778"/>
                </a:cubicBezTo>
                <a:lnTo>
                  <a:pt x="21404" y="21404"/>
                </a:lnTo>
                <a:close/>
                <a:moveTo>
                  <a:pt x="157390" y="50367"/>
                </a:moveTo>
                <a:cubicBezTo>
                  <a:pt x="161570" y="46187"/>
                  <a:pt x="161570" y="39398"/>
                  <a:pt x="157390" y="35217"/>
                </a:cubicBezTo>
                <a:cubicBezTo>
                  <a:pt x="153209" y="31037"/>
                  <a:pt x="146420" y="31037"/>
                  <a:pt x="142240" y="35217"/>
                </a:cubicBezTo>
                <a:lnTo>
                  <a:pt x="107022" y="70468"/>
                </a:lnTo>
                <a:lnTo>
                  <a:pt x="87825" y="51304"/>
                </a:lnTo>
                <a:cubicBezTo>
                  <a:pt x="83645" y="47123"/>
                  <a:pt x="76856" y="47123"/>
                  <a:pt x="72675" y="51304"/>
                </a:cubicBezTo>
                <a:lnTo>
                  <a:pt x="40568" y="83411"/>
                </a:lnTo>
                <a:cubicBezTo>
                  <a:pt x="36388" y="87591"/>
                  <a:pt x="36388" y="94380"/>
                  <a:pt x="40568" y="98561"/>
                </a:cubicBezTo>
                <a:cubicBezTo>
                  <a:pt x="44749" y="102742"/>
                  <a:pt x="51538" y="102742"/>
                  <a:pt x="55719" y="98561"/>
                </a:cubicBezTo>
                <a:lnTo>
                  <a:pt x="80267" y="74013"/>
                </a:lnTo>
                <a:lnTo>
                  <a:pt x="99464" y="93210"/>
                </a:lnTo>
                <a:cubicBezTo>
                  <a:pt x="103645" y="97390"/>
                  <a:pt x="110434" y="97390"/>
                  <a:pt x="114614" y="93210"/>
                </a:cubicBezTo>
                <a:lnTo>
                  <a:pt x="157423" y="50401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5" name="Text 33"/>
          <p:cNvSpPr/>
          <p:nvPr/>
        </p:nvSpPr>
        <p:spPr>
          <a:xfrm>
            <a:off x="6625119" y="1254648"/>
            <a:ext cx="5094270" cy="23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GPT-3.5 vs GPT-4 ReAct性能对比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 34"/>
          <p:cNvSpPr/>
          <p:nvPr/>
        </p:nvSpPr>
        <p:spPr>
          <a:xfrm>
            <a:off x="6410960" y="1631315"/>
            <a:ext cx="185166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成功率 Success Rate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 35"/>
          <p:cNvSpPr/>
          <p:nvPr/>
        </p:nvSpPr>
        <p:spPr>
          <a:xfrm>
            <a:off x="6410960" y="1905635"/>
            <a:ext cx="116522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GPT-3.5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Text 36"/>
          <p:cNvSpPr/>
          <p:nvPr/>
        </p:nvSpPr>
        <p:spPr>
          <a:xfrm>
            <a:off x="8500110" y="1905635"/>
            <a:ext cx="51879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28.2%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9" name="Shape 37"/>
          <p:cNvSpPr/>
          <p:nvPr/>
        </p:nvSpPr>
        <p:spPr>
          <a:xfrm>
            <a:off x="6411074" y="2110828"/>
            <a:ext cx="2542854" cy="102742"/>
          </a:xfrm>
          <a:custGeom>
            <a:avLst/>
            <a:gdLst/>
            <a:ahLst/>
            <a:cxnLst/>
            <a:rect l="l" t="t" r="r" b="b"/>
            <a:pathLst>
              <a:path w="2542854" h="102742">
                <a:moveTo>
                  <a:pt x="51371" y="0"/>
                </a:moveTo>
                <a:lnTo>
                  <a:pt x="2491483" y="0"/>
                </a:lnTo>
                <a:cubicBezTo>
                  <a:pt x="2519854" y="0"/>
                  <a:pt x="2542854" y="22999"/>
                  <a:pt x="2542854" y="51371"/>
                </a:cubicBezTo>
                <a:lnTo>
                  <a:pt x="2542854" y="51371"/>
                </a:lnTo>
                <a:cubicBezTo>
                  <a:pt x="2542854" y="79742"/>
                  <a:pt x="2519854" y="102742"/>
                  <a:pt x="2491483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0" name="Shape 38"/>
          <p:cNvSpPr/>
          <p:nvPr/>
        </p:nvSpPr>
        <p:spPr>
          <a:xfrm>
            <a:off x="6411074" y="2110828"/>
            <a:ext cx="719191" cy="102742"/>
          </a:xfrm>
          <a:custGeom>
            <a:avLst/>
            <a:gdLst/>
            <a:ahLst/>
            <a:cxnLst/>
            <a:rect l="l" t="t" r="r" b="b"/>
            <a:pathLst>
              <a:path w="719191" h="102742">
                <a:moveTo>
                  <a:pt x="51371" y="0"/>
                </a:moveTo>
                <a:lnTo>
                  <a:pt x="667820" y="0"/>
                </a:lnTo>
                <a:cubicBezTo>
                  <a:pt x="696192" y="0"/>
                  <a:pt x="719191" y="22999"/>
                  <a:pt x="719191" y="51371"/>
                </a:cubicBezTo>
                <a:lnTo>
                  <a:pt x="719191" y="51371"/>
                </a:lnTo>
                <a:cubicBezTo>
                  <a:pt x="719191" y="79742"/>
                  <a:pt x="696192" y="102742"/>
                  <a:pt x="667820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1" name="Text 39"/>
          <p:cNvSpPr/>
          <p:nvPr/>
        </p:nvSpPr>
        <p:spPr>
          <a:xfrm>
            <a:off x="9092565" y="1905635"/>
            <a:ext cx="59436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GPT-4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2" name="Text 40"/>
          <p:cNvSpPr/>
          <p:nvPr/>
        </p:nvSpPr>
        <p:spPr>
          <a:xfrm>
            <a:off x="11157585" y="1905635"/>
            <a:ext cx="53975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43.6%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3" name="Shape 41"/>
          <p:cNvSpPr/>
          <p:nvPr/>
        </p:nvSpPr>
        <p:spPr>
          <a:xfrm>
            <a:off x="9092629" y="2110828"/>
            <a:ext cx="2542854" cy="102742"/>
          </a:xfrm>
          <a:custGeom>
            <a:avLst/>
            <a:gdLst/>
            <a:ahLst/>
            <a:cxnLst/>
            <a:rect l="l" t="t" r="r" b="b"/>
            <a:pathLst>
              <a:path w="2542854" h="102742">
                <a:moveTo>
                  <a:pt x="51371" y="0"/>
                </a:moveTo>
                <a:lnTo>
                  <a:pt x="2491483" y="0"/>
                </a:lnTo>
                <a:cubicBezTo>
                  <a:pt x="2519854" y="0"/>
                  <a:pt x="2542854" y="22999"/>
                  <a:pt x="2542854" y="51371"/>
                </a:cubicBezTo>
                <a:lnTo>
                  <a:pt x="2542854" y="51371"/>
                </a:lnTo>
                <a:cubicBezTo>
                  <a:pt x="2542854" y="79742"/>
                  <a:pt x="2519854" y="102742"/>
                  <a:pt x="2491483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4" name="Shape 42"/>
          <p:cNvSpPr/>
          <p:nvPr/>
        </p:nvSpPr>
        <p:spPr>
          <a:xfrm>
            <a:off x="9092629" y="2110828"/>
            <a:ext cx="1113034" cy="102742"/>
          </a:xfrm>
          <a:custGeom>
            <a:avLst/>
            <a:gdLst/>
            <a:ahLst/>
            <a:cxnLst/>
            <a:rect l="l" t="t" r="r" b="b"/>
            <a:pathLst>
              <a:path w="1113034" h="102742">
                <a:moveTo>
                  <a:pt x="51371" y="0"/>
                </a:moveTo>
                <a:lnTo>
                  <a:pt x="1061663" y="0"/>
                </a:lnTo>
                <a:cubicBezTo>
                  <a:pt x="1090034" y="0"/>
                  <a:pt x="1113034" y="22999"/>
                  <a:pt x="1113034" y="51371"/>
                </a:cubicBezTo>
                <a:lnTo>
                  <a:pt x="1113034" y="51371"/>
                </a:lnTo>
                <a:cubicBezTo>
                  <a:pt x="1113034" y="79742"/>
                  <a:pt x="1090034" y="102742"/>
                  <a:pt x="1061663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5" name="Text 43"/>
          <p:cNvSpPr/>
          <p:nvPr/>
        </p:nvSpPr>
        <p:spPr>
          <a:xfrm>
            <a:off x="6410960" y="2350770"/>
            <a:ext cx="194691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完成率 Complete Rate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 44"/>
          <p:cNvSpPr/>
          <p:nvPr/>
        </p:nvSpPr>
        <p:spPr>
          <a:xfrm>
            <a:off x="6410960" y="2624455"/>
            <a:ext cx="62547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GPT-3.5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Text 45"/>
          <p:cNvSpPr/>
          <p:nvPr/>
        </p:nvSpPr>
        <p:spPr>
          <a:xfrm>
            <a:off x="8500110" y="2624455"/>
            <a:ext cx="51498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45.9%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8" name="Shape 46"/>
          <p:cNvSpPr/>
          <p:nvPr/>
        </p:nvSpPr>
        <p:spPr>
          <a:xfrm>
            <a:off x="6411074" y="2830019"/>
            <a:ext cx="2542854" cy="102742"/>
          </a:xfrm>
          <a:custGeom>
            <a:avLst/>
            <a:gdLst/>
            <a:ahLst/>
            <a:cxnLst/>
            <a:rect l="l" t="t" r="r" b="b"/>
            <a:pathLst>
              <a:path w="2542854" h="102742">
                <a:moveTo>
                  <a:pt x="51371" y="0"/>
                </a:moveTo>
                <a:lnTo>
                  <a:pt x="2491483" y="0"/>
                </a:lnTo>
                <a:cubicBezTo>
                  <a:pt x="2519854" y="0"/>
                  <a:pt x="2542854" y="22999"/>
                  <a:pt x="2542854" y="51371"/>
                </a:cubicBezTo>
                <a:lnTo>
                  <a:pt x="2542854" y="51371"/>
                </a:lnTo>
                <a:cubicBezTo>
                  <a:pt x="2542854" y="79742"/>
                  <a:pt x="2519854" y="102742"/>
                  <a:pt x="2491483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9" name="Shape 47"/>
          <p:cNvSpPr/>
          <p:nvPr/>
        </p:nvSpPr>
        <p:spPr>
          <a:xfrm>
            <a:off x="6411074" y="2830019"/>
            <a:ext cx="1164404" cy="102742"/>
          </a:xfrm>
          <a:custGeom>
            <a:avLst/>
            <a:gdLst/>
            <a:ahLst/>
            <a:cxnLst/>
            <a:rect l="l" t="t" r="r" b="b"/>
            <a:pathLst>
              <a:path w="1164404" h="102742">
                <a:moveTo>
                  <a:pt x="51371" y="0"/>
                </a:moveTo>
                <a:lnTo>
                  <a:pt x="1113034" y="0"/>
                </a:lnTo>
                <a:cubicBezTo>
                  <a:pt x="1141405" y="0"/>
                  <a:pt x="1164404" y="22999"/>
                  <a:pt x="1164404" y="51371"/>
                </a:cubicBezTo>
                <a:lnTo>
                  <a:pt x="1164404" y="51371"/>
                </a:lnTo>
                <a:cubicBezTo>
                  <a:pt x="1164404" y="79742"/>
                  <a:pt x="1141405" y="102742"/>
                  <a:pt x="1113034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0" name="Text 48"/>
          <p:cNvSpPr/>
          <p:nvPr/>
        </p:nvSpPr>
        <p:spPr>
          <a:xfrm>
            <a:off x="9092565" y="2624455"/>
            <a:ext cx="65532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GPT-4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1" name="Text 49"/>
          <p:cNvSpPr/>
          <p:nvPr/>
        </p:nvSpPr>
        <p:spPr>
          <a:xfrm>
            <a:off x="11157585" y="2624455"/>
            <a:ext cx="54356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63.8%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2" name="Shape 50"/>
          <p:cNvSpPr/>
          <p:nvPr/>
        </p:nvSpPr>
        <p:spPr>
          <a:xfrm>
            <a:off x="9092629" y="2830019"/>
            <a:ext cx="2542854" cy="102742"/>
          </a:xfrm>
          <a:custGeom>
            <a:avLst/>
            <a:gdLst/>
            <a:ahLst/>
            <a:cxnLst/>
            <a:rect l="l" t="t" r="r" b="b"/>
            <a:pathLst>
              <a:path w="2542854" h="102742">
                <a:moveTo>
                  <a:pt x="51371" y="0"/>
                </a:moveTo>
                <a:lnTo>
                  <a:pt x="2491483" y="0"/>
                </a:lnTo>
                <a:cubicBezTo>
                  <a:pt x="2519854" y="0"/>
                  <a:pt x="2542854" y="22999"/>
                  <a:pt x="2542854" y="51371"/>
                </a:cubicBezTo>
                <a:lnTo>
                  <a:pt x="2542854" y="51371"/>
                </a:lnTo>
                <a:cubicBezTo>
                  <a:pt x="2542854" y="79742"/>
                  <a:pt x="2519854" y="102742"/>
                  <a:pt x="2491483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73" name="Shape 51"/>
          <p:cNvSpPr/>
          <p:nvPr/>
        </p:nvSpPr>
        <p:spPr>
          <a:xfrm>
            <a:off x="9092629" y="2830019"/>
            <a:ext cx="1626742" cy="102742"/>
          </a:xfrm>
          <a:custGeom>
            <a:avLst/>
            <a:gdLst/>
            <a:ahLst/>
            <a:cxnLst/>
            <a:rect l="l" t="t" r="r" b="b"/>
            <a:pathLst>
              <a:path w="1626742" h="102742">
                <a:moveTo>
                  <a:pt x="51371" y="0"/>
                </a:moveTo>
                <a:lnTo>
                  <a:pt x="1575371" y="0"/>
                </a:lnTo>
                <a:cubicBezTo>
                  <a:pt x="1603742" y="0"/>
                  <a:pt x="1626742" y="22999"/>
                  <a:pt x="1626742" y="51371"/>
                </a:cubicBezTo>
                <a:lnTo>
                  <a:pt x="1626742" y="51371"/>
                </a:lnTo>
                <a:cubicBezTo>
                  <a:pt x="1626742" y="79742"/>
                  <a:pt x="1603742" y="102742"/>
                  <a:pt x="1575371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4" name="Text 52"/>
          <p:cNvSpPr/>
          <p:nvPr/>
        </p:nvSpPr>
        <p:spPr>
          <a:xfrm>
            <a:off x="6410960" y="3069590"/>
            <a:ext cx="1594485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预订率 Book Rate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 53"/>
          <p:cNvSpPr/>
          <p:nvPr/>
        </p:nvSpPr>
        <p:spPr>
          <a:xfrm>
            <a:off x="6410960" y="3343910"/>
            <a:ext cx="7708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GPT-3.5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6" name="Text 54"/>
          <p:cNvSpPr/>
          <p:nvPr/>
        </p:nvSpPr>
        <p:spPr>
          <a:xfrm>
            <a:off x="8500745" y="3343910"/>
            <a:ext cx="51879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40.5%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7" name="Shape 55"/>
          <p:cNvSpPr/>
          <p:nvPr/>
        </p:nvSpPr>
        <p:spPr>
          <a:xfrm>
            <a:off x="6411074" y="3549210"/>
            <a:ext cx="2542854" cy="102742"/>
          </a:xfrm>
          <a:custGeom>
            <a:avLst/>
            <a:gdLst/>
            <a:ahLst/>
            <a:cxnLst/>
            <a:rect l="l" t="t" r="r" b="b"/>
            <a:pathLst>
              <a:path w="2542854" h="102742">
                <a:moveTo>
                  <a:pt x="51371" y="0"/>
                </a:moveTo>
                <a:lnTo>
                  <a:pt x="2491483" y="0"/>
                </a:lnTo>
                <a:cubicBezTo>
                  <a:pt x="2519854" y="0"/>
                  <a:pt x="2542854" y="22999"/>
                  <a:pt x="2542854" y="51371"/>
                </a:cubicBezTo>
                <a:lnTo>
                  <a:pt x="2542854" y="51371"/>
                </a:lnTo>
                <a:cubicBezTo>
                  <a:pt x="2542854" y="79742"/>
                  <a:pt x="2519854" y="102742"/>
                  <a:pt x="2491483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78" name="Shape 56"/>
          <p:cNvSpPr/>
          <p:nvPr/>
        </p:nvSpPr>
        <p:spPr>
          <a:xfrm>
            <a:off x="6411074" y="3549210"/>
            <a:ext cx="1027416" cy="102742"/>
          </a:xfrm>
          <a:custGeom>
            <a:avLst/>
            <a:gdLst/>
            <a:ahLst/>
            <a:cxnLst/>
            <a:rect l="l" t="t" r="r" b="b"/>
            <a:pathLst>
              <a:path w="1027416" h="102742">
                <a:moveTo>
                  <a:pt x="51371" y="0"/>
                </a:moveTo>
                <a:lnTo>
                  <a:pt x="976045" y="0"/>
                </a:lnTo>
                <a:cubicBezTo>
                  <a:pt x="1004416" y="0"/>
                  <a:pt x="1027416" y="22999"/>
                  <a:pt x="1027416" y="51371"/>
                </a:cubicBezTo>
                <a:lnTo>
                  <a:pt x="1027416" y="51371"/>
                </a:lnTo>
                <a:cubicBezTo>
                  <a:pt x="1027416" y="79742"/>
                  <a:pt x="1004416" y="102742"/>
                  <a:pt x="976045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9" name="Text 57"/>
          <p:cNvSpPr/>
          <p:nvPr/>
        </p:nvSpPr>
        <p:spPr>
          <a:xfrm>
            <a:off x="9092565" y="3343910"/>
            <a:ext cx="59372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GPT-4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0" name="Text 58"/>
          <p:cNvSpPr/>
          <p:nvPr/>
        </p:nvSpPr>
        <p:spPr>
          <a:xfrm>
            <a:off x="11156950" y="3343910"/>
            <a:ext cx="53911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58.2%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1" name="Shape 59"/>
          <p:cNvSpPr/>
          <p:nvPr/>
        </p:nvSpPr>
        <p:spPr>
          <a:xfrm>
            <a:off x="9092629" y="3549210"/>
            <a:ext cx="2542854" cy="102742"/>
          </a:xfrm>
          <a:custGeom>
            <a:avLst/>
            <a:gdLst/>
            <a:ahLst/>
            <a:cxnLst/>
            <a:rect l="l" t="t" r="r" b="b"/>
            <a:pathLst>
              <a:path w="2542854" h="102742">
                <a:moveTo>
                  <a:pt x="51371" y="0"/>
                </a:moveTo>
                <a:lnTo>
                  <a:pt x="2491483" y="0"/>
                </a:lnTo>
                <a:cubicBezTo>
                  <a:pt x="2519854" y="0"/>
                  <a:pt x="2542854" y="22999"/>
                  <a:pt x="2542854" y="51371"/>
                </a:cubicBezTo>
                <a:lnTo>
                  <a:pt x="2542854" y="51371"/>
                </a:lnTo>
                <a:cubicBezTo>
                  <a:pt x="2542854" y="79742"/>
                  <a:pt x="2519854" y="102742"/>
                  <a:pt x="2491483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82" name="Shape 60"/>
          <p:cNvSpPr/>
          <p:nvPr/>
        </p:nvSpPr>
        <p:spPr>
          <a:xfrm>
            <a:off x="9092629" y="3549210"/>
            <a:ext cx="1481191" cy="102742"/>
          </a:xfrm>
          <a:custGeom>
            <a:avLst/>
            <a:gdLst/>
            <a:ahLst/>
            <a:cxnLst/>
            <a:rect l="l" t="t" r="r" b="b"/>
            <a:pathLst>
              <a:path w="1481191" h="102742">
                <a:moveTo>
                  <a:pt x="51371" y="0"/>
                </a:moveTo>
                <a:lnTo>
                  <a:pt x="1429820" y="0"/>
                </a:lnTo>
                <a:cubicBezTo>
                  <a:pt x="1458192" y="0"/>
                  <a:pt x="1481191" y="22999"/>
                  <a:pt x="1481191" y="51371"/>
                </a:cubicBezTo>
                <a:lnTo>
                  <a:pt x="1481191" y="51371"/>
                </a:lnTo>
                <a:cubicBezTo>
                  <a:pt x="1481191" y="79742"/>
                  <a:pt x="1458192" y="102742"/>
                  <a:pt x="1429820" y="102742"/>
                </a:cubicBezTo>
                <a:lnTo>
                  <a:pt x="51371" y="102742"/>
                </a:lnTo>
                <a:cubicBezTo>
                  <a:pt x="22999" y="102742"/>
                  <a:pt x="0" y="79742"/>
                  <a:pt x="0" y="51371"/>
                </a:cubicBezTo>
                <a:lnTo>
                  <a:pt x="0" y="51371"/>
                </a:lnTo>
                <a:cubicBezTo>
                  <a:pt x="0" y="22999"/>
                  <a:pt x="22999" y="0"/>
                  <a:pt x="5137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3" name="Text 61"/>
          <p:cNvSpPr/>
          <p:nvPr/>
        </p:nvSpPr>
        <p:spPr>
          <a:xfrm>
            <a:off x="6411074" y="3754693"/>
            <a:ext cx="5274067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数据来源: ACL 2025 IWLSD论文"Exploring ReAct Prompting for Task-Oriented Dialogue"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Shape 62"/>
          <p:cNvSpPr/>
          <p:nvPr/>
        </p:nvSpPr>
        <p:spPr>
          <a:xfrm>
            <a:off x="6202166" y="4665323"/>
            <a:ext cx="5640512" cy="1513726"/>
          </a:xfrm>
          <a:custGeom>
            <a:avLst/>
            <a:gdLst/>
            <a:ahLst/>
            <a:cxnLst/>
            <a:rect l="l" t="t" r="r" b="b"/>
            <a:pathLst>
              <a:path w="5640512" h="1513726">
                <a:moveTo>
                  <a:pt x="102737" y="0"/>
                </a:moveTo>
                <a:lnTo>
                  <a:pt x="5537776" y="0"/>
                </a:lnTo>
                <a:cubicBezTo>
                  <a:pt x="5594516" y="0"/>
                  <a:pt x="5640512" y="45997"/>
                  <a:pt x="5640512" y="102737"/>
                </a:cubicBezTo>
                <a:lnTo>
                  <a:pt x="5640512" y="1410989"/>
                </a:lnTo>
                <a:cubicBezTo>
                  <a:pt x="5640512" y="1467729"/>
                  <a:pt x="5594516" y="1513726"/>
                  <a:pt x="5537776" y="1513726"/>
                </a:cubicBezTo>
                <a:lnTo>
                  <a:pt x="102737" y="1513726"/>
                </a:lnTo>
                <a:cubicBezTo>
                  <a:pt x="45997" y="1513726"/>
                  <a:pt x="0" y="1467729"/>
                  <a:pt x="0" y="1410989"/>
                </a:cubicBezTo>
                <a:lnTo>
                  <a:pt x="0" y="102737"/>
                </a:lnTo>
                <a:cubicBezTo>
                  <a:pt x="0" y="46035"/>
                  <a:pt x="46035" y="0"/>
                  <a:pt x="10273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85" name="Shape 63"/>
          <p:cNvSpPr/>
          <p:nvPr/>
        </p:nvSpPr>
        <p:spPr>
          <a:xfrm>
            <a:off x="6413215" y="4917042"/>
            <a:ext cx="192640" cy="154112"/>
          </a:xfrm>
          <a:custGeom>
            <a:avLst/>
            <a:gdLst/>
            <a:ahLst/>
            <a:cxnLst/>
            <a:rect l="l" t="t" r="r" b="b"/>
            <a:pathLst>
              <a:path w="192640" h="154112">
                <a:moveTo>
                  <a:pt x="115584" y="9632"/>
                </a:moveTo>
                <a:lnTo>
                  <a:pt x="154112" y="9632"/>
                </a:lnTo>
                <a:cubicBezTo>
                  <a:pt x="159440" y="9632"/>
                  <a:pt x="163744" y="13936"/>
                  <a:pt x="163744" y="19264"/>
                </a:cubicBezTo>
                <a:cubicBezTo>
                  <a:pt x="163744" y="24592"/>
                  <a:pt x="159440" y="28896"/>
                  <a:pt x="154112" y="28896"/>
                </a:cubicBezTo>
                <a:lnTo>
                  <a:pt x="119919" y="28896"/>
                </a:lnTo>
                <a:cubicBezTo>
                  <a:pt x="118353" y="36662"/>
                  <a:pt x="113026" y="43073"/>
                  <a:pt x="105952" y="46143"/>
                </a:cubicBezTo>
                <a:lnTo>
                  <a:pt x="105952" y="134848"/>
                </a:lnTo>
                <a:lnTo>
                  <a:pt x="154112" y="134848"/>
                </a:lnTo>
                <a:cubicBezTo>
                  <a:pt x="159440" y="134848"/>
                  <a:pt x="163744" y="139153"/>
                  <a:pt x="163744" y="144480"/>
                </a:cubicBezTo>
                <a:cubicBezTo>
                  <a:pt x="163744" y="149808"/>
                  <a:pt x="159440" y="154112"/>
                  <a:pt x="154112" y="154112"/>
                </a:cubicBezTo>
                <a:lnTo>
                  <a:pt x="38528" y="154112"/>
                </a:lnTo>
                <a:cubicBezTo>
                  <a:pt x="33200" y="154112"/>
                  <a:pt x="28896" y="149808"/>
                  <a:pt x="28896" y="144480"/>
                </a:cubicBezTo>
                <a:cubicBezTo>
                  <a:pt x="28896" y="139153"/>
                  <a:pt x="33200" y="134848"/>
                  <a:pt x="38528" y="134848"/>
                </a:cubicBezTo>
                <a:lnTo>
                  <a:pt x="86688" y="134848"/>
                </a:lnTo>
                <a:lnTo>
                  <a:pt x="86688" y="46143"/>
                </a:lnTo>
                <a:cubicBezTo>
                  <a:pt x="79615" y="43043"/>
                  <a:pt x="74287" y="36632"/>
                  <a:pt x="72722" y="28896"/>
                </a:cubicBezTo>
                <a:lnTo>
                  <a:pt x="38528" y="28896"/>
                </a:lnTo>
                <a:cubicBezTo>
                  <a:pt x="33200" y="28896"/>
                  <a:pt x="28896" y="24592"/>
                  <a:pt x="28896" y="19264"/>
                </a:cubicBezTo>
                <a:cubicBezTo>
                  <a:pt x="28896" y="13936"/>
                  <a:pt x="33200" y="9632"/>
                  <a:pt x="38528" y="9632"/>
                </a:cubicBezTo>
                <a:lnTo>
                  <a:pt x="77056" y="9632"/>
                </a:lnTo>
                <a:cubicBezTo>
                  <a:pt x="81451" y="3793"/>
                  <a:pt x="88434" y="0"/>
                  <a:pt x="96320" y="0"/>
                </a:cubicBezTo>
                <a:cubicBezTo>
                  <a:pt x="104206" y="0"/>
                  <a:pt x="111190" y="3793"/>
                  <a:pt x="115584" y="9632"/>
                </a:cubicBezTo>
                <a:close/>
                <a:moveTo>
                  <a:pt x="132320" y="96320"/>
                </a:moveTo>
                <a:lnTo>
                  <a:pt x="175905" y="96320"/>
                </a:lnTo>
                <a:lnTo>
                  <a:pt x="154112" y="58936"/>
                </a:lnTo>
                <a:lnTo>
                  <a:pt x="132320" y="96320"/>
                </a:lnTo>
                <a:close/>
                <a:moveTo>
                  <a:pt x="154112" y="125216"/>
                </a:moveTo>
                <a:cubicBezTo>
                  <a:pt x="135179" y="125216"/>
                  <a:pt x="119437" y="114982"/>
                  <a:pt x="116186" y="101467"/>
                </a:cubicBezTo>
                <a:cubicBezTo>
                  <a:pt x="115404" y="98156"/>
                  <a:pt x="116487" y="94755"/>
                  <a:pt x="118203" y="91805"/>
                </a:cubicBezTo>
                <a:lnTo>
                  <a:pt x="146858" y="42682"/>
                </a:lnTo>
                <a:cubicBezTo>
                  <a:pt x="148363" y="40093"/>
                  <a:pt x="151132" y="38528"/>
                  <a:pt x="154112" y="38528"/>
                </a:cubicBezTo>
                <a:cubicBezTo>
                  <a:pt x="157092" y="38528"/>
                  <a:pt x="159861" y="40123"/>
                  <a:pt x="161366" y="42682"/>
                </a:cubicBezTo>
                <a:lnTo>
                  <a:pt x="190022" y="91805"/>
                </a:lnTo>
                <a:cubicBezTo>
                  <a:pt x="191737" y="94755"/>
                  <a:pt x="192821" y="98156"/>
                  <a:pt x="192038" y="101467"/>
                </a:cubicBezTo>
                <a:cubicBezTo>
                  <a:pt x="188788" y="114952"/>
                  <a:pt x="173045" y="125216"/>
                  <a:pt x="154112" y="125216"/>
                </a:cubicBezTo>
                <a:close/>
                <a:moveTo>
                  <a:pt x="38167" y="58936"/>
                </a:moveTo>
                <a:lnTo>
                  <a:pt x="16374" y="96320"/>
                </a:lnTo>
                <a:lnTo>
                  <a:pt x="59989" y="96320"/>
                </a:lnTo>
                <a:lnTo>
                  <a:pt x="38167" y="58936"/>
                </a:lnTo>
                <a:close/>
                <a:moveTo>
                  <a:pt x="271" y="101467"/>
                </a:moveTo>
                <a:cubicBezTo>
                  <a:pt x="-512" y="98156"/>
                  <a:pt x="572" y="94755"/>
                  <a:pt x="2288" y="91805"/>
                </a:cubicBezTo>
                <a:lnTo>
                  <a:pt x="30943" y="42682"/>
                </a:lnTo>
                <a:cubicBezTo>
                  <a:pt x="32448" y="40093"/>
                  <a:pt x="35217" y="38528"/>
                  <a:pt x="38197" y="38528"/>
                </a:cubicBezTo>
                <a:cubicBezTo>
                  <a:pt x="41177" y="38528"/>
                  <a:pt x="43946" y="40123"/>
                  <a:pt x="45451" y="42682"/>
                </a:cubicBezTo>
                <a:lnTo>
                  <a:pt x="74106" y="91805"/>
                </a:lnTo>
                <a:cubicBezTo>
                  <a:pt x="75822" y="94755"/>
                  <a:pt x="76906" y="98156"/>
                  <a:pt x="76123" y="101467"/>
                </a:cubicBezTo>
                <a:cubicBezTo>
                  <a:pt x="72872" y="114952"/>
                  <a:pt x="57130" y="125216"/>
                  <a:pt x="38197" y="125216"/>
                </a:cubicBezTo>
                <a:cubicBezTo>
                  <a:pt x="19264" y="125216"/>
                  <a:pt x="3522" y="114982"/>
                  <a:pt x="271" y="10146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6" name="Text 64"/>
          <p:cNvSpPr/>
          <p:nvPr/>
        </p:nvSpPr>
        <p:spPr>
          <a:xfrm>
            <a:off x="6607995" y="4874233"/>
            <a:ext cx="5102831" cy="23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ReAct vs Chain-of-Thought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87" name="Shape 65"/>
          <p:cNvSpPr/>
          <p:nvPr/>
        </p:nvSpPr>
        <p:spPr>
          <a:xfrm>
            <a:off x="6411074" y="5285199"/>
            <a:ext cx="68494" cy="68494"/>
          </a:xfrm>
          <a:custGeom>
            <a:avLst/>
            <a:gdLst/>
            <a:ahLst/>
            <a:cxnLst/>
            <a:rect l="l" t="t" r="r" b="b"/>
            <a:pathLst>
              <a:path w="68494" h="68494">
                <a:moveTo>
                  <a:pt x="34247" y="0"/>
                </a:moveTo>
                <a:lnTo>
                  <a:pt x="34247" y="0"/>
                </a:lnTo>
                <a:cubicBezTo>
                  <a:pt x="53161" y="0"/>
                  <a:pt x="68494" y="15333"/>
                  <a:pt x="68494" y="34247"/>
                </a:cubicBezTo>
                <a:lnTo>
                  <a:pt x="68494" y="34247"/>
                </a:lnTo>
                <a:cubicBezTo>
                  <a:pt x="68494" y="53161"/>
                  <a:pt x="53161" y="68494"/>
                  <a:pt x="34247" y="68494"/>
                </a:cubicBezTo>
                <a:lnTo>
                  <a:pt x="34247" y="68494"/>
                </a:lnTo>
                <a:cubicBezTo>
                  <a:pt x="15333" y="68494"/>
                  <a:pt x="0" y="53161"/>
                  <a:pt x="0" y="3424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8" name="Text 66"/>
          <p:cNvSpPr/>
          <p:nvPr/>
        </p:nvSpPr>
        <p:spPr>
          <a:xfrm>
            <a:off x="6582410" y="5216525"/>
            <a:ext cx="3674745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CoT: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仅思考,无法获取外部信息,易产生幻觉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Shape 67"/>
          <p:cNvSpPr/>
          <p:nvPr/>
        </p:nvSpPr>
        <p:spPr>
          <a:xfrm>
            <a:off x="6411074" y="5559177"/>
            <a:ext cx="68494" cy="68494"/>
          </a:xfrm>
          <a:custGeom>
            <a:avLst/>
            <a:gdLst/>
            <a:ahLst/>
            <a:cxnLst/>
            <a:rect l="l" t="t" r="r" b="b"/>
            <a:pathLst>
              <a:path w="68494" h="68494">
                <a:moveTo>
                  <a:pt x="34247" y="0"/>
                </a:moveTo>
                <a:lnTo>
                  <a:pt x="34247" y="0"/>
                </a:lnTo>
                <a:cubicBezTo>
                  <a:pt x="53161" y="0"/>
                  <a:pt x="68494" y="15333"/>
                  <a:pt x="68494" y="34247"/>
                </a:cubicBezTo>
                <a:lnTo>
                  <a:pt x="68494" y="34247"/>
                </a:lnTo>
                <a:cubicBezTo>
                  <a:pt x="68494" y="53161"/>
                  <a:pt x="53161" y="68494"/>
                  <a:pt x="34247" y="68494"/>
                </a:cubicBezTo>
                <a:lnTo>
                  <a:pt x="34247" y="68494"/>
                </a:lnTo>
                <a:cubicBezTo>
                  <a:pt x="15333" y="68494"/>
                  <a:pt x="0" y="53161"/>
                  <a:pt x="0" y="3424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0" name="Text 68"/>
          <p:cNvSpPr/>
          <p:nvPr/>
        </p:nvSpPr>
        <p:spPr>
          <a:xfrm>
            <a:off x="6582410" y="5490845"/>
            <a:ext cx="3893185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ReAct: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思考+行动,动态获取信息,决策更可靠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Shape 69"/>
          <p:cNvSpPr/>
          <p:nvPr/>
        </p:nvSpPr>
        <p:spPr>
          <a:xfrm>
            <a:off x="6411074" y="5833154"/>
            <a:ext cx="68494" cy="68494"/>
          </a:xfrm>
          <a:custGeom>
            <a:avLst/>
            <a:gdLst/>
            <a:ahLst/>
            <a:cxnLst/>
            <a:rect l="l" t="t" r="r" b="b"/>
            <a:pathLst>
              <a:path w="68494" h="68494">
                <a:moveTo>
                  <a:pt x="34247" y="0"/>
                </a:moveTo>
                <a:lnTo>
                  <a:pt x="34247" y="0"/>
                </a:lnTo>
                <a:cubicBezTo>
                  <a:pt x="53161" y="0"/>
                  <a:pt x="68494" y="15333"/>
                  <a:pt x="68494" y="34247"/>
                </a:cubicBezTo>
                <a:lnTo>
                  <a:pt x="68494" y="34247"/>
                </a:lnTo>
                <a:cubicBezTo>
                  <a:pt x="68494" y="53161"/>
                  <a:pt x="53161" y="68494"/>
                  <a:pt x="34247" y="68494"/>
                </a:cubicBezTo>
                <a:lnTo>
                  <a:pt x="34247" y="68494"/>
                </a:lnTo>
                <a:cubicBezTo>
                  <a:pt x="15333" y="68494"/>
                  <a:pt x="0" y="53161"/>
                  <a:pt x="0" y="3424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2" name="Text 70"/>
          <p:cNvSpPr/>
          <p:nvPr/>
        </p:nvSpPr>
        <p:spPr>
          <a:xfrm>
            <a:off x="6582410" y="5764530"/>
            <a:ext cx="470789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最佳实践: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ReAct + CoT结合,兼顾推理深度与外部信息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40270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工具接口设计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: 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外部能力的标准化封装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320675" y="1003935"/>
            <a:ext cx="5673725" cy="2736850"/>
          </a:xfrm>
          <a:custGeom>
            <a:avLst/>
            <a:gdLst/>
            <a:ahLst/>
            <a:cxnLst/>
            <a:rect l="l" t="t" r="r" b="b"/>
            <a:pathLst>
              <a:path w="5673725" h="2736850">
                <a:moveTo>
                  <a:pt x="95242" y="0"/>
                </a:moveTo>
                <a:lnTo>
                  <a:pt x="5578483" y="0"/>
                </a:lnTo>
                <a:cubicBezTo>
                  <a:pt x="5631084" y="0"/>
                  <a:pt x="5673725" y="42641"/>
                  <a:pt x="5673725" y="95242"/>
                </a:cubicBezTo>
                <a:lnTo>
                  <a:pt x="5673725" y="2641608"/>
                </a:lnTo>
                <a:cubicBezTo>
                  <a:pt x="5673725" y="2694209"/>
                  <a:pt x="5631084" y="2736850"/>
                  <a:pt x="5578483" y="2736850"/>
                </a:cubicBezTo>
                <a:lnTo>
                  <a:pt x="95242" y="2736850"/>
                </a:lnTo>
                <a:cubicBezTo>
                  <a:pt x="42641" y="2736850"/>
                  <a:pt x="0" y="2694209"/>
                  <a:pt x="0" y="2641608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7" name="Shape 4"/>
          <p:cNvSpPr/>
          <p:nvPr/>
        </p:nvSpPr>
        <p:spPr>
          <a:xfrm>
            <a:off x="534194" y="122935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9546" y="-775"/>
                </a:moveTo>
                <a:cubicBezTo>
                  <a:pt x="75685" y="-4310"/>
                  <a:pt x="83251" y="-4310"/>
                  <a:pt x="89390" y="-775"/>
                </a:cubicBezTo>
                <a:lnTo>
                  <a:pt x="143929" y="30696"/>
                </a:lnTo>
                <a:cubicBezTo>
                  <a:pt x="150068" y="34230"/>
                  <a:pt x="153851" y="40804"/>
                  <a:pt x="153851" y="47873"/>
                </a:cubicBezTo>
                <a:lnTo>
                  <a:pt x="153851" y="110815"/>
                </a:lnTo>
                <a:cubicBezTo>
                  <a:pt x="153851" y="117915"/>
                  <a:pt x="150068" y="124458"/>
                  <a:pt x="143929" y="127992"/>
                </a:cubicBezTo>
                <a:lnTo>
                  <a:pt x="89390" y="159525"/>
                </a:lnTo>
                <a:cubicBezTo>
                  <a:pt x="83251" y="163060"/>
                  <a:pt x="75685" y="163060"/>
                  <a:pt x="69546" y="159525"/>
                </a:cubicBezTo>
                <a:lnTo>
                  <a:pt x="15038" y="128054"/>
                </a:lnTo>
                <a:cubicBezTo>
                  <a:pt x="8899" y="124520"/>
                  <a:pt x="5116" y="117946"/>
                  <a:pt x="5116" y="110877"/>
                </a:cubicBezTo>
                <a:lnTo>
                  <a:pt x="5116" y="47935"/>
                </a:lnTo>
                <a:cubicBezTo>
                  <a:pt x="5116" y="40835"/>
                  <a:pt x="8899" y="34292"/>
                  <a:pt x="15038" y="30758"/>
                </a:cubicBezTo>
                <a:lnTo>
                  <a:pt x="69546" y="-775"/>
                </a:lnTo>
                <a:close/>
                <a:moveTo>
                  <a:pt x="133976" y="110846"/>
                </a:moveTo>
                <a:lnTo>
                  <a:pt x="133976" y="59345"/>
                </a:lnTo>
                <a:lnTo>
                  <a:pt x="89390" y="85080"/>
                </a:lnTo>
                <a:lnTo>
                  <a:pt x="89390" y="136581"/>
                </a:lnTo>
                <a:lnTo>
                  <a:pt x="133976" y="110846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78" name="Text 5"/>
          <p:cNvSpPr/>
          <p:nvPr/>
        </p:nvSpPr>
        <p:spPr>
          <a:xfrm>
            <a:off x="712788" y="1197608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工具定义核心要素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514350" y="1546858"/>
            <a:ext cx="2595563" cy="603250"/>
          </a:xfrm>
          <a:custGeom>
            <a:avLst/>
            <a:gdLst/>
            <a:ahLst/>
            <a:cxnLst/>
            <a:rect l="l" t="t" r="r" b="b"/>
            <a:pathLst>
              <a:path w="2595563" h="603250">
                <a:moveTo>
                  <a:pt x="63498" y="0"/>
                </a:moveTo>
                <a:lnTo>
                  <a:pt x="2532064" y="0"/>
                </a:lnTo>
                <a:cubicBezTo>
                  <a:pt x="2567133" y="0"/>
                  <a:pt x="2595563" y="28429"/>
                  <a:pt x="2595563" y="63498"/>
                </a:cubicBezTo>
                <a:lnTo>
                  <a:pt x="2595563" y="539752"/>
                </a:lnTo>
                <a:cubicBezTo>
                  <a:pt x="2595563" y="574821"/>
                  <a:pt x="2567133" y="603250"/>
                  <a:pt x="253206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80" name="Shape 7"/>
          <p:cNvSpPr/>
          <p:nvPr/>
        </p:nvSpPr>
        <p:spPr>
          <a:xfrm>
            <a:off x="625475" y="167385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062" y="23812"/>
                </a:moveTo>
                <a:lnTo>
                  <a:pt x="8062" y="60896"/>
                </a:lnTo>
                <a:cubicBezTo>
                  <a:pt x="8062" y="65112"/>
                  <a:pt x="9723" y="69155"/>
                  <a:pt x="12700" y="72132"/>
                </a:cubicBezTo>
                <a:lnTo>
                  <a:pt x="60325" y="119757"/>
                </a:lnTo>
                <a:cubicBezTo>
                  <a:pt x="66526" y="125958"/>
                  <a:pt x="76572" y="125958"/>
                  <a:pt x="82773" y="119757"/>
                </a:cubicBezTo>
                <a:lnTo>
                  <a:pt x="119856" y="82674"/>
                </a:lnTo>
                <a:cubicBezTo>
                  <a:pt x="126057" y="76473"/>
                  <a:pt x="126057" y="66427"/>
                  <a:pt x="119856" y="60226"/>
                </a:cubicBezTo>
                <a:lnTo>
                  <a:pt x="72231" y="12601"/>
                </a:lnTo>
                <a:cubicBezTo>
                  <a:pt x="69255" y="9599"/>
                  <a:pt x="65236" y="7938"/>
                  <a:pt x="61020" y="7938"/>
                </a:cubicBezTo>
                <a:lnTo>
                  <a:pt x="23937" y="7938"/>
                </a:lnTo>
                <a:cubicBezTo>
                  <a:pt x="15180" y="7938"/>
                  <a:pt x="8062" y="15056"/>
                  <a:pt x="8062" y="23812"/>
                </a:cubicBezTo>
                <a:close/>
                <a:moveTo>
                  <a:pt x="35843" y="27781"/>
                </a:moveTo>
                <a:cubicBezTo>
                  <a:pt x="40224" y="27781"/>
                  <a:pt x="43780" y="31338"/>
                  <a:pt x="43780" y="35719"/>
                </a:cubicBezTo>
                <a:cubicBezTo>
                  <a:pt x="43780" y="40100"/>
                  <a:pt x="40224" y="43656"/>
                  <a:pt x="35843" y="43656"/>
                </a:cubicBezTo>
                <a:cubicBezTo>
                  <a:pt x="31462" y="43656"/>
                  <a:pt x="27905" y="40100"/>
                  <a:pt x="27905" y="35719"/>
                </a:cubicBezTo>
                <a:cubicBezTo>
                  <a:pt x="27905" y="31338"/>
                  <a:pt x="31462" y="27781"/>
                  <a:pt x="35843" y="2778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1" name="Text 8"/>
          <p:cNvSpPr/>
          <p:nvPr/>
        </p:nvSpPr>
        <p:spPr>
          <a:xfrm>
            <a:off x="831850" y="1642110"/>
            <a:ext cx="1104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工具名称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2" name="Text 9"/>
          <p:cNvSpPr/>
          <p:nvPr/>
        </p:nvSpPr>
        <p:spPr>
          <a:xfrm>
            <a:off x="609600" y="1896108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如Search, Calculate,明确功能标识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3206750" y="1546858"/>
            <a:ext cx="2595563" cy="603250"/>
          </a:xfrm>
          <a:custGeom>
            <a:avLst/>
            <a:gdLst/>
            <a:ahLst/>
            <a:cxnLst/>
            <a:rect l="l" t="t" r="r" b="b"/>
            <a:pathLst>
              <a:path w="2595563" h="603250">
                <a:moveTo>
                  <a:pt x="63498" y="0"/>
                </a:moveTo>
                <a:lnTo>
                  <a:pt x="2532064" y="0"/>
                </a:lnTo>
                <a:cubicBezTo>
                  <a:pt x="2567133" y="0"/>
                  <a:pt x="2595563" y="28429"/>
                  <a:pt x="2595563" y="63498"/>
                </a:cubicBezTo>
                <a:lnTo>
                  <a:pt x="2595563" y="539752"/>
                </a:lnTo>
                <a:cubicBezTo>
                  <a:pt x="2595563" y="574821"/>
                  <a:pt x="2567133" y="603250"/>
                  <a:pt x="253206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84" name="Shape 11"/>
          <p:cNvSpPr/>
          <p:nvPr/>
        </p:nvSpPr>
        <p:spPr>
          <a:xfrm>
            <a:off x="3333750" y="167385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5" name="Text 12"/>
          <p:cNvSpPr/>
          <p:nvPr/>
        </p:nvSpPr>
        <p:spPr>
          <a:xfrm>
            <a:off x="3524250" y="1642110"/>
            <a:ext cx="914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功能描述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3302000" y="1896108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自然语言说明用途,辅助模型理解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514350" y="2245358"/>
            <a:ext cx="2595563" cy="603250"/>
          </a:xfrm>
          <a:custGeom>
            <a:avLst/>
            <a:gdLst/>
            <a:ahLst/>
            <a:cxnLst/>
            <a:rect l="l" t="t" r="r" b="b"/>
            <a:pathLst>
              <a:path w="2595563" h="603250">
                <a:moveTo>
                  <a:pt x="63498" y="0"/>
                </a:moveTo>
                <a:lnTo>
                  <a:pt x="2532064" y="0"/>
                </a:lnTo>
                <a:cubicBezTo>
                  <a:pt x="2567133" y="0"/>
                  <a:pt x="2595563" y="28429"/>
                  <a:pt x="2595563" y="63498"/>
                </a:cubicBezTo>
                <a:lnTo>
                  <a:pt x="2595563" y="539752"/>
                </a:lnTo>
                <a:cubicBezTo>
                  <a:pt x="2595563" y="574821"/>
                  <a:pt x="2567133" y="603250"/>
                  <a:pt x="253206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88" name="Shape 15"/>
          <p:cNvSpPr/>
          <p:nvPr/>
        </p:nvSpPr>
        <p:spPr>
          <a:xfrm>
            <a:off x="625475" y="237235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5576" y="67717"/>
                </a:moveTo>
                <a:cubicBezTo>
                  <a:pt x="87908" y="65385"/>
                  <a:pt x="87908" y="61615"/>
                  <a:pt x="85576" y="59308"/>
                </a:cubicBezTo>
                <a:lnTo>
                  <a:pt x="49857" y="23564"/>
                </a:lnTo>
                <a:cubicBezTo>
                  <a:pt x="48146" y="21853"/>
                  <a:pt x="45591" y="21357"/>
                  <a:pt x="43359" y="22275"/>
                </a:cubicBezTo>
                <a:cubicBezTo>
                  <a:pt x="41126" y="23192"/>
                  <a:pt x="39688" y="25375"/>
                  <a:pt x="39688" y="27781"/>
                </a:cubicBezTo>
                <a:lnTo>
                  <a:pt x="39688" y="47625"/>
                </a:lnTo>
                <a:lnTo>
                  <a:pt x="11906" y="47625"/>
                </a:lnTo>
                <a:cubicBezTo>
                  <a:pt x="5333" y="47625"/>
                  <a:pt x="0" y="52958"/>
                  <a:pt x="0" y="59531"/>
                </a:cubicBezTo>
                <a:lnTo>
                  <a:pt x="0" y="67469"/>
                </a:lnTo>
                <a:cubicBezTo>
                  <a:pt x="0" y="74042"/>
                  <a:pt x="5333" y="79375"/>
                  <a:pt x="11906" y="79375"/>
                </a:cubicBezTo>
                <a:lnTo>
                  <a:pt x="39688" y="79375"/>
                </a:lnTo>
                <a:lnTo>
                  <a:pt x="39688" y="99219"/>
                </a:lnTo>
                <a:cubicBezTo>
                  <a:pt x="39688" y="101625"/>
                  <a:pt x="41126" y="103808"/>
                  <a:pt x="43359" y="104725"/>
                </a:cubicBezTo>
                <a:cubicBezTo>
                  <a:pt x="45591" y="105643"/>
                  <a:pt x="48146" y="105147"/>
                  <a:pt x="49857" y="103436"/>
                </a:cubicBezTo>
                <a:lnTo>
                  <a:pt x="85576" y="67717"/>
                </a:lnTo>
                <a:close/>
                <a:moveTo>
                  <a:pt x="87313" y="103188"/>
                </a:moveTo>
                <a:cubicBezTo>
                  <a:pt x="82922" y="103188"/>
                  <a:pt x="79375" y="106735"/>
                  <a:pt x="79375" y="111125"/>
                </a:cubicBezTo>
                <a:cubicBezTo>
                  <a:pt x="79375" y="115515"/>
                  <a:pt x="82922" y="119063"/>
                  <a:pt x="87313" y="119063"/>
                </a:cubicBezTo>
                <a:lnTo>
                  <a:pt x="103188" y="119063"/>
                </a:lnTo>
                <a:cubicBezTo>
                  <a:pt x="116334" y="119063"/>
                  <a:pt x="127000" y="108396"/>
                  <a:pt x="127000" y="95250"/>
                </a:cubicBezTo>
                <a:lnTo>
                  <a:pt x="127000" y="31750"/>
                </a:lnTo>
                <a:cubicBezTo>
                  <a:pt x="127000" y="18604"/>
                  <a:pt x="116334" y="7938"/>
                  <a:pt x="103188" y="7938"/>
                </a:cubicBezTo>
                <a:lnTo>
                  <a:pt x="87313" y="7938"/>
                </a:lnTo>
                <a:cubicBezTo>
                  <a:pt x="82922" y="7938"/>
                  <a:pt x="79375" y="11485"/>
                  <a:pt x="79375" y="15875"/>
                </a:cubicBezTo>
                <a:cubicBezTo>
                  <a:pt x="79375" y="20265"/>
                  <a:pt x="82922" y="23812"/>
                  <a:pt x="87313" y="23812"/>
                </a:cubicBez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lnTo>
                  <a:pt x="111125" y="95250"/>
                </a:lnTo>
                <a:cubicBezTo>
                  <a:pt x="111125" y="99640"/>
                  <a:pt x="107578" y="103188"/>
                  <a:pt x="103188" y="103188"/>
                </a:cubicBezTo>
                <a:lnTo>
                  <a:pt x="87313" y="10318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9" name="Text 16"/>
          <p:cNvSpPr/>
          <p:nvPr/>
        </p:nvSpPr>
        <p:spPr>
          <a:xfrm>
            <a:off x="831850" y="2340610"/>
            <a:ext cx="8305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输入参数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609600" y="2594608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明确参数名称、类型及必要性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3206750" y="2245358"/>
            <a:ext cx="2595563" cy="603250"/>
          </a:xfrm>
          <a:custGeom>
            <a:avLst/>
            <a:gdLst/>
            <a:ahLst/>
            <a:cxnLst/>
            <a:rect l="l" t="t" r="r" b="b"/>
            <a:pathLst>
              <a:path w="2595563" h="603250">
                <a:moveTo>
                  <a:pt x="63498" y="0"/>
                </a:moveTo>
                <a:lnTo>
                  <a:pt x="2532064" y="0"/>
                </a:lnTo>
                <a:cubicBezTo>
                  <a:pt x="2567133" y="0"/>
                  <a:pt x="2595563" y="28429"/>
                  <a:pt x="2595563" y="63498"/>
                </a:cubicBezTo>
                <a:lnTo>
                  <a:pt x="2595563" y="539752"/>
                </a:lnTo>
                <a:cubicBezTo>
                  <a:pt x="2595563" y="574821"/>
                  <a:pt x="2567133" y="603250"/>
                  <a:pt x="253206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92" name="Shape 19"/>
          <p:cNvSpPr/>
          <p:nvPr/>
        </p:nvSpPr>
        <p:spPr>
          <a:xfrm>
            <a:off x="3317875" y="237235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5264" y="67717"/>
                </a:moveTo>
                <a:cubicBezTo>
                  <a:pt x="127595" y="65385"/>
                  <a:pt x="127595" y="61615"/>
                  <a:pt x="125264" y="59308"/>
                </a:cubicBezTo>
                <a:lnTo>
                  <a:pt x="89545" y="23564"/>
                </a:lnTo>
                <a:cubicBezTo>
                  <a:pt x="87833" y="21853"/>
                  <a:pt x="85279" y="21357"/>
                  <a:pt x="83046" y="22275"/>
                </a:cubicBezTo>
                <a:cubicBezTo>
                  <a:pt x="80814" y="23192"/>
                  <a:pt x="79375" y="25375"/>
                  <a:pt x="79375" y="27781"/>
                </a:cubicBezTo>
                <a:lnTo>
                  <a:pt x="79375" y="47625"/>
                </a:lnTo>
                <a:lnTo>
                  <a:pt x="51594" y="47625"/>
                </a:lnTo>
                <a:cubicBezTo>
                  <a:pt x="45021" y="47625"/>
                  <a:pt x="39688" y="52958"/>
                  <a:pt x="39688" y="59531"/>
                </a:cubicBezTo>
                <a:lnTo>
                  <a:pt x="39688" y="67469"/>
                </a:lnTo>
                <a:cubicBezTo>
                  <a:pt x="39688" y="74042"/>
                  <a:pt x="45021" y="79375"/>
                  <a:pt x="51594" y="79375"/>
                </a:cubicBezTo>
                <a:lnTo>
                  <a:pt x="79375" y="79375"/>
                </a:lnTo>
                <a:lnTo>
                  <a:pt x="79375" y="99219"/>
                </a:lnTo>
                <a:cubicBezTo>
                  <a:pt x="79375" y="101625"/>
                  <a:pt x="80814" y="103808"/>
                  <a:pt x="83046" y="104725"/>
                </a:cubicBezTo>
                <a:cubicBezTo>
                  <a:pt x="85279" y="105643"/>
                  <a:pt x="87833" y="105147"/>
                  <a:pt x="89545" y="103436"/>
                </a:cubicBezTo>
                <a:lnTo>
                  <a:pt x="125264" y="67717"/>
                </a:lnTo>
                <a:close/>
                <a:moveTo>
                  <a:pt x="39688" y="23812"/>
                </a:moveTo>
                <a:cubicBezTo>
                  <a:pt x="44078" y="23812"/>
                  <a:pt x="47625" y="20265"/>
                  <a:pt x="47625" y="15875"/>
                </a:cubicBezTo>
                <a:cubicBezTo>
                  <a:pt x="47625" y="11485"/>
                  <a:pt x="44078" y="7938"/>
                  <a:pt x="39688" y="7938"/>
                </a:cubicBezTo>
                <a:lnTo>
                  <a:pt x="23812" y="7938"/>
                </a:lnTo>
                <a:cubicBezTo>
                  <a:pt x="10666" y="7938"/>
                  <a:pt x="0" y="18604"/>
                  <a:pt x="0" y="31750"/>
                </a:cubicBezTo>
                <a:lnTo>
                  <a:pt x="0" y="95250"/>
                </a:lnTo>
                <a:cubicBezTo>
                  <a:pt x="0" y="108396"/>
                  <a:pt x="10666" y="119063"/>
                  <a:pt x="23812" y="119063"/>
                </a:cubicBezTo>
                <a:lnTo>
                  <a:pt x="39688" y="119063"/>
                </a:lnTo>
                <a:cubicBezTo>
                  <a:pt x="44078" y="119063"/>
                  <a:pt x="47625" y="115515"/>
                  <a:pt x="47625" y="111125"/>
                </a:cubicBezTo>
                <a:cubicBezTo>
                  <a:pt x="47625" y="106735"/>
                  <a:pt x="44078" y="103188"/>
                  <a:pt x="39688" y="103188"/>
                </a:cubicBezTo>
                <a:lnTo>
                  <a:pt x="23812" y="103188"/>
                </a:lnTo>
                <a:cubicBezTo>
                  <a:pt x="19422" y="103188"/>
                  <a:pt x="15875" y="99640"/>
                  <a:pt x="15875" y="95250"/>
                </a:cubicBezTo>
                <a:lnTo>
                  <a:pt x="15875" y="31750"/>
                </a:lnTo>
                <a:cubicBezTo>
                  <a:pt x="15875" y="27360"/>
                  <a:pt x="19422" y="23812"/>
                  <a:pt x="23812" y="23812"/>
                </a:cubicBezTo>
                <a:lnTo>
                  <a:pt x="39688" y="2381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93" name="Text 20"/>
          <p:cNvSpPr/>
          <p:nvPr/>
        </p:nvSpPr>
        <p:spPr>
          <a:xfrm>
            <a:off x="3524250" y="2340610"/>
            <a:ext cx="81534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输出格式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3302000" y="2594608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定义返回结果结构,确保可解析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Shape 22"/>
          <p:cNvSpPr/>
          <p:nvPr/>
        </p:nvSpPr>
        <p:spPr>
          <a:xfrm>
            <a:off x="514350" y="2943858"/>
            <a:ext cx="5286375" cy="603250"/>
          </a:xfrm>
          <a:custGeom>
            <a:avLst/>
            <a:gdLst/>
            <a:ahLst/>
            <a:cxnLst/>
            <a:rect l="l" t="t" r="r" b="b"/>
            <a:pathLst>
              <a:path w="5286375" h="603250">
                <a:moveTo>
                  <a:pt x="63498" y="0"/>
                </a:moveTo>
                <a:lnTo>
                  <a:pt x="5222877" y="0"/>
                </a:lnTo>
                <a:cubicBezTo>
                  <a:pt x="5257946" y="0"/>
                  <a:pt x="5286375" y="28429"/>
                  <a:pt x="5286375" y="63498"/>
                </a:cubicBezTo>
                <a:lnTo>
                  <a:pt x="5286375" y="539752"/>
                </a:lnTo>
                <a:cubicBezTo>
                  <a:pt x="5286375" y="574821"/>
                  <a:pt x="5257946" y="603250"/>
                  <a:pt x="522287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96" name="Shape 23"/>
          <p:cNvSpPr/>
          <p:nvPr/>
        </p:nvSpPr>
        <p:spPr>
          <a:xfrm>
            <a:off x="625475" y="307085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33734"/>
                </a:moveTo>
                <a:cubicBezTo>
                  <a:pt x="66799" y="33734"/>
                  <a:pt x="69453" y="36388"/>
                  <a:pt x="69453" y="39688"/>
                </a:cubicBezTo>
                <a:lnTo>
                  <a:pt x="69453" y="67469"/>
                </a:lnTo>
                <a:cubicBezTo>
                  <a:pt x="69453" y="70768"/>
                  <a:pt x="66799" y="73422"/>
                  <a:pt x="63500" y="73422"/>
                </a:cubicBezTo>
                <a:cubicBezTo>
                  <a:pt x="60201" y="73422"/>
                  <a:pt x="57547" y="70768"/>
                  <a:pt x="57547" y="67469"/>
                </a:cubicBezTo>
                <a:lnTo>
                  <a:pt x="57547" y="39688"/>
                </a:lnTo>
                <a:cubicBezTo>
                  <a:pt x="57547" y="36388"/>
                  <a:pt x="60201" y="33734"/>
                  <a:pt x="63500" y="33734"/>
                </a:cubicBezTo>
                <a:close/>
                <a:moveTo>
                  <a:pt x="56877" y="87313"/>
                </a:moveTo>
                <a:cubicBezTo>
                  <a:pt x="56726" y="84854"/>
                  <a:pt x="57952" y="82515"/>
                  <a:pt x="60060" y="81241"/>
                </a:cubicBezTo>
                <a:cubicBezTo>
                  <a:pt x="62167" y="79966"/>
                  <a:pt x="64808" y="79966"/>
                  <a:pt x="66915" y="81241"/>
                </a:cubicBezTo>
                <a:cubicBezTo>
                  <a:pt x="69023" y="82515"/>
                  <a:pt x="70249" y="84854"/>
                  <a:pt x="70098" y="87313"/>
                </a:cubicBezTo>
                <a:cubicBezTo>
                  <a:pt x="70249" y="89771"/>
                  <a:pt x="69023" y="92110"/>
                  <a:pt x="66915" y="93384"/>
                </a:cubicBezTo>
                <a:cubicBezTo>
                  <a:pt x="64808" y="94659"/>
                  <a:pt x="62167" y="94659"/>
                  <a:pt x="60060" y="93384"/>
                </a:cubicBezTo>
                <a:cubicBezTo>
                  <a:pt x="57952" y="92110"/>
                  <a:pt x="56726" y="89771"/>
                  <a:pt x="56877" y="8731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7" name="Text 24"/>
          <p:cNvSpPr/>
          <p:nvPr/>
        </p:nvSpPr>
        <p:spPr>
          <a:xfrm>
            <a:off x="831850" y="3039110"/>
            <a:ext cx="8305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使用约束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8" name="Text 25"/>
          <p:cNvSpPr/>
          <p:nvPr/>
        </p:nvSpPr>
        <p:spPr>
          <a:xfrm>
            <a:off x="609600" y="3293108"/>
            <a:ext cx="515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说明适用场景与限制,避免误用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Shape 26"/>
          <p:cNvSpPr/>
          <p:nvPr/>
        </p:nvSpPr>
        <p:spPr>
          <a:xfrm>
            <a:off x="320675" y="4154802"/>
            <a:ext cx="5673725" cy="1974850"/>
          </a:xfrm>
          <a:custGeom>
            <a:avLst/>
            <a:gdLst/>
            <a:ahLst/>
            <a:cxnLst/>
            <a:rect l="l" t="t" r="r" b="b"/>
            <a:pathLst>
              <a:path w="5673725" h="1974850">
                <a:moveTo>
                  <a:pt x="95247" y="0"/>
                </a:moveTo>
                <a:lnTo>
                  <a:pt x="5578478" y="0"/>
                </a:lnTo>
                <a:cubicBezTo>
                  <a:pt x="5631081" y="0"/>
                  <a:pt x="5673725" y="42644"/>
                  <a:pt x="5673725" y="95247"/>
                </a:cubicBezTo>
                <a:lnTo>
                  <a:pt x="5673725" y="1879603"/>
                </a:lnTo>
                <a:cubicBezTo>
                  <a:pt x="5673725" y="1932206"/>
                  <a:pt x="5631081" y="1974850"/>
                  <a:pt x="5578478" y="1974850"/>
                </a:cubicBezTo>
                <a:lnTo>
                  <a:pt x="95247" y="1974850"/>
                </a:lnTo>
                <a:cubicBezTo>
                  <a:pt x="42644" y="1974850"/>
                  <a:pt x="0" y="1932206"/>
                  <a:pt x="0" y="18796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00" name="Shape 27"/>
          <p:cNvSpPr/>
          <p:nvPr/>
        </p:nvSpPr>
        <p:spPr>
          <a:xfrm>
            <a:off x="534194" y="438022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95095" y="100800"/>
                </a:moveTo>
                <a:lnTo>
                  <a:pt x="50354" y="118008"/>
                </a:lnTo>
                <a:cubicBezTo>
                  <a:pt x="44338" y="120334"/>
                  <a:pt x="38416" y="114412"/>
                  <a:pt x="40742" y="108396"/>
                </a:cubicBezTo>
                <a:lnTo>
                  <a:pt x="57950" y="63655"/>
                </a:lnTo>
                <a:cubicBezTo>
                  <a:pt x="58973" y="61020"/>
                  <a:pt x="61020" y="58973"/>
                  <a:pt x="63655" y="57950"/>
                </a:cubicBezTo>
                <a:lnTo>
                  <a:pt x="108396" y="40742"/>
                </a:lnTo>
                <a:cubicBezTo>
                  <a:pt x="114412" y="38416"/>
                  <a:pt x="120334" y="44338"/>
                  <a:pt x="118008" y="50354"/>
                </a:cubicBezTo>
                <a:lnTo>
                  <a:pt x="100800" y="95095"/>
                </a:lnTo>
                <a:cubicBezTo>
                  <a:pt x="99808" y="97730"/>
                  <a:pt x="97730" y="99777"/>
                  <a:pt x="95095" y="100800"/>
                </a:cubicBezTo>
                <a:close/>
                <a:moveTo>
                  <a:pt x="89297" y="79375"/>
                </a:moveTo>
                <a:cubicBezTo>
                  <a:pt x="89297" y="73899"/>
                  <a:pt x="84851" y="69453"/>
                  <a:pt x="79375" y="69453"/>
                </a:cubicBezTo>
                <a:cubicBezTo>
                  <a:pt x="73899" y="69453"/>
                  <a:pt x="69453" y="73899"/>
                  <a:pt x="69453" y="79375"/>
                </a:cubicBezTo>
                <a:cubicBezTo>
                  <a:pt x="69453" y="84851"/>
                  <a:pt x="73899" y="89297"/>
                  <a:pt x="79375" y="89297"/>
                </a:cubicBezTo>
                <a:cubicBezTo>
                  <a:pt x="84851" y="89297"/>
                  <a:pt x="89297" y="84851"/>
                  <a:pt x="89297" y="7937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1" name="Text 28"/>
          <p:cNvSpPr/>
          <p:nvPr/>
        </p:nvSpPr>
        <p:spPr>
          <a:xfrm>
            <a:off x="712788" y="4348479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接口适配三大原则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02" name="Shape 29"/>
          <p:cNvSpPr/>
          <p:nvPr/>
        </p:nvSpPr>
        <p:spPr>
          <a:xfrm>
            <a:off x="514350" y="469772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103" name="Text 30"/>
          <p:cNvSpPr/>
          <p:nvPr/>
        </p:nvSpPr>
        <p:spPr>
          <a:xfrm>
            <a:off x="619423" y="4745354"/>
            <a:ext cx="10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08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4" name="Text 31"/>
          <p:cNvSpPr/>
          <p:nvPr/>
        </p:nvSpPr>
        <p:spPr>
          <a:xfrm>
            <a:off x="863600" y="4697729"/>
            <a:ext cx="2381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简化参数设计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5" name="Text 32"/>
          <p:cNvSpPr/>
          <p:nvPr/>
        </p:nvSpPr>
        <p:spPr>
          <a:xfrm>
            <a:off x="863600" y="4888230"/>
            <a:ext cx="3444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使用简单参数类型(字符串、数字),避免复杂嵌套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Shape 33"/>
          <p:cNvSpPr/>
          <p:nvPr/>
        </p:nvSpPr>
        <p:spPr>
          <a:xfrm>
            <a:off x="514350" y="514222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B10015">
              <a:alpha val="30000"/>
            </a:srgbClr>
          </a:solidFill>
        </p:spPr>
      </p:sp>
      <p:sp>
        <p:nvSpPr>
          <p:cNvPr id="107" name="Text 34"/>
          <p:cNvSpPr/>
          <p:nvPr/>
        </p:nvSpPr>
        <p:spPr>
          <a:xfrm>
            <a:off x="610096" y="5189854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08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8" name="Text 35"/>
          <p:cNvSpPr/>
          <p:nvPr/>
        </p:nvSpPr>
        <p:spPr>
          <a:xfrm>
            <a:off x="863600" y="5142229"/>
            <a:ext cx="2063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统一调用规范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9" name="Text 36"/>
          <p:cNvSpPr/>
          <p:nvPr/>
        </p:nvSpPr>
        <p:spPr>
          <a:xfrm>
            <a:off x="863600" y="5332730"/>
            <a:ext cx="286893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所有工具保持一致的调用格式和返回标准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0" name="Shape 37"/>
          <p:cNvSpPr/>
          <p:nvPr/>
        </p:nvSpPr>
        <p:spPr>
          <a:xfrm>
            <a:off x="514350" y="558672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B10015">
              <a:alpha val="30196"/>
            </a:srgbClr>
          </a:solidFill>
        </p:spPr>
      </p:sp>
      <p:sp>
        <p:nvSpPr>
          <p:cNvPr id="111" name="Text 38"/>
          <p:cNvSpPr/>
          <p:nvPr/>
        </p:nvSpPr>
        <p:spPr>
          <a:xfrm>
            <a:off x="608608" y="5634354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08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2" name="Text 39"/>
          <p:cNvSpPr/>
          <p:nvPr/>
        </p:nvSpPr>
        <p:spPr>
          <a:xfrm>
            <a:off x="863600" y="5586729"/>
            <a:ext cx="220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单一功能拆解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3" name="Text 40"/>
          <p:cNvSpPr/>
          <p:nvPr/>
        </p:nvSpPr>
        <p:spPr>
          <a:xfrm>
            <a:off x="863600" y="5777230"/>
            <a:ext cx="271208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一个工具只负责一个明确任务,避免功能过载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Shape 41"/>
          <p:cNvSpPr/>
          <p:nvPr/>
        </p:nvSpPr>
        <p:spPr>
          <a:xfrm>
            <a:off x="6194425" y="1003935"/>
            <a:ext cx="5673725" cy="4157345"/>
          </a:xfrm>
          <a:custGeom>
            <a:avLst/>
            <a:gdLst/>
            <a:ahLst/>
            <a:cxnLst/>
            <a:rect l="l" t="t" r="r" b="b"/>
            <a:pathLst>
              <a:path w="5673725" h="4324350">
                <a:moveTo>
                  <a:pt x="95265" y="0"/>
                </a:moveTo>
                <a:lnTo>
                  <a:pt x="5578460" y="0"/>
                </a:lnTo>
                <a:cubicBezTo>
                  <a:pt x="5631073" y="0"/>
                  <a:pt x="5673725" y="42652"/>
                  <a:pt x="5673725" y="95265"/>
                </a:cubicBezTo>
                <a:lnTo>
                  <a:pt x="5673725" y="4229085"/>
                </a:lnTo>
                <a:cubicBezTo>
                  <a:pt x="5673725" y="4281698"/>
                  <a:pt x="5631073" y="4324350"/>
                  <a:pt x="5578460" y="4324350"/>
                </a:cubicBezTo>
                <a:lnTo>
                  <a:pt x="95265" y="4324350"/>
                </a:lnTo>
                <a:cubicBezTo>
                  <a:pt x="42652" y="4324350"/>
                  <a:pt x="0" y="4281698"/>
                  <a:pt x="0" y="4229085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15" name="Shape 42"/>
          <p:cNvSpPr/>
          <p:nvPr/>
        </p:nvSpPr>
        <p:spPr>
          <a:xfrm>
            <a:off x="6398022" y="113791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16" name="Text 43"/>
          <p:cNvSpPr/>
          <p:nvPr/>
        </p:nvSpPr>
        <p:spPr>
          <a:xfrm>
            <a:off x="6586537" y="1106168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系统提示词集成示例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17" name="Shape 44"/>
          <p:cNvSpPr/>
          <p:nvPr/>
        </p:nvSpPr>
        <p:spPr>
          <a:xfrm>
            <a:off x="6388100" y="1455418"/>
            <a:ext cx="5286375" cy="3175000"/>
          </a:xfrm>
          <a:custGeom>
            <a:avLst/>
            <a:gdLst/>
            <a:ahLst/>
            <a:cxnLst/>
            <a:rect l="l" t="t" r="r" b="b"/>
            <a:pathLst>
              <a:path w="5286375" h="3175000">
                <a:moveTo>
                  <a:pt x="63500" y="0"/>
                </a:moveTo>
                <a:lnTo>
                  <a:pt x="5222875" y="0"/>
                </a:lnTo>
                <a:cubicBezTo>
                  <a:pt x="5257922" y="0"/>
                  <a:pt x="5286375" y="28453"/>
                  <a:pt x="5286375" y="63500"/>
                </a:cubicBezTo>
                <a:lnTo>
                  <a:pt x="5286375" y="3111500"/>
                </a:lnTo>
                <a:cubicBezTo>
                  <a:pt x="5286375" y="3146547"/>
                  <a:pt x="5257922" y="3175000"/>
                  <a:pt x="5222875" y="3175000"/>
                </a:cubicBezTo>
                <a:lnTo>
                  <a:pt x="63500" y="3175000"/>
                </a:lnTo>
                <a:cubicBezTo>
                  <a:pt x="28453" y="3175000"/>
                  <a:pt x="0" y="3146547"/>
                  <a:pt x="0" y="311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118" name="Text 45"/>
          <p:cNvSpPr/>
          <p:nvPr/>
        </p:nvSpPr>
        <p:spPr>
          <a:xfrm>
            <a:off x="6515100" y="1529078"/>
            <a:ext cx="5087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System Prompt中定义可用工具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 46"/>
          <p:cNvSpPr/>
          <p:nvPr/>
        </p:nvSpPr>
        <p:spPr>
          <a:xfrm>
            <a:off x="6515100" y="1751330"/>
            <a:ext cx="5088255" cy="2774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tools = [ {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"name": "search_restaurant",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"description": "搜索附近餐厅",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"parameters": {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"location": "位置(必填)",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"cuisine": "菜系(可选)"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},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"name": "book_table",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"description": "预订餐厅座位",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"parameters": {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"restaurant_id": "餐厅ID(必填)",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"time": "预订时间(必填)",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"guests": "用餐人数(必填)"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]</a:t>
            </a:r>
            <a:endParaRPr 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Shape 47"/>
          <p:cNvSpPr/>
          <p:nvPr/>
        </p:nvSpPr>
        <p:spPr>
          <a:xfrm>
            <a:off x="6403975" y="474471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21" name="Text 48"/>
          <p:cNvSpPr/>
          <p:nvPr/>
        </p:nvSpPr>
        <p:spPr>
          <a:xfrm>
            <a:off x="6570662" y="4725668"/>
            <a:ext cx="51593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在System Prompt中清晰列出所有可用工具,让大模型在推理阶段能够</a:t>
            </a:r>
            <a:r>
              <a:rPr lang="en-US" sz="108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全面感知工具列表</a:t>
            </a: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sz="108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根据任务需求精准匹配</a:t>
            </a: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sz="108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降低选择和调用的不确定性</a:t>
            </a: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Shape 49"/>
          <p:cNvSpPr/>
          <p:nvPr/>
        </p:nvSpPr>
        <p:spPr>
          <a:xfrm>
            <a:off x="6194425" y="5234940"/>
            <a:ext cx="5673725" cy="1570990"/>
          </a:xfrm>
          <a:custGeom>
            <a:avLst/>
            <a:gdLst/>
            <a:ahLst/>
            <a:cxnLst/>
            <a:rect l="l" t="t" r="r" b="b"/>
            <a:pathLst>
              <a:path w="5673725" h="2236788">
                <a:moveTo>
                  <a:pt x="95242" y="0"/>
                </a:moveTo>
                <a:lnTo>
                  <a:pt x="5578483" y="0"/>
                </a:lnTo>
                <a:cubicBezTo>
                  <a:pt x="5631084" y="0"/>
                  <a:pt x="5673725" y="42641"/>
                  <a:pt x="5673725" y="95242"/>
                </a:cubicBezTo>
                <a:lnTo>
                  <a:pt x="5673725" y="2141545"/>
                </a:lnTo>
                <a:cubicBezTo>
                  <a:pt x="5673725" y="2194146"/>
                  <a:pt x="5631084" y="2236787"/>
                  <a:pt x="5578483" y="2236788"/>
                </a:cubicBezTo>
                <a:lnTo>
                  <a:pt x="95242" y="2236788"/>
                </a:lnTo>
                <a:cubicBezTo>
                  <a:pt x="42641" y="2236788"/>
                  <a:pt x="0" y="2194146"/>
                  <a:pt x="0" y="2141545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23" name="Shape 50"/>
          <p:cNvSpPr/>
          <p:nvPr/>
        </p:nvSpPr>
        <p:spPr>
          <a:xfrm>
            <a:off x="6407944" y="533082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24" name="Text 51"/>
          <p:cNvSpPr/>
          <p:nvPr/>
        </p:nvSpPr>
        <p:spPr>
          <a:xfrm>
            <a:off x="6586537" y="5299074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GPT-5函数调用性能基准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Text 52"/>
          <p:cNvSpPr/>
          <p:nvPr/>
        </p:nvSpPr>
        <p:spPr>
          <a:xfrm>
            <a:off x="6388100" y="5561330"/>
            <a:ext cx="1597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电信业 (Telecom)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Text 53"/>
          <p:cNvSpPr/>
          <p:nvPr/>
        </p:nvSpPr>
        <p:spPr>
          <a:xfrm>
            <a:off x="10934700" y="5529580"/>
            <a:ext cx="84074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98.7%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7" name="Text 54"/>
          <p:cNvSpPr/>
          <p:nvPr/>
        </p:nvSpPr>
        <p:spPr>
          <a:xfrm>
            <a:off x="6388100" y="5813425"/>
            <a:ext cx="12623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零售业 (Retail)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Text 55"/>
          <p:cNvSpPr/>
          <p:nvPr/>
        </p:nvSpPr>
        <p:spPr>
          <a:xfrm>
            <a:off x="10934700" y="5781675"/>
            <a:ext cx="83439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82.0%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9" name="Text 56"/>
          <p:cNvSpPr/>
          <p:nvPr/>
        </p:nvSpPr>
        <p:spPr>
          <a:xfrm>
            <a:off x="6388100" y="6102985"/>
            <a:ext cx="119316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平均准确率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0" name="Text 57"/>
          <p:cNvSpPr/>
          <p:nvPr/>
        </p:nvSpPr>
        <p:spPr>
          <a:xfrm>
            <a:off x="10798175" y="6055360"/>
            <a:ext cx="100076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80.1%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1" name="Shape 58"/>
          <p:cNvSpPr/>
          <p:nvPr/>
        </p:nvSpPr>
        <p:spPr>
          <a:xfrm>
            <a:off x="6388100" y="6309797"/>
            <a:ext cx="5286375" cy="6350"/>
          </a:xfrm>
          <a:custGeom>
            <a:avLst/>
            <a:gdLst/>
            <a:ahLst/>
            <a:cxnLst/>
            <a:rect l="l" t="t" r="r" b="b"/>
            <a:pathLst>
              <a:path w="5286375" h="6350">
                <a:moveTo>
                  <a:pt x="0" y="0"/>
                </a:moveTo>
                <a:lnTo>
                  <a:pt x="5286375" y="0"/>
                </a:lnTo>
                <a:lnTo>
                  <a:pt x="52863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32" name="Text 59"/>
          <p:cNvSpPr/>
          <p:nvPr/>
        </p:nvSpPr>
        <p:spPr>
          <a:xfrm>
            <a:off x="6388100" y="6408220"/>
            <a:ext cx="5341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对比: GPT-4o 44.1% | o3 67.7%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Text 60"/>
          <p:cNvSpPr/>
          <p:nvPr/>
        </p:nvSpPr>
        <p:spPr>
          <a:xfrm>
            <a:off x="6388100" y="6598720"/>
            <a:ext cx="533400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数据来源: Tau-bench函数调用基准测试 (2025)</a:t>
            </a:r>
            <a:endParaRPr lang="en-US" sz="9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42620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Agent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执行循环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: 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多步交互的完整闭环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010" y="1098550"/>
            <a:ext cx="6101080" cy="5002530"/>
          </a:xfrm>
          <a:custGeom>
            <a:avLst/>
            <a:gdLst/>
            <a:ahLst/>
            <a:cxnLst/>
            <a:rect l="l" t="t" r="r" b="b"/>
            <a:pathLst>
              <a:path w="6830498" h="5002525">
                <a:moveTo>
                  <a:pt x="99250" y="0"/>
                </a:moveTo>
                <a:lnTo>
                  <a:pt x="6731248" y="0"/>
                </a:lnTo>
                <a:cubicBezTo>
                  <a:pt x="6786062" y="0"/>
                  <a:pt x="6830498" y="44436"/>
                  <a:pt x="6830498" y="99250"/>
                </a:cubicBezTo>
                <a:lnTo>
                  <a:pt x="6830498" y="4903275"/>
                </a:lnTo>
                <a:cubicBezTo>
                  <a:pt x="6830498" y="4958089"/>
                  <a:pt x="6786062" y="5002525"/>
                  <a:pt x="6731248" y="5002525"/>
                </a:cubicBezTo>
                <a:lnTo>
                  <a:pt x="99250" y="5002525"/>
                </a:lnTo>
                <a:cubicBezTo>
                  <a:pt x="44436" y="5002525"/>
                  <a:pt x="0" y="4958089"/>
                  <a:pt x="0" y="4903275"/>
                </a:cubicBezTo>
                <a:lnTo>
                  <a:pt x="0" y="99250"/>
                </a:lnTo>
                <a:cubicBezTo>
                  <a:pt x="0" y="44472"/>
                  <a:pt x="44472" y="0"/>
                  <a:pt x="9925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6663" y="1333541"/>
            <a:ext cx="165427" cy="165427"/>
          </a:xfrm>
          <a:custGeom>
            <a:avLst/>
            <a:gdLst/>
            <a:ahLst/>
            <a:cxnLst/>
            <a:rect l="l" t="t" r="r" b="b"/>
            <a:pathLst>
              <a:path w="165427" h="165427">
                <a:moveTo>
                  <a:pt x="155121" y="62035"/>
                </a:moveTo>
                <a:lnTo>
                  <a:pt x="157673" y="62035"/>
                </a:lnTo>
                <a:cubicBezTo>
                  <a:pt x="161970" y="62035"/>
                  <a:pt x="165427" y="58578"/>
                  <a:pt x="165427" y="54281"/>
                </a:cubicBezTo>
                <a:lnTo>
                  <a:pt x="165427" y="7754"/>
                </a:lnTo>
                <a:cubicBezTo>
                  <a:pt x="165427" y="4620"/>
                  <a:pt x="163553" y="1777"/>
                  <a:pt x="160646" y="582"/>
                </a:cubicBezTo>
                <a:cubicBezTo>
                  <a:pt x="157738" y="-614"/>
                  <a:pt x="154410" y="65"/>
                  <a:pt x="152180" y="2262"/>
                </a:cubicBezTo>
                <a:lnTo>
                  <a:pt x="135476" y="18998"/>
                </a:lnTo>
                <a:cubicBezTo>
                  <a:pt x="121163" y="7141"/>
                  <a:pt x="102746" y="0"/>
                  <a:pt x="82714" y="0"/>
                </a:cubicBezTo>
                <a:cubicBezTo>
                  <a:pt x="41034" y="0"/>
                  <a:pt x="6559" y="30824"/>
                  <a:pt x="840" y="70921"/>
                </a:cubicBezTo>
                <a:cubicBezTo>
                  <a:pt x="32" y="76575"/>
                  <a:pt x="3942" y="81809"/>
                  <a:pt x="9596" y="82617"/>
                </a:cubicBezTo>
                <a:cubicBezTo>
                  <a:pt x="15250" y="83425"/>
                  <a:pt x="20485" y="79483"/>
                  <a:pt x="21292" y="73861"/>
                </a:cubicBezTo>
                <a:cubicBezTo>
                  <a:pt x="25590" y="43780"/>
                  <a:pt x="51470" y="20678"/>
                  <a:pt x="82714" y="20678"/>
                </a:cubicBezTo>
                <a:cubicBezTo>
                  <a:pt x="97059" y="20678"/>
                  <a:pt x="110242" y="25525"/>
                  <a:pt x="120743" y="33699"/>
                </a:cubicBezTo>
                <a:lnTo>
                  <a:pt x="105654" y="48788"/>
                </a:lnTo>
                <a:cubicBezTo>
                  <a:pt x="103424" y="51018"/>
                  <a:pt x="102778" y="54345"/>
                  <a:pt x="103974" y="57253"/>
                </a:cubicBezTo>
                <a:cubicBezTo>
                  <a:pt x="105169" y="60161"/>
                  <a:pt x="108012" y="62035"/>
                  <a:pt x="111147" y="62035"/>
                </a:cubicBezTo>
                <a:lnTo>
                  <a:pt x="155121" y="62035"/>
                </a:lnTo>
                <a:close/>
                <a:moveTo>
                  <a:pt x="164620" y="94507"/>
                </a:moveTo>
                <a:cubicBezTo>
                  <a:pt x="165427" y="88853"/>
                  <a:pt x="161486" y="83618"/>
                  <a:pt x="155864" y="82811"/>
                </a:cubicBezTo>
                <a:cubicBezTo>
                  <a:pt x="150242" y="82003"/>
                  <a:pt x="144975" y="85945"/>
                  <a:pt x="144167" y="91567"/>
                </a:cubicBezTo>
                <a:cubicBezTo>
                  <a:pt x="139870" y="121615"/>
                  <a:pt x="113990" y="144717"/>
                  <a:pt x="82746" y="144717"/>
                </a:cubicBezTo>
                <a:cubicBezTo>
                  <a:pt x="68400" y="144717"/>
                  <a:pt x="55218" y="139870"/>
                  <a:pt x="44717" y="131696"/>
                </a:cubicBezTo>
                <a:lnTo>
                  <a:pt x="59774" y="116639"/>
                </a:lnTo>
                <a:cubicBezTo>
                  <a:pt x="62003" y="114410"/>
                  <a:pt x="62649" y="111082"/>
                  <a:pt x="61454" y="108174"/>
                </a:cubicBezTo>
                <a:cubicBezTo>
                  <a:pt x="60258" y="105266"/>
                  <a:pt x="57415" y="103392"/>
                  <a:pt x="54281" y="103392"/>
                </a:cubicBezTo>
                <a:lnTo>
                  <a:pt x="7754" y="103392"/>
                </a:lnTo>
                <a:cubicBezTo>
                  <a:pt x="3457" y="103392"/>
                  <a:pt x="0" y="106849"/>
                  <a:pt x="0" y="111147"/>
                </a:cubicBezTo>
                <a:lnTo>
                  <a:pt x="0" y="157673"/>
                </a:lnTo>
                <a:cubicBezTo>
                  <a:pt x="0" y="160807"/>
                  <a:pt x="1874" y="163650"/>
                  <a:pt x="4782" y="164846"/>
                </a:cubicBezTo>
                <a:cubicBezTo>
                  <a:pt x="7690" y="166041"/>
                  <a:pt x="11018" y="165363"/>
                  <a:pt x="13247" y="163166"/>
                </a:cubicBezTo>
                <a:lnTo>
                  <a:pt x="29984" y="146429"/>
                </a:lnTo>
                <a:cubicBezTo>
                  <a:pt x="44265" y="158287"/>
                  <a:pt x="62681" y="165427"/>
                  <a:pt x="82714" y="165427"/>
                </a:cubicBezTo>
                <a:cubicBezTo>
                  <a:pt x="124394" y="165427"/>
                  <a:pt x="158868" y="134604"/>
                  <a:pt x="164587" y="9450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" name="Text 5"/>
          <p:cNvSpPr/>
          <p:nvPr/>
        </p:nvSpPr>
        <p:spPr>
          <a:xfrm>
            <a:off x="742769" y="1300456"/>
            <a:ext cx="6302784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执行循环五步法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5985" y="1730567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99256" y="0"/>
                </a:moveTo>
                <a:lnTo>
                  <a:pt x="297769" y="0"/>
                </a:lnTo>
                <a:cubicBezTo>
                  <a:pt x="352587" y="0"/>
                  <a:pt x="397026" y="44439"/>
                  <a:pt x="397026" y="99256"/>
                </a:cubicBezTo>
                <a:lnTo>
                  <a:pt x="397026" y="297769"/>
                </a:lnTo>
                <a:cubicBezTo>
                  <a:pt x="397026" y="352587"/>
                  <a:pt x="352587" y="397026"/>
                  <a:pt x="297769" y="397026"/>
                </a:cubicBezTo>
                <a:lnTo>
                  <a:pt x="99256" y="397026"/>
                </a:lnTo>
                <a:cubicBezTo>
                  <a:pt x="44439" y="397026"/>
                  <a:pt x="0" y="352587"/>
                  <a:pt x="0" y="297769"/>
                </a:cubicBezTo>
                <a:lnTo>
                  <a:pt x="0" y="99256"/>
                </a:lnTo>
                <a:cubicBezTo>
                  <a:pt x="0" y="44439"/>
                  <a:pt x="44439" y="0"/>
                  <a:pt x="9925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" name="Text 7"/>
          <p:cNvSpPr/>
          <p:nvPr/>
        </p:nvSpPr>
        <p:spPr>
          <a:xfrm>
            <a:off x="701929" y="1813281"/>
            <a:ext cx="148885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65353" y="1730567"/>
            <a:ext cx="5971929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用户输入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65353" y="1995251"/>
            <a:ext cx="5963658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用户提出自然语言指令,作为任务的起点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75177" y="2326106"/>
            <a:ext cx="148885" cy="198513"/>
          </a:xfrm>
          <a:custGeom>
            <a:avLst/>
            <a:gdLst/>
            <a:ahLst/>
            <a:cxnLst/>
            <a:rect l="l" t="t" r="r" b="b"/>
            <a:pathLst>
              <a:path w="148885" h="198513">
                <a:moveTo>
                  <a:pt x="65680" y="194868"/>
                </a:moveTo>
                <a:cubicBezTo>
                  <a:pt x="70526" y="199715"/>
                  <a:pt x="78397" y="199715"/>
                  <a:pt x="83244" y="194868"/>
                </a:cubicBezTo>
                <a:lnTo>
                  <a:pt x="145279" y="132833"/>
                </a:lnTo>
                <a:cubicBezTo>
                  <a:pt x="150125" y="127987"/>
                  <a:pt x="150125" y="120116"/>
                  <a:pt x="145279" y="115269"/>
                </a:cubicBezTo>
                <a:cubicBezTo>
                  <a:pt x="140432" y="110423"/>
                  <a:pt x="132562" y="110423"/>
                  <a:pt x="127715" y="115269"/>
                </a:cubicBezTo>
                <a:lnTo>
                  <a:pt x="86849" y="156135"/>
                </a:lnTo>
                <a:lnTo>
                  <a:pt x="86849" y="12407"/>
                </a:lnTo>
                <a:cubicBezTo>
                  <a:pt x="86849" y="5544"/>
                  <a:pt x="81305" y="0"/>
                  <a:pt x="74442" y="0"/>
                </a:cubicBezTo>
                <a:cubicBezTo>
                  <a:pt x="67580" y="0"/>
                  <a:pt x="62035" y="5544"/>
                  <a:pt x="62035" y="12407"/>
                </a:cubicBezTo>
                <a:lnTo>
                  <a:pt x="62035" y="156135"/>
                </a:lnTo>
                <a:lnTo>
                  <a:pt x="21170" y="115269"/>
                </a:lnTo>
                <a:cubicBezTo>
                  <a:pt x="16323" y="110423"/>
                  <a:pt x="8452" y="110423"/>
                  <a:pt x="3606" y="115269"/>
                </a:cubicBezTo>
                <a:cubicBezTo>
                  <a:pt x="-1241" y="120116"/>
                  <a:pt x="-1241" y="127987"/>
                  <a:pt x="3606" y="132833"/>
                </a:cubicBezTo>
                <a:lnTo>
                  <a:pt x="65641" y="19486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3" name="Shape 11"/>
          <p:cNvSpPr/>
          <p:nvPr/>
        </p:nvSpPr>
        <p:spPr>
          <a:xfrm>
            <a:off x="535985" y="2656960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99256" y="0"/>
                </a:moveTo>
                <a:lnTo>
                  <a:pt x="297769" y="0"/>
                </a:lnTo>
                <a:cubicBezTo>
                  <a:pt x="352587" y="0"/>
                  <a:pt x="397026" y="44439"/>
                  <a:pt x="397026" y="99256"/>
                </a:cubicBezTo>
                <a:lnTo>
                  <a:pt x="397026" y="297769"/>
                </a:lnTo>
                <a:cubicBezTo>
                  <a:pt x="397026" y="352587"/>
                  <a:pt x="352587" y="397026"/>
                  <a:pt x="297769" y="397026"/>
                </a:cubicBezTo>
                <a:lnTo>
                  <a:pt x="99256" y="397026"/>
                </a:lnTo>
                <a:cubicBezTo>
                  <a:pt x="44439" y="397026"/>
                  <a:pt x="0" y="352587"/>
                  <a:pt x="0" y="297769"/>
                </a:cubicBezTo>
                <a:lnTo>
                  <a:pt x="0" y="99256"/>
                </a:lnTo>
                <a:cubicBezTo>
                  <a:pt x="0" y="44439"/>
                  <a:pt x="44439" y="0"/>
                  <a:pt x="9925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" name="Text 12"/>
          <p:cNvSpPr/>
          <p:nvPr/>
        </p:nvSpPr>
        <p:spPr>
          <a:xfrm>
            <a:off x="687971" y="2739674"/>
            <a:ext cx="173699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65353" y="2656960"/>
            <a:ext cx="5971929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LLM推理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65353" y="2921644"/>
            <a:ext cx="5963658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结合指令和历史记录,生成Thought和Action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75177" y="3252499"/>
            <a:ext cx="148885" cy="198513"/>
          </a:xfrm>
          <a:custGeom>
            <a:avLst/>
            <a:gdLst/>
            <a:ahLst/>
            <a:cxnLst/>
            <a:rect l="l" t="t" r="r" b="b"/>
            <a:pathLst>
              <a:path w="148885" h="198513">
                <a:moveTo>
                  <a:pt x="65680" y="194868"/>
                </a:moveTo>
                <a:cubicBezTo>
                  <a:pt x="70526" y="199715"/>
                  <a:pt x="78397" y="199715"/>
                  <a:pt x="83244" y="194868"/>
                </a:cubicBezTo>
                <a:lnTo>
                  <a:pt x="145279" y="132833"/>
                </a:lnTo>
                <a:cubicBezTo>
                  <a:pt x="150125" y="127987"/>
                  <a:pt x="150125" y="120116"/>
                  <a:pt x="145279" y="115269"/>
                </a:cubicBezTo>
                <a:cubicBezTo>
                  <a:pt x="140432" y="110423"/>
                  <a:pt x="132562" y="110423"/>
                  <a:pt x="127715" y="115269"/>
                </a:cubicBezTo>
                <a:lnTo>
                  <a:pt x="86849" y="156135"/>
                </a:lnTo>
                <a:lnTo>
                  <a:pt x="86849" y="12407"/>
                </a:lnTo>
                <a:cubicBezTo>
                  <a:pt x="86849" y="5544"/>
                  <a:pt x="81305" y="0"/>
                  <a:pt x="74442" y="0"/>
                </a:cubicBezTo>
                <a:cubicBezTo>
                  <a:pt x="67580" y="0"/>
                  <a:pt x="62035" y="5544"/>
                  <a:pt x="62035" y="12407"/>
                </a:cubicBezTo>
                <a:lnTo>
                  <a:pt x="62035" y="156135"/>
                </a:lnTo>
                <a:lnTo>
                  <a:pt x="21170" y="115269"/>
                </a:lnTo>
                <a:cubicBezTo>
                  <a:pt x="16323" y="110423"/>
                  <a:pt x="8452" y="110423"/>
                  <a:pt x="3606" y="115269"/>
                </a:cubicBezTo>
                <a:cubicBezTo>
                  <a:pt x="-1241" y="120116"/>
                  <a:pt x="-1241" y="127987"/>
                  <a:pt x="3606" y="132833"/>
                </a:cubicBezTo>
                <a:lnTo>
                  <a:pt x="65641" y="19486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8" name="Shape 16"/>
          <p:cNvSpPr/>
          <p:nvPr/>
        </p:nvSpPr>
        <p:spPr>
          <a:xfrm>
            <a:off x="535985" y="3583354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99256" y="0"/>
                </a:moveTo>
                <a:lnTo>
                  <a:pt x="297769" y="0"/>
                </a:lnTo>
                <a:cubicBezTo>
                  <a:pt x="352587" y="0"/>
                  <a:pt x="397026" y="44439"/>
                  <a:pt x="397026" y="99256"/>
                </a:cubicBezTo>
                <a:lnTo>
                  <a:pt x="397026" y="297769"/>
                </a:lnTo>
                <a:cubicBezTo>
                  <a:pt x="397026" y="352587"/>
                  <a:pt x="352587" y="397026"/>
                  <a:pt x="297769" y="397026"/>
                </a:cubicBezTo>
                <a:lnTo>
                  <a:pt x="99256" y="397026"/>
                </a:lnTo>
                <a:cubicBezTo>
                  <a:pt x="44439" y="397026"/>
                  <a:pt x="0" y="352587"/>
                  <a:pt x="0" y="297769"/>
                </a:cubicBezTo>
                <a:lnTo>
                  <a:pt x="0" y="99256"/>
                </a:lnTo>
                <a:cubicBezTo>
                  <a:pt x="0" y="44439"/>
                  <a:pt x="44439" y="0"/>
                  <a:pt x="9925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9" name="Text 17"/>
          <p:cNvSpPr/>
          <p:nvPr/>
        </p:nvSpPr>
        <p:spPr>
          <a:xfrm>
            <a:off x="685800" y="3666068"/>
            <a:ext cx="181970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65353" y="3583354"/>
            <a:ext cx="5971929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工具调用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" name="Text 19"/>
          <p:cNvSpPr/>
          <p:nvPr/>
        </p:nvSpPr>
        <p:spPr>
          <a:xfrm>
            <a:off x="1065353" y="3848038"/>
            <a:ext cx="5963658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系统执行Action,调用外部工具并获取结果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Shape 20"/>
          <p:cNvSpPr/>
          <p:nvPr/>
        </p:nvSpPr>
        <p:spPr>
          <a:xfrm>
            <a:off x="3675177" y="4178893"/>
            <a:ext cx="148885" cy="198513"/>
          </a:xfrm>
          <a:custGeom>
            <a:avLst/>
            <a:gdLst/>
            <a:ahLst/>
            <a:cxnLst/>
            <a:rect l="l" t="t" r="r" b="b"/>
            <a:pathLst>
              <a:path w="148885" h="198513">
                <a:moveTo>
                  <a:pt x="65680" y="194868"/>
                </a:moveTo>
                <a:cubicBezTo>
                  <a:pt x="70526" y="199715"/>
                  <a:pt x="78397" y="199715"/>
                  <a:pt x="83244" y="194868"/>
                </a:cubicBezTo>
                <a:lnTo>
                  <a:pt x="145279" y="132833"/>
                </a:lnTo>
                <a:cubicBezTo>
                  <a:pt x="150125" y="127987"/>
                  <a:pt x="150125" y="120116"/>
                  <a:pt x="145279" y="115269"/>
                </a:cubicBezTo>
                <a:cubicBezTo>
                  <a:pt x="140432" y="110423"/>
                  <a:pt x="132562" y="110423"/>
                  <a:pt x="127715" y="115269"/>
                </a:cubicBezTo>
                <a:lnTo>
                  <a:pt x="86849" y="156135"/>
                </a:lnTo>
                <a:lnTo>
                  <a:pt x="86849" y="12407"/>
                </a:lnTo>
                <a:cubicBezTo>
                  <a:pt x="86849" y="5544"/>
                  <a:pt x="81305" y="0"/>
                  <a:pt x="74442" y="0"/>
                </a:cubicBezTo>
                <a:cubicBezTo>
                  <a:pt x="67580" y="0"/>
                  <a:pt x="62035" y="5544"/>
                  <a:pt x="62035" y="12407"/>
                </a:cubicBezTo>
                <a:lnTo>
                  <a:pt x="62035" y="156135"/>
                </a:lnTo>
                <a:lnTo>
                  <a:pt x="21170" y="115269"/>
                </a:lnTo>
                <a:cubicBezTo>
                  <a:pt x="16323" y="110423"/>
                  <a:pt x="8452" y="110423"/>
                  <a:pt x="3606" y="115269"/>
                </a:cubicBezTo>
                <a:cubicBezTo>
                  <a:pt x="-1241" y="120116"/>
                  <a:pt x="-1241" y="127987"/>
                  <a:pt x="3606" y="132833"/>
                </a:cubicBezTo>
                <a:lnTo>
                  <a:pt x="65641" y="19486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3" name="Shape 21"/>
          <p:cNvSpPr/>
          <p:nvPr/>
        </p:nvSpPr>
        <p:spPr>
          <a:xfrm>
            <a:off x="535985" y="4509747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99256" y="0"/>
                </a:moveTo>
                <a:lnTo>
                  <a:pt x="297769" y="0"/>
                </a:lnTo>
                <a:cubicBezTo>
                  <a:pt x="352587" y="0"/>
                  <a:pt x="397026" y="44439"/>
                  <a:pt x="397026" y="99256"/>
                </a:cubicBezTo>
                <a:lnTo>
                  <a:pt x="397026" y="297769"/>
                </a:lnTo>
                <a:cubicBezTo>
                  <a:pt x="397026" y="352587"/>
                  <a:pt x="352587" y="397026"/>
                  <a:pt x="297769" y="397026"/>
                </a:cubicBezTo>
                <a:lnTo>
                  <a:pt x="99256" y="397026"/>
                </a:lnTo>
                <a:cubicBezTo>
                  <a:pt x="44439" y="397026"/>
                  <a:pt x="0" y="352587"/>
                  <a:pt x="0" y="297769"/>
                </a:cubicBezTo>
                <a:lnTo>
                  <a:pt x="0" y="99256"/>
                </a:lnTo>
                <a:cubicBezTo>
                  <a:pt x="0" y="44439"/>
                  <a:pt x="44439" y="0"/>
                  <a:pt x="9925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4" name="Text 22"/>
          <p:cNvSpPr/>
          <p:nvPr/>
        </p:nvSpPr>
        <p:spPr>
          <a:xfrm>
            <a:off x="686007" y="4592461"/>
            <a:ext cx="181970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5" name="Text 23"/>
          <p:cNvSpPr/>
          <p:nvPr/>
        </p:nvSpPr>
        <p:spPr>
          <a:xfrm>
            <a:off x="1065353" y="4509747"/>
            <a:ext cx="5971929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反馈上下文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1065353" y="4774431"/>
            <a:ext cx="5963658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将工具返回结果作为新信息,输入给LLM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Shape 25"/>
          <p:cNvSpPr/>
          <p:nvPr/>
        </p:nvSpPr>
        <p:spPr>
          <a:xfrm>
            <a:off x="3675177" y="5105286"/>
            <a:ext cx="148885" cy="198513"/>
          </a:xfrm>
          <a:custGeom>
            <a:avLst/>
            <a:gdLst/>
            <a:ahLst/>
            <a:cxnLst/>
            <a:rect l="l" t="t" r="r" b="b"/>
            <a:pathLst>
              <a:path w="148885" h="198513">
                <a:moveTo>
                  <a:pt x="65680" y="194868"/>
                </a:moveTo>
                <a:cubicBezTo>
                  <a:pt x="70526" y="199715"/>
                  <a:pt x="78397" y="199715"/>
                  <a:pt x="83244" y="194868"/>
                </a:cubicBezTo>
                <a:lnTo>
                  <a:pt x="145279" y="132833"/>
                </a:lnTo>
                <a:cubicBezTo>
                  <a:pt x="150125" y="127987"/>
                  <a:pt x="150125" y="120116"/>
                  <a:pt x="145279" y="115269"/>
                </a:cubicBezTo>
                <a:cubicBezTo>
                  <a:pt x="140432" y="110423"/>
                  <a:pt x="132562" y="110423"/>
                  <a:pt x="127715" y="115269"/>
                </a:cubicBezTo>
                <a:lnTo>
                  <a:pt x="86849" y="156135"/>
                </a:lnTo>
                <a:lnTo>
                  <a:pt x="86849" y="12407"/>
                </a:lnTo>
                <a:cubicBezTo>
                  <a:pt x="86849" y="5544"/>
                  <a:pt x="81305" y="0"/>
                  <a:pt x="74442" y="0"/>
                </a:cubicBezTo>
                <a:cubicBezTo>
                  <a:pt x="67580" y="0"/>
                  <a:pt x="62035" y="5544"/>
                  <a:pt x="62035" y="12407"/>
                </a:cubicBezTo>
                <a:lnTo>
                  <a:pt x="62035" y="156135"/>
                </a:lnTo>
                <a:lnTo>
                  <a:pt x="21170" y="115269"/>
                </a:lnTo>
                <a:cubicBezTo>
                  <a:pt x="16323" y="110423"/>
                  <a:pt x="8452" y="110423"/>
                  <a:pt x="3606" y="115269"/>
                </a:cubicBezTo>
                <a:cubicBezTo>
                  <a:pt x="-1241" y="120116"/>
                  <a:pt x="-1241" y="127987"/>
                  <a:pt x="3606" y="132833"/>
                </a:cubicBezTo>
                <a:lnTo>
                  <a:pt x="65641" y="19486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8" name="Shape 26"/>
          <p:cNvSpPr/>
          <p:nvPr/>
        </p:nvSpPr>
        <p:spPr>
          <a:xfrm>
            <a:off x="535985" y="5436141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99256" y="0"/>
                </a:moveTo>
                <a:lnTo>
                  <a:pt x="297769" y="0"/>
                </a:lnTo>
                <a:cubicBezTo>
                  <a:pt x="352587" y="0"/>
                  <a:pt x="397026" y="44439"/>
                  <a:pt x="397026" y="99256"/>
                </a:cubicBezTo>
                <a:lnTo>
                  <a:pt x="397026" y="297769"/>
                </a:lnTo>
                <a:cubicBezTo>
                  <a:pt x="397026" y="352587"/>
                  <a:pt x="352587" y="397026"/>
                  <a:pt x="297769" y="397026"/>
                </a:cubicBezTo>
                <a:lnTo>
                  <a:pt x="99256" y="397026"/>
                </a:lnTo>
                <a:cubicBezTo>
                  <a:pt x="44439" y="397026"/>
                  <a:pt x="0" y="352587"/>
                  <a:pt x="0" y="297769"/>
                </a:cubicBezTo>
                <a:lnTo>
                  <a:pt x="0" y="99256"/>
                </a:lnTo>
                <a:cubicBezTo>
                  <a:pt x="0" y="44439"/>
                  <a:pt x="44439" y="0"/>
                  <a:pt x="99256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9" name="Text 27"/>
          <p:cNvSpPr/>
          <p:nvPr/>
        </p:nvSpPr>
        <p:spPr>
          <a:xfrm>
            <a:off x="685076" y="5518855"/>
            <a:ext cx="181970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1065353" y="5436141"/>
            <a:ext cx="5971929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循环/终止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 29"/>
          <p:cNvSpPr/>
          <p:nvPr/>
        </p:nvSpPr>
        <p:spPr>
          <a:xfrm>
            <a:off x="1065353" y="5700825"/>
            <a:ext cx="5963658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判断任务完成则输出结果,否则继续循环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Shape 30"/>
          <p:cNvSpPr/>
          <p:nvPr/>
        </p:nvSpPr>
        <p:spPr>
          <a:xfrm>
            <a:off x="7057253" y="1098632"/>
            <a:ext cx="4489700" cy="5598064"/>
          </a:xfrm>
          <a:custGeom>
            <a:avLst/>
            <a:gdLst/>
            <a:ahLst/>
            <a:cxnLst/>
            <a:rect l="l" t="t" r="r" b="b"/>
            <a:pathLst>
              <a:path w="4489700" h="5598064">
                <a:moveTo>
                  <a:pt x="99267" y="0"/>
                </a:moveTo>
                <a:lnTo>
                  <a:pt x="4390433" y="0"/>
                </a:lnTo>
                <a:cubicBezTo>
                  <a:pt x="4445256" y="0"/>
                  <a:pt x="4489700" y="44443"/>
                  <a:pt x="4489700" y="99267"/>
                </a:cubicBezTo>
                <a:lnTo>
                  <a:pt x="4489700" y="5498796"/>
                </a:lnTo>
                <a:cubicBezTo>
                  <a:pt x="4489700" y="5553620"/>
                  <a:pt x="4445256" y="5598064"/>
                  <a:pt x="4390433" y="5598064"/>
                </a:cubicBezTo>
                <a:lnTo>
                  <a:pt x="99267" y="5598064"/>
                </a:lnTo>
                <a:cubicBezTo>
                  <a:pt x="44443" y="5598064"/>
                  <a:pt x="0" y="5553620"/>
                  <a:pt x="0" y="5498796"/>
                </a:cubicBezTo>
                <a:lnTo>
                  <a:pt x="0" y="99267"/>
                </a:lnTo>
                <a:cubicBezTo>
                  <a:pt x="0" y="44480"/>
                  <a:pt x="44480" y="0"/>
                  <a:pt x="9926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3" name="Shape 31"/>
          <p:cNvSpPr/>
          <p:nvPr/>
        </p:nvSpPr>
        <p:spPr>
          <a:xfrm>
            <a:off x="7279753" y="1333541"/>
            <a:ext cx="165427" cy="165427"/>
          </a:xfrm>
          <a:custGeom>
            <a:avLst/>
            <a:gdLst/>
            <a:ahLst/>
            <a:cxnLst/>
            <a:rect l="l" t="t" r="r" b="b"/>
            <a:pathLst>
              <a:path w="165427" h="165427">
                <a:moveTo>
                  <a:pt x="20646" y="4653"/>
                </a:moveTo>
                <a:cubicBezTo>
                  <a:pt x="20388" y="2003"/>
                  <a:pt x="18158" y="0"/>
                  <a:pt x="15509" y="0"/>
                </a:cubicBezTo>
                <a:cubicBezTo>
                  <a:pt x="12859" y="0"/>
                  <a:pt x="10630" y="2003"/>
                  <a:pt x="10339" y="4620"/>
                </a:cubicBezTo>
                <a:lnTo>
                  <a:pt x="5783" y="48368"/>
                </a:lnTo>
                <a:cubicBezTo>
                  <a:pt x="5363" y="50307"/>
                  <a:pt x="5170" y="52278"/>
                  <a:pt x="5170" y="54249"/>
                </a:cubicBezTo>
                <a:cubicBezTo>
                  <a:pt x="5170" y="69079"/>
                  <a:pt x="16510" y="81260"/>
                  <a:pt x="31018" y="82584"/>
                </a:cubicBezTo>
                <a:lnTo>
                  <a:pt x="31018" y="155088"/>
                </a:lnTo>
                <a:cubicBezTo>
                  <a:pt x="31018" y="160807"/>
                  <a:pt x="35638" y="165427"/>
                  <a:pt x="41357" y="165427"/>
                </a:cubicBezTo>
                <a:cubicBezTo>
                  <a:pt x="47076" y="165427"/>
                  <a:pt x="51696" y="160807"/>
                  <a:pt x="51696" y="155088"/>
                </a:cubicBezTo>
                <a:lnTo>
                  <a:pt x="51696" y="82584"/>
                </a:lnTo>
                <a:cubicBezTo>
                  <a:pt x="66203" y="81260"/>
                  <a:pt x="77544" y="69079"/>
                  <a:pt x="77544" y="54249"/>
                </a:cubicBezTo>
                <a:cubicBezTo>
                  <a:pt x="77544" y="52278"/>
                  <a:pt x="77350" y="50307"/>
                  <a:pt x="76930" y="48368"/>
                </a:cubicBezTo>
                <a:lnTo>
                  <a:pt x="72342" y="4620"/>
                </a:lnTo>
                <a:cubicBezTo>
                  <a:pt x="72084" y="2003"/>
                  <a:pt x="69854" y="0"/>
                  <a:pt x="67205" y="0"/>
                </a:cubicBezTo>
                <a:cubicBezTo>
                  <a:pt x="64555" y="0"/>
                  <a:pt x="62326" y="2003"/>
                  <a:pt x="62068" y="4653"/>
                </a:cubicBezTo>
                <a:lnTo>
                  <a:pt x="57673" y="48433"/>
                </a:lnTo>
                <a:cubicBezTo>
                  <a:pt x="57480" y="50274"/>
                  <a:pt x="55929" y="51696"/>
                  <a:pt x="54087" y="51696"/>
                </a:cubicBezTo>
                <a:cubicBezTo>
                  <a:pt x="52213" y="51696"/>
                  <a:pt x="50662" y="50274"/>
                  <a:pt x="50468" y="48400"/>
                </a:cubicBezTo>
                <a:lnTo>
                  <a:pt x="46494" y="4717"/>
                </a:lnTo>
                <a:cubicBezTo>
                  <a:pt x="46268" y="2036"/>
                  <a:pt x="44039" y="0"/>
                  <a:pt x="41357" y="0"/>
                </a:cubicBezTo>
                <a:cubicBezTo>
                  <a:pt x="38675" y="0"/>
                  <a:pt x="36446" y="2036"/>
                  <a:pt x="36220" y="4717"/>
                </a:cubicBezTo>
                <a:lnTo>
                  <a:pt x="32245" y="48400"/>
                </a:lnTo>
                <a:cubicBezTo>
                  <a:pt x="32084" y="50274"/>
                  <a:pt x="30501" y="51696"/>
                  <a:pt x="28627" y="51696"/>
                </a:cubicBezTo>
                <a:cubicBezTo>
                  <a:pt x="26753" y="51696"/>
                  <a:pt x="25202" y="50274"/>
                  <a:pt x="25040" y="48433"/>
                </a:cubicBezTo>
                <a:lnTo>
                  <a:pt x="20646" y="4653"/>
                </a:lnTo>
                <a:close/>
                <a:moveTo>
                  <a:pt x="144749" y="0"/>
                </a:moveTo>
                <a:cubicBezTo>
                  <a:pt x="139579" y="0"/>
                  <a:pt x="103392" y="10339"/>
                  <a:pt x="103392" y="56866"/>
                </a:cubicBezTo>
                <a:lnTo>
                  <a:pt x="103392" y="93053"/>
                </a:lnTo>
                <a:cubicBezTo>
                  <a:pt x="103392" y="104458"/>
                  <a:pt x="112665" y="113731"/>
                  <a:pt x="124071" y="113731"/>
                </a:cubicBezTo>
                <a:lnTo>
                  <a:pt x="134410" y="113731"/>
                </a:lnTo>
                <a:lnTo>
                  <a:pt x="134410" y="155088"/>
                </a:lnTo>
                <a:cubicBezTo>
                  <a:pt x="134410" y="160807"/>
                  <a:pt x="139030" y="165427"/>
                  <a:pt x="144749" y="165427"/>
                </a:cubicBezTo>
                <a:cubicBezTo>
                  <a:pt x="150468" y="165427"/>
                  <a:pt x="155088" y="160807"/>
                  <a:pt x="155088" y="155088"/>
                </a:cubicBezTo>
                <a:lnTo>
                  <a:pt x="155088" y="10339"/>
                </a:lnTo>
                <a:cubicBezTo>
                  <a:pt x="155088" y="4620"/>
                  <a:pt x="150468" y="0"/>
                  <a:pt x="14474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4" name="Text 32"/>
          <p:cNvSpPr/>
          <p:nvPr/>
        </p:nvSpPr>
        <p:spPr>
          <a:xfrm>
            <a:off x="7465859" y="1300456"/>
            <a:ext cx="3961986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自动订餐执行流程示例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5" name="Shape 33"/>
          <p:cNvSpPr/>
          <p:nvPr/>
        </p:nvSpPr>
        <p:spPr>
          <a:xfrm>
            <a:off x="7259075" y="1664396"/>
            <a:ext cx="4086057" cy="694795"/>
          </a:xfrm>
          <a:custGeom>
            <a:avLst/>
            <a:gdLst/>
            <a:ahLst/>
            <a:cxnLst/>
            <a:rect l="l" t="t" r="r" b="b"/>
            <a:pathLst>
              <a:path w="4086057" h="694795">
                <a:moveTo>
                  <a:pt x="66172" y="0"/>
                </a:moveTo>
                <a:lnTo>
                  <a:pt x="4019885" y="0"/>
                </a:lnTo>
                <a:cubicBezTo>
                  <a:pt x="4056431" y="0"/>
                  <a:pt x="4086057" y="29626"/>
                  <a:pt x="4086057" y="66172"/>
                </a:cubicBezTo>
                <a:lnTo>
                  <a:pt x="4086057" y="628623"/>
                </a:lnTo>
                <a:cubicBezTo>
                  <a:pt x="4086057" y="665169"/>
                  <a:pt x="4056431" y="694795"/>
                  <a:pt x="4019885" y="694795"/>
                </a:cubicBezTo>
                <a:lnTo>
                  <a:pt x="66172" y="694795"/>
                </a:lnTo>
                <a:cubicBezTo>
                  <a:pt x="29626" y="694795"/>
                  <a:pt x="0" y="665169"/>
                  <a:pt x="0" y="628623"/>
                </a:cubicBezTo>
                <a:lnTo>
                  <a:pt x="0" y="66172"/>
                </a:lnTo>
                <a:cubicBezTo>
                  <a:pt x="0" y="29626"/>
                  <a:pt x="29626" y="0"/>
                  <a:pt x="66172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66" name="Text 34"/>
          <p:cNvSpPr/>
          <p:nvPr/>
        </p:nvSpPr>
        <p:spPr>
          <a:xfrm>
            <a:off x="7391417" y="1796738"/>
            <a:ext cx="3879273" cy="165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初始指令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Text 35"/>
          <p:cNvSpPr/>
          <p:nvPr/>
        </p:nvSpPr>
        <p:spPr>
          <a:xfrm>
            <a:off x="7391417" y="2028336"/>
            <a:ext cx="3887544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"帮我订一份最近评价好的披萨外卖"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Shape 36"/>
          <p:cNvSpPr/>
          <p:nvPr/>
        </p:nvSpPr>
        <p:spPr>
          <a:xfrm>
            <a:off x="7259075" y="2458448"/>
            <a:ext cx="4086057" cy="959479"/>
          </a:xfrm>
          <a:custGeom>
            <a:avLst/>
            <a:gdLst/>
            <a:ahLst/>
            <a:cxnLst/>
            <a:rect l="l" t="t" r="r" b="b"/>
            <a:pathLst>
              <a:path w="4086057" h="959479">
                <a:moveTo>
                  <a:pt x="66175" y="0"/>
                </a:moveTo>
                <a:lnTo>
                  <a:pt x="4019882" y="0"/>
                </a:lnTo>
                <a:cubicBezTo>
                  <a:pt x="4056429" y="0"/>
                  <a:pt x="4086057" y="29628"/>
                  <a:pt x="4086057" y="66175"/>
                </a:cubicBezTo>
                <a:lnTo>
                  <a:pt x="4086057" y="893304"/>
                </a:lnTo>
                <a:cubicBezTo>
                  <a:pt x="4086057" y="929851"/>
                  <a:pt x="4056429" y="959479"/>
                  <a:pt x="4019882" y="959479"/>
                </a:cubicBezTo>
                <a:lnTo>
                  <a:pt x="66175" y="959479"/>
                </a:lnTo>
                <a:cubicBezTo>
                  <a:pt x="29652" y="959479"/>
                  <a:pt x="0" y="929827"/>
                  <a:pt x="0" y="893304"/>
                </a:cubicBezTo>
                <a:lnTo>
                  <a:pt x="0" y="66175"/>
                </a:lnTo>
                <a:cubicBezTo>
                  <a:pt x="0" y="29628"/>
                  <a:pt x="29628" y="0"/>
                  <a:pt x="66175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69" name="Text 37"/>
          <p:cNvSpPr/>
          <p:nvPr/>
        </p:nvSpPr>
        <p:spPr>
          <a:xfrm>
            <a:off x="7358331" y="2557704"/>
            <a:ext cx="3945444" cy="165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步骤1: 启动应用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 38"/>
          <p:cNvSpPr/>
          <p:nvPr/>
        </p:nvSpPr>
        <p:spPr>
          <a:xfrm>
            <a:off x="7358331" y="2756217"/>
            <a:ext cx="3937172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Thought: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1" name="Text 39"/>
          <p:cNvSpPr/>
          <p:nvPr/>
        </p:nvSpPr>
        <p:spPr>
          <a:xfrm>
            <a:off x="7424502" y="2888454"/>
            <a:ext cx="3871001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需先打开外卖平台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2" name="Text 40"/>
          <p:cNvSpPr/>
          <p:nvPr/>
        </p:nvSpPr>
        <p:spPr>
          <a:xfrm>
            <a:off x="7358331" y="3053776"/>
            <a:ext cx="3937172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Action: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3" name="Text 41"/>
          <p:cNvSpPr/>
          <p:nvPr/>
        </p:nvSpPr>
        <p:spPr>
          <a:xfrm>
            <a:off x="7424502" y="3186017"/>
            <a:ext cx="3871001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OpenApp(外卖平台)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Shape 42"/>
          <p:cNvSpPr/>
          <p:nvPr/>
        </p:nvSpPr>
        <p:spPr>
          <a:xfrm>
            <a:off x="7259075" y="3483682"/>
            <a:ext cx="4086057" cy="959479"/>
          </a:xfrm>
          <a:custGeom>
            <a:avLst/>
            <a:gdLst/>
            <a:ahLst/>
            <a:cxnLst/>
            <a:rect l="l" t="t" r="r" b="b"/>
            <a:pathLst>
              <a:path w="4086057" h="959479">
                <a:moveTo>
                  <a:pt x="66175" y="0"/>
                </a:moveTo>
                <a:lnTo>
                  <a:pt x="4019882" y="0"/>
                </a:lnTo>
                <a:cubicBezTo>
                  <a:pt x="4056429" y="0"/>
                  <a:pt x="4086057" y="29628"/>
                  <a:pt x="4086057" y="66175"/>
                </a:cubicBezTo>
                <a:lnTo>
                  <a:pt x="4086057" y="893304"/>
                </a:lnTo>
                <a:cubicBezTo>
                  <a:pt x="4086057" y="929851"/>
                  <a:pt x="4056429" y="959479"/>
                  <a:pt x="4019882" y="959479"/>
                </a:cubicBezTo>
                <a:lnTo>
                  <a:pt x="66175" y="959479"/>
                </a:lnTo>
                <a:cubicBezTo>
                  <a:pt x="29652" y="959479"/>
                  <a:pt x="0" y="929827"/>
                  <a:pt x="0" y="893304"/>
                </a:cubicBezTo>
                <a:lnTo>
                  <a:pt x="0" y="66175"/>
                </a:lnTo>
                <a:cubicBezTo>
                  <a:pt x="0" y="29628"/>
                  <a:pt x="29628" y="0"/>
                  <a:pt x="66175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75" name="Text 43"/>
          <p:cNvSpPr/>
          <p:nvPr/>
        </p:nvSpPr>
        <p:spPr>
          <a:xfrm>
            <a:off x="7358331" y="3582938"/>
            <a:ext cx="3945444" cy="165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步骤2: 搜索筛选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 44"/>
          <p:cNvSpPr/>
          <p:nvPr/>
        </p:nvSpPr>
        <p:spPr>
          <a:xfrm>
            <a:off x="7358331" y="3781451"/>
            <a:ext cx="3937172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Thought: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7" name="Text 45"/>
          <p:cNvSpPr/>
          <p:nvPr/>
        </p:nvSpPr>
        <p:spPr>
          <a:xfrm>
            <a:off x="7424502" y="3913692"/>
            <a:ext cx="3871001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搜索披萨并按好评排序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8" name="Text 46"/>
          <p:cNvSpPr/>
          <p:nvPr/>
        </p:nvSpPr>
        <p:spPr>
          <a:xfrm>
            <a:off x="7358331" y="4079014"/>
            <a:ext cx="3937172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Action: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9" name="Text 47"/>
          <p:cNvSpPr/>
          <p:nvPr/>
        </p:nvSpPr>
        <p:spPr>
          <a:xfrm>
            <a:off x="7424502" y="4211251"/>
            <a:ext cx="3871001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Search(披萨, 好评优先)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Shape 48"/>
          <p:cNvSpPr/>
          <p:nvPr/>
        </p:nvSpPr>
        <p:spPr>
          <a:xfrm>
            <a:off x="7259075" y="4508919"/>
            <a:ext cx="4086057" cy="959479"/>
          </a:xfrm>
          <a:custGeom>
            <a:avLst/>
            <a:gdLst/>
            <a:ahLst/>
            <a:cxnLst/>
            <a:rect l="l" t="t" r="r" b="b"/>
            <a:pathLst>
              <a:path w="4086057" h="959479">
                <a:moveTo>
                  <a:pt x="66175" y="0"/>
                </a:moveTo>
                <a:lnTo>
                  <a:pt x="4019882" y="0"/>
                </a:lnTo>
                <a:cubicBezTo>
                  <a:pt x="4056429" y="0"/>
                  <a:pt x="4086057" y="29628"/>
                  <a:pt x="4086057" y="66175"/>
                </a:cubicBezTo>
                <a:lnTo>
                  <a:pt x="4086057" y="893304"/>
                </a:lnTo>
                <a:cubicBezTo>
                  <a:pt x="4086057" y="929851"/>
                  <a:pt x="4056429" y="959479"/>
                  <a:pt x="4019882" y="959479"/>
                </a:cubicBezTo>
                <a:lnTo>
                  <a:pt x="66175" y="959479"/>
                </a:lnTo>
                <a:cubicBezTo>
                  <a:pt x="29652" y="959479"/>
                  <a:pt x="0" y="929827"/>
                  <a:pt x="0" y="893304"/>
                </a:cubicBezTo>
                <a:lnTo>
                  <a:pt x="0" y="66175"/>
                </a:lnTo>
                <a:cubicBezTo>
                  <a:pt x="0" y="29628"/>
                  <a:pt x="29628" y="0"/>
                  <a:pt x="66175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81" name="Text 49"/>
          <p:cNvSpPr/>
          <p:nvPr/>
        </p:nvSpPr>
        <p:spPr>
          <a:xfrm>
            <a:off x="7358331" y="4608176"/>
            <a:ext cx="3945444" cy="165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步骤3: 选定商品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 50"/>
          <p:cNvSpPr/>
          <p:nvPr/>
        </p:nvSpPr>
        <p:spPr>
          <a:xfrm>
            <a:off x="7358331" y="4806689"/>
            <a:ext cx="3937172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Thought: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3" name="Text 51"/>
          <p:cNvSpPr/>
          <p:nvPr/>
        </p:nvSpPr>
        <p:spPr>
          <a:xfrm>
            <a:off x="7424502" y="4938926"/>
            <a:ext cx="3871001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筛选高评分近距商家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4" name="Text 52"/>
          <p:cNvSpPr/>
          <p:nvPr/>
        </p:nvSpPr>
        <p:spPr>
          <a:xfrm>
            <a:off x="7358331" y="5104252"/>
            <a:ext cx="3937172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Action: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5" name="Text 53"/>
          <p:cNvSpPr/>
          <p:nvPr/>
        </p:nvSpPr>
        <p:spPr>
          <a:xfrm>
            <a:off x="7424502" y="5236489"/>
            <a:ext cx="3871001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SelectShop &amp; ViewGoods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6" name="Shape 54"/>
          <p:cNvSpPr/>
          <p:nvPr/>
        </p:nvSpPr>
        <p:spPr>
          <a:xfrm>
            <a:off x="7259075" y="5534153"/>
            <a:ext cx="4086057" cy="959479"/>
          </a:xfrm>
          <a:custGeom>
            <a:avLst/>
            <a:gdLst/>
            <a:ahLst/>
            <a:cxnLst/>
            <a:rect l="l" t="t" r="r" b="b"/>
            <a:pathLst>
              <a:path w="4086057" h="959479">
                <a:moveTo>
                  <a:pt x="66175" y="0"/>
                </a:moveTo>
                <a:lnTo>
                  <a:pt x="4019882" y="0"/>
                </a:lnTo>
                <a:cubicBezTo>
                  <a:pt x="4056429" y="0"/>
                  <a:pt x="4086057" y="29628"/>
                  <a:pt x="4086057" y="66175"/>
                </a:cubicBezTo>
                <a:lnTo>
                  <a:pt x="4086057" y="893304"/>
                </a:lnTo>
                <a:cubicBezTo>
                  <a:pt x="4086057" y="929851"/>
                  <a:pt x="4056429" y="959479"/>
                  <a:pt x="4019882" y="959479"/>
                </a:cubicBezTo>
                <a:lnTo>
                  <a:pt x="66175" y="959479"/>
                </a:lnTo>
                <a:cubicBezTo>
                  <a:pt x="29652" y="959479"/>
                  <a:pt x="0" y="929827"/>
                  <a:pt x="0" y="893304"/>
                </a:cubicBezTo>
                <a:lnTo>
                  <a:pt x="0" y="66175"/>
                </a:lnTo>
                <a:cubicBezTo>
                  <a:pt x="0" y="29628"/>
                  <a:pt x="29628" y="0"/>
                  <a:pt x="66175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87" name="Text 55"/>
          <p:cNvSpPr/>
          <p:nvPr/>
        </p:nvSpPr>
        <p:spPr>
          <a:xfrm>
            <a:off x="7358331" y="5633410"/>
            <a:ext cx="3945444" cy="165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步骤4: 下单反馈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 56"/>
          <p:cNvSpPr/>
          <p:nvPr/>
        </p:nvSpPr>
        <p:spPr>
          <a:xfrm>
            <a:off x="7358331" y="5831923"/>
            <a:ext cx="3937172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Thought: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9" name="Text 57"/>
          <p:cNvSpPr/>
          <p:nvPr/>
        </p:nvSpPr>
        <p:spPr>
          <a:xfrm>
            <a:off x="7424502" y="5964164"/>
            <a:ext cx="3871001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提交订单并反馈结果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0" name="Text 58"/>
          <p:cNvSpPr/>
          <p:nvPr/>
        </p:nvSpPr>
        <p:spPr>
          <a:xfrm>
            <a:off x="7358331" y="6129486"/>
            <a:ext cx="3937172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Action: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1" name="Text 59"/>
          <p:cNvSpPr/>
          <p:nvPr/>
        </p:nvSpPr>
        <p:spPr>
          <a:xfrm>
            <a:off x="7424502" y="6261727"/>
            <a:ext cx="3871001" cy="13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SubmitOrder &amp; Final Answer</a:t>
            </a:r>
            <a:endParaRPr 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4509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完整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Agent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调用流程：从意图解析到执行闭环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3"/>
          <p:cNvSpPr/>
          <p:nvPr/>
        </p:nvSpPr>
        <p:spPr>
          <a:xfrm>
            <a:off x="384810" y="1108710"/>
            <a:ext cx="6303645" cy="4922520"/>
          </a:xfrm>
          <a:custGeom>
            <a:avLst/>
            <a:gdLst/>
            <a:ahLst/>
            <a:cxnLst/>
            <a:rect l="l" t="t" r="r" b="b"/>
            <a:pathLst>
              <a:path w="6303645" h="4922520">
                <a:moveTo>
                  <a:pt x="114301" y="0"/>
                </a:moveTo>
                <a:lnTo>
                  <a:pt x="6189344" y="0"/>
                </a:lnTo>
                <a:cubicBezTo>
                  <a:pt x="6252471" y="0"/>
                  <a:pt x="6303645" y="51174"/>
                  <a:pt x="6303645" y="114301"/>
                </a:cubicBezTo>
                <a:lnTo>
                  <a:pt x="6303645" y="4808219"/>
                </a:lnTo>
                <a:cubicBezTo>
                  <a:pt x="6303645" y="4871346"/>
                  <a:pt x="6252471" y="4922520"/>
                  <a:pt x="6189344" y="4922520"/>
                </a:cubicBezTo>
                <a:lnTo>
                  <a:pt x="114301" y="4922520"/>
                </a:lnTo>
                <a:cubicBezTo>
                  <a:pt x="51174" y="4922520"/>
                  <a:pt x="0" y="4871346"/>
                  <a:pt x="0" y="48082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14" name="Shape 4"/>
          <p:cNvSpPr/>
          <p:nvPr/>
        </p:nvSpPr>
        <p:spPr>
          <a:xfrm>
            <a:off x="526732" y="12744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21" name="Text 5"/>
          <p:cNvSpPr/>
          <p:nvPr/>
        </p:nvSpPr>
        <p:spPr>
          <a:xfrm>
            <a:off x="793750" y="1226820"/>
            <a:ext cx="262128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Agent执行循环架构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Image 0" descr="https://kimi-img.moonshot.cn/pub/slides/26-02-06-01:57:25-d62dk18h947cak1qp61g.png"/>
          <p:cNvPicPr>
            <a:picLocks noChangeAspect="1"/>
          </p:cNvPicPr>
          <p:nvPr/>
        </p:nvPicPr>
        <p:blipFill>
          <a:blip r:embed="rId1"/>
          <a:srcRect l="2889" t="19271" r="3223" b="16141"/>
          <a:stretch>
            <a:fillRect/>
          </a:stretch>
        </p:blipFill>
        <p:spPr>
          <a:xfrm>
            <a:off x="501650" y="2108200"/>
            <a:ext cx="6023610" cy="2993390"/>
          </a:xfrm>
          <a:prstGeom prst="roundRect">
            <a:avLst>
              <a:gd name="adj" fmla="val 0"/>
            </a:avLst>
          </a:prstGeom>
        </p:spPr>
      </p:pic>
      <p:sp>
        <p:nvSpPr>
          <p:cNvPr id="23" name="Shape 6"/>
          <p:cNvSpPr/>
          <p:nvPr/>
        </p:nvSpPr>
        <p:spPr>
          <a:xfrm>
            <a:off x="6849745" y="1108710"/>
            <a:ext cx="4960620" cy="2455545"/>
          </a:xfrm>
          <a:custGeom>
            <a:avLst/>
            <a:gdLst/>
            <a:ahLst/>
            <a:cxnLst/>
            <a:rect l="l" t="t" r="r" b="b"/>
            <a:pathLst>
              <a:path w="4960620" h="2226945">
                <a:moveTo>
                  <a:pt x="114309" y="0"/>
                </a:moveTo>
                <a:lnTo>
                  <a:pt x="4846311" y="0"/>
                </a:lnTo>
                <a:cubicBezTo>
                  <a:pt x="4909442" y="0"/>
                  <a:pt x="4960620" y="51178"/>
                  <a:pt x="4960620" y="114309"/>
                </a:cubicBezTo>
                <a:lnTo>
                  <a:pt x="4960620" y="2112636"/>
                </a:lnTo>
                <a:cubicBezTo>
                  <a:pt x="4960620" y="2175767"/>
                  <a:pt x="4909442" y="2226945"/>
                  <a:pt x="4846311" y="2226945"/>
                </a:cubicBezTo>
                <a:lnTo>
                  <a:pt x="114309" y="2226945"/>
                </a:lnTo>
                <a:cubicBezTo>
                  <a:pt x="51178" y="2226945"/>
                  <a:pt x="0" y="2175767"/>
                  <a:pt x="0" y="21126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24" name="Shape 7"/>
          <p:cNvSpPr/>
          <p:nvPr/>
        </p:nvSpPr>
        <p:spPr>
          <a:xfrm>
            <a:off x="6996351" y="12649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5" name="Text 8"/>
          <p:cNvSpPr/>
          <p:nvPr/>
        </p:nvSpPr>
        <p:spPr>
          <a:xfrm>
            <a:off x="7234555" y="1226820"/>
            <a:ext cx="181038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核心策略对比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6986826" y="1531620"/>
            <a:ext cx="4705350" cy="800100"/>
          </a:xfrm>
          <a:custGeom>
            <a:avLst/>
            <a:gdLst/>
            <a:ahLst/>
            <a:cxnLst/>
            <a:rect l="l" t="t" r="r" b="b"/>
            <a:pathLst>
              <a:path w="4705350" h="800100">
                <a:moveTo>
                  <a:pt x="38100" y="0"/>
                </a:moveTo>
                <a:lnTo>
                  <a:pt x="4629148" y="0"/>
                </a:lnTo>
                <a:cubicBezTo>
                  <a:pt x="4671233" y="0"/>
                  <a:pt x="4705350" y="34117"/>
                  <a:pt x="4705350" y="76202"/>
                </a:cubicBezTo>
                <a:lnTo>
                  <a:pt x="4705350" y="723898"/>
                </a:lnTo>
                <a:cubicBezTo>
                  <a:pt x="4705350" y="765983"/>
                  <a:pt x="4671233" y="800100"/>
                  <a:pt x="46291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27" name="Shape 10"/>
          <p:cNvSpPr/>
          <p:nvPr/>
        </p:nvSpPr>
        <p:spPr>
          <a:xfrm>
            <a:off x="6986826" y="153162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8" name="Shape 11"/>
          <p:cNvSpPr/>
          <p:nvPr/>
        </p:nvSpPr>
        <p:spPr>
          <a:xfrm>
            <a:off x="7082076" y="16078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29" name="Text 12"/>
          <p:cNvSpPr/>
          <p:nvPr/>
        </p:nvSpPr>
        <p:spPr>
          <a:xfrm>
            <a:off x="7043341" y="1607820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FC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7386955" y="1626870"/>
            <a:ext cx="211645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Function Calling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7082076" y="1874520"/>
            <a:ext cx="459105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直接映射用户意图到预定义函数，结构化输出调用参数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7082155" y="2070100"/>
            <a:ext cx="2857500" cy="190500"/>
            <a:chOff x="11153" y="3260"/>
            <a:chExt cx="3180" cy="300"/>
          </a:xfrm>
        </p:grpSpPr>
        <p:sp>
          <p:nvSpPr>
            <p:cNvPr id="32" name="Shape 15"/>
            <p:cNvSpPr/>
            <p:nvPr/>
          </p:nvSpPr>
          <p:spPr>
            <a:xfrm>
              <a:off x="11153" y="3260"/>
              <a:ext cx="960" cy="300"/>
            </a:xfrm>
            <a:custGeom>
              <a:avLst/>
              <a:gdLst/>
              <a:ahLst/>
              <a:cxnLst/>
              <a:rect l="l" t="t" r="r" b="b"/>
              <a:pathLst>
                <a:path w="609600" h="190500">
                  <a:moveTo>
                    <a:pt x="38100" y="0"/>
                  </a:moveTo>
                  <a:lnTo>
                    <a:pt x="571500" y="0"/>
                  </a:lnTo>
                  <a:cubicBezTo>
                    <a:pt x="592528" y="0"/>
                    <a:pt x="609600" y="17072"/>
                    <a:pt x="609600" y="38100"/>
                  </a:cubicBezTo>
                  <a:lnTo>
                    <a:pt x="609600" y="152400"/>
                  </a:lnTo>
                  <a:cubicBezTo>
                    <a:pt x="609600" y="173428"/>
                    <a:pt x="592528" y="190500"/>
                    <a:pt x="571500" y="190500"/>
                  </a:cubicBezTo>
                  <a:lnTo>
                    <a:pt x="38100" y="190500"/>
                  </a:lnTo>
                  <a:cubicBezTo>
                    <a:pt x="17072" y="190500"/>
                    <a:pt x="0" y="173428"/>
                    <a:pt x="0" y="1524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3C6E9E">
                <a:alpha val="30196"/>
              </a:srgbClr>
            </a:solidFill>
          </p:spPr>
        </p:sp>
        <p:sp>
          <p:nvSpPr>
            <p:cNvPr id="33" name="Text 16"/>
            <p:cNvSpPr/>
            <p:nvPr/>
          </p:nvSpPr>
          <p:spPr>
            <a:xfrm>
              <a:off x="11153" y="3260"/>
              <a:ext cx="1050" cy="300"/>
            </a:xfrm>
            <a:prstGeom prst="rect">
              <a:avLst/>
            </a:prstGeom>
            <a:noFill/>
          </p:spPr>
          <p:txBody>
            <a:bodyPr wrap="square" lIns="76200" tIns="19050" rIns="76200" bIns="19050" rtlCol="0" anchor="ctr"/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精确调用</a:t>
              </a:r>
              <a:endPara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34" name="Shape 17"/>
            <p:cNvSpPr/>
            <p:nvPr/>
          </p:nvSpPr>
          <p:spPr>
            <a:xfrm>
              <a:off x="12173" y="3260"/>
              <a:ext cx="1140" cy="300"/>
            </a:xfrm>
            <a:custGeom>
              <a:avLst/>
              <a:gdLst/>
              <a:ahLst/>
              <a:cxnLst/>
              <a:rect l="l" t="t" r="r" b="b"/>
              <a:pathLst>
                <a:path w="723900" h="190500">
                  <a:moveTo>
                    <a:pt x="38100" y="0"/>
                  </a:moveTo>
                  <a:lnTo>
                    <a:pt x="685800" y="0"/>
                  </a:lnTo>
                  <a:cubicBezTo>
                    <a:pt x="706828" y="0"/>
                    <a:pt x="723900" y="17072"/>
                    <a:pt x="723900" y="38100"/>
                  </a:cubicBezTo>
                  <a:lnTo>
                    <a:pt x="723900" y="152400"/>
                  </a:lnTo>
                  <a:cubicBezTo>
                    <a:pt x="723900" y="173428"/>
                    <a:pt x="706828" y="190500"/>
                    <a:pt x="685800" y="190500"/>
                  </a:cubicBezTo>
                  <a:lnTo>
                    <a:pt x="38100" y="190500"/>
                  </a:lnTo>
                  <a:cubicBezTo>
                    <a:pt x="17072" y="190500"/>
                    <a:pt x="0" y="173428"/>
                    <a:pt x="0" y="1524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3C6E9E">
                <a:alpha val="30196"/>
              </a:srgbClr>
            </a:solidFill>
          </p:spPr>
        </p:sp>
        <p:sp>
          <p:nvSpPr>
            <p:cNvPr id="35" name="Text 18"/>
            <p:cNvSpPr/>
            <p:nvPr/>
          </p:nvSpPr>
          <p:spPr>
            <a:xfrm>
              <a:off x="12173" y="3260"/>
              <a:ext cx="1230" cy="300"/>
            </a:xfrm>
            <a:prstGeom prst="rect">
              <a:avLst/>
            </a:prstGeom>
            <a:noFill/>
          </p:spPr>
          <p:txBody>
            <a:bodyPr wrap="square" lIns="76200" tIns="19050" rIns="76200" bIns="19050" rtlCol="0" anchor="ctr"/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高执行效率</a:t>
              </a:r>
              <a:endPara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36" name="Shape 19"/>
            <p:cNvSpPr/>
            <p:nvPr/>
          </p:nvSpPr>
          <p:spPr>
            <a:xfrm>
              <a:off x="13373" y="3260"/>
              <a:ext cx="870" cy="300"/>
            </a:xfrm>
            <a:custGeom>
              <a:avLst/>
              <a:gdLst/>
              <a:ahLst/>
              <a:cxnLst/>
              <a:rect l="l" t="t" r="r" b="b"/>
              <a:pathLst>
                <a:path w="552450" h="190500">
                  <a:moveTo>
                    <a:pt x="38100" y="0"/>
                  </a:moveTo>
                  <a:lnTo>
                    <a:pt x="514350" y="0"/>
                  </a:lnTo>
                  <a:cubicBezTo>
                    <a:pt x="535378" y="0"/>
                    <a:pt x="552450" y="17072"/>
                    <a:pt x="552450" y="38100"/>
                  </a:cubicBezTo>
                  <a:lnTo>
                    <a:pt x="552450" y="152400"/>
                  </a:lnTo>
                  <a:cubicBezTo>
                    <a:pt x="552450" y="173428"/>
                    <a:pt x="535378" y="190500"/>
                    <a:pt x="514350" y="190500"/>
                  </a:cubicBezTo>
                  <a:lnTo>
                    <a:pt x="38100" y="190500"/>
                  </a:lnTo>
                  <a:cubicBezTo>
                    <a:pt x="17072" y="190500"/>
                    <a:pt x="0" y="173428"/>
                    <a:pt x="0" y="1524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3C6E9E">
                <a:alpha val="30196"/>
              </a:srgbClr>
            </a:solidFill>
          </p:spPr>
        </p:sp>
        <p:sp>
          <p:nvSpPr>
            <p:cNvPr id="37" name="Text 20"/>
            <p:cNvSpPr/>
            <p:nvPr/>
          </p:nvSpPr>
          <p:spPr>
            <a:xfrm>
              <a:off x="13373" y="3260"/>
              <a:ext cx="960" cy="300"/>
            </a:xfrm>
            <a:prstGeom prst="rect">
              <a:avLst/>
            </a:prstGeom>
            <a:noFill/>
          </p:spPr>
          <p:txBody>
            <a:bodyPr wrap="square" lIns="76200" tIns="19050" rIns="76200" bIns="19050" rtlCol="0" anchor="ctr"/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API集成</a:t>
              </a:r>
              <a:endPara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8" name="Shape 21"/>
          <p:cNvSpPr/>
          <p:nvPr/>
        </p:nvSpPr>
        <p:spPr>
          <a:xfrm>
            <a:off x="6986826" y="2412563"/>
            <a:ext cx="4705350" cy="1008000"/>
          </a:xfrm>
          <a:custGeom>
            <a:avLst/>
            <a:gdLst/>
            <a:ahLst/>
            <a:cxnLst/>
            <a:rect l="l" t="t" r="r" b="b"/>
            <a:pathLst>
              <a:path w="4705350" h="800100">
                <a:moveTo>
                  <a:pt x="38100" y="0"/>
                </a:moveTo>
                <a:lnTo>
                  <a:pt x="4629148" y="0"/>
                </a:lnTo>
                <a:cubicBezTo>
                  <a:pt x="4671233" y="0"/>
                  <a:pt x="4705350" y="34117"/>
                  <a:pt x="4705350" y="76202"/>
                </a:cubicBezTo>
                <a:lnTo>
                  <a:pt x="4705350" y="723898"/>
                </a:lnTo>
                <a:cubicBezTo>
                  <a:pt x="4705350" y="765983"/>
                  <a:pt x="4671233" y="800100"/>
                  <a:pt x="46291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40" name="Shape 22"/>
          <p:cNvSpPr/>
          <p:nvPr/>
        </p:nvSpPr>
        <p:spPr>
          <a:xfrm>
            <a:off x="6986826" y="2412563"/>
            <a:ext cx="38100" cy="10080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1" name="Shape 23"/>
          <p:cNvSpPr/>
          <p:nvPr/>
        </p:nvSpPr>
        <p:spPr>
          <a:xfrm>
            <a:off x="7082076" y="24887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42" name="Text 24"/>
          <p:cNvSpPr/>
          <p:nvPr/>
        </p:nvSpPr>
        <p:spPr>
          <a:xfrm>
            <a:off x="7043341" y="2488763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RA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7386955" y="2507615"/>
            <a:ext cx="247142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ReAct (Reason + Act)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7082076" y="2846903"/>
            <a:ext cx="459105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交替进行思考与行动，形成"Thought→Action→Observation"迭代循环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7082155" y="3164205"/>
            <a:ext cx="3119755" cy="190500"/>
            <a:chOff x="11153" y="4647"/>
            <a:chExt cx="3090" cy="300"/>
          </a:xfrm>
        </p:grpSpPr>
        <p:sp>
          <p:nvSpPr>
            <p:cNvPr id="45" name="Shape 27"/>
            <p:cNvSpPr/>
            <p:nvPr/>
          </p:nvSpPr>
          <p:spPr>
            <a:xfrm>
              <a:off x="11153" y="4647"/>
              <a:ext cx="960" cy="300"/>
            </a:xfrm>
            <a:custGeom>
              <a:avLst/>
              <a:gdLst/>
              <a:ahLst/>
              <a:cxnLst/>
              <a:rect l="l" t="t" r="r" b="b"/>
              <a:pathLst>
                <a:path w="609600" h="190500">
                  <a:moveTo>
                    <a:pt x="38100" y="0"/>
                  </a:moveTo>
                  <a:lnTo>
                    <a:pt x="571500" y="0"/>
                  </a:lnTo>
                  <a:cubicBezTo>
                    <a:pt x="592528" y="0"/>
                    <a:pt x="609600" y="17072"/>
                    <a:pt x="609600" y="38100"/>
                  </a:cubicBezTo>
                  <a:lnTo>
                    <a:pt x="609600" y="152400"/>
                  </a:lnTo>
                  <a:cubicBezTo>
                    <a:pt x="609600" y="173428"/>
                    <a:pt x="592528" y="190500"/>
                    <a:pt x="571500" y="190500"/>
                  </a:cubicBezTo>
                  <a:lnTo>
                    <a:pt x="38100" y="190500"/>
                  </a:lnTo>
                  <a:cubicBezTo>
                    <a:pt x="17072" y="190500"/>
                    <a:pt x="0" y="173428"/>
                    <a:pt x="0" y="1524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4A26A">
                <a:alpha val="30196"/>
              </a:srgbClr>
            </a:solidFill>
          </p:spPr>
        </p:sp>
        <p:sp>
          <p:nvSpPr>
            <p:cNvPr id="46" name="Text 28"/>
            <p:cNvSpPr/>
            <p:nvPr/>
          </p:nvSpPr>
          <p:spPr>
            <a:xfrm>
              <a:off x="11153" y="4647"/>
              <a:ext cx="1050" cy="300"/>
            </a:xfrm>
            <a:prstGeom prst="rect">
              <a:avLst/>
            </a:prstGeom>
            <a:noFill/>
          </p:spPr>
          <p:txBody>
            <a:bodyPr wrap="square" lIns="76200" tIns="19050" rIns="76200" bIns="19050" rtlCol="0" anchor="ctr"/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动态推理</a:t>
              </a:r>
              <a:endPara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47" name="Shape 29"/>
            <p:cNvSpPr/>
            <p:nvPr/>
          </p:nvSpPr>
          <p:spPr>
            <a:xfrm>
              <a:off x="12173" y="4647"/>
              <a:ext cx="960" cy="300"/>
            </a:xfrm>
            <a:custGeom>
              <a:avLst/>
              <a:gdLst/>
              <a:ahLst/>
              <a:cxnLst/>
              <a:rect l="l" t="t" r="r" b="b"/>
              <a:pathLst>
                <a:path w="609600" h="190500">
                  <a:moveTo>
                    <a:pt x="38100" y="0"/>
                  </a:moveTo>
                  <a:lnTo>
                    <a:pt x="571500" y="0"/>
                  </a:lnTo>
                  <a:cubicBezTo>
                    <a:pt x="592528" y="0"/>
                    <a:pt x="609600" y="17072"/>
                    <a:pt x="609600" y="38100"/>
                  </a:cubicBezTo>
                  <a:lnTo>
                    <a:pt x="609600" y="152400"/>
                  </a:lnTo>
                  <a:cubicBezTo>
                    <a:pt x="609600" y="173428"/>
                    <a:pt x="592528" y="190500"/>
                    <a:pt x="571500" y="190500"/>
                  </a:cubicBezTo>
                  <a:lnTo>
                    <a:pt x="38100" y="190500"/>
                  </a:lnTo>
                  <a:cubicBezTo>
                    <a:pt x="17072" y="190500"/>
                    <a:pt x="0" y="173428"/>
                    <a:pt x="0" y="1524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4A26A">
                <a:alpha val="30196"/>
              </a:srgbClr>
            </a:solidFill>
          </p:spPr>
        </p:sp>
        <p:sp>
          <p:nvSpPr>
            <p:cNvPr id="48" name="Text 30"/>
            <p:cNvSpPr/>
            <p:nvPr/>
          </p:nvSpPr>
          <p:spPr>
            <a:xfrm>
              <a:off x="12173" y="4647"/>
              <a:ext cx="1050" cy="300"/>
            </a:xfrm>
            <a:prstGeom prst="rect">
              <a:avLst/>
            </a:prstGeom>
            <a:noFill/>
          </p:spPr>
          <p:txBody>
            <a:bodyPr wrap="square" lIns="76200" tIns="19050" rIns="76200" bIns="19050" rtlCol="0" anchor="ctr"/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外部信息</a:t>
              </a:r>
              <a:endPara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  <p:sp>
          <p:nvSpPr>
            <p:cNvPr id="49" name="Shape 31"/>
            <p:cNvSpPr/>
            <p:nvPr/>
          </p:nvSpPr>
          <p:spPr>
            <a:xfrm>
              <a:off x="13193" y="4647"/>
              <a:ext cx="960" cy="300"/>
            </a:xfrm>
            <a:custGeom>
              <a:avLst/>
              <a:gdLst/>
              <a:ahLst/>
              <a:cxnLst/>
              <a:rect l="l" t="t" r="r" b="b"/>
              <a:pathLst>
                <a:path w="609600" h="190500">
                  <a:moveTo>
                    <a:pt x="38100" y="0"/>
                  </a:moveTo>
                  <a:lnTo>
                    <a:pt x="571500" y="0"/>
                  </a:lnTo>
                  <a:cubicBezTo>
                    <a:pt x="592528" y="0"/>
                    <a:pt x="609600" y="17072"/>
                    <a:pt x="609600" y="38100"/>
                  </a:cubicBezTo>
                  <a:lnTo>
                    <a:pt x="609600" y="152400"/>
                  </a:lnTo>
                  <a:cubicBezTo>
                    <a:pt x="609600" y="173428"/>
                    <a:pt x="592528" y="190500"/>
                    <a:pt x="571500" y="190500"/>
                  </a:cubicBezTo>
                  <a:lnTo>
                    <a:pt x="38100" y="190500"/>
                  </a:lnTo>
                  <a:cubicBezTo>
                    <a:pt x="17072" y="190500"/>
                    <a:pt x="0" y="173428"/>
                    <a:pt x="0" y="1524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4A26A">
                <a:alpha val="30196"/>
              </a:srgbClr>
            </a:solidFill>
          </p:spPr>
        </p:sp>
        <p:sp>
          <p:nvSpPr>
            <p:cNvPr id="50" name="Text 32"/>
            <p:cNvSpPr/>
            <p:nvPr/>
          </p:nvSpPr>
          <p:spPr>
            <a:xfrm>
              <a:off x="13193" y="4647"/>
              <a:ext cx="1050" cy="300"/>
            </a:xfrm>
            <a:prstGeom prst="rect">
              <a:avLst/>
            </a:prstGeom>
            <a:noFill/>
          </p:spPr>
          <p:txBody>
            <a:bodyPr wrap="square" lIns="76200" tIns="19050" rIns="76200" bIns="19050" rtlCol="0" anchor="ctr"/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MiSans" pitchFamily="34" charset="-120"/>
                </a:rPr>
                <a:t>复杂任务</a:t>
              </a:r>
              <a:endPara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endParaRPr>
            </a:p>
          </p:txBody>
        </p:sp>
      </p:grpSp>
      <p:sp>
        <p:nvSpPr>
          <p:cNvPr id="51" name="Shape 33"/>
          <p:cNvSpPr/>
          <p:nvPr/>
        </p:nvSpPr>
        <p:spPr>
          <a:xfrm>
            <a:off x="6849666" y="3787537"/>
            <a:ext cx="4960620" cy="2217420"/>
          </a:xfrm>
          <a:custGeom>
            <a:avLst/>
            <a:gdLst/>
            <a:ahLst/>
            <a:cxnLst/>
            <a:rect l="l" t="t" r="r" b="b"/>
            <a:pathLst>
              <a:path w="4960620" h="2217420">
                <a:moveTo>
                  <a:pt x="114308" y="0"/>
                </a:moveTo>
                <a:lnTo>
                  <a:pt x="4846312" y="0"/>
                </a:lnTo>
                <a:cubicBezTo>
                  <a:pt x="4909443" y="0"/>
                  <a:pt x="4960620" y="51177"/>
                  <a:pt x="4960620" y="114308"/>
                </a:cubicBezTo>
                <a:lnTo>
                  <a:pt x="4960620" y="2103112"/>
                </a:lnTo>
                <a:cubicBezTo>
                  <a:pt x="4960620" y="2166243"/>
                  <a:pt x="4909443" y="2217420"/>
                  <a:pt x="4846312" y="2217420"/>
                </a:cubicBezTo>
                <a:lnTo>
                  <a:pt x="114308" y="2217420"/>
                </a:lnTo>
                <a:cubicBezTo>
                  <a:pt x="51177" y="2217420"/>
                  <a:pt x="0" y="2166243"/>
                  <a:pt x="0" y="21031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92" name="Shape 34"/>
          <p:cNvSpPr/>
          <p:nvPr/>
        </p:nvSpPr>
        <p:spPr>
          <a:xfrm>
            <a:off x="6986826" y="39437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93" name="Text 35"/>
          <p:cNvSpPr/>
          <p:nvPr/>
        </p:nvSpPr>
        <p:spPr>
          <a:xfrm>
            <a:off x="7234555" y="3905885"/>
            <a:ext cx="243776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关键性能指标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4" name="Shape 36"/>
          <p:cNvSpPr/>
          <p:nvPr/>
        </p:nvSpPr>
        <p:spPr>
          <a:xfrm>
            <a:off x="6967776" y="4210447"/>
            <a:ext cx="2324100" cy="800100"/>
          </a:xfrm>
          <a:custGeom>
            <a:avLst/>
            <a:gdLst/>
            <a:ahLst/>
            <a:cxnLst/>
            <a:rect l="l" t="t" r="r" b="b"/>
            <a:pathLst>
              <a:path w="2324100" h="800100">
                <a:moveTo>
                  <a:pt x="76202" y="0"/>
                </a:moveTo>
                <a:lnTo>
                  <a:pt x="2247898" y="0"/>
                </a:lnTo>
                <a:cubicBezTo>
                  <a:pt x="2289983" y="0"/>
                  <a:pt x="2324100" y="34117"/>
                  <a:pt x="2324100" y="76202"/>
                </a:cubicBezTo>
                <a:lnTo>
                  <a:pt x="2324100" y="723898"/>
                </a:lnTo>
                <a:cubicBezTo>
                  <a:pt x="2324100" y="765983"/>
                  <a:pt x="2289983" y="800100"/>
                  <a:pt x="22478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95" name="Text 37"/>
          <p:cNvSpPr/>
          <p:nvPr/>
        </p:nvSpPr>
        <p:spPr>
          <a:xfrm>
            <a:off x="6986826" y="4286647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80.1%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6" name="Text 38"/>
          <p:cNvSpPr/>
          <p:nvPr/>
        </p:nvSpPr>
        <p:spPr>
          <a:xfrm>
            <a:off x="7015401" y="4610378"/>
            <a:ext cx="2228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GPT-5工具调用准确率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 39"/>
          <p:cNvSpPr/>
          <p:nvPr/>
        </p:nvSpPr>
        <p:spPr>
          <a:xfrm>
            <a:off x="7015401" y="4781709"/>
            <a:ext cx="2228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vs GPT-4o 44.1%</a:t>
            </a:r>
            <a:endParaRPr lang="en-US" sz="120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8" name="Shape 40"/>
          <p:cNvSpPr/>
          <p:nvPr/>
        </p:nvSpPr>
        <p:spPr>
          <a:xfrm>
            <a:off x="9366528" y="4210447"/>
            <a:ext cx="2324100" cy="800100"/>
          </a:xfrm>
          <a:custGeom>
            <a:avLst/>
            <a:gdLst/>
            <a:ahLst/>
            <a:cxnLst/>
            <a:rect l="l" t="t" r="r" b="b"/>
            <a:pathLst>
              <a:path w="2324100" h="800100">
                <a:moveTo>
                  <a:pt x="76202" y="0"/>
                </a:moveTo>
                <a:lnTo>
                  <a:pt x="2247898" y="0"/>
                </a:lnTo>
                <a:cubicBezTo>
                  <a:pt x="2289983" y="0"/>
                  <a:pt x="2324100" y="34117"/>
                  <a:pt x="2324100" y="76202"/>
                </a:cubicBezTo>
                <a:lnTo>
                  <a:pt x="2324100" y="723898"/>
                </a:lnTo>
                <a:cubicBezTo>
                  <a:pt x="2324100" y="765983"/>
                  <a:pt x="2289983" y="800100"/>
                  <a:pt x="22478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99" name="Text 41"/>
          <p:cNvSpPr/>
          <p:nvPr/>
        </p:nvSpPr>
        <p:spPr>
          <a:xfrm>
            <a:off x="9385578" y="4286647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98.7%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0" name="Text 42"/>
          <p:cNvSpPr/>
          <p:nvPr/>
        </p:nvSpPr>
        <p:spPr>
          <a:xfrm>
            <a:off x="9414153" y="4610378"/>
            <a:ext cx="2228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电信业Function Calling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Text 43"/>
          <p:cNvSpPr/>
          <p:nvPr/>
        </p:nvSpPr>
        <p:spPr>
          <a:xfrm>
            <a:off x="9414153" y="4781709"/>
            <a:ext cx="2228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Tau-bench基准</a:t>
            </a:r>
            <a:endParaRPr lang="en-US" sz="120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Shape 44"/>
          <p:cNvSpPr/>
          <p:nvPr/>
        </p:nvSpPr>
        <p:spPr>
          <a:xfrm>
            <a:off x="6967776" y="5086390"/>
            <a:ext cx="2324100" cy="800100"/>
          </a:xfrm>
          <a:custGeom>
            <a:avLst/>
            <a:gdLst/>
            <a:ahLst/>
            <a:cxnLst/>
            <a:rect l="l" t="t" r="r" b="b"/>
            <a:pathLst>
              <a:path w="2324100" h="800100">
                <a:moveTo>
                  <a:pt x="76202" y="0"/>
                </a:moveTo>
                <a:lnTo>
                  <a:pt x="2247898" y="0"/>
                </a:lnTo>
                <a:cubicBezTo>
                  <a:pt x="2289983" y="0"/>
                  <a:pt x="2324100" y="34117"/>
                  <a:pt x="2324100" y="76202"/>
                </a:cubicBezTo>
                <a:lnTo>
                  <a:pt x="2324100" y="723898"/>
                </a:lnTo>
                <a:cubicBezTo>
                  <a:pt x="2324100" y="765983"/>
                  <a:pt x="2289983" y="800100"/>
                  <a:pt x="22478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03" name="Text 45"/>
          <p:cNvSpPr/>
          <p:nvPr/>
        </p:nvSpPr>
        <p:spPr>
          <a:xfrm>
            <a:off x="6986826" y="516259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3-5轮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 46"/>
          <p:cNvSpPr/>
          <p:nvPr/>
        </p:nvSpPr>
        <p:spPr>
          <a:xfrm>
            <a:off x="7015401" y="5486321"/>
            <a:ext cx="2228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典型任务迭代次数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5" name="Text 47"/>
          <p:cNvSpPr/>
          <p:nvPr/>
        </p:nvSpPr>
        <p:spPr>
          <a:xfrm>
            <a:off x="7015401" y="5657652"/>
            <a:ext cx="2228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复杂任务可达10+轮</a:t>
            </a:r>
            <a:endParaRPr lang="en-US" sz="120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Shape 48"/>
          <p:cNvSpPr/>
          <p:nvPr/>
        </p:nvSpPr>
        <p:spPr>
          <a:xfrm>
            <a:off x="9366528" y="5086390"/>
            <a:ext cx="2324100" cy="800100"/>
          </a:xfrm>
          <a:custGeom>
            <a:avLst/>
            <a:gdLst/>
            <a:ahLst/>
            <a:cxnLst/>
            <a:rect l="l" t="t" r="r" b="b"/>
            <a:pathLst>
              <a:path w="2324100" h="800100">
                <a:moveTo>
                  <a:pt x="76202" y="0"/>
                </a:moveTo>
                <a:lnTo>
                  <a:pt x="2247898" y="0"/>
                </a:lnTo>
                <a:cubicBezTo>
                  <a:pt x="2289983" y="0"/>
                  <a:pt x="2324100" y="34117"/>
                  <a:pt x="2324100" y="76202"/>
                </a:cubicBezTo>
                <a:lnTo>
                  <a:pt x="2324100" y="723898"/>
                </a:lnTo>
                <a:cubicBezTo>
                  <a:pt x="2324100" y="765983"/>
                  <a:pt x="2289983" y="800100"/>
                  <a:pt x="22478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07" name="Text 49"/>
          <p:cNvSpPr/>
          <p:nvPr/>
        </p:nvSpPr>
        <p:spPr>
          <a:xfrm>
            <a:off x="9385578" y="516259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1-3秒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 50"/>
          <p:cNvSpPr/>
          <p:nvPr/>
        </p:nvSpPr>
        <p:spPr>
          <a:xfrm>
            <a:off x="9414153" y="5486321"/>
            <a:ext cx="2228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单次推理延迟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9" name="Text 51"/>
          <p:cNvSpPr/>
          <p:nvPr/>
        </p:nvSpPr>
        <p:spPr>
          <a:xfrm>
            <a:off x="9414153" y="5657652"/>
            <a:ext cx="2228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多步任务累积显著</a:t>
            </a:r>
            <a:endParaRPr lang="en-US" sz="1200" dirty="0">
              <a:solidFill>
                <a:schemeClr val="tx1"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0" name="Shape 52"/>
          <p:cNvSpPr/>
          <p:nvPr/>
        </p:nvSpPr>
        <p:spPr>
          <a:xfrm>
            <a:off x="501015" y="628904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65388" y="85725"/>
                </a:moveTo>
                <a:cubicBezTo>
                  <a:pt x="67017" y="80747"/>
                  <a:pt x="70277" y="76237"/>
                  <a:pt x="73960" y="72353"/>
                </a:cubicBezTo>
                <a:cubicBezTo>
                  <a:pt x="81260" y="64673"/>
                  <a:pt x="85725" y="54293"/>
                  <a:pt x="85725" y="42863"/>
                </a:cubicBezTo>
                <a:cubicBezTo>
                  <a:pt x="85725" y="19199"/>
                  <a:pt x="66526" y="0"/>
                  <a:pt x="42862" y="0"/>
                </a:cubicBezTo>
                <a:cubicBezTo>
                  <a:pt x="19199" y="0"/>
                  <a:pt x="0" y="19199"/>
                  <a:pt x="0" y="42863"/>
                </a:cubicBezTo>
                <a:cubicBezTo>
                  <a:pt x="0" y="54293"/>
                  <a:pt x="4465" y="64673"/>
                  <a:pt x="11765" y="72353"/>
                </a:cubicBezTo>
                <a:cubicBezTo>
                  <a:pt x="15448" y="76237"/>
                  <a:pt x="18730" y="80747"/>
                  <a:pt x="20337" y="85725"/>
                </a:cubicBezTo>
                <a:lnTo>
                  <a:pt x="65365" y="85725"/>
                </a:lnTo>
                <a:close/>
                <a:moveTo>
                  <a:pt x="64294" y="96441"/>
                </a:moveTo>
                <a:lnTo>
                  <a:pt x="21431" y="96441"/>
                </a:lnTo>
                <a:lnTo>
                  <a:pt x="21431" y="100013"/>
                </a:lnTo>
                <a:cubicBezTo>
                  <a:pt x="21431" y="109880"/>
                  <a:pt x="29423" y="117872"/>
                  <a:pt x="39291" y="117872"/>
                </a:cubicBezTo>
                <a:lnTo>
                  <a:pt x="46434" y="117872"/>
                </a:lnTo>
                <a:cubicBezTo>
                  <a:pt x="56302" y="117872"/>
                  <a:pt x="64294" y="109880"/>
                  <a:pt x="64294" y="100013"/>
                </a:cubicBezTo>
                <a:lnTo>
                  <a:pt x="64294" y="96441"/>
                </a:lnTo>
                <a:close/>
                <a:moveTo>
                  <a:pt x="41077" y="25003"/>
                </a:moveTo>
                <a:cubicBezTo>
                  <a:pt x="32192" y="25003"/>
                  <a:pt x="25003" y="32192"/>
                  <a:pt x="25003" y="41077"/>
                </a:cubicBezTo>
                <a:cubicBezTo>
                  <a:pt x="25003" y="44046"/>
                  <a:pt x="22614" y="46434"/>
                  <a:pt x="19645" y="46434"/>
                </a:cubicBezTo>
                <a:cubicBezTo>
                  <a:pt x="16676" y="46434"/>
                  <a:pt x="14288" y="44046"/>
                  <a:pt x="14288" y="41077"/>
                </a:cubicBezTo>
                <a:cubicBezTo>
                  <a:pt x="14288" y="26276"/>
                  <a:pt x="26276" y="14288"/>
                  <a:pt x="41077" y="14288"/>
                </a:cubicBezTo>
                <a:cubicBezTo>
                  <a:pt x="44046" y="14288"/>
                  <a:pt x="46434" y="16676"/>
                  <a:pt x="46434" y="19645"/>
                </a:cubicBezTo>
                <a:cubicBezTo>
                  <a:pt x="46434" y="22614"/>
                  <a:pt x="44046" y="25003"/>
                  <a:pt x="41077" y="25003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1" name="Text 53"/>
          <p:cNvSpPr/>
          <p:nvPr/>
        </p:nvSpPr>
        <p:spPr>
          <a:xfrm>
            <a:off x="643890" y="6273800"/>
            <a:ext cx="348107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核心洞察：ReAct适合复杂多步任务，Function Calling适合明确单步操作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Shape 54"/>
          <p:cNvSpPr/>
          <p:nvPr/>
        </p:nvSpPr>
        <p:spPr>
          <a:xfrm>
            <a:off x="6340594" y="62890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00013" y="45943"/>
                </a:moveTo>
                <a:cubicBezTo>
                  <a:pt x="96709" y="48131"/>
                  <a:pt x="92913" y="49895"/>
                  <a:pt x="88962" y="51301"/>
                </a:cubicBezTo>
                <a:cubicBezTo>
                  <a:pt x="78470" y="55052"/>
                  <a:pt x="64696" y="57150"/>
                  <a:pt x="50006" y="57150"/>
                </a:cubicBezTo>
                <a:cubicBezTo>
                  <a:pt x="35317" y="57150"/>
                  <a:pt x="21521" y="55029"/>
                  <a:pt x="11050" y="51301"/>
                </a:cubicBezTo>
                <a:cubicBezTo>
                  <a:pt x="7121" y="49895"/>
                  <a:pt x="3304" y="48131"/>
                  <a:pt x="0" y="45943"/>
                </a:cubicBezTo>
                <a:lnTo>
                  <a:pt x="0" y="64294"/>
                </a:lnTo>
                <a:cubicBezTo>
                  <a:pt x="0" y="74161"/>
                  <a:pt x="22391" y="82153"/>
                  <a:pt x="50006" y="82153"/>
                </a:cubicBezTo>
                <a:cubicBezTo>
                  <a:pt x="77621" y="82153"/>
                  <a:pt x="100013" y="74161"/>
                  <a:pt x="100013" y="64294"/>
                </a:cubicBezTo>
                <a:lnTo>
                  <a:pt x="100013" y="45943"/>
                </a:lnTo>
                <a:close/>
                <a:moveTo>
                  <a:pt x="100013" y="28575"/>
                </a:moveTo>
                <a:lnTo>
                  <a:pt x="100013" y="17859"/>
                </a:lnTo>
                <a:cubicBezTo>
                  <a:pt x="100013" y="7992"/>
                  <a:pt x="77621" y="0"/>
                  <a:pt x="50006" y="0"/>
                </a:cubicBezTo>
                <a:cubicBezTo>
                  <a:pt x="22391" y="0"/>
                  <a:pt x="0" y="7992"/>
                  <a:pt x="0" y="17859"/>
                </a:cubicBezTo>
                <a:lnTo>
                  <a:pt x="0" y="28575"/>
                </a:lnTo>
                <a:cubicBezTo>
                  <a:pt x="0" y="38442"/>
                  <a:pt x="22391" y="46434"/>
                  <a:pt x="50006" y="46434"/>
                </a:cubicBezTo>
                <a:cubicBezTo>
                  <a:pt x="77621" y="46434"/>
                  <a:pt x="100013" y="38442"/>
                  <a:pt x="100013" y="28575"/>
                </a:cubicBezTo>
                <a:close/>
                <a:moveTo>
                  <a:pt x="88962" y="87020"/>
                </a:moveTo>
                <a:cubicBezTo>
                  <a:pt x="78492" y="90748"/>
                  <a:pt x="64718" y="92869"/>
                  <a:pt x="50006" y="92869"/>
                </a:cubicBezTo>
                <a:cubicBezTo>
                  <a:pt x="35295" y="92869"/>
                  <a:pt x="21521" y="90748"/>
                  <a:pt x="11050" y="87020"/>
                </a:cubicBezTo>
                <a:cubicBezTo>
                  <a:pt x="7121" y="85613"/>
                  <a:pt x="3304" y="83850"/>
                  <a:pt x="0" y="81662"/>
                </a:cubicBezTo>
                <a:lnTo>
                  <a:pt x="0" y="96441"/>
                </a:lnTo>
                <a:cubicBezTo>
                  <a:pt x="0" y="106308"/>
                  <a:pt x="22391" y="114300"/>
                  <a:pt x="50006" y="114300"/>
                </a:cubicBezTo>
                <a:cubicBezTo>
                  <a:pt x="77621" y="114300"/>
                  <a:pt x="100013" y="106308"/>
                  <a:pt x="100013" y="96441"/>
                </a:cubicBezTo>
                <a:lnTo>
                  <a:pt x="100013" y="81662"/>
                </a:lnTo>
                <a:cubicBezTo>
                  <a:pt x="96709" y="83850"/>
                  <a:pt x="92913" y="85613"/>
                  <a:pt x="88962" y="8702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3" name="Text 55"/>
          <p:cNvSpPr/>
          <p:nvPr/>
        </p:nvSpPr>
        <p:spPr>
          <a:xfrm>
            <a:off x="6490335" y="6273800"/>
            <a:ext cx="306197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数据来源：OpenAI GPT-5官方发布、Tau-bench函数调用基准测试(2025)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4509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完整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Agent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调用流程：从意图解析到执行闭环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8620" y="1160780"/>
            <a:ext cx="3691890" cy="2920365"/>
          </a:xfrm>
          <a:custGeom>
            <a:avLst/>
            <a:gdLst/>
            <a:ahLst/>
            <a:cxnLst/>
            <a:rect l="l" t="t" r="r" b="b"/>
            <a:pathLst>
              <a:path w="3691890" h="2920365">
                <a:moveTo>
                  <a:pt x="114303" y="0"/>
                </a:moveTo>
                <a:lnTo>
                  <a:pt x="3577587" y="0"/>
                </a:lnTo>
                <a:cubicBezTo>
                  <a:pt x="3640715" y="0"/>
                  <a:pt x="3691890" y="51175"/>
                  <a:pt x="3691890" y="114303"/>
                </a:cubicBezTo>
                <a:lnTo>
                  <a:pt x="3691890" y="2806062"/>
                </a:lnTo>
                <a:cubicBezTo>
                  <a:pt x="3691890" y="2869190"/>
                  <a:pt x="3640715" y="2920365"/>
                  <a:pt x="3577587" y="2920365"/>
                </a:cubicBezTo>
                <a:lnTo>
                  <a:pt x="114303" y="2920365"/>
                </a:lnTo>
                <a:cubicBezTo>
                  <a:pt x="51175" y="2920365"/>
                  <a:pt x="0" y="2869190"/>
                  <a:pt x="0" y="280606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noFill/>
          <a:ln w="20320">
            <a:solidFill>
              <a:srgbClr val="C0000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" y="13397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" name="Shape 5"/>
          <p:cNvSpPr/>
          <p:nvPr/>
        </p:nvSpPr>
        <p:spPr>
          <a:xfrm>
            <a:off x="596265" y="14159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891540" y="1231900"/>
            <a:ext cx="222631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纯API调度场景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1540" y="1549400"/>
            <a:ext cx="238252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 Calling策略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0540" y="1777881"/>
            <a:ext cx="3448050" cy="800100"/>
          </a:xfrm>
          <a:custGeom>
            <a:avLst/>
            <a:gdLst/>
            <a:ahLst/>
            <a:cxnLst/>
            <a:rect l="l" t="t" r="r" b="b"/>
            <a:pathLst>
              <a:path w="3448050" h="800100">
                <a:moveTo>
                  <a:pt x="76202" y="0"/>
                </a:moveTo>
                <a:lnTo>
                  <a:pt x="3371848" y="0"/>
                </a:lnTo>
                <a:cubicBezTo>
                  <a:pt x="3413933" y="0"/>
                  <a:pt x="3448050" y="34117"/>
                  <a:pt x="3448050" y="76202"/>
                </a:cubicBezTo>
                <a:lnTo>
                  <a:pt x="3448050" y="723898"/>
                </a:lnTo>
                <a:cubicBezTo>
                  <a:pt x="3448050" y="765983"/>
                  <a:pt x="3413933" y="800100"/>
                  <a:pt x="33718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1" name="Text 9"/>
          <p:cNvSpPr/>
          <p:nvPr/>
        </p:nvSpPr>
        <p:spPr>
          <a:xfrm>
            <a:off x="567690" y="1835031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典型应用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7690" y="2025412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天气查询、股票数据获取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7690" y="2196743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订单系统CRUD操作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2"/>
          <p:cNvSpPr/>
          <p:nvPr/>
        </p:nvSpPr>
        <p:spPr>
          <a:xfrm>
            <a:off x="567690" y="2368074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数据库查询与更新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0540" y="2634654"/>
            <a:ext cx="3448050" cy="800100"/>
          </a:xfrm>
          <a:custGeom>
            <a:avLst/>
            <a:gdLst/>
            <a:ahLst/>
            <a:cxnLst/>
            <a:rect l="l" t="t" r="r" b="b"/>
            <a:pathLst>
              <a:path w="3448050" h="800100">
                <a:moveTo>
                  <a:pt x="76202" y="0"/>
                </a:moveTo>
                <a:lnTo>
                  <a:pt x="3371848" y="0"/>
                </a:lnTo>
                <a:cubicBezTo>
                  <a:pt x="3413933" y="0"/>
                  <a:pt x="3448050" y="34117"/>
                  <a:pt x="3448050" y="76202"/>
                </a:cubicBezTo>
                <a:lnTo>
                  <a:pt x="3448050" y="723898"/>
                </a:lnTo>
                <a:cubicBezTo>
                  <a:pt x="3448050" y="765983"/>
                  <a:pt x="3413933" y="800100"/>
                  <a:pt x="33718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6" name="Text 14"/>
          <p:cNvSpPr/>
          <p:nvPr/>
        </p:nvSpPr>
        <p:spPr>
          <a:xfrm>
            <a:off x="567690" y="2691804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技术特征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7690" y="2882186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结构化输入输出(JSON)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7690" y="3053517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低延迟(&lt;100ms)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7690" y="3224848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高可靠性(99%+)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4350" y="3495040"/>
            <a:ext cx="3446145" cy="533400"/>
          </a:xfrm>
          <a:custGeom>
            <a:avLst/>
            <a:gdLst/>
            <a:ahLst/>
            <a:cxnLst/>
            <a:rect l="l" t="t" r="r" b="b"/>
            <a:pathLst>
              <a:path w="3446145" h="464820">
                <a:moveTo>
                  <a:pt x="76198" y="0"/>
                </a:moveTo>
                <a:lnTo>
                  <a:pt x="3369947" y="0"/>
                </a:lnTo>
                <a:cubicBezTo>
                  <a:pt x="3412030" y="0"/>
                  <a:pt x="3446145" y="34115"/>
                  <a:pt x="3446145" y="76198"/>
                </a:cubicBezTo>
                <a:lnTo>
                  <a:pt x="3446145" y="388622"/>
                </a:lnTo>
                <a:cubicBezTo>
                  <a:pt x="3446145" y="430705"/>
                  <a:pt x="3412030" y="464820"/>
                  <a:pt x="3369947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0000">
              <a:alpha val="14902"/>
            </a:srgbClr>
          </a:solidFill>
          <a:ln w="10160">
            <a:solidFill>
              <a:srgbClr val="C00000">
                <a:alpha val="30196"/>
              </a:srgbClr>
            </a:solidFill>
            <a:prstDash val="solid"/>
          </a:ln>
        </p:spPr>
      </p:sp>
      <p:sp>
        <p:nvSpPr>
          <p:cNvPr id="4" name="Text 19"/>
          <p:cNvSpPr/>
          <p:nvPr/>
        </p:nvSpPr>
        <p:spPr>
          <a:xfrm>
            <a:off x="575310" y="3563818"/>
            <a:ext cx="3381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调度流程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575310" y="3807540"/>
            <a:ext cx="3381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 → 工具匹配 → 参数提取 → API调用 → 结果返回</a:t>
            </a:r>
            <a:endParaRPr lang="en-US" sz="10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Shape 21"/>
          <p:cNvSpPr/>
          <p:nvPr/>
        </p:nvSpPr>
        <p:spPr>
          <a:xfrm>
            <a:off x="4249341" y="1160780"/>
            <a:ext cx="3691890" cy="2920365"/>
          </a:xfrm>
          <a:custGeom>
            <a:avLst/>
            <a:gdLst/>
            <a:ahLst/>
            <a:cxnLst/>
            <a:rect l="l" t="t" r="r" b="b"/>
            <a:pathLst>
              <a:path w="3691890" h="2920365">
                <a:moveTo>
                  <a:pt x="114303" y="0"/>
                </a:moveTo>
                <a:lnTo>
                  <a:pt x="3577587" y="0"/>
                </a:lnTo>
                <a:cubicBezTo>
                  <a:pt x="3640715" y="0"/>
                  <a:pt x="3691890" y="51175"/>
                  <a:pt x="3691890" y="114303"/>
                </a:cubicBezTo>
                <a:lnTo>
                  <a:pt x="3691890" y="2806062"/>
                </a:lnTo>
                <a:cubicBezTo>
                  <a:pt x="3691890" y="2869190"/>
                  <a:pt x="3640715" y="2920365"/>
                  <a:pt x="3577587" y="2920365"/>
                </a:cubicBezTo>
                <a:lnTo>
                  <a:pt x="114303" y="2920365"/>
                </a:lnTo>
                <a:cubicBezTo>
                  <a:pt x="51175" y="2920365"/>
                  <a:pt x="0" y="2869190"/>
                  <a:pt x="0" y="280606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noFill/>
          <a:ln w="20320">
            <a:solidFill>
              <a:srgbClr val="C00000">
                <a:alpha val="50196"/>
              </a:srgbClr>
            </a:solidFill>
            <a:prstDash val="solid"/>
          </a:ln>
        </p:spPr>
      </p:sp>
      <p:sp>
        <p:nvSpPr>
          <p:cNvPr id="54" name="Shape 22"/>
          <p:cNvSpPr/>
          <p:nvPr/>
        </p:nvSpPr>
        <p:spPr>
          <a:xfrm>
            <a:off x="4371261" y="13397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55" name="Shape 23"/>
          <p:cNvSpPr/>
          <p:nvPr/>
        </p:nvSpPr>
        <p:spPr>
          <a:xfrm>
            <a:off x="4447461" y="14159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24"/>
          <p:cNvSpPr/>
          <p:nvPr/>
        </p:nvSpPr>
        <p:spPr>
          <a:xfrm>
            <a:off x="4752340" y="1231900"/>
            <a:ext cx="2492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纯GUI调度场景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 25"/>
          <p:cNvSpPr/>
          <p:nvPr/>
        </p:nvSpPr>
        <p:spPr>
          <a:xfrm>
            <a:off x="4752340" y="1549400"/>
            <a:ext cx="196659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视觉解析+元素定位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Shape 26"/>
          <p:cNvSpPr/>
          <p:nvPr/>
        </p:nvSpPr>
        <p:spPr>
          <a:xfrm>
            <a:off x="4371261" y="1777881"/>
            <a:ext cx="3448050" cy="800100"/>
          </a:xfrm>
          <a:custGeom>
            <a:avLst/>
            <a:gdLst/>
            <a:ahLst/>
            <a:cxnLst/>
            <a:rect l="l" t="t" r="r" b="b"/>
            <a:pathLst>
              <a:path w="3448050" h="800100">
                <a:moveTo>
                  <a:pt x="76202" y="0"/>
                </a:moveTo>
                <a:lnTo>
                  <a:pt x="3371848" y="0"/>
                </a:lnTo>
                <a:cubicBezTo>
                  <a:pt x="3413933" y="0"/>
                  <a:pt x="3448050" y="34117"/>
                  <a:pt x="3448050" y="76202"/>
                </a:cubicBezTo>
                <a:lnTo>
                  <a:pt x="3448050" y="723898"/>
                </a:lnTo>
                <a:cubicBezTo>
                  <a:pt x="3448050" y="765983"/>
                  <a:pt x="3413933" y="800100"/>
                  <a:pt x="33718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59" name="Text 27"/>
          <p:cNvSpPr/>
          <p:nvPr/>
        </p:nvSpPr>
        <p:spPr>
          <a:xfrm>
            <a:off x="4428411" y="1835031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典型应用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4428411" y="2025412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桌面应用自动化操作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 29"/>
          <p:cNvSpPr/>
          <p:nvPr/>
        </p:nvSpPr>
        <p:spPr>
          <a:xfrm>
            <a:off x="4428411" y="2196743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网页表单填写与提交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 30"/>
          <p:cNvSpPr/>
          <p:nvPr/>
        </p:nvSpPr>
        <p:spPr>
          <a:xfrm>
            <a:off x="4428411" y="2368074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遗留系统界面交互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hape 31"/>
          <p:cNvSpPr/>
          <p:nvPr/>
        </p:nvSpPr>
        <p:spPr>
          <a:xfrm>
            <a:off x="4371261" y="2634654"/>
            <a:ext cx="3448050" cy="800100"/>
          </a:xfrm>
          <a:custGeom>
            <a:avLst/>
            <a:gdLst/>
            <a:ahLst/>
            <a:cxnLst/>
            <a:rect l="l" t="t" r="r" b="b"/>
            <a:pathLst>
              <a:path w="3448050" h="800100">
                <a:moveTo>
                  <a:pt x="76202" y="0"/>
                </a:moveTo>
                <a:lnTo>
                  <a:pt x="3371848" y="0"/>
                </a:lnTo>
                <a:cubicBezTo>
                  <a:pt x="3413933" y="0"/>
                  <a:pt x="3448050" y="34117"/>
                  <a:pt x="3448050" y="76202"/>
                </a:cubicBezTo>
                <a:lnTo>
                  <a:pt x="3448050" y="723898"/>
                </a:lnTo>
                <a:cubicBezTo>
                  <a:pt x="3448050" y="765983"/>
                  <a:pt x="3413933" y="800100"/>
                  <a:pt x="33718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64" name="Text 32"/>
          <p:cNvSpPr/>
          <p:nvPr/>
        </p:nvSpPr>
        <p:spPr>
          <a:xfrm>
            <a:off x="4428411" y="2691804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技术特征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Text 33"/>
          <p:cNvSpPr/>
          <p:nvPr/>
        </p:nvSpPr>
        <p:spPr>
          <a:xfrm>
            <a:off x="4428411" y="2882186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视觉解析(OCR+目标检测)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 34"/>
          <p:cNvSpPr/>
          <p:nvPr/>
        </p:nvSpPr>
        <p:spPr>
          <a:xfrm>
            <a:off x="4428411" y="3053517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元素定位与操作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 35"/>
          <p:cNvSpPr/>
          <p:nvPr/>
        </p:nvSpPr>
        <p:spPr>
          <a:xfrm>
            <a:off x="4428411" y="3224848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动态界面适应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Shape 36"/>
          <p:cNvSpPr/>
          <p:nvPr/>
        </p:nvSpPr>
        <p:spPr>
          <a:xfrm>
            <a:off x="4375071" y="3495239"/>
            <a:ext cx="3446145" cy="464820"/>
          </a:xfrm>
          <a:custGeom>
            <a:avLst/>
            <a:gdLst/>
            <a:ahLst/>
            <a:cxnLst/>
            <a:rect l="l" t="t" r="r" b="b"/>
            <a:pathLst>
              <a:path w="3446145" h="464820">
                <a:moveTo>
                  <a:pt x="76198" y="0"/>
                </a:moveTo>
                <a:lnTo>
                  <a:pt x="3369947" y="0"/>
                </a:lnTo>
                <a:cubicBezTo>
                  <a:pt x="3412030" y="0"/>
                  <a:pt x="3446145" y="34115"/>
                  <a:pt x="3446145" y="76198"/>
                </a:cubicBezTo>
                <a:lnTo>
                  <a:pt x="3446145" y="388622"/>
                </a:lnTo>
                <a:cubicBezTo>
                  <a:pt x="3446145" y="430705"/>
                  <a:pt x="3412030" y="464820"/>
                  <a:pt x="3369947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0000">
              <a:alpha val="14902"/>
            </a:srgbClr>
          </a:solidFill>
          <a:ln w="10160">
            <a:solidFill>
              <a:srgbClr val="C00000">
                <a:alpha val="30196"/>
              </a:srgbClr>
            </a:solidFill>
            <a:prstDash val="solid"/>
          </a:ln>
        </p:spPr>
      </p:sp>
      <p:sp>
        <p:nvSpPr>
          <p:cNvPr id="69" name="Text 37"/>
          <p:cNvSpPr/>
          <p:nvPr/>
        </p:nvSpPr>
        <p:spPr>
          <a:xfrm>
            <a:off x="4436031" y="3556198"/>
            <a:ext cx="3381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调度流程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Text 38"/>
          <p:cNvSpPr/>
          <p:nvPr/>
        </p:nvSpPr>
        <p:spPr>
          <a:xfrm>
            <a:off x="4436031" y="3746580"/>
            <a:ext cx="3381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截图解析 → 元素识别 → 动作规划 → 模拟操作 → 状态反馈</a:t>
            </a:r>
            <a:endParaRPr lang="en-US" sz="10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Shape 39"/>
          <p:cNvSpPr/>
          <p:nvPr/>
        </p:nvSpPr>
        <p:spPr>
          <a:xfrm>
            <a:off x="8110181" y="1160780"/>
            <a:ext cx="3691890" cy="2920365"/>
          </a:xfrm>
          <a:custGeom>
            <a:avLst/>
            <a:gdLst/>
            <a:ahLst/>
            <a:cxnLst/>
            <a:rect l="l" t="t" r="r" b="b"/>
            <a:pathLst>
              <a:path w="3691890" h="2920365">
                <a:moveTo>
                  <a:pt x="114303" y="0"/>
                </a:moveTo>
                <a:lnTo>
                  <a:pt x="3577587" y="0"/>
                </a:lnTo>
                <a:cubicBezTo>
                  <a:pt x="3640715" y="0"/>
                  <a:pt x="3691890" y="51175"/>
                  <a:pt x="3691890" y="114303"/>
                </a:cubicBezTo>
                <a:lnTo>
                  <a:pt x="3691890" y="2806062"/>
                </a:lnTo>
                <a:cubicBezTo>
                  <a:pt x="3691890" y="2869190"/>
                  <a:pt x="3640715" y="2920365"/>
                  <a:pt x="3577587" y="2920365"/>
                </a:cubicBezTo>
                <a:lnTo>
                  <a:pt x="114303" y="2920365"/>
                </a:lnTo>
                <a:cubicBezTo>
                  <a:pt x="51175" y="2920365"/>
                  <a:pt x="0" y="2869190"/>
                  <a:pt x="0" y="280606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noFill/>
          <a:ln w="20320">
            <a:solidFill>
              <a:srgbClr val="C00000">
                <a:alpha val="50196"/>
              </a:srgbClr>
            </a:solidFill>
            <a:prstDash val="solid"/>
          </a:ln>
        </p:spPr>
      </p:sp>
      <p:sp>
        <p:nvSpPr>
          <p:cNvPr id="72" name="Shape 40"/>
          <p:cNvSpPr/>
          <p:nvPr/>
        </p:nvSpPr>
        <p:spPr>
          <a:xfrm>
            <a:off x="8232100" y="13397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73" name="Shape 41"/>
          <p:cNvSpPr/>
          <p:nvPr/>
        </p:nvSpPr>
        <p:spPr>
          <a:xfrm>
            <a:off x="8308300" y="14159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4" name="Text 42"/>
          <p:cNvSpPr/>
          <p:nvPr/>
        </p:nvSpPr>
        <p:spPr>
          <a:xfrm>
            <a:off x="8613140" y="1231900"/>
            <a:ext cx="28822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混合调度场景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5" name="Text 43"/>
          <p:cNvSpPr/>
          <p:nvPr/>
        </p:nvSpPr>
        <p:spPr>
          <a:xfrm>
            <a:off x="8613140" y="1549400"/>
            <a:ext cx="221361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GUI+API工具链协同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Shape 44"/>
          <p:cNvSpPr/>
          <p:nvPr/>
        </p:nvSpPr>
        <p:spPr>
          <a:xfrm>
            <a:off x="8232100" y="1777881"/>
            <a:ext cx="3448050" cy="800100"/>
          </a:xfrm>
          <a:custGeom>
            <a:avLst/>
            <a:gdLst/>
            <a:ahLst/>
            <a:cxnLst/>
            <a:rect l="l" t="t" r="r" b="b"/>
            <a:pathLst>
              <a:path w="3448050" h="800100">
                <a:moveTo>
                  <a:pt x="76202" y="0"/>
                </a:moveTo>
                <a:lnTo>
                  <a:pt x="3371848" y="0"/>
                </a:lnTo>
                <a:cubicBezTo>
                  <a:pt x="3413933" y="0"/>
                  <a:pt x="3448050" y="34117"/>
                  <a:pt x="3448050" y="76202"/>
                </a:cubicBezTo>
                <a:lnTo>
                  <a:pt x="3448050" y="723898"/>
                </a:lnTo>
                <a:cubicBezTo>
                  <a:pt x="3448050" y="765983"/>
                  <a:pt x="3413933" y="800100"/>
                  <a:pt x="33718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77" name="Text 45"/>
          <p:cNvSpPr/>
          <p:nvPr/>
        </p:nvSpPr>
        <p:spPr>
          <a:xfrm>
            <a:off x="8289250" y="1835031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典型应用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8" name="Text 46"/>
          <p:cNvSpPr/>
          <p:nvPr/>
        </p:nvSpPr>
        <p:spPr>
          <a:xfrm>
            <a:off x="8289250" y="2025412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电商客服全流程自动化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 47"/>
          <p:cNvSpPr/>
          <p:nvPr/>
        </p:nvSpPr>
        <p:spPr>
          <a:xfrm>
            <a:off x="8289250" y="2196743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企业ERP+邮件通知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 48"/>
          <p:cNvSpPr/>
          <p:nvPr/>
        </p:nvSpPr>
        <p:spPr>
          <a:xfrm>
            <a:off x="8289250" y="2368074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跨系统数据迁移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Shape 49"/>
          <p:cNvSpPr/>
          <p:nvPr/>
        </p:nvSpPr>
        <p:spPr>
          <a:xfrm>
            <a:off x="8232100" y="2634654"/>
            <a:ext cx="3448050" cy="800100"/>
          </a:xfrm>
          <a:custGeom>
            <a:avLst/>
            <a:gdLst/>
            <a:ahLst/>
            <a:cxnLst/>
            <a:rect l="l" t="t" r="r" b="b"/>
            <a:pathLst>
              <a:path w="3448050" h="800100">
                <a:moveTo>
                  <a:pt x="76202" y="0"/>
                </a:moveTo>
                <a:lnTo>
                  <a:pt x="3371848" y="0"/>
                </a:lnTo>
                <a:cubicBezTo>
                  <a:pt x="3413933" y="0"/>
                  <a:pt x="3448050" y="34117"/>
                  <a:pt x="3448050" y="76202"/>
                </a:cubicBezTo>
                <a:lnTo>
                  <a:pt x="3448050" y="723898"/>
                </a:lnTo>
                <a:cubicBezTo>
                  <a:pt x="3448050" y="765983"/>
                  <a:pt x="3413933" y="800100"/>
                  <a:pt x="33718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82" name="Text 50"/>
          <p:cNvSpPr/>
          <p:nvPr/>
        </p:nvSpPr>
        <p:spPr>
          <a:xfrm>
            <a:off x="8289250" y="2691804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技术特征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3" name="Text 51"/>
          <p:cNvSpPr/>
          <p:nvPr/>
        </p:nvSpPr>
        <p:spPr>
          <a:xfrm>
            <a:off x="8289250" y="2882186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工具选择策略动态化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 52"/>
          <p:cNvSpPr/>
          <p:nvPr/>
        </p:nvSpPr>
        <p:spPr>
          <a:xfrm>
            <a:off x="8289250" y="3053517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中间结果传递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 53"/>
          <p:cNvSpPr/>
          <p:nvPr/>
        </p:nvSpPr>
        <p:spPr>
          <a:xfrm>
            <a:off x="8289250" y="3224848"/>
            <a:ext cx="3390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B10015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异常处理与回滚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Shape 54"/>
          <p:cNvSpPr/>
          <p:nvPr/>
        </p:nvSpPr>
        <p:spPr>
          <a:xfrm>
            <a:off x="8235910" y="3495239"/>
            <a:ext cx="3446145" cy="464820"/>
          </a:xfrm>
          <a:custGeom>
            <a:avLst/>
            <a:gdLst/>
            <a:ahLst/>
            <a:cxnLst/>
            <a:rect l="l" t="t" r="r" b="b"/>
            <a:pathLst>
              <a:path w="3446145" h="464820">
                <a:moveTo>
                  <a:pt x="76198" y="0"/>
                </a:moveTo>
                <a:lnTo>
                  <a:pt x="3369947" y="0"/>
                </a:lnTo>
                <a:cubicBezTo>
                  <a:pt x="3412030" y="0"/>
                  <a:pt x="3446145" y="34115"/>
                  <a:pt x="3446145" y="76198"/>
                </a:cubicBezTo>
                <a:lnTo>
                  <a:pt x="3446145" y="388622"/>
                </a:lnTo>
                <a:cubicBezTo>
                  <a:pt x="3446145" y="430705"/>
                  <a:pt x="3412030" y="464820"/>
                  <a:pt x="3369947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0000">
              <a:alpha val="14902"/>
            </a:srgbClr>
          </a:solidFill>
          <a:ln w="10160">
            <a:solidFill>
              <a:srgbClr val="C00000">
                <a:alpha val="30196"/>
              </a:srgbClr>
            </a:solidFill>
            <a:prstDash val="solid"/>
          </a:ln>
        </p:spPr>
      </p:sp>
      <p:sp>
        <p:nvSpPr>
          <p:cNvPr id="87" name="Text 55"/>
          <p:cNvSpPr/>
          <p:nvPr/>
        </p:nvSpPr>
        <p:spPr>
          <a:xfrm>
            <a:off x="8296870" y="3556198"/>
            <a:ext cx="3381375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调度流程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8" name="Text 56"/>
          <p:cNvSpPr/>
          <p:nvPr/>
        </p:nvSpPr>
        <p:spPr>
          <a:xfrm>
            <a:off x="8296870" y="3746580"/>
            <a:ext cx="3381375" cy="152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任务分解 → 工具选择 → 串/并行执行 → 结果聚合 → 输出交付</a:t>
            </a:r>
            <a:endParaRPr lang="en-US" sz="9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Shape 57"/>
          <p:cNvSpPr/>
          <p:nvPr/>
        </p:nvSpPr>
        <p:spPr>
          <a:xfrm>
            <a:off x="384810" y="4211320"/>
            <a:ext cx="11418570" cy="1854200"/>
          </a:xfrm>
          <a:custGeom>
            <a:avLst/>
            <a:gdLst/>
            <a:ahLst/>
            <a:cxnLst/>
            <a:rect l="l" t="t" r="r" b="b"/>
            <a:pathLst>
              <a:path w="11418570" h="1588770">
                <a:moveTo>
                  <a:pt x="114296" y="0"/>
                </a:moveTo>
                <a:lnTo>
                  <a:pt x="11304274" y="0"/>
                </a:lnTo>
                <a:cubicBezTo>
                  <a:pt x="11367398" y="0"/>
                  <a:pt x="11418570" y="51172"/>
                  <a:pt x="11418570" y="114296"/>
                </a:cubicBezTo>
                <a:lnTo>
                  <a:pt x="11418570" y="1474474"/>
                </a:lnTo>
                <a:cubicBezTo>
                  <a:pt x="11418570" y="1537598"/>
                  <a:pt x="11367398" y="1588770"/>
                  <a:pt x="11304274" y="1588770"/>
                </a:cubicBezTo>
                <a:lnTo>
                  <a:pt x="114296" y="1588770"/>
                </a:lnTo>
                <a:cubicBezTo>
                  <a:pt x="51172" y="1588770"/>
                  <a:pt x="0" y="1537598"/>
                  <a:pt x="0" y="14744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noFill/>
          <a:ln w="10160">
            <a:solidFill>
              <a:srgbClr val="C00000"/>
            </a:solidFill>
            <a:prstDash val="solid"/>
          </a:ln>
        </p:spPr>
      </p:sp>
      <p:sp>
        <p:nvSpPr>
          <p:cNvPr id="90" name="Shape 58"/>
          <p:cNvSpPr/>
          <p:nvPr/>
        </p:nvSpPr>
        <p:spPr>
          <a:xfrm>
            <a:off x="505301" y="4377016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8037" y="-5358"/>
                </a:moveTo>
                <a:cubicBezTo>
                  <a:pt x="3583" y="-5358"/>
                  <a:pt x="0" y="-1775"/>
                  <a:pt x="0" y="2679"/>
                </a:cubicBezTo>
                <a:cubicBezTo>
                  <a:pt x="0" y="7133"/>
                  <a:pt x="3583" y="10716"/>
                  <a:pt x="8037" y="10716"/>
                </a:cubicBezTo>
                <a:lnTo>
                  <a:pt x="23206" y="10716"/>
                </a:lnTo>
                <a:cubicBezTo>
                  <a:pt x="24512" y="10716"/>
                  <a:pt x="25617" y="11653"/>
                  <a:pt x="25851" y="12926"/>
                </a:cubicBezTo>
                <a:lnTo>
                  <a:pt x="43298" y="108797"/>
                </a:lnTo>
                <a:cubicBezTo>
                  <a:pt x="45374" y="120249"/>
                  <a:pt x="55353" y="128588"/>
                  <a:pt x="67006" y="128588"/>
                </a:cubicBezTo>
                <a:lnTo>
                  <a:pt x="152698" y="128588"/>
                </a:lnTo>
                <a:cubicBezTo>
                  <a:pt x="157151" y="128588"/>
                  <a:pt x="160734" y="125004"/>
                  <a:pt x="160734" y="120551"/>
                </a:cubicBezTo>
                <a:cubicBezTo>
                  <a:pt x="160734" y="116097"/>
                  <a:pt x="157151" y="112514"/>
                  <a:pt x="152698" y="112514"/>
                </a:cubicBezTo>
                <a:lnTo>
                  <a:pt x="67006" y="112514"/>
                </a:lnTo>
                <a:cubicBezTo>
                  <a:pt x="63122" y="112514"/>
                  <a:pt x="59807" y="109735"/>
                  <a:pt x="59103" y="105917"/>
                </a:cubicBezTo>
                <a:lnTo>
                  <a:pt x="57396" y="96441"/>
                </a:lnTo>
                <a:lnTo>
                  <a:pt x="159060" y="96441"/>
                </a:lnTo>
                <a:cubicBezTo>
                  <a:pt x="169374" y="96441"/>
                  <a:pt x="178214" y="89107"/>
                  <a:pt x="180123" y="78961"/>
                </a:cubicBezTo>
                <a:lnTo>
                  <a:pt x="190504" y="23407"/>
                </a:lnTo>
                <a:cubicBezTo>
                  <a:pt x="191743" y="16810"/>
                  <a:pt x="186686" y="10716"/>
                  <a:pt x="179956" y="10716"/>
                </a:cubicBezTo>
                <a:lnTo>
                  <a:pt x="41757" y="10716"/>
                </a:lnTo>
                <a:lnTo>
                  <a:pt x="41624" y="10046"/>
                </a:lnTo>
                <a:cubicBezTo>
                  <a:pt x="40016" y="1139"/>
                  <a:pt x="32247" y="-5358"/>
                  <a:pt x="23173" y="-5358"/>
                </a:cubicBezTo>
                <a:lnTo>
                  <a:pt x="8037" y="-5358"/>
                </a:lnTo>
                <a:close/>
                <a:moveTo>
                  <a:pt x="69652" y="171450"/>
                </a:moveTo>
                <a:cubicBezTo>
                  <a:pt x="78523" y="171450"/>
                  <a:pt x="85725" y="164248"/>
                  <a:pt x="85725" y="155377"/>
                </a:cubicBezTo>
                <a:cubicBezTo>
                  <a:pt x="85725" y="146505"/>
                  <a:pt x="78523" y="139303"/>
                  <a:pt x="69652" y="139303"/>
                </a:cubicBezTo>
                <a:cubicBezTo>
                  <a:pt x="60780" y="139303"/>
                  <a:pt x="53578" y="146505"/>
                  <a:pt x="53578" y="155377"/>
                </a:cubicBezTo>
                <a:cubicBezTo>
                  <a:pt x="53578" y="164248"/>
                  <a:pt x="60780" y="171450"/>
                  <a:pt x="69652" y="171450"/>
                </a:cubicBezTo>
                <a:close/>
                <a:moveTo>
                  <a:pt x="144661" y="171450"/>
                </a:moveTo>
                <a:cubicBezTo>
                  <a:pt x="153532" y="171450"/>
                  <a:pt x="160734" y="164248"/>
                  <a:pt x="160734" y="155377"/>
                </a:cubicBezTo>
                <a:cubicBezTo>
                  <a:pt x="160734" y="146505"/>
                  <a:pt x="153532" y="139303"/>
                  <a:pt x="144661" y="139303"/>
                </a:cubicBezTo>
                <a:cubicBezTo>
                  <a:pt x="135790" y="139303"/>
                  <a:pt x="128588" y="146505"/>
                  <a:pt x="128588" y="155377"/>
                </a:cubicBezTo>
                <a:cubicBezTo>
                  <a:pt x="128588" y="164248"/>
                  <a:pt x="135790" y="171450"/>
                  <a:pt x="144661" y="17145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91" name="Text 59"/>
          <p:cNvSpPr/>
          <p:nvPr/>
        </p:nvSpPr>
        <p:spPr>
          <a:xfrm>
            <a:off x="793750" y="4329430"/>
            <a:ext cx="55619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真实案例：电商平台退货流程自动化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4" name="Shape 60"/>
          <p:cNvSpPr/>
          <p:nvPr/>
        </p:nvSpPr>
        <p:spPr>
          <a:xfrm>
            <a:off x="502920" y="4672330"/>
            <a:ext cx="2714625" cy="1068070"/>
          </a:xfrm>
          <a:custGeom>
            <a:avLst/>
            <a:gdLst/>
            <a:ahLst/>
            <a:cxnLst/>
            <a:rect l="l" t="t" r="r" b="b"/>
            <a:pathLst>
              <a:path w="2714625" h="781050">
                <a:moveTo>
                  <a:pt x="76199" y="0"/>
                </a:moveTo>
                <a:lnTo>
                  <a:pt x="2638426" y="0"/>
                </a:lnTo>
                <a:cubicBezTo>
                  <a:pt x="2680509" y="0"/>
                  <a:pt x="2714625" y="34116"/>
                  <a:pt x="2714625" y="76199"/>
                </a:cubicBezTo>
                <a:lnTo>
                  <a:pt x="2714625" y="704851"/>
                </a:lnTo>
                <a:cubicBezTo>
                  <a:pt x="2714625" y="746934"/>
                  <a:pt x="2680509" y="781050"/>
                  <a:pt x="263842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17" name="Shape 61"/>
          <p:cNvSpPr/>
          <p:nvPr/>
        </p:nvSpPr>
        <p:spPr>
          <a:xfrm>
            <a:off x="579120" y="47484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18" name="Text 62"/>
          <p:cNvSpPr/>
          <p:nvPr/>
        </p:nvSpPr>
        <p:spPr>
          <a:xfrm>
            <a:off x="550545" y="4758651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9" name="Text 63"/>
          <p:cNvSpPr/>
          <p:nvPr/>
        </p:nvSpPr>
        <p:spPr>
          <a:xfrm>
            <a:off x="883920" y="4767580"/>
            <a:ext cx="212344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知识库检索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0" name="Text 64"/>
          <p:cNvSpPr/>
          <p:nvPr/>
        </p:nvSpPr>
        <p:spPr>
          <a:xfrm>
            <a:off x="579120" y="5034241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API调用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Text 65"/>
          <p:cNvSpPr/>
          <p:nvPr/>
        </p:nvSpPr>
        <p:spPr>
          <a:xfrm>
            <a:off x="579120" y="5387182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查询退货政策、运费规则、时间限制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2" name="Shape 66"/>
          <p:cNvSpPr/>
          <p:nvPr/>
        </p:nvSpPr>
        <p:spPr>
          <a:xfrm>
            <a:off x="3328035" y="4672330"/>
            <a:ext cx="2714625" cy="1068070"/>
          </a:xfrm>
          <a:custGeom>
            <a:avLst/>
            <a:gdLst/>
            <a:ahLst/>
            <a:cxnLst/>
            <a:rect l="l" t="t" r="r" b="b"/>
            <a:pathLst>
              <a:path w="2714625" h="781050">
                <a:moveTo>
                  <a:pt x="76199" y="0"/>
                </a:moveTo>
                <a:lnTo>
                  <a:pt x="2638426" y="0"/>
                </a:lnTo>
                <a:cubicBezTo>
                  <a:pt x="2680509" y="0"/>
                  <a:pt x="2714625" y="34116"/>
                  <a:pt x="2714625" y="76199"/>
                </a:cubicBezTo>
                <a:lnTo>
                  <a:pt x="2714625" y="704851"/>
                </a:lnTo>
                <a:cubicBezTo>
                  <a:pt x="2714625" y="746934"/>
                  <a:pt x="2680509" y="781050"/>
                  <a:pt x="263842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23" name="Shape 67"/>
          <p:cNvSpPr/>
          <p:nvPr/>
        </p:nvSpPr>
        <p:spPr>
          <a:xfrm>
            <a:off x="3404235" y="47484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24" name="Text 68"/>
          <p:cNvSpPr/>
          <p:nvPr/>
        </p:nvSpPr>
        <p:spPr>
          <a:xfrm>
            <a:off x="3375660" y="4758651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5" name="Text 69"/>
          <p:cNvSpPr/>
          <p:nvPr/>
        </p:nvSpPr>
        <p:spPr>
          <a:xfrm>
            <a:off x="3709035" y="4767580"/>
            <a:ext cx="198183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订单状态验证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6" name="Text 70"/>
          <p:cNvSpPr/>
          <p:nvPr/>
        </p:nvSpPr>
        <p:spPr>
          <a:xfrm>
            <a:off x="3404235" y="5034241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API调用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Text 71"/>
          <p:cNvSpPr/>
          <p:nvPr/>
        </p:nvSpPr>
        <p:spPr>
          <a:xfrm>
            <a:off x="3404235" y="5387182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验证订单有效性、支付状态、发货状态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8" name="Shape 72"/>
          <p:cNvSpPr/>
          <p:nvPr/>
        </p:nvSpPr>
        <p:spPr>
          <a:xfrm>
            <a:off x="6153150" y="4672330"/>
            <a:ext cx="2714625" cy="1068070"/>
          </a:xfrm>
          <a:custGeom>
            <a:avLst/>
            <a:gdLst/>
            <a:ahLst/>
            <a:cxnLst/>
            <a:rect l="l" t="t" r="r" b="b"/>
            <a:pathLst>
              <a:path w="2714625" h="781050">
                <a:moveTo>
                  <a:pt x="76199" y="0"/>
                </a:moveTo>
                <a:lnTo>
                  <a:pt x="2638426" y="0"/>
                </a:lnTo>
                <a:cubicBezTo>
                  <a:pt x="2680509" y="0"/>
                  <a:pt x="2714625" y="34116"/>
                  <a:pt x="2714625" y="76199"/>
                </a:cubicBezTo>
                <a:lnTo>
                  <a:pt x="2714625" y="704851"/>
                </a:lnTo>
                <a:cubicBezTo>
                  <a:pt x="2714625" y="746934"/>
                  <a:pt x="2680509" y="781050"/>
                  <a:pt x="263842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29" name="Shape 73"/>
          <p:cNvSpPr/>
          <p:nvPr/>
        </p:nvSpPr>
        <p:spPr>
          <a:xfrm>
            <a:off x="6229350" y="47484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30" name="Text 74"/>
          <p:cNvSpPr/>
          <p:nvPr/>
        </p:nvSpPr>
        <p:spPr>
          <a:xfrm>
            <a:off x="6200775" y="4758651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1" name="Text 75"/>
          <p:cNvSpPr/>
          <p:nvPr/>
        </p:nvSpPr>
        <p:spPr>
          <a:xfrm>
            <a:off x="6534150" y="4767580"/>
            <a:ext cx="193802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ERP界面操作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Text 76"/>
          <p:cNvSpPr/>
          <p:nvPr/>
        </p:nvSpPr>
        <p:spPr>
          <a:xfrm>
            <a:off x="6229350" y="5034241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GUI操作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Text 77"/>
          <p:cNvSpPr/>
          <p:nvPr/>
        </p:nvSpPr>
        <p:spPr>
          <a:xfrm>
            <a:off x="6229350" y="5387182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登录ERP系统，创建退货单，更新库存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Shape 78"/>
          <p:cNvSpPr/>
          <p:nvPr/>
        </p:nvSpPr>
        <p:spPr>
          <a:xfrm>
            <a:off x="8978265" y="4672330"/>
            <a:ext cx="2714625" cy="1068070"/>
          </a:xfrm>
          <a:custGeom>
            <a:avLst/>
            <a:gdLst/>
            <a:ahLst/>
            <a:cxnLst/>
            <a:rect l="l" t="t" r="r" b="b"/>
            <a:pathLst>
              <a:path w="2714625" h="781050">
                <a:moveTo>
                  <a:pt x="76199" y="0"/>
                </a:moveTo>
                <a:lnTo>
                  <a:pt x="2638426" y="0"/>
                </a:lnTo>
                <a:cubicBezTo>
                  <a:pt x="2680509" y="0"/>
                  <a:pt x="2714625" y="34116"/>
                  <a:pt x="2714625" y="76199"/>
                </a:cubicBezTo>
                <a:lnTo>
                  <a:pt x="2714625" y="704851"/>
                </a:lnTo>
                <a:cubicBezTo>
                  <a:pt x="2714625" y="746934"/>
                  <a:pt x="2680509" y="781050"/>
                  <a:pt x="263842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</p:sp>
      <p:sp>
        <p:nvSpPr>
          <p:cNvPr id="135" name="Shape 79"/>
          <p:cNvSpPr/>
          <p:nvPr/>
        </p:nvSpPr>
        <p:spPr>
          <a:xfrm>
            <a:off x="9054465" y="47484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36" name="Text 80"/>
          <p:cNvSpPr/>
          <p:nvPr/>
        </p:nvSpPr>
        <p:spPr>
          <a:xfrm>
            <a:off x="9025890" y="4758651"/>
            <a:ext cx="28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7" name="Text 81"/>
          <p:cNvSpPr/>
          <p:nvPr/>
        </p:nvSpPr>
        <p:spPr>
          <a:xfrm>
            <a:off x="9359265" y="4767580"/>
            <a:ext cx="137223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邮件通知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8" name="Text 82"/>
          <p:cNvSpPr/>
          <p:nvPr/>
        </p:nvSpPr>
        <p:spPr>
          <a:xfrm>
            <a:off x="9054465" y="5034241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API调用</a:t>
            </a:r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Text 83"/>
          <p:cNvSpPr/>
          <p:nvPr/>
        </p:nvSpPr>
        <p:spPr>
          <a:xfrm>
            <a:off x="9054465" y="5387182"/>
            <a:ext cx="2619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发送退货确认邮件，附物流追踪链接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0" name="Shape 84"/>
          <p:cNvSpPr/>
          <p:nvPr/>
        </p:nvSpPr>
        <p:spPr>
          <a:xfrm>
            <a:off x="517207" y="584934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ubicBezTo>
                  <a:pt x="0" y="25608"/>
                  <a:pt x="25608" y="0"/>
                  <a:pt x="57150" y="0"/>
                </a:cubicBezTo>
                <a:close/>
                <a:moveTo>
                  <a:pt x="51792" y="26789"/>
                </a:moveTo>
                <a:lnTo>
                  <a:pt x="51792" y="57150"/>
                </a:lnTo>
                <a:cubicBezTo>
                  <a:pt x="51792" y="58936"/>
                  <a:pt x="52685" y="60610"/>
                  <a:pt x="54181" y="61615"/>
                </a:cubicBezTo>
                <a:lnTo>
                  <a:pt x="75612" y="75902"/>
                </a:lnTo>
                <a:cubicBezTo>
                  <a:pt x="78068" y="77554"/>
                  <a:pt x="81394" y="76885"/>
                  <a:pt x="83046" y="74407"/>
                </a:cubicBezTo>
                <a:cubicBezTo>
                  <a:pt x="84698" y="71929"/>
                  <a:pt x="84028" y="68625"/>
                  <a:pt x="81550" y="66973"/>
                </a:cubicBezTo>
                <a:lnTo>
                  <a:pt x="62508" y="54293"/>
                </a:lnTo>
                <a:lnTo>
                  <a:pt x="62508" y="26789"/>
                </a:lnTo>
                <a:cubicBezTo>
                  <a:pt x="62508" y="23820"/>
                  <a:pt x="60119" y="21431"/>
                  <a:pt x="57150" y="21431"/>
                </a:cubicBezTo>
                <a:cubicBezTo>
                  <a:pt x="54181" y="21431"/>
                  <a:pt x="51792" y="23820"/>
                  <a:pt x="51792" y="26789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41" name="Text 85"/>
          <p:cNvSpPr/>
          <p:nvPr/>
        </p:nvSpPr>
        <p:spPr>
          <a:xfrm>
            <a:off x="674370" y="5834380"/>
            <a:ext cx="357568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全流程耗时：从人工30分钟降至Agent 3分钟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Shape 86"/>
          <p:cNvSpPr/>
          <p:nvPr/>
        </p:nvSpPr>
        <p:spPr>
          <a:xfrm>
            <a:off x="4681934" y="584934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43" name="Text 87"/>
          <p:cNvSpPr/>
          <p:nvPr/>
        </p:nvSpPr>
        <p:spPr>
          <a:xfrm>
            <a:off x="4839335" y="5834380"/>
            <a:ext cx="240474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准确率：从85%提升至98%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Shape 88"/>
          <p:cNvSpPr/>
          <p:nvPr/>
        </p:nvSpPr>
        <p:spPr>
          <a:xfrm>
            <a:off x="7494230" y="5849342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30361" y="5358"/>
                </a:moveTo>
                <a:cubicBezTo>
                  <a:pt x="30361" y="2389"/>
                  <a:pt x="32750" y="0"/>
                  <a:pt x="35719" y="0"/>
                </a:cubicBezTo>
                <a:cubicBezTo>
                  <a:pt x="38688" y="0"/>
                  <a:pt x="41077" y="2389"/>
                  <a:pt x="41077" y="5358"/>
                </a:cubicBezTo>
                <a:lnTo>
                  <a:pt x="41077" y="14288"/>
                </a:lnTo>
                <a:lnTo>
                  <a:pt x="53578" y="14288"/>
                </a:lnTo>
                <a:cubicBezTo>
                  <a:pt x="57530" y="14288"/>
                  <a:pt x="60722" y="17480"/>
                  <a:pt x="60722" y="21431"/>
                </a:cubicBezTo>
                <a:cubicBezTo>
                  <a:pt x="60722" y="25383"/>
                  <a:pt x="57530" y="28575"/>
                  <a:pt x="53578" y="28575"/>
                </a:cubicBezTo>
                <a:lnTo>
                  <a:pt x="27928" y="28575"/>
                </a:lnTo>
                <a:cubicBezTo>
                  <a:pt x="22369" y="28575"/>
                  <a:pt x="17859" y="33084"/>
                  <a:pt x="17859" y="38643"/>
                </a:cubicBezTo>
                <a:cubicBezTo>
                  <a:pt x="17859" y="43666"/>
                  <a:pt x="21543" y="47908"/>
                  <a:pt x="26499" y="48622"/>
                </a:cubicBezTo>
                <a:lnTo>
                  <a:pt x="46948" y="51547"/>
                </a:lnTo>
                <a:cubicBezTo>
                  <a:pt x="58958" y="53266"/>
                  <a:pt x="67866" y="63535"/>
                  <a:pt x="67866" y="75657"/>
                </a:cubicBezTo>
                <a:cubicBezTo>
                  <a:pt x="67866" y="89118"/>
                  <a:pt x="56949" y="100013"/>
                  <a:pt x="43510" y="100013"/>
                </a:cubicBezTo>
                <a:lnTo>
                  <a:pt x="41077" y="100013"/>
                </a:lnTo>
                <a:lnTo>
                  <a:pt x="41077" y="108942"/>
                </a:lnTo>
                <a:cubicBezTo>
                  <a:pt x="41077" y="111911"/>
                  <a:pt x="38688" y="114300"/>
                  <a:pt x="35719" y="114300"/>
                </a:cubicBezTo>
                <a:cubicBezTo>
                  <a:pt x="32750" y="114300"/>
                  <a:pt x="30361" y="111911"/>
                  <a:pt x="30361" y="108942"/>
                </a:cubicBezTo>
                <a:lnTo>
                  <a:pt x="30361" y="100013"/>
                </a:lnTo>
                <a:lnTo>
                  <a:pt x="14288" y="100013"/>
                </a:lnTo>
                <a:cubicBezTo>
                  <a:pt x="10336" y="100013"/>
                  <a:pt x="7144" y="96820"/>
                  <a:pt x="7144" y="92869"/>
                </a:cubicBezTo>
                <a:cubicBezTo>
                  <a:pt x="7144" y="88917"/>
                  <a:pt x="10336" y="85725"/>
                  <a:pt x="14288" y="85725"/>
                </a:cubicBezTo>
                <a:lnTo>
                  <a:pt x="43510" y="85725"/>
                </a:lnTo>
                <a:cubicBezTo>
                  <a:pt x="49069" y="85725"/>
                  <a:pt x="53578" y="81216"/>
                  <a:pt x="53578" y="75657"/>
                </a:cubicBezTo>
                <a:cubicBezTo>
                  <a:pt x="53578" y="70634"/>
                  <a:pt x="49895" y="66392"/>
                  <a:pt x="44939" y="65678"/>
                </a:cubicBezTo>
                <a:lnTo>
                  <a:pt x="24490" y="62753"/>
                </a:lnTo>
                <a:cubicBezTo>
                  <a:pt x="12479" y="61057"/>
                  <a:pt x="3572" y="50765"/>
                  <a:pt x="3572" y="38643"/>
                </a:cubicBezTo>
                <a:cubicBezTo>
                  <a:pt x="3572" y="25204"/>
                  <a:pt x="14488" y="14288"/>
                  <a:pt x="27928" y="14288"/>
                </a:cubicBezTo>
                <a:lnTo>
                  <a:pt x="30361" y="14288"/>
                </a:lnTo>
                <a:lnTo>
                  <a:pt x="30361" y="5358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145" name="Text 89"/>
          <p:cNvSpPr/>
          <p:nvPr/>
        </p:nvSpPr>
        <p:spPr>
          <a:xfrm>
            <a:off x="7630160" y="5834380"/>
            <a:ext cx="340868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成本降低：人力成本减少80%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Shape 90"/>
          <p:cNvSpPr/>
          <p:nvPr/>
        </p:nvSpPr>
        <p:spPr>
          <a:xfrm>
            <a:off x="409575" y="6281024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65388" y="85725"/>
                </a:moveTo>
                <a:cubicBezTo>
                  <a:pt x="67017" y="80747"/>
                  <a:pt x="70277" y="76237"/>
                  <a:pt x="73960" y="72353"/>
                </a:cubicBezTo>
                <a:cubicBezTo>
                  <a:pt x="81260" y="64673"/>
                  <a:pt x="85725" y="54293"/>
                  <a:pt x="85725" y="42863"/>
                </a:cubicBezTo>
                <a:cubicBezTo>
                  <a:pt x="85725" y="19199"/>
                  <a:pt x="66526" y="0"/>
                  <a:pt x="42862" y="0"/>
                </a:cubicBezTo>
                <a:cubicBezTo>
                  <a:pt x="19199" y="0"/>
                  <a:pt x="0" y="19199"/>
                  <a:pt x="0" y="42863"/>
                </a:cubicBezTo>
                <a:cubicBezTo>
                  <a:pt x="0" y="54293"/>
                  <a:pt x="4465" y="64673"/>
                  <a:pt x="11765" y="72353"/>
                </a:cubicBezTo>
                <a:cubicBezTo>
                  <a:pt x="15448" y="76237"/>
                  <a:pt x="18730" y="80747"/>
                  <a:pt x="20337" y="85725"/>
                </a:cubicBezTo>
                <a:lnTo>
                  <a:pt x="65365" y="85725"/>
                </a:lnTo>
                <a:close/>
                <a:moveTo>
                  <a:pt x="64294" y="96441"/>
                </a:moveTo>
                <a:lnTo>
                  <a:pt x="21431" y="96441"/>
                </a:lnTo>
                <a:lnTo>
                  <a:pt x="21431" y="100013"/>
                </a:lnTo>
                <a:cubicBezTo>
                  <a:pt x="21431" y="109880"/>
                  <a:pt x="29423" y="117872"/>
                  <a:pt x="39291" y="117872"/>
                </a:cubicBezTo>
                <a:lnTo>
                  <a:pt x="46434" y="117872"/>
                </a:lnTo>
                <a:cubicBezTo>
                  <a:pt x="56302" y="117872"/>
                  <a:pt x="64294" y="109880"/>
                  <a:pt x="64294" y="100013"/>
                </a:cubicBezTo>
                <a:lnTo>
                  <a:pt x="64294" y="96441"/>
                </a:lnTo>
                <a:close/>
                <a:moveTo>
                  <a:pt x="41077" y="25003"/>
                </a:moveTo>
                <a:cubicBezTo>
                  <a:pt x="32192" y="25003"/>
                  <a:pt x="25003" y="32192"/>
                  <a:pt x="25003" y="41077"/>
                </a:cubicBezTo>
                <a:cubicBezTo>
                  <a:pt x="25003" y="44046"/>
                  <a:pt x="22614" y="46434"/>
                  <a:pt x="19645" y="46434"/>
                </a:cubicBezTo>
                <a:cubicBezTo>
                  <a:pt x="16676" y="46434"/>
                  <a:pt x="14288" y="44046"/>
                  <a:pt x="14288" y="41077"/>
                </a:cubicBezTo>
                <a:cubicBezTo>
                  <a:pt x="14288" y="26276"/>
                  <a:pt x="26276" y="14288"/>
                  <a:pt x="41077" y="14288"/>
                </a:cubicBezTo>
                <a:cubicBezTo>
                  <a:pt x="44046" y="14288"/>
                  <a:pt x="46434" y="16676"/>
                  <a:pt x="46434" y="19645"/>
                </a:cubicBezTo>
                <a:cubicBezTo>
                  <a:pt x="46434" y="22614"/>
                  <a:pt x="44046" y="25003"/>
                  <a:pt x="41077" y="25003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47" name="Text 91"/>
          <p:cNvSpPr/>
          <p:nvPr/>
        </p:nvSpPr>
        <p:spPr>
          <a:xfrm>
            <a:off x="552450" y="6387465"/>
            <a:ext cx="537400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核心洞察：混合调度是复杂企业场景的必然选择，需建立工具优先级与异常回滚机制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8" name="Shape 92"/>
          <p:cNvSpPr/>
          <p:nvPr/>
        </p:nvSpPr>
        <p:spPr>
          <a:xfrm>
            <a:off x="6346666" y="628102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00013" y="45943"/>
                </a:moveTo>
                <a:cubicBezTo>
                  <a:pt x="96709" y="48131"/>
                  <a:pt x="92913" y="49895"/>
                  <a:pt x="88962" y="51301"/>
                </a:cubicBezTo>
                <a:cubicBezTo>
                  <a:pt x="78470" y="55052"/>
                  <a:pt x="64696" y="57150"/>
                  <a:pt x="50006" y="57150"/>
                </a:cubicBezTo>
                <a:cubicBezTo>
                  <a:pt x="35317" y="57150"/>
                  <a:pt x="21521" y="55029"/>
                  <a:pt x="11050" y="51301"/>
                </a:cubicBezTo>
                <a:cubicBezTo>
                  <a:pt x="7121" y="49895"/>
                  <a:pt x="3304" y="48131"/>
                  <a:pt x="0" y="45943"/>
                </a:cubicBezTo>
                <a:lnTo>
                  <a:pt x="0" y="64294"/>
                </a:lnTo>
                <a:cubicBezTo>
                  <a:pt x="0" y="74161"/>
                  <a:pt x="22391" y="82153"/>
                  <a:pt x="50006" y="82153"/>
                </a:cubicBezTo>
                <a:cubicBezTo>
                  <a:pt x="77621" y="82153"/>
                  <a:pt x="100013" y="74161"/>
                  <a:pt x="100013" y="64294"/>
                </a:cubicBezTo>
                <a:lnTo>
                  <a:pt x="100013" y="45943"/>
                </a:lnTo>
                <a:close/>
                <a:moveTo>
                  <a:pt x="100013" y="28575"/>
                </a:moveTo>
                <a:lnTo>
                  <a:pt x="100013" y="17859"/>
                </a:lnTo>
                <a:cubicBezTo>
                  <a:pt x="100013" y="7992"/>
                  <a:pt x="77621" y="0"/>
                  <a:pt x="50006" y="0"/>
                </a:cubicBezTo>
                <a:cubicBezTo>
                  <a:pt x="22391" y="0"/>
                  <a:pt x="0" y="7992"/>
                  <a:pt x="0" y="17859"/>
                </a:cubicBezTo>
                <a:lnTo>
                  <a:pt x="0" y="28575"/>
                </a:lnTo>
                <a:cubicBezTo>
                  <a:pt x="0" y="38442"/>
                  <a:pt x="22391" y="46434"/>
                  <a:pt x="50006" y="46434"/>
                </a:cubicBezTo>
                <a:cubicBezTo>
                  <a:pt x="77621" y="46434"/>
                  <a:pt x="100013" y="38442"/>
                  <a:pt x="100013" y="28575"/>
                </a:cubicBezTo>
                <a:close/>
                <a:moveTo>
                  <a:pt x="88962" y="87020"/>
                </a:moveTo>
                <a:cubicBezTo>
                  <a:pt x="78492" y="90748"/>
                  <a:pt x="64718" y="92869"/>
                  <a:pt x="50006" y="92869"/>
                </a:cubicBezTo>
                <a:cubicBezTo>
                  <a:pt x="35295" y="92869"/>
                  <a:pt x="21521" y="90748"/>
                  <a:pt x="11050" y="87020"/>
                </a:cubicBezTo>
                <a:cubicBezTo>
                  <a:pt x="7121" y="85613"/>
                  <a:pt x="3304" y="83850"/>
                  <a:pt x="0" y="81662"/>
                </a:cubicBezTo>
                <a:lnTo>
                  <a:pt x="0" y="96441"/>
                </a:lnTo>
                <a:cubicBezTo>
                  <a:pt x="0" y="106308"/>
                  <a:pt x="22391" y="114300"/>
                  <a:pt x="50006" y="114300"/>
                </a:cubicBezTo>
                <a:cubicBezTo>
                  <a:pt x="77621" y="114300"/>
                  <a:pt x="100013" y="106308"/>
                  <a:pt x="100013" y="96441"/>
                </a:cubicBezTo>
                <a:lnTo>
                  <a:pt x="100013" y="81662"/>
                </a:lnTo>
                <a:cubicBezTo>
                  <a:pt x="96709" y="83850"/>
                  <a:pt x="92913" y="85613"/>
                  <a:pt x="88962" y="8702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49" name="Text 93"/>
          <p:cNvSpPr/>
          <p:nvPr/>
        </p:nvSpPr>
        <p:spPr>
          <a:xfrm>
            <a:off x="6496685" y="6275705"/>
            <a:ext cx="367093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数据来源：企业级Agent应用实践案例(2025)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训练范式与实战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843026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Claude Computer Use: 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企业级自动化应用实践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3"/>
          <p:cNvSpPr/>
          <p:nvPr/>
        </p:nvSpPr>
        <p:spPr>
          <a:xfrm>
            <a:off x="320675" y="1004570"/>
            <a:ext cx="5673725" cy="2990850"/>
          </a:xfrm>
          <a:custGeom>
            <a:avLst/>
            <a:gdLst/>
            <a:ahLst/>
            <a:cxnLst/>
            <a:rect l="l" t="t" r="r" b="b"/>
            <a:pathLst>
              <a:path w="5673725" h="2990850">
                <a:moveTo>
                  <a:pt x="95259" y="0"/>
                </a:moveTo>
                <a:lnTo>
                  <a:pt x="5578466" y="0"/>
                </a:lnTo>
                <a:cubicBezTo>
                  <a:pt x="5631076" y="0"/>
                  <a:pt x="5673725" y="42649"/>
                  <a:pt x="5673725" y="95259"/>
                </a:cubicBezTo>
                <a:lnTo>
                  <a:pt x="5673725" y="2895591"/>
                </a:lnTo>
                <a:cubicBezTo>
                  <a:pt x="5673725" y="2948201"/>
                  <a:pt x="5631076" y="2990850"/>
                  <a:pt x="5578466" y="2990850"/>
                </a:cubicBezTo>
                <a:lnTo>
                  <a:pt x="95259" y="2990850"/>
                </a:lnTo>
                <a:cubicBezTo>
                  <a:pt x="42649" y="2990850"/>
                  <a:pt x="0" y="2948201"/>
                  <a:pt x="0" y="2895591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8" name="Shape 4"/>
          <p:cNvSpPr/>
          <p:nvPr/>
        </p:nvSpPr>
        <p:spPr>
          <a:xfrm>
            <a:off x="554038" y="122999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19844" y="27285"/>
                </a:moveTo>
                <a:cubicBezTo>
                  <a:pt x="19844" y="31409"/>
                  <a:pt x="23161" y="34727"/>
                  <a:pt x="27285" y="34727"/>
                </a:cubicBezTo>
                <a:lnTo>
                  <a:pt x="42168" y="34727"/>
                </a:lnTo>
                <a:cubicBezTo>
                  <a:pt x="46292" y="34727"/>
                  <a:pt x="49609" y="31409"/>
                  <a:pt x="49609" y="27285"/>
                </a:cubicBezTo>
                <a:cubicBezTo>
                  <a:pt x="49609" y="23161"/>
                  <a:pt x="46292" y="19844"/>
                  <a:pt x="42168" y="19844"/>
                </a:cubicBezTo>
                <a:lnTo>
                  <a:pt x="27285" y="19844"/>
                </a:lnTo>
                <a:cubicBezTo>
                  <a:pt x="23161" y="19844"/>
                  <a:pt x="19844" y="23161"/>
                  <a:pt x="19844" y="27285"/>
                </a:cubicBezTo>
                <a:close/>
                <a:moveTo>
                  <a:pt x="19844" y="57051"/>
                </a:moveTo>
                <a:cubicBezTo>
                  <a:pt x="19844" y="61175"/>
                  <a:pt x="23161" y="64492"/>
                  <a:pt x="27285" y="64492"/>
                </a:cubicBezTo>
                <a:lnTo>
                  <a:pt x="42168" y="64492"/>
                </a:lnTo>
                <a:cubicBezTo>
                  <a:pt x="46292" y="64492"/>
                  <a:pt x="49609" y="61175"/>
                  <a:pt x="49609" y="57051"/>
                </a:cubicBezTo>
                <a:cubicBezTo>
                  <a:pt x="49609" y="52927"/>
                  <a:pt x="46292" y="49609"/>
                  <a:pt x="42168" y="49609"/>
                </a:cubicBezTo>
                <a:lnTo>
                  <a:pt x="27285" y="49609"/>
                </a:lnTo>
                <a:cubicBezTo>
                  <a:pt x="23161" y="49609"/>
                  <a:pt x="19844" y="52927"/>
                  <a:pt x="19844" y="57051"/>
                </a:cubicBezTo>
                <a:close/>
                <a:moveTo>
                  <a:pt x="54570" y="80615"/>
                </a:moveTo>
                <a:lnTo>
                  <a:pt x="54570" y="81855"/>
                </a:lnTo>
                <a:cubicBezTo>
                  <a:pt x="45641" y="81948"/>
                  <a:pt x="38447" y="89204"/>
                  <a:pt x="38447" y="98134"/>
                </a:cubicBezTo>
                <a:cubicBezTo>
                  <a:pt x="38447" y="106102"/>
                  <a:pt x="44183" y="112892"/>
                  <a:pt x="52059" y="114195"/>
                </a:cubicBezTo>
                <a:lnTo>
                  <a:pt x="64988" y="116365"/>
                </a:lnTo>
                <a:cubicBezTo>
                  <a:pt x="66849" y="116675"/>
                  <a:pt x="68213" y="118287"/>
                  <a:pt x="68213" y="120179"/>
                </a:cubicBezTo>
                <a:cubicBezTo>
                  <a:pt x="68213" y="122318"/>
                  <a:pt x="66477" y="124054"/>
                  <a:pt x="64337" y="124054"/>
                </a:cubicBezTo>
                <a:lnTo>
                  <a:pt x="47129" y="124023"/>
                </a:lnTo>
                <a:cubicBezTo>
                  <a:pt x="43718" y="124023"/>
                  <a:pt x="40928" y="126814"/>
                  <a:pt x="40928" y="130225"/>
                </a:cubicBezTo>
                <a:cubicBezTo>
                  <a:pt x="40928" y="133635"/>
                  <a:pt x="43718" y="136426"/>
                  <a:pt x="47129" y="136426"/>
                </a:cubicBezTo>
                <a:lnTo>
                  <a:pt x="54570" y="136426"/>
                </a:lnTo>
                <a:lnTo>
                  <a:pt x="54570" y="137666"/>
                </a:lnTo>
                <a:cubicBezTo>
                  <a:pt x="54570" y="141077"/>
                  <a:pt x="57361" y="143867"/>
                  <a:pt x="60771" y="143867"/>
                </a:cubicBezTo>
                <a:cubicBezTo>
                  <a:pt x="64182" y="143867"/>
                  <a:pt x="66973" y="141077"/>
                  <a:pt x="66973" y="137666"/>
                </a:cubicBezTo>
                <a:lnTo>
                  <a:pt x="66973" y="136209"/>
                </a:lnTo>
                <a:cubicBezTo>
                  <a:pt x="74724" y="134938"/>
                  <a:pt x="80615" y="128240"/>
                  <a:pt x="80615" y="120148"/>
                </a:cubicBezTo>
                <a:cubicBezTo>
                  <a:pt x="80615" y="112179"/>
                  <a:pt x="74879" y="105389"/>
                  <a:pt x="67004" y="104087"/>
                </a:cubicBezTo>
                <a:lnTo>
                  <a:pt x="54074" y="101916"/>
                </a:lnTo>
                <a:cubicBezTo>
                  <a:pt x="52214" y="101606"/>
                  <a:pt x="50850" y="99994"/>
                  <a:pt x="50850" y="98103"/>
                </a:cubicBezTo>
                <a:cubicBezTo>
                  <a:pt x="50850" y="95963"/>
                  <a:pt x="52586" y="94227"/>
                  <a:pt x="54725" y="94227"/>
                </a:cubicBezTo>
                <a:lnTo>
                  <a:pt x="69453" y="94227"/>
                </a:lnTo>
                <a:cubicBezTo>
                  <a:pt x="72864" y="94227"/>
                  <a:pt x="75654" y="91436"/>
                  <a:pt x="75654" y="88026"/>
                </a:cubicBezTo>
                <a:cubicBezTo>
                  <a:pt x="75654" y="84615"/>
                  <a:pt x="72864" y="81824"/>
                  <a:pt x="69453" y="81824"/>
                </a:cubicBezTo>
                <a:lnTo>
                  <a:pt x="66973" y="81824"/>
                </a:lnTo>
                <a:lnTo>
                  <a:pt x="66973" y="80584"/>
                </a:lnTo>
                <a:cubicBezTo>
                  <a:pt x="66973" y="77174"/>
                  <a:pt x="64182" y="74383"/>
                  <a:pt x="60771" y="74383"/>
                </a:cubicBezTo>
                <a:cubicBezTo>
                  <a:pt x="57361" y="74383"/>
                  <a:pt x="54570" y="77174"/>
                  <a:pt x="54570" y="8058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9" name="Text 5"/>
          <p:cNvSpPr/>
          <p:nvPr/>
        </p:nvSpPr>
        <p:spPr>
          <a:xfrm>
            <a:off x="755968" y="1198243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费用报销处理自动化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514350" y="154749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>
                <a:moveTo>
                  <a:pt x="63501" y="0"/>
                </a:moveTo>
                <a:lnTo>
                  <a:pt x="5222874" y="0"/>
                </a:lnTo>
                <a:cubicBezTo>
                  <a:pt x="5257945" y="0"/>
                  <a:pt x="5286375" y="28430"/>
                  <a:pt x="5286375" y="63501"/>
                </a:cubicBezTo>
                <a:lnTo>
                  <a:pt x="5286375" y="603249"/>
                </a:lnTo>
                <a:cubicBezTo>
                  <a:pt x="5286375" y="638320"/>
                  <a:pt x="5257945" y="666750"/>
                  <a:pt x="52228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1" name="Text 7"/>
          <p:cNvSpPr/>
          <p:nvPr/>
        </p:nvSpPr>
        <p:spPr>
          <a:xfrm>
            <a:off x="641350" y="1674493"/>
            <a:ext cx="5087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应用场景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Text 8"/>
          <p:cNvSpPr/>
          <p:nvPr/>
        </p:nvSpPr>
        <p:spPr>
          <a:xfrm>
            <a:off x="641350" y="1896743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中型企业每月处理1000份报销单据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514350" y="2309493"/>
            <a:ext cx="2595563" cy="793750"/>
          </a:xfrm>
          <a:custGeom>
            <a:avLst/>
            <a:gdLst/>
            <a:ahLst/>
            <a:cxnLst/>
            <a:rect l="l" t="t" r="r" b="b"/>
            <a:pathLst>
              <a:path w="2595563" h="793750">
                <a:moveTo>
                  <a:pt x="63500" y="0"/>
                </a:moveTo>
                <a:lnTo>
                  <a:pt x="2532063" y="0"/>
                </a:lnTo>
                <a:cubicBezTo>
                  <a:pt x="2567109" y="0"/>
                  <a:pt x="2595563" y="28453"/>
                  <a:pt x="2595563" y="63500"/>
                </a:cubicBezTo>
                <a:lnTo>
                  <a:pt x="2595563" y="730250"/>
                </a:lnTo>
                <a:cubicBezTo>
                  <a:pt x="2595563" y="765297"/>
                  <a:pt x="2567109" y="793750"/>
                  <a:pt x="2532063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4" name="Text 10"/>
          <p:cNvSpPr/>
          <p:nvPr/>
        </p:nvSpPr>
        <p:spPr>
          <a:xfrm>
            <a:off x="581819" y="2404743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节省工时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550069" y="2595243"/>
            <a:ext cx="25241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51+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585788" y="2880993"/>
            <a:ext cx="2452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小时/月</a:t>
            </a:r>
            <a:endParaRPr lang="en-US" sz="9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3206750" y="2309493"/>
            <a:ext cx="2595563" cy="793750"/>
          </a:xfrm>
          <a:custGeom>
            <a:avLst/>
            <a:gdLst/>
            <a:ahLst/>
            <a:cxnLst/>
            <a:rect l="l" t="t" r="r" b="b"/>
            <a:pathLst>
              <a:path w="2595563" h="793750">
                <a:moveTo>
                  <a:pt x="63500" y="0"/>
                </a:moveTo>
                <a:lnTo>
                  <a:pt x="2532063" y="0"/>
                </a:lnTo>
                <a:cubicBezTo>
                  <a:pt x="2567109" y="0"/>
                  <a:pt x="2595563" y="28453"/>
                  <a:pt x="2595563" y="63500"/>
                </a:cubicBezTo>
                <a:lnTo>
                  <a:pt x="2595563" y="730250"/>
                </a:lnTo>
                <a:cubicBezTo>
                  <a:pt x="2595563" y="765297"/>
                  <a:pt x="2567109" y="793750"/>
                  <a:pt x="2532063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8" name="Text 14"/>
          <p:cNvSpPr/>
          <p:nvPr/>
        </p:nvSpPr>
        <p:spPr>
          <a:xfrm>
            <a:off x="3274219" y="2404743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年节省成本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3242469" y="2595243"/>
            <a:ext cx="25241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$91.2K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3278188" y="2880993"/>
            <a:ext cx="2452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年度</a:t>
            </a:r>
            <a:endParaRPr lang="en-US" sz="9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514350" y="3198400"/>
            <a:ext cx="5286375" cy="603250"/>
          </a:xfrm>
          <a:custGeom>
            <a:avLst/>
            <a:gdLst/>
            <a:ahLst/>
            <a:cxnLst/>
            <a:rect l="l" t="t" r="r" b="b"/>
            <a:pathLst>
              <a:path w="5286375" h="603250">
                <a:moveTo>
                  <a:pt x="63498" y="0"/>
                </a:moveTo>
                <a:lnTo>
                  <a:pt x="5222877" y="0"/>
                </a:lnTo>
                <a:cubicBezTo>
                  <a:pt x="5257946" y="0"/>
                  <a:pt x="5286375" y="28429"/>
                  <a:pt x="5286375" y="63498"/>
                </a:cubicBezTo>
                <a:lnTo>
                  <a:pt x="5286375" y="539752"/>
                </a:lnTo>
                <a:cubicBezTo>
                  <a:pt x="5286375" y="574821"/>
                  <a:pt x="5257946" y="603250"/>
                  <a:pt x="522287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3" name="Text 18"/>
          <p:cNvSpPr/>
          <p:nvPr/>
        </p:nvSpPr>
        <p:spPr>
          <a:xfrm>
            <a:off x="609600" y="3309620"/>
            <a:ext cx="75057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API成本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4865370" y="3293745"/>
            <a:ext cx="92583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$200/月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609600" y="3547650"/>
            <a:ext cx="515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ROI: 45.6倍回报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320675" y="4128674"/>
            <a:ext cx="5673725" cy="2260600"/>
          </a:xfrm>
          <a:custGeom>
            <a:avLst/>
            <a:gdLst/>
            <a:ahLst/>
            <a:cxnLst/>
            <a:rect l="l" t="t" r="r" b="b"/>
            <a:pathLst>
              <a:path w="5673725" h="2260600">
                <a:moveTo>
                  <a:pt x="95239" y="0"/>
                </a:moveTo>
                <a:lnTo>
                  <a:pt x="5578486" y="0"/>
                </a:lnTo>
                <a:cubicBezTo>
                  <a:pt x="5631085" y="0"/>
                  <a:pt x="5673725" y="42640"/>
                  <a:pt x="5673725" y="95239"/>
                </a:cubicBezTo>
                <a:lnTo>
                  <a:pt x="5673725" y="2165361"/>
                </a:lnTo>
                <a:cubicBezTo>
                  <a:pt x="5673725" y="2217960"/>
                  <a:pt x="5631085" y="2260600"/>
                  <a:pt x="5578486" y="2260600"/>
                </a:cubicBezTo>
                <a:lnTo>
                  <a:pt x="95239" y="2260600"/>
                </a:lnTo>
                <a:cubicBezTo>
                  <a:pt x="42640" y="2260600"/>
                  <a:pt x="0" y="2217960"/>
                  <a:pt x="0" y="2165361"/>
                </a:cubicBezTo>
                <a:lnTo>
                  <a:pt x="0" y="95239"/>
                </a:lnTo>
                <a:cubicBezTo>
                  <a:pt x="0" y="42640"/>
                  <a:pt x="42640" y="0"/>
                  <a:pt x="9523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7" name="Shape 22"/>
          <p:cNvSpPr/>
          <p:nvPr/>
        </p:nvSpPr>
        <p:spPr>
          <a:xfrm>
            <a:off x="534194" y="435409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6226" y="2915"/>
                </a:moveTo>
                <a:cubicBezTo>
                  <a:pt x="102350" y="-961"/>
                  <a:pt x="96056" y="-961"/>
                  <a:pt x="92180" y="2915"/>
                </a:cubicBezTo>
                <a:cubicBezTo>
                  <a:pt x="88305" y="6790"/>
                  <a:pt x="88305" y="13084"/>
                  <a:pt x="92180" y="16960"/>
                </a:cubicBezTo>
                <a:lnTo>
                  <a:pt x="95095" y="19844"/>
                </a:lnTo>
                <a:lnTo>
                  <a:pt x="8713" y="106226"/>
                </a:lnTo>
                <a:cubicBezTo>
                  <a:pt x="3132" y="111807"/>
                  <a:pt x="0" y="119373"/>
                  <a:pt x="0" y="127279"/>
                </a:cubicBezTo>
                <a:lnTo>
                  <a:pt x="0" y="128984"/>
                </a:lnTo>
                <a:cubicBezTo>
                  <a:pt x="0" y="145417"/>
                  <a:pt x="13333" y="158750"/>
                  <a:pt x="29766" y="158750"/>
                </a:cubicBezTo>
                <a:lnTo>
                  <a:pt x="31471" y="158750"/>
                </a:lnTo>
                <a:cubicBezTo>
                  <a:pt x="39377" y="158750"/>
                  <a:pt x="46943" y="155618"/>
                  <a:pt x="52524" y="150037"/>
                </a:cubicBezTo>
                <a:lnTo>
                  <a:pt x="138906" y="63655"/>
                </a:lnTo>
                <a:lnTo>
                  <a:pt x="141821" y="66570"/>
                </a:lnTo>
                <a:cubicBezTo>
                  <a:pt x="145697" y="70445"/>
                  <a:pt x="151991" y="70445"/>
                  <a:pt x="155866" y="66570"/>
                </a:cubicBezTo>
                <a:cubicBezTo>
                  <a:pt x="159742" y="62694"/>
                  <a:pt x="159742" y="56400"/>
                  <a:pt x="155866" y="52524"/>
                </a:cubicBezTo>
                <a:lnTo>
                  <a:pt x="106257" y="2915"/>
                </a:lnTo>
                <a:close/>
                <a:moveTo>
                  <a:pt x="63655" y="79375"/>
                </a:moveTo>
                <a:lnTo>
                  <a:pt x="109141" y="33889"/>
                </a:lnTo>
                <a:lnTo>
                  <a:pt x="124861" y="49609"/>
                </a:lnTo>
                <a:lnTo>
                  <a:pt x="95095" y="79375"/>
                </a:lnTo>
                <a:lnTo>
                  <a:pt x="63624" y="79375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8" name="Text 23"/>
          <p:cNvSpPr/>
          <p:nvPr/>
        </p:nvSpPr>
        <p:spPr>
          <a:xfrm>
            <a:off x="755968" y="4322347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QA测试自动化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Shape 24"/>
          <p:cNvSpPr/>
          <p:nvPr/>
        </p:nvSpPr>
        <p:spPr>
          <a:xfrm>
            <a:off x="514350" y="4671597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>
                <a:moveTo>
                  <a:pt x="63501" y="0"/>
                </a:moveTo>
                <a:lnTo>
                  <a:pt x="5222874" y="0"/>
                </a:lnTo>
                <a:cubicBezTo>
                  <a:pt x="5257945" y="0"/>
                  <a:pt x="5286375" y="28430"/>
                  <a:pt x="5286375" y="63501"/>
                </a:cubicBezTo>
                <a:lnTo>
                  <a:pt x="5286375" y="603249"/>
                </a:lnTo>
                <a:cubicBezTo>
                  <a:pt x="5286375" y="638320"/>
                  <a:pt x="5257945" y="666750"/>
                  <a:pt x="52228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0" name="Text 25"/>
          <p:cNvSpPr/>
          <p:nvPr/>
        </p:nvSpPr>
        <p:spPr>
          <a:xfrm>
            <a:off x="641350" y="4798597"/>
            <a:ext cx="5087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应用场景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641350" y="5020847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5人QA团队执行回归测试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Shape 27"/>
          <p:cNvSpPr/>
          <p:nvPr/>
        </p:nvSpPr>
        <p:spPr>
          <a:xfrm>
            <a:off x="514350" y="5433597"/>
            <a:ext cx="2595563" cy="762000"/>
          </a:xfrm>
          <a:custGeom>
            <a:avLst/>
            <a:gdLst/>
            <a:ahLst/>
            <a:cxnLst/>
            <a:rect l="l" t="t" r="r" b="b"/>
            <a:pathLst>
              <a:path w="2595563" h="762000">
                <a:moveTo>
                  <a:pt x="63497" y="0"/>
                </a:moveTo>
                <a:lnTo>
                  <a:pt x="2532065" y="0"/>
                </a:lnTo>
                <a:cubicBezTo>
                  <a:pt x="2567134" y="0"/>
                  <a:pt x="2595563" y="28429"/>
                  <a:pt x="2595563" y="63497"/>
                </a:cubicBezTo>
                <a:lnTo>
                  <a:pt x="2595563" y="698503"/>
                </a:lnTo>
                <a:cubicBezTo>
                  <a:pt x="2595563" y="733571"/>
                  <a:pt x="2567134" y="762000"/>
                  <a:pt x="2532065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3" name="Text 28"/>
          <p:cNvSpPr/>
          <p:nvPr/>
        </p:nvSpPr>
        <p:spPr>
          <a:xfrm>
            <a:off x="581819" y="5528847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测试覆盖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561975" y="5719347"/>
            <a:ext cx="250031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3×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585788" y="5973247"/>
            <a:ext cx="2452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更多场景</a:t>
            </a:r>
            <a:endParaRPr lang="en-US" sz="9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Shape 31"/>
          <p:cNvSpPr/>
          <p:nvPr/>
        </p:nvSpPr>
        <p:spPr>
          <a:xfrm>
            <a:off x="3206750" y="5433597"/>
            <a:ext cx="2595563" cy="762000"/>
          </a:xfrm>
          <a:custGeom>
            <a:avLst/>
            <a:gdLst/>
            <a:ahLst/>
            <a:cxnLst/>
            <a:rect l="l" t="t" r="r" b="b"/>
            <a:pathLst>
              <a:path w="2595563" h="762000">
                <a:moveTo>
                  <a:pt x="63497" y="0"/>
                </a:moveTo>
                <a:lnTo>
                  <a:pt x="2532065" y="0"/>
                </a:lnTo>
                <a:cubicBezTo>
                  <a:pt x="2567134" y="0"/>
                  <a:pt x="2595563" y="28429"/>
                  <a:pt x="2595563" y="63497"/>
                </a:cubicBezTo>
                <a:lnTo>
                  <a:pt x="2595563" y="698503"/>
                </a:lnTo>
                <a:cubicBezTo>
                  <a:pt x="2595563" y="733571"/>
                  <a:pt x="2567134" y="762000"/>
                  <a:pt x="2532065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7" name="Text 32"/>
          <p:cNvSpPr/>
          <p:nvPr/>
        </p:nvSpPr>
        <p:spPr>
          <a:xfrm>
            <a:off x="3274219" y="5528847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周期加速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Text 33"/>
          <p:cNvSpPr/>
          <p:nvPr/>
        </p:nvSpPr>
        <p:spPr>
          <a:xfrm>
            <a:off x="3254375" y="5719347"/>
            <a:ext cx="250031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20-30%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3278188" y="5973247"/>
            <a:ext cx="2452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产品上市</a:t>
            </a:r>
            <a:endParaRPr lang="en-US" sz="9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0" name="Shape 35"/>
          <p:cNvSpPr/>
          <p:nvPr/>
        </p:nvSpPr>
        <p:spPr>
          <a:xfrm>
            <a:off x="6194425" y="1004570"/>
            <a:ext cx="5673725" cy="2355850"/>
          </a:xfrm>
          <a:custGeom>
            <a:avLst/>
            <a:gdLst/>
            <a:ahLst/>
            <a:cxnLst/>
            <a:rect l="l" t="t" r="r" b="b"/>
            <a:pathLst>
              <a:path w="5673725" h="2355850">
                <a:moveTo>
                  <a:pt x="95247" y="0"/>
                </a:moveTo>
                <a:lnTo>
                  <a:pt x="5578478" y="0"/>
                </a:lnTo>
                <a:cubicBezTo>
                  <a:pt x="5631081" y="0"/>
                  <a:pt x="5673725" y="42644"/>
                  <a:pt x="5673725" y="95247"/>
                </a:cubicBezTo>
                <a:lnTo>
                  <a:pt x="5673725" y="2260603"/>
                </a:lnTo>
                <a:cubicBezTo>
                  <a:pt x="5673725" y="2313206"/>
                  <a:pt x="5631081" y="2355850"/>
                  <a:pt x="5578478" y="2355850"/>
                </a:cubicBezTo>
                <a:lnTo>
                  <a:pt x="95247" y="2355850"/>
                </a:lnTo>
                <a:cubicBezTo>
                  <a:pt x="42644" y="2355850"/>
                  <a:pt x="0" y="2313206"/>
                  <a:pt x="0" y="22606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1" name="Shape 36"/>
          <p:cNvSpPr/>
          <p:nvPr/>
        </p:nvSpPr>
        <p:spPr>
          <a:xfrm>
            <a:off x="6417866" y="122999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2" name="Text 37"/>
          <p:cNvSpPr/>
          <p:nvPr/>
        </p:nvSpPr>
        <p:spPr>
          <a:xfrm>
            <a:off x="6629717" y="1198243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遗留系统数据迁移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3" name="Shape 38"/>
          <p:cNvSpPr/>
          <p:nvPr/>
        </p:nvSpPr>
        <p:spPr>
          <a:xfrm>
            <a:off x="6388100" y="154749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>
                <a:moveTo>
                  <a:pt x="63501" y="0"/>
                </a:moveTo>
                <a:lnTo>
                  <a:pt x="5222874" y="0"/>
                </a:lnTo>
                <a:cubicBezTo>
                  <a:pt x="5257945" y="0"/>
                  <a:pt x="5286375" y="28430"/>
                  <a:pt x="5286375" y="63501"/>
                </a:cubicBezTo>
                <a:lnTo>
                  <a:pt x="5286375" y="603249"/>
                </a:lnTo>
                <a:cubicBezTo>
                  <a:pt x="5286375" y="638320"/>
                  <a:pt x="5257945" y="666750"/>
                  <a:pt x="52228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64" name="Text 39"/>
          <p:cNvSpPr/>
          <p:nvPr/>
        </p:nvSpPr>
        <p:spPr>
          <a:xfrm>
            <a:off x="6515100" y="1674493"/>
            <a:ext cx="5087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应用场景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Text 40"/>
          <p:cNvSpPr/>
          <p:nvPr/>
        </p:nvSpPr>
        <p:spPr>
          <a:xfrm>
            <a:off x="6515100" y="1896743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从遗留ERP系统迁移到云端平台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Shape 41"/>
          <p:cNvSpPr/>
          <p:nvPr/>
        </p:nvSpPr>
        <p:spPr>
          <a:xfrm>
            <a:off x="6388100" y="2309493"/>
            <a:ext cx="2595563" cy="603250"/>
          </a:xfrm>
          <a:custGeom>
            <a:avLst/>
            <a:gdLst/>
            <a:ahLst/>
            <a:cxnLst/>
            <a:rect l="l" t="t" r="r" b="b"/>
            <a:pathLst>
              <a:path w="2595563" h="603250">
                <a:moveTo>
                  <a:pt x="63498" y="0"/>
                </a:moveTo>
                <a:lnTo>
                  <a:pt x="2532064" y="0"/>
                </a:lnTo>
                <a:cubicBezTo>
                  <a:pt x="2567133" y="0"/>
                  <a:pt x="2595563" y="28429"/>
                  <a:pt x="2595563" y="63498"/>
                </a:cubicBezTo>
                <a:lnTo>
                  <a:pt x="2595563" y="539752"/>
                </a:lnTo>
                <a:cubicBezTo>
                  <a:pt x="2595563" y="574821"/>
                  <a:pt x="2567133" y="603250"/>
                  <a:pt x="253206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67" name="Text 42"/>
          <p:cNvSpPr/>
          <p:nvPr/>
        </p:nvSpPr>
        <p:spPr>
          <a:xfrm>
            <a:off x="6455569" y="2404743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传统方式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8" name="Text 43"/>
          <p:cNvSpPr/>
          <p:nvPr/>
        </p:nvSpPr>
        <p:spPr>
          <a:xfrm>
            <a:off x="6443662" y="2595243"/>
            <a:ext cx="2484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4-6个月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Shape 44"/>
          <p:cNvSpPr/>
          <p:nvPr/>
        </p:nvSpPr>
        <p:spPr>
          <a:xfrm>
            <a:off x="9080500" y="2309493"/>
            <a:ext cx="2595563" cy="603250"/>
          </a:xfrm>
          <a:custGeom>
            <a:avLst/>
            <a:gdLst/>
            <a:ahLst/>
            <a:cxnLst/>
            <a:rect l="l" t="t" r="r" b="b"/>
            <a:pathLst>
              <a:path w="2595563" h="603250">
                <a:moveTo>
                  <a:pt x="63498" y="0"/>
                </a:moveTo>
                <a:lnTo>
                  <a:pt x="2532064" y="0"/>
                </a:lnTo>
                <a:cubicBezTo>
                  <a:pt x="2567133" y="0"/>
                  <a:pt x="2595563" y="28429"/>
                  <a:pt x="2595563" y="63498"/>
                </a:cubicBezTo>
                <a:lnTo>
                  <a:pt x="2595563" y="539752"/>
                </a:lnTo>
                <a:cubicBezTo>
                  <a:pt x="2595563" y="574821"/>
                  <a:pt x="2567133" y="603250"/>
                  <a:pt x="253206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0" name="Text 45"/>
          <p:cNvSpPr/>
          <p:nvPr/>
        </p:nvSpPr>
        <p:spPr>
          <a:xfrm>
            <a:off x="9147969" y="2404743"/>
            <a:ext cx="2460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Claude CU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1" name="Text 46"/>
          <p:cNvSpPr/>
          <p:nvPr/>
        </p:nvSpPr>
        <p:spPr>
          <a:xfrm>
            <a:off x="9136063" y="2595243"/>
            <a:ext cx="2484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3-4周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 47"/>
          <p:cNvSpPr/>
          <p:nvPr/>
        </p:nvSpPr>
        <p:spPr>
          <a:xfrm>
            <a:off x="6360319" y="3007993"/>
            <a:ext cx="5341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时间压缩 </a:t>
            </a:r>
            <a:r>
              <a:rPr lang="en-US" sz="108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75-85%</a:t>
            </a:r>
            <a:endParaRPr lang="en-US" sz="108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Shape 48"/>
          <p:cNvSpPr/>
          <p:nvPr/>
        </p:nvSpPr>
        <p:spPr>
          <a:xfrm>
            <a:off x="6194425" y="3493770"/>
            <a:ext cx="5673725" cy="3228340"/>
          </a:xfrm>
          <a:custGeom>
            <a:avLst/>
            <a:gdLst/>
            <a:ahLst/>
            <a:cxnLst/>
            <a:rect l="l" t="t" r="r" b="b"/>
            <a:pathLst>
              <a:path w="5673725" h="3340100">
                <a:moveTo>
                  <a:pt x="95260" y="0"/>
                </a:moveTo>
                <a:lnTo>
                  <a:pt x="5578465" y="0"/>
                </a:lnTo>
                <a:cubicBezTo>
                  <a:pt x="5631076" y="0"/>
                  <a:pt x="5673725" y="42649"/>
                  <a:pt x="5673725" y="95260"/>
                </a:cubicBezTo>
                <a:lnTo>
                  <a:pt x="5673725" y="3244840"/>
                </a:lnTo>
                <a:cubicBezTo>
                  <a:pt x="5673725" y="3297451"/>
                  <a:pt x="5631076" y="3340100"/>
                  <a:pt x="5578465" y="3340100"/>
                </a:cubicBezTo>
                <a:lnTo>
                  <a:pt x="95260" y="3340100"/>
                </a:lnTo>
                <a:cubicBezTo>
                  <a:pt x="42649" y="3340100"/>
                  <a:pt x="0" y="3297451"/>
                  <a:pt x="0" y="3244840"/>
                </a:cubicBezTo>
                <a:lnTo>
                  <a:pt x="0" y="95260"/>
                </a:lnTo>
                <a:cubicBezTo>
                  <a:pt x="0" y="42684"/>
                  <a:pt x="42684" y="0"/>
                  <a:pt x="9526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4" name="Shape 49"/>
          <p:cNvSpPr/>
          <p:nvPr/>
        </p:nvSpPr>
        <p:spPr>
          <a:xfrm>
            <a:off x="6388100" y="371919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5" name="Text 50"/>
          <p:cNvSpPr/>
          <p:nvPr/>
        </p:nvSpPr>
        <p:spPr>
          <a:xfrm>
            <a:off x="6629717" y="3687448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成本效益对比: RPA vs Claude CU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Shape 51"/>
          <p:cNvSpPr/>
          <p:nvPr/>
        </p:nvSpPr>
        <p:spPr>
          <a:xfrm>
            <a:off x="6388100" y="4036698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7" name="Text 52"/>
          <p:cNvSpPr/>
          <p:nvPr/>
        </p:nvSpPr>
        <p:spPr>
          <a:xfrm>
            <a:off x="6483350" y="4099560"/>
            <a:ext cx="1260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RPA工具年成本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 53"/>
          <p:cNvSpPr/>
          <p:nvPr/>
        </p:nvSpPr>
        <p:spPr>
          <a:xfrm>
            <a:off x="6483350" y="4322448"/>
            <a:ext cx="928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bots配置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 54"/>
          <p:cNvSpPr/>
          <p:nvPr/>
        </p:nvSpPr>
        <p:spPr>
          <a:xfrm>
            <a:off x="10893425" y="4179570"/>
            <a:ext cx="78168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$300K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0" name="Shape 55"/>
          <p:cNvSpPr/>
          <p:nvPr/>
        </p:nvSpPr>
        <p:spPr>
          <a:xfrm>
            <a:off x="6388100" y="4671698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1" name="Text 56"/>
          <p:cNvSpPr/>
          <p:nvPr/>
        </p:nvSpPr>
        <p:spPr>
          <a:xfrm>
            <a:off x="6483350" y="4734560"/>
            <a:ext cx="150304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CU年成本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 57"/>
          <p:cNvSpPr/>
          <p:nvPr/>
        </p:nvSpPr>
        <p:spPr>
          <a:xfrm>
            <a:off x="6483350" y="4957448"/>
            <a:ext cx="1055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bots配置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 58"/>
          <p:cNvSpPr/>
          <p:nvPr/>
        </p:nvSpPr>
        <p:spPr>
          <a:xfrm>
            <a:off x="10893425" y="4814570"/>
            <a:ext cx="78168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$1,080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4" name="Shape 59"/>
          <p:cNvSpPr/>
          <p:nvPr/>
        </p:nvSpPr>
        <p:spPr>
          <a:xfrm>
            <a:off x="6388100" y="5306698"/>
            <a:ext cx="5286375" cy="1111250"/>
          </a:xfrm>
          <a:custGeom>
            <a:avLst/>
            <a:gdLst/>
            <a:ahLst/>
            <a:cxnLst/>
            <a:rect l="l" t="t" r="r" b="b"/>
            <a:pathLst>
              <a:path w="5286375" h="1111250">
                <a:moveTo>
                  <a:pt x="63497" y="0"/>
                </a:moveTo>
                <a:lnTo>
                  <a:pt x="5222878" y="0"/>
                </a:lnTo>
                <a:cubicBezTo>
                  <a:pt x="5257947" y="0"/>
                  <a:pt x="5286375" y="28428"/>
                  <a:pt x="5286375" y="63497"/>
                </a:cubicBezTo>
                <a:lnTo>
                  <a:pt x="5286375" y="1047753"/>
                </a:lnTo>
                <a:cubicBezTo>
                  <a:pt x="5286375" y="1082822"/>
                  <a:pt x="5257947" y="1111250"/>
                  <a:pt x="5222878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5" name="Text 60"/>
          <p:cNvSpPr/>
          <p:nvPr/>
        </p:nvSpPr>
        <p:spPr>
          <a:xfrm>
            <a:off x="6483350" y="5395598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成本降低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6" name="Text 61"/>
          <p:cNvSpPr/>
          <p:nvPr/>
        </p:nvSpPr>
        <p:spPr>
          <a:xfrm>
            <a:off x="6419850" y="5779138"/>
            <a:ext cx="52228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60-75%</a:t>
            </a:r>
            <a:endParaRPr lang="en-US" sz="3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7" name="Text 62"/>
          <p:cNvSpPr/>
          <p:nvPr/>
        </p:nvSpPr>
        <p:spPr>
          <a:xfrm>
            <a:off x="6487319" y="6162678"/>
            <a:ext cx="5087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实施周期缩短 </a:t>
            </a:r>
            <a:r>
              <a:rPr lang="en-US" sz="108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endParaRPr lang="en-US" sz="108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 63"/>
          <p:cNvSpPr/>
          <p:nvPr/>
        </p:nvSpPr>
        <p:spPr>
          <a:xfrm>
            <a:off x="6388100" y="6513198"/>
            <a:ext cx="533400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数据来源: Anthropic Claude Computer Use API企业案例 (2026)</a:t>
            </a:r>
            <a:endParaRPr lang="en-US" sz="9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843026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GPT-5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工具调用能力</a:t>
            </a: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: 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多步骤任务编排突破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1019" y="1183927"/>
            <a:ext cx="5660103" cy="1940232"/>
          </a:xfrm>
          <a:custGeom>
            <a:avLst/>
            <a:gdLst/>
            <a:ahLst/>
            <a:cxnLst/>
            <a:rect l="l" t="t" r="r" b="b"/>
            <a:pathLst>
              <a:path w="5660103" h="1940232">
                <a:moveTo>
                  <a:pt x="98331" y="0"/>
                </a:moveTo>
                <a:lnTo>
                  <a:pt x="5561772" y="0"/>
                </a:lnTo>
                <a:cubicBezTo>
                  <a:pt x="5616079" y="0"/>
                  <a:pt x="5660103" y="44024"/>
                  <a:pt x="5660103" y="98331"/>
                </a:cubicBezTo>
                <a:lnTo>
                  <a:pt x="5660103" y="1841901"/>
                </a:lnTo>
                <a:cubicBezTo>
                  <a:pt x="5660103" y="1896208"/>
                  <a:pt x="5616079" y="1940232"/>
                  <a:pt x="5561772" y="1940232"/>
                </a:cubicBezTo>
                <a:lnTo>
                  <a:pt x="98331" y="1940232"/>
                </a:lnTo>
                <a:cubicBezTo>
                  <a:pt x="44024" y="1940232"/>
                  <a:pt x="0" y="1896208"/>
                  <a:pt x="0" y="1841901"/>
                </a:cubicBezTo>
                <a:lnTo>
                  <a:pt x="0" y="98331"/>
                </a:lnTo>
                <a:cubicBezTo>
                  <a:pt x="0" y="44061"/>
                  <a:pt x="44061" y="0"/>
                  <a:pt x="98331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1426" y="1287082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38407" y="17923"/>
                </a:moveTo>
                <a:cubicBezTo>
                  <a:pt x="38407" y="8034"/>
                  <a:pt x="46441" y="0"/>
                  <a:pt x="56331" y="0"/>
                </a:cubicBezTo>
                <a:lnTo>
                  <a:pt x="64012" y="0"/>
                </a:lnTo>
                <a:cubicBezTo>
                  <a:pt x="69677" y="0"/>
                  <a:pt x="74254" y="4577"/>
                  <a:pt x="74254" y="10242"/>
                </a:cubicBezTo>
                <a:lnTo>
                  <a:pt x="74254" y="153629"/>
                </a:lnTo>
                <a:cubicBezTo>
                  <a:pt x="74254" y="159294"/>
                  <a:pt x="69677" y="163871"/>
                  <a:pt x="64012" y="163871"/>
                </a:cubicBezTo>
                <a:lnTo>
                  <a:pt x="53770" y="163871"/>
                </a:lnTo>
                <a:cubicBezTo>
                  <a:pt x="44232" y="163871"/>
                  <a:pt x="36199" y="157342"/>
                  <a:pt x="33926" y="148508"/>
                </a:cubicBezTo>
                <a:cubicBezTo>
                  <a:pt x="33702" y="148508"/>
                  <a:pt x="33510" y="148508"/>
                  <a:pt x="33286" y="148508"/>
                </a:cubicBezTo>
                <a:cubicBezTo>
                  <a:pt x="19140" y="148508"/>
                  <a:pt x="7681" y="137050"/>
                  <a:pt x="7681" y="122903"/>
                </a:cubicBezTo>
                <a:cubicBezTo>
                  <a:pt x="7681" y="117142"/>
                  <a:pt x="9602" y="111829"/>
                  <a:pt x="12802" y="107540"/>
                </a:cubicBezTo>
                <a:cubicBezTo>
                  <a:pt x="6593" y="102867"/>
                  <a:pt x="2560" y="95442"/>
                  <a:pt x="2560" y="87056"/>
                </a:cubicBezTo>
                <a:cubicBezTo>
                  <a:pt x="2560" y="77167"/>
                  <a:pt x="8194" y="68557"/>
                  <a:pt x="16387" y="64300"/>
                </a:cubicBezTo>
                <a:cubicBezTo>
                  <a:pt x="14115" y="60459"/>
                  <a:pt x="12802" y="55979"/>
                  <a:pt x="12802" y="51210"/>
                </a:cubicBezTo>
                <a:cubicBezTo>
                  <a:pt x="12802" y="37063"/>
                  <a:pt x="24261" y="25605"/>
                  <a:pt x="38407" y="25605"/>
                </a:cubicBezTo>
                <a:lnTo>
                  <a:pt x="38407" y="17923"/>
                </a:lnTo>
                <a:close/>
                <a:moveTo>
                  <a:pt x="125464" y="17923"/>
                </a:moveTo>
                <a:lnTo>
                  <a:pt x="125464" y="25605"/>
                </a:lnTo>
                <a:cubicBezTo>
                  <a:pt x="139610" y="25605"/>
                  <a:pt x="151069" y="37063"/>
                  <a:pt x="151069" y="51210"/>
                </a:cubicBezTo>
                <a:cubicBezTo>
                  <a:pt x="151069" y="56011"/>
                  <a:pt x="149756" y="60491"/>
                  <a:pt x="147484" y="64300"/>
                </a:cubicBezTo>
                <a:cubicBezTo>
                  <a:pt x="155709" y="68557"/>
                  <a:pt x="161310" y="77135"/>
                  <a:pt x="161310" y="87056"/>
                </a:cubicBezTo>
                <a:cubicBezTo>
                  <a:pt x="161310" y="95442"/>
                  <a:pt x="157278" y="102867"/>
                  <a:pt x="151069" y="107540"/>
                </a:cubicBezTo>
                <a:cubicBezTo>
                  <a:pt x="154269" y="111829"/>
                  <a:pt x="156190" y="117142"/>
                  <a:pt x="156190" y="122903"/>
                </a:cubicBezTo>
                <a:cubicBezTo>
                  <a:pt x="156190" y="137050"/>
                  <a:pt x="144731" y="148508"/>
                  <a:pt x="130585" y="148508"/>
                </a:cubicBezTo>
                <a:cubicBezTo>
                  <a:pt x="130361" y="148508"/>
                  <a:pt x="130169" y="148508"/>
                  <a:pt x="129945" y="148508"/>
                </a:cubicBezTo>
                <a:cubicBezTo>
                  <a:pt x="127672" y="157342"/>
                  <a:pt x="119639" y="163871"/>
                  <a:pt x="110101" y="163871"/>
                </a:cubicBezTo>
                <a:lnTo>
                  <a:pt x="99859" y="163871"/>
                </a:lnTo>
                <a:cubicBezTo>
                  <a:pt x="94194" y="163871"/>
                  <a:pt x="89617" y="159294"/>
                  <a:pt x="89617" y="153629"/>
                </a:cubicBezTo>
                <a:lnTo>
                  <a:pt x="89617" y="10242"/>
                </a:lnTo>
                <a:cubicBezTo>
                  <a:pt x="89617" y="4577"/>
                  <a:pt x="94194" y="0"/>
                  <a:pt x="99859" y="0"/>
                </a:cubicBezTo>
                <a:lnTo>
                  <a:pt x="107540" y="0"/>
                </a:lnTo>
                <a:cubicBezTo>
                  <a:pt x="117430" y="0"/>
                  <a:pt x="125464" y="8034"/>
                  <a:pt x="125464" y="1792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" name="Text 5"/>
          <p:cNvSpPr/>
          <p:nvPr/>
        </p:nvSpPr>
        <p:spPr>
          <a:xfrm>
            <a:off x="735781" y="1254308"/>
            <a:ext cx="5137355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GPT-5统一推理架构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0942" y="1679594"/>
            <a:ext cx="5325806" cy="426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GPT-5通过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统一推理架构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实现"Instant"和"Thinking"模式的智能切换。模型能够根据任务复杂度自动选择推理深度,在保证响应速度的同时,确保复杂任务的准确性。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0942" y="2301525"/>
            <a:ext cx="2580968" cy="622710"/>
          </a:xfrm>
          <a:custGeom>
            <a:avLst/>
            <a:gdLst/>
            <a:ahLst/>
            <a:cxnLst/>
            <a:rect l="l" t="t" r="r" b="b"/>
            <a:pathLst>
              <a:path w="2580968" h="622710">
                <a:moveTo>
                  <a:pt x="65546" y="0"/>
                </a:moveTo>
                <a:lnTo>
                  <a:pt x="2515421" y="0"/>
                </a:lnTo>
                <a:cubicBezTo>
                  <a:pt x="2551622" y="0"/>
                  <a:pt x="2580968" y="29346"/>
                  <a:pt x="2580968" y="65546"/>
                </a:cubicBezTo>
                <a:lnTo>
                  <a:pt x="2580968" y="557163"/>
                </a:lnTo>
                <a:cubicBezTo>
                  <a:pt x="2580968" y="593364"/>
                  <a:pt x="2551622" y="622710"/>
                  <a:pt x="2515421" y="622710"/>
                </a:cubicBezTo>
                <a:lnTo>
                  <a:pt x="65546" y="622710"/>
                </a:lnTo>
                <a:cubicBezTo>
                  <a:pt x="29346" y="622710"/>
                  <a:pt x="0" y="593364"/>
                  <a:pt x="0" y="557163"/>
                </a:cubicBezTo>
                <a:lnTo>
                  <a:pt x="0" y="65546"/>
                </a:lnTo>
                <a:cubicBezTo>
                  <a:pt x="0" y="29370"/>
                  <a:pt x="29370" y="0"/>
                  <a:pt x="6554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0" name="Shape 8"/>
          <p:cNvSpPr/>
          <p:nvPr/>
        </p:nvSpPr>
        <p:spPr>
          <a:xfrm>
            <a:off x="653845" y="2432622"/>
            <a:ext cx="114710" cy="131097"/>
          </a:xfrm>
          <a:custGeom>
            <a:avLst/>
            <a:gdLst/>
            <a:ahLst/>
            <a:cxnLst/>
            <a:rect l="l" t="t" r="r" b="b"/>
            <a:pathLst>
              <a:path w="114710" h="131097">
                <a:moveTo>
                  <a:pt x="86749" y="-2535"/>
                </a:moveTo>
                <a:cubicBezTo>
                  <a:pt x="89796" y="-333"/>
                  <a:pt x="90923" y="3661"/>
                  <a:pt x="89540" y="7144"/>
                </a:cubicBezTo>
                <a:lnTo>
                  <a:pt x="69466" y="57355"/>
                </a:lnTo>
                <a:lnTo>
                  <a:pt x="106516" y="57355"/>
                </a:lnTo>
                <a:cubicBezTo>
                  <a:pt x="109973" y="57355"/>
                  <a:pt x="113045" y="59506"/>
                  <a:pt x="114223" y="62757"/>
                </a:cubicBezTo>
                <a:cubicBezTo>
                  <a:pt x="115401" y="66009"/>
                  <a:pt x="114402" y="69645"/>
                  <a:pt x="111765" y="71847"/>
                </a:cubicBezTo>
                <a:lnTo>
                  <a:pt x="38023" y="133299"/>
                </a:lnTo>
                <a:cubicBezTo>
                  <a:pt x="35130" y="135706"/>
                  <a:pt x="31007" y="135834"/>
                  <a:pt x="27960" y="133632"/>
                </a:cubicBezTo>
                <a:cubicBezTo>
                  <a:pt x="24914" y="131430"/>
                  <a:pt x="23787" y="127435"/>
                  <a:pt x="25170" y="123953"/>
                </a:cubicBezTo>
                <a:lnTo>
                  <a:pt x="45244" y="73742"/>
                </a:lnTo>
                <a:lnTo>
                  <a:pt x="8194" y="73742"/>
                </a:lnTo>
                <a:cubicBezTo>
                  <a:pt x="4737" y="73742"/>
                  <a:pt x="1664" y="71591"/>
                  <a:pt x="486" y="68339"/>
                </a:cubicBezTo>
                <a:cubicBezTo>
                  <a:pt x="-691" y="65087"/>
                  <a:pt x="307" y="61452"/>
                  <a:pt x="2945" y="59250"/>
                </a:cubicBezTo>
                <a:lnTo>
                  <a:pt x="76686" y="-2202"/>
                </a:lnTo>
                <a:cubicBezTo>
                  <a:pt x="79580" y="-4609"/>
                  <a:pt x="83702" y="-4737"/>
                  <a:pt x="86749" y="-253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1" name="Text 9"/>
          <p:cNvSpPr/>
          <p:nvPr/>
        </p:nvSpPr>
        <p:spPr>
          <a:xfrm>
            <a:off x="858520" y="2399665"/>
            <a:ext cx="1178560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Instant模式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9265" y="2662041"/>
            <a:ext cx="2441677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快速响应,适合简单查询和常规任务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11871" y="2301525"/>
            <a:ext cx="2580968" cy="622710"/>
          </a:xfrm>
          <a:custGeom>
            <a:avLst/>
            <a:gdLst/>
            <a:ahLst/>
            <a:cxnLst/>
            <a:rect l="l" t="t" r="r" b="b"/>
            <a:pathLst>
              <a:path w="2580968" h="622710">
                <a:moveTo>
                  <a:pt x="65546" y="0"/>
                </a:moveTo>
                <a:lnTo>
                  <a:pt x="2515421" y="0"/>
                </a:lnTo>
                <a:cubicBezTo>
                  <a:pt x="2551622" y="0"/>
                  <a:pt x="2580968" y="29346"/>
                  <a:pt x="2580968" y="65546"/>
                </a:cubicBezTo>
                <a:lnTo>
                  <a:pt x="2580968" y="557163"/>
                </a:lnTo>
                <a:cubicBezTo>
                  <a:pt x="2580968" y="593364"/>
                  <a:pt x="2551622" y="622710"/>
                  <a:pt x="2515421" y="622710"/>
                </a:cubicBezTo>
                <a:lnTo>
                  <a:pt x="65546" y="622710"/>
                </a:lnTo>
                <a:cubicBezTo>
                  <a:pt x="29346" y="622710"/>
                  <a:pt x="0" y="593364"/>
                  <a:pt x="0" y="557163"/>
                </a:cubicBezTo>
                <a:lnTo>
                  <a:pt x="0" y="65546"/>
                </a:lnTo>
                <a:cubicBezTo>
                  <a:pt x="0" y="29370"/>
                  <a:pt x="29370" y="0"/>
                  <a:pt x="6554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4" name="Shape 12"/>
          <p:cNvSpPr/>
          <p:nvPr/>
        </p:nvSpPr>
        <p:spPr>
          <a:xfrm>
            <a:off x="3326581" y="2432622"/>
            <a:ext cx="131097" cy="131097"/>
          </a:xfrm>
          <a:custGeom>
            <a:avLst/>
            <a:gdLst/>
            <a:ahLst/>
            <a:cxnLst/>
            <a:rect l="l" t="t" r="r" b="b"/>
            <a:pathLst>
              <a:path w="131097" h="131097">
                <a:moveTo>
                  <a:pt x="30726" y="14339"/>
                </a:moveTo>
                <a:cubicBezTo>
                  <a:pt x="30726" y="6427"/>
                  <a:pt x="37153" y="0"/>
                  <a:pt x="45065" y="0"/>
                </a:cubicBezTo>
                <a:lnTo>
                  <a:pt x="51210" y="0"/>
                </a:lnTo>
                <a:cubicBezTo>
                  <a:pt x="55742" y="0"/>
                  <a:pt x="59403" y="3661"/>
                  <a:pt x="59403" y="8194"/>
                </a:cubicBezTo>
                <a:lnTo>
                  <a:pt x="59403" y="122903"/>
                </a:lnTo>
                <a:cubicBezTo>
                  <a:pt x="59403" y="127435"/>
                  <a:pt x="55742" y="131097"/>
                  <a:pt x="51210" y="131097"/>
                </a:cubicBezTo>
                <a:lnTo>
                  <a:pt x="43016" y="131097"/>
                </a:lnTo>
                <a:cubicBezTo>
                  <a:pt x="35386" y="131097"/>
                  <a:pt x="28959" y="125873"/>
                  <a:pt x="27141" y="118806"/>
                </a:cubicBezTo>
                <a:cubicBezTo>
                  <a:pt x="26962" y="118806"/>
                  <a:pt x="26808" y="118806"/>
                  <a:pt x="26629" y="118806"/>
                </a:cubicBezTo>
                <a:cubicBezTo>
                  <a:pt x="15312" y="118806"/>
                  <a:pt x="6145" y="109640"/>
                  <a:pt x="6145" y="98323"/>
                </a:cubicBezTo>
                <a:cubicBezTo>
                  <a:pt x="6145" y="93714"/>
                  <a:pt x="7681" y="89463"/>
                  <a:pt x="10242" y="86032"/>
                </a:cubicBezTo>
                <a:cubicBezTo>
                  <a:pt x="5275" y="82294"/>
                  <a:pt x="2048" y="76354"/>
                  <a:pt x="2048" y="69645"/>
                </a:cubicBezTo>
                <a:cubicBezTo>
                  <a:pt x="2048" y="61733"/>
                  <a:pt x="6555" y="54846"/>
                  <a:pt x="13110" y="51440"/>
                </a:cubicBezTo>
                <a:cubicBezTo>
                  <a:pt x="11292" y="48368"/>
                  <a:pt x="10242" y="44783"/>
                  <a:pt x="10242" y="40968"/>
                </a:cubicBezTo>
                <a:cubicBezTo>
                  <a:pt x="10242" y="29650"/>
                  <a:pt x="19408" y="20484"/>
                  <a:pt x="30726" y="20484"/>
                </a:cubicBezTo>
                <a:lnTo>
                  <a:pt x="30726" y="14339"/>
                </a:lnTo>
                <a:close/>
                <a:moveTo>
                  <a:pt x="100371" y="14339"/>
                </a:moveTo>
                <a:lnTo>
                  <a:pt x="100371" y="20484"/>
                </a:lnTo>
                <a:cubicBezTo>
                  <a:pt x="111688" y="20484"/>
                  <a:pt x="120855" y="29650"/>
                  <a:pt x="120855" y="40968"/>
                </a:cubicBezTo>
                <a:cubicBezTo>
                  <a:pt x="120855" y="44808"/>
                  <a:pt x="119805" y="48393"/>
                  <a:pt x="117987" y="51440"/>
                </a:cubicBezTo>
                <a:cubicBezTo>
                  <a:pt x="124568" y="54846"/>
                  <a:pt x="129048" y="61708"/>
                  <a:pt x="129048" y="69645"/>
                </a:cubicBezTo>
                <a:cubicBezTo>
                  <a:pt x="129048" y="76354"/>
                  <a:pt x="125822" y="82294"/>
                  <a:pt x="120855" y="86032"/>
                </a:cubicBezTo>
                <a:cubicBezTo>
                  <a:pt x="123415" y="89463"/>
                  <a:pt x="124952" y="93714"/>
                  <a:pt x="124952" y="98323"/>
                </a:cubicBezTo>
                <a:cubicBezTo>
                  <a:pt x="124952" y="109640"/>
                  <a:pt x="115785" y="118806"/>
                  <a:pt x="104468" y="118806"/>
                </a:cubicBezTo>
                <a:cubicBezTo>
                  <a:pt x="104289" y="118806"/>
                  <a:pt x="104135" y="118806"/>
                  <a:pt x="103956" y="118806"/>
                </a:cubicBezTo>
                <a:cubicBezTo>
                  <a:pt x="102138" y="125873"/>
                  <a:pt x="95711" y="131097"/>
                  <a:pt x="88081" y="131097"/>
                </a:cubicBezTo>
                <a:lnTo>
                  <a:pt x="79887" y="131097"/>
                </a:lnTo>
                <a:cubicBezTo>
                  <a:pt x="75355" y="131097"/>
                  <a:pt x="71694" y="127435"/>
                  <a:pt x="71694" y="122903"/>
                </a:cubicBezTo>
                <a:lnTo>
                  <a:pt x="71694" y="8194"/>
                </a:lnTo>
                <a:cubicBezTo>
                  <a:pt x="71694" y="3661"/>
                  <a:pt x="75355" y="0"/>
                  <a:pt x="79887" y="0"/>
                </a:cubicBezTo>
                <a:lnTo>
                  <a:pt x="86032" y="0"/>
                </a:lnTo>
                <a:cubicBezTo>
                  <a:pt x="93944" y="0"/>
                  <a:pt x="100371" y="6427"/>
                  <a:pt x="100371" y="1433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5" name="Text 13"/>
          <p:cNvSpPr/>
          <p:nvPr/>
        </p:nvSpPr>
        <p:spPr>
          <a:xfrm>
            <a:off x="3539490" y="2399665"/>
            <a:ext cx="1292860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Thinking模式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10194" y="2662041"/>
            <a:ext cx="2441677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深度推理,适合复杂多步骤任务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1019" y="3261807"/>
            <a:ext cx="5660103" cy="3316748"/>
          </a:xfrm>
          <a:custGeom>
            <a:avLst/>
            <a:gdLst/>
            <a:ahLst/>
            <a:cxnLst/>
            <a:rect l="l" t="t" r="r" b="b"/>
            <a:pathLst>
              <a:path w="5660103" h="3316748">
                <a:moveTo>
                  <a:pt x="98308" y="0"/>
                </a:moveTo>
                <a:lnTo>
                  <a:pt x="5561795" y="0"/>
                </a:lnTo>
                <a:cubicBezTo>
                  <a:pt x="5616089" y="0"/>
                  <a:pt x="5660103" y="44014"/>
                  <a:pt x="5660103" y="98308"/>
                </a:cubicBezTo>
                <a:lnTo>
                  <a:pt x="5660103" y="3218440"/>
                </a:lnTo>
                <a:cubicBezTo>
                  <a:pt x="5660103" y="3272734"/>
                  <a:pt x="5616089" y="3316748"/>
                  <a:pt x="5561795" y="3316748"/>
                </a:cubicBezTo>
                <a:lnTo>
                  <a:pt x="98308" y="3316748"/>
                </a:lnTo>
                <a:cubicBezTo>
                  <a:pt x="44014" y="3316748"/>
                  <a:pt x="0" y="3272734"/>
                  <a:pt x="0" y="3218440"/>
                </a:cubicBezTo>
                <a:lnTo>
                  <a:pt x="0" y="98308"/>
                </a:lnTo>
                <a:cubicBezTo>
                  <a:pt x="0" y="44051"/>
                  <a:pt x="44051" y="0"/>
                  <a:pt x="98308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1426" y="3494503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20484" y="20484"/>
                </a:moveTo>
                <a:cubicBezTo>
                  <a:pt x="20484" y="14819"/>
                  <a:pt x="15907" y="10242"/>
                  <a:pt x="10242" y="10242"/>
                </a:cubicBezTo>
                <a:cubicBezTo>
                  <a:pt x="4577" y="10242"/>
                  <a:pt x="0" y="14819"/>
                  <a:pt x="0" y="20484"/>
                </a:cubicBezTo>
                <a:lnTo>
                  <a:pt x="0" y="128024"/>
                </a:lnTo>
                <a:cubicBezTo>
                  <a:pt x="0" y="142171"/>
                  <a:pt x="11458" y="153629"/>
                  <a:pt x="25605" y="153629"/>
                </a:cubicBezTo>
                <a:lnTo>
                  <a:pt x="153629" y="153629"/>
                </a:lnTo>
                <a:cubicBezTo>
                  <a:pt x="159294" y="153629"/>
                  <a:pt x="163871" y="149052"/>
                  <a:pt x="163871" y="143387"/>
                </a:cubicBezTo>
                <a:cubicBezTo>
                  <a:pt x="163871" y="137722"/>
                  <a:pt x="159294" y="133145"/>
                  <a:pt x="153629" y="133145"/>
                </a:cubicBezTo>
                <a:lnTo>
                  <a:pt x="25605" y="133145"/>
                </a:lnTo>
                <a:cubicBezTo>
                  <a:pt x="22788" y="133145"/>
                  <a:pt x="20484" y="130841"/>
                  <a:pt x="20484" y="128024"/>
                </a:cubicBezTo>
                <a:lnTo>
                  <a:pt x="20484" y="20484"/>
                </a:lnTo>
                <a:close/>
                <a:moveTo>
                  <a:pt x="150620" y="48201"/>
                </a:moveTo>
                <a:cubicBezTo>
                  <a:pt x="154621" y="44200"/>
                  <a:pt x="154621" y="37703"/>
                  <a:pt x="150620" y="33702"/>
                </a:cubicBezTo>
                <a:cubicBezTo>
                  <a:pt x="146620" y="29702"/>
                  <a:pt x="140122" y="29702"/>
                  <a:pt x="136122" y="33702"/>
                </a:cubicBezTo>
                <a:lnTo>
                  <a:pt x="102419" y="67437"/>
                </a:lnTo>
                <a:lnTo>
                  <a:pt x="84048" y="49097"/>
                </a:lnTo>
                <a:cubicBezTo>
                  <a:pt x="80047" y="45097"/>
                  <a:pt x="73550" y="45097"/>
                  <a:pt x="69549" y="49097"/>
                </a:cubicBezTo>
                <a:lnTo>
                  <a:pt x="38823" y="79823"/>
                </a:lnTo>
                <a:cubicBezTo>
                  <a:pt x="34823" y="83824"/>
                  <a:pt x="34823" y="90321"/>
                  <a:pt x="38823" y="94322"/>
                </a:cubicBezTo>
                <a:cubicBezTo>
                  <a:pt x="42824" y="98323"/>
                  <a:pt x="49321" y="98323"/>
                  <a:pt x="53322" y="94322"/>
                </a:cubicBezTo>
                <a:lnTo>
                  <a:pt x="76815" y="70829"/>
                </a:lnTo>
                <a:lnTo>
                  <a:pt x="95186" y="89201"/>
                </a:lnTo>
                <a:cubicBezTo>
                  <a:pt x="99187" y="93202"/>
                  <a:pt x="105684" y="93202"/>
                  <a:pt x="109685" y="89201"/>
                </a:cubicBezTo>
                <a:lnTo>
                  <a:pt x="150652" y="4823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9" name="Text 17"/>
          <p:cNvSpPr/>
          <p:nvPr/>
        </p:nvSpPr>
        <p:spPr>
          <a:xfrm>
            <a:off x="735781" y="3461728"/>
            <a:ext cx="5137355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GPT-5.2性能突破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0942" y="3822245"/>
            <a:ext cx="5260258" cy="786581"/>
          </a:xfrm>
          <a:custGeom>
            <a:avLst/>
            <a:gdLst/>
            <a:ahLst/>
            <a:cxnLst/>
            <a:rect l="l" t="t" r="r" b="b"/>
            <a:pathLst>
              <a:path w="5260258" h="786581">
                <a:moveTo>
                  <a:pt x="65546" y="0"/>
                </a:moveTo>
                <a:lnTo>
                  <a:pt x="5194712" y="0"/>
                </a:lnTo>
                <a:cubicBezTo>
                  <a:pt x="5230912" y="0"/>
                  <a:pt x="5260258" y="29346"/>
                  <a:pt x="5260258" y="65546"/>
                </a:cubicBezTo>
                <a:lnTo>
                  <a:pt x="5260258" y="721035"/>
                </a:lnTo>
                <a:cubicBezTo>
                  <a:pt x="5260258" y="757235"/>
                  <a:pt x="5230912" y="786581"/>
                  <a:pt x="5194712" y="786581"/>
                </a:cubicBezTo>
                <a:lnTo>
                  <a:pt x="65546" y="786581"/>
                </a:lnTo>
                <a:cubicBezTo>
                  <a:pt x="29346" y="786581"/>
                  <a:pt x="0" y="757235"/>
                  <a:pt x="0" y="721035"/>
                </a:cubicBezTo>
                <a:lnTo>
                  <a:pt x="0" y="65546"/>
                </a:lnTo>
                <a:cubicBezTo>
                  <a:pt x="0" y="29346"/>
                  <a:pt x="29346" y="0"/>
                  <a:pt x="6554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1" name="Text 19"/>
          <p:cNvSpPr/>
          <p:nvPr/>
        </p:nvSpPr>
        <p:spPr>
          <a:xfrm>
            <a:off x="662305" y="3953510"/>
            <a:ext cx="1322070" cy="16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SWE-Bench Verified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2039" y="4182761"/>
            <a:ext cx="852129" cy="294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80.0%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87805" y="4281170"/>
            <a:ext cx="2108200" cy="16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vs 5.0: 69.1% | vs 5.1: 76.3%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0942" y="4707148"/>
            <a:ext cx="5260258" cy="786581"/>
          </a:xfrm>
          <a:custGeom>
            <a:avLst/>
            <a:gdLst/>
            <a:ahLst/>
            <a:cxnLst/>
            <a:rect l="l" t="t" r="r" b="b"/>
            <a:pathLst>
              <a:path w="5260258" h="786581">
                <a:moveTo>
                  <a:pt x="65546" y="0"/>
                </a:moveTo>
                <a:lnTo>
                  <a:pt x="5194712" y="0"/>
                </a:lnTo>
                <a:cubicBezTo>
                  <a:pt x="5230912" y="0"/>
                  <a:pt x="5260258" y="29346"/>
                  <a:pt x="5260258" y="65546"/>
                </a:cubicBezTo>
                <a:lnTo>
                  <a:pt x="5260258" y="721035"/>
                </a:lnTo>
                <a:cubicBezTo>
                  <a:pt x="5260258" y="757235"/>
                  <a:pt x="5230912" y="786581"/>
                  <a:pt x="5194712" y="786581"/>
                </a:cubicBezTo>
                <a:lnTo>
                  <a:pt x="65546" y="786581"/>
                </a:lnTo>
                <a:cubicBezTo>
                  <a:pt x="29346" y="786581"/>
                  <a:pt x="0" y="757235"/>
                  <a:pt x="0" y="721035"/>
                </a:cubicBezTo>
                <a:lnTo>
                  <a:pt x="0" y="65546"/>
                </a:lnTo>
                <a:cubicBezTo>
                  <a:pt x="0" y="29346"/>
                  <a:pt x="29346" y="0"/>
                  <a:pt x="6554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5" name="Text 23"/>
          <p:cNvSpPr/>
          <p:nvPr/>
        </p:nvSpPr>
        <p:spPr>
          <a:xfrm>
            <a:off x="662305" y="4838065"/>
            <a:ext cx="1174750" cy="16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幻觉率降低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2039" y="5067664"/>
            <a:ext cx="671871" cy="294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6.2%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12545" y="5165725"/>
            <a:ext cx="970915" cy="16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vs 5.1: 8.8%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Shape 26"/>
          <p:cNvSpPr/>
          <p:nvPr/>
        </p:nvSpPr>
        <p:spPr>
          <a:xfrm>
            <a:off x="530942" y="5592051"/>
            <a:ext cx="5260258" cy="786581"/>
          </a:xfrm>
          <a:custGeom>
            <a:avLst/>
            <a:gdLst/>
            <a:ahLst/>
            <a:cxnLst/>
            <a:rect l="l" t="t" r="r" b="b"/>
            <a:pathLst>
              <a:path w="5260258" h="786581">
                <a:moveTo>
                  <a:pt x="65546" y="0"/>
                </a:moveTo>
                <a:lnTo>
                  <a:pt x="5194712" y="0"/>
                </a:lnTo>
                <a:cubicBezTo>
                  <a:pt x="5230912" y="0"/>
                  <a:pt x="5260258" y="29346"/>
                  <a:pt x="5260258" y="65546"/>
                </a:cubicBezTo>
                <a:lnTo>
                  <a:pt x="5260258" y="721035"/>
                </a:lnTo>
                <a:cubicBezTo>
                  <a:pt x="5260258" y="757235"/>
                  <a:pt x="5230912" y="786581"/>
                  <a:pt x="5194712" y="786581"/>
                </a:cubicBezTo>
                <a:lnTo>
                  <a:pt x="65546" y="786581"/>
                </a:lnTo>
                <a:cubicBezTo>
                  <a:pt x="29346" y="786581"/>
                  <a:pt x="0" y="757235"/>
                  <a:pt x="0" y="721035"/>
                </a:cubicBezTo>
                <a:lnTo>
                  <a:pt x="0" y="65546"/>
                </a:lnTo>
                <a:cubicBezTo>
                  <a:pt x="0" y="29346"/>
                  <a:pt x="29346" y="0"/>
                  <a:pt x="6554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" name="Text 27"/>
          <p:cNvSpPr/>
          <p:nvPr/>
        </p:nvSpPr>
        <p:spPr>
          <a:xfrm>
            <a:off x="662305" y="5723255"/>
            <a:ext cx="1174115" cy="16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长上下文能力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9" name="Text 28"/>
          <p:cNvSpPr/>
          <p:nvPr/>
        </p:nvSpPr>
        <p:spPr>
          <a:xfrm>
            <a:off x="662039" y="5952567"/>
            <a:ext cx="712839" cy="294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256K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0" name="Text 29"/>
          <p:cNvSpPr/>
          <p:nvPr/>
        </p:nvSpPr>
        <p:spPr>
          <a:xfrm>
            <a:off x="1350645" y="6050915"/>
            <a:ext cx="1386840" cy="16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tokens (~500页文档)</a:t>
            </a:r>
            <a:endParaRPr lang="en-US" sz="101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Shape 30"/>
          <p:cNvSpPr/>
          <p:nvPr/>
        </p:nvSpPr>
        <p:spPr>
          <a:xfrm>
            <a:off x="6197600" y="1183927"/>
            <a:ext cx="5660103" cy="2792361"/>
          </a:xfrm>
          <a:custGeom>
            <a:avLst/>
            <a:gdLst/>
            <a:ahLst/>
            <a:cxnLst/>
            <a:rect l="l" t="t" r="r" b="b"/>
            <a:pathLst>
              <a:path w="5660103" h="2792361">
                <a:moveTo>
                  <a:pt x="98319" y="0"/>
                </a:moveTo>
                <a:lnTo>
                  <a:pt x="5561784" y="0"/>
                </a:lnTo>
                <a:cubicBezTo>
                  <a:pt x="5616084" y="0"/>
                  <a:pt x="5660103" y="44019"/>
                  <a:pt x="5660103" y="98319"/>
                </a:cubicBezTo>
                <a:lnTo>
                  <a:pt x="5660103" y="2694042"/>
                </a:lnTo>
                <a:cubicBezTo>
                  <a:pt x="5660103" y="2748342"/>
                  <a:pt x="5616084" y="2792361"/>
                  <a:pt x="5561784" y="2792361"/>
                </a:cubicBezTo>
                <a:lnTo>
                  <a:pt x="98319" y="2792361"/>
                </a:lnTo>
                <a:cubicBezTo>
                  <a:pt x="44019" y="2792361"/>
                  <a:pt x="0" y="2748342"/>
                  <a:pt x="0" y="2694042"/>
                </a:cubicBezTo>
                <a:lnTo>
                  <a:pt x="0" y="98319"/>
                </a:lnTo>
                <a:cubicBezTo>
                  <a:pt x="0" y="44055"/>
                  <a:pt x="44055" y="0"/>
                  <a:pt x="9831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92" name="Shape 31"/>
          <p:cNvSpPr/>
          <p:nvPr/>
        </p:nvSpPr>
        <p:spPr>
          <a:xfrm>
            <a:off x="6407764" y="1416622"/>
            <a:ext cx="184355" cy="163871"/>
          </a:xfrm>
          <a:custGeom>
            <a:avLst/>
            <a:gdLst/>
            <a:ahLst/>
            <a:cxnLst/>
            <a:rect l="l" t="t" r="r" b="b"/>
            <a:pathLst>
              <a:path w="184355" h="163871">
                <a:moveTo>
                  <a:pt x="71726" y="31078"/>
                </a:moveTo>
                <a:lnTo>
                  <a:pt x="71726" y="46953"/>
                </a:lnTo>
                <a:lnTo>
                  <a:pt x="71886" y="47113"/>
                </a:lnTo>
                <a:cubicBezTo>
                  <a:pt x="73966" y="20740"/>
                  <a:pt x="96018" y="0"/>
                  <a:pt x="122935" y="0"/>
                </a:cubicBezTo>
                <a:cubicBezTo>
                  <a:pt x="129368" y="0"/>
                  <a:pt x="135546" y="1184"/>
                  <a:pt x="141211" y="3361"/>
                </a:cubicBezTo>
                <a:cubicBezTo>
                  <a:pt x="144411" y="4577"/>
                  <a:pt x="144987" y="8642"/>
                  <a:pt x="142587" y="11074"/>
                </a:cubicBezTo>
                <a:lnTo>
                  <a:pt x="114198" y="39463"/>
                </a:lnTo>
                <a:cubicBezTo>
                  <a:pt x="113237" y="40424"/>
                  <a:pt x="112693" y="41736"/>
                  <a:pt x="112693" y="43080"/>
                </a:cubicBezTo>
                <a:lnTo>
                  <a:pt x="112693" y="56331"/>
                </a:lnTo>
                <a:cubicBezTo>
                  <a:pt x="112693" y="59147"/>
                  <a:pt x="114998" y="61452"/>
                  <a:pt x="117814" y="61452"/>
                </a:cubicBezTo>
                <a:lnTo>
                  <a:pt x="131065" y="61452"/>
                </a:lnTo>
                <a:cubicBezTo>
                  <a:pt x="132409" y="61452"/>
                  <a:pt x="133721" y="60908"/>
                  <a:pt x="134681" y="59947"/>
                </a:cubicBezTo>
                <a:lnTo>
                  <a:pt x="163071" y="31558"/>
                </a:lnTo>
                <a:cubicBezTo>
                  <a:pt x="165503" y="29126"/>
                  <a:pt x="169568" y="29734"/>
                  <a:pt x="170784" y="32934"/>
                </a:cubicBezTo>
                <a:cubicBezTo>
                  <a:pt x="172961" y="38599"/>
                  <a:pt x="174145" y="44776"/>
                  <a:pt x="174145" y="51210"/>
                </a:cubicBezTo>
                <a:cubicBezTo>
                  <a:pt x="174145" y="70605"/>
                  <a:pt x="163359" y="87505"/>
                  <a:pt x="147420" y="96178"/>
                </a:cubicBezTo>
                <a:lnTo>
                  <a:pt x="173505" y="122263"/>
                </a:lnTo>
                <a:cubicBezTo>
                  <a:pt x="179490" y="128248"/>
                  <a:pt x="179490" y="137978"/>
                  <a:pt x="173505" y="143995"/>
                </a:cubicBezTo>
                <a:lnTo>
                  <a:pt x="154269" y="163231"/>
                </a:lnTo>
                <a:cubicBezTo>
                  <a:pt x="148284" y="169216"/>
                  <a:pt x="138554" y="169216"/>
                  <a:pt x="132537" y="163231"/>
                </a:cubicBezTo>
                <a:lnTo>
                  <a:pt x="92209" y="122903"/>
                </a:lnTo>
                <a:cubicBezTo>
                  <a:pt x="83440" y="114134"/>
                  <a:pt x="81455" y="101171"/>
                  <a:pt x="86288" y="90481"/>
                </a:cubicBezTo>
                <a:lnTo>
                  <a:pt x="57259" y="61452"/>
                </a:lnTo>
                <a:lnTo>
                  <a:pt x="41384" y="61452"/>
                </a:lnTo>
                <a:cubicBezTo>
                  <a:pt x="37959" y="61452"/>
                  <a:pt x="34759" y="59755"/>
                  <a:pt x="32870" y="56907"/>
                </a:cubicBezTo>
                <a:lnTo>
                  <a:pt x="7489" y="18852"/>
                </a:lnTo>
                <a:cubicBezTo>
                  <a:pt x="6145" y="16835"/>
                  <a:pt x="6401" y="14115"/>
                  <a:pt x="8130" y="12386"/>
                </a:cubicBezTo>
                <a:lnTo>
                  <a:pt x="22660" y="-2144"/>
                </a:lnTo>
                <a:cubicBezTo>
                  <a:pt x="24389" y="-3873"/>
                  <a:pt x="27077" y="-4129"/>
                  <a:pt x="29126" y="-2785"/>
                </a:cubicBezTo>
                <a:lnTo>
                  <a:pt x="67181" y="22564"/>
                </a:lnTo>
                <a:cubicBezTo>
                  <a:pt x="70029" y="24453"/>
                  <a:pt x="71726" y="27653"/>
                  <a:pt x="71726" y="31078"/>
                </a:cubicBezTo>
                <a:close/>
                <a:moveTo>
                  <a:pt x="69005" y="94930"/>
                </a:moveTo>
                <a:cubicBezTo>
                  <a:pt x="66989" y="106772"/>
                  <a:pt x="69773" y="119287"/>
                  <a:pt x="77455" y="129304"/>
                </a:cubicBezTo>
                <a:lnTo>
                  <a:pt x="47049" y="159678"/>
                </a:lnTo>
                <a:cubicBezTo>
                  <a:pt x="38055" y="168672"/>
                  <a:pt x="23460" y="168672"/>
                  <a:pt x="14467" y="159678"/>
                </a:cubicBezTo>
                <a:cubicBezTo>
                  <a:pt x="5473" y="150684"/>
                  <a:pt x="5473" y="136090"/>
                  <a:pt x="14467" y="127096"/>
                </a:cubicBezTo>
                <a:lnTo>
                  <a:pt x="57803" y="83760"/>
                </a:lnTo>
                <a:lnTo>
                  <a:pt x="69005" y="9496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93" name="Text 32"/>
          <p:cNvSpPr/>
          <p:nvPr/>
        </p:nvSpPr>
        <p:spPr>
          <a:xfrm>
            <a:off x="6602361" y="1383848"/>
            <a:ext cx="5137355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Tau-bench函数调用基准测试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Text 33"/>
          <p:cNvSpPr/>
          <p:nvPr/>
        </p:nvSpPr>
        <p:spPr>
          <a:xfrm>
            <a:off x="6397625" y="1776730"/>
            <a:ext cx="1569720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电信业 (Telecom)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 34"/>
          <p:cNvSpPr/>
          <p:nvPr/>
        </p:nvSpPr>
        <p:spPr>
          <a:xfrm>
            <a:off x="11106662" y="1744364"/>
            <a:ext cx="655484" cy="2621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98.7%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6" name="Shape 35"/>
          <p:cNvSpPr/>
          <p:nvPr/>
        </p:nvSpPr>
        <p:spPr>
          <a:xfrm>
            <a:off x="6397522" y="2072002"/>
            <a:ext cx="5260258" cy="98323"/>
          </a:xfrm>
          <a:custGeom>
            <a:avLst/>
            <a:gdLst/>
            <a:ahLst/>
            <a:cxnLst/>
            <a:rect l="l" t="t" r="r" b="b"/>
            <a:pathLst>
              <a:path w="5260258" h="98323">
                <a:moveTo>
                  <a:pt x="49161" y="0"/>
                </a:moveTo>
                <a:lnTo>
                  <a:pt x="5211097" y="0"/>
                </a:lnTo>
                <a:cubicBezTo>
                  <a:pt x="5238248" y="0"/>
                  <a:pt x="5260258" y="22010"/>
                  <a:pt x="5260258" y="49161"/>
                </a:cubicBezTo>
                <a:lnTo>
                  <a:pt x="5260258" y="49161"/>
                </a:lnTo>
                <a:cubicBezTo>
                  <a:pt x="5260258" y="76312"/>
                  <a:pt x="5238248" y="98323"/>
                  <a:pt x="5211097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97" name="Shape 36"/>
          <p:cNvSpPr/>
          <p:nvPr/>
        </p:nvSpPr>
        <p:spPr>
          <a:xfrm>
            <a:off x="6397522" y="2072002"/>
            <a:ext cx="5194710" cy="98323"/>
          </a:xfrm>
          <a:custGeom>
            <a:avLst/>
            <a:gdLst/>
            <a:ahLst/>
            <a:cxnLst/>
            <a:rect l="l" t="t" r="r" b="b"/>
            <a:pathLst>
              <a:path w="5194710" h="98323">
                <a:moveTo>
                  <a:pt x="49161" y="0"/>
                </a:moveTo>
                <a:lnTo>
                  <a:pt x="5145548" y="0"/>
                </a:lnTo>
                <a:cubicBezTo>
                  <a:pt x="5172699" y="0"/>
                  <a:pt x="5194710" y="22010"/>
                  <a:pt x="5194710" y="49161"/>
                </a:cubicBezTo>
                <a:lnTo>
                  <a:pt x="5194710" y="49161"/>
                </a:lnTo>
                <a:cubicBezTo>
                  <a:pt x="5194710" y="76312"/>
                  <a:pt x="5172699" y="98323"/>
                  <a:pt x="5145548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8" name="Text 37"/>
          <p:cNvSpPr/>
          <p:nvPr/>
        </p:nvSpPr>
        <p:spPr>
          <a:xfrm>
            <a:off x="6397522" y="2203099"/>
            <a:ext cx="5309419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GPT-5.1: 95.6% | 提升3.1%</a:t>
            </a:r>
            <a:endParaRPr lang="en-US" sz="8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38"/>
          <p:cNvSpPr/>
          <p:nvPr/>
        </p:nvSpPr>
        <p:spPr>
          <a:xfrm>
            <a:off x="6397625" y="2498090"/>
            <a:ext cx="1198880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零售业 (Retail)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 39"/>
          <p:cNvSpPr/>
          <p:nvPr/>
        </p:nvSpPr>
        <p:spPr>
          <a:xfrm>
            <a:off x="11091709" y="2465188"/>
            <a:ext cx="663677" cy="2621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82.0%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1" name="Shape 40"/>
          <p:cNvSpPr/>
          <p:nvPr/>
        </p:nvSpPr>
        <p:spPr>
          <a:xfrm>
            <a:off x="6397522" y="2792834"/>
            <a:ext cx="5260258" cy="98323"/>
          </a:xfrm>
          <a:custGeom>
            <a:avLst/>
            <a:gdLst/>
            <a:ahLst/>
            <a:cxnLst/>
            <a:rect l="l" t="t" r="r" b="b"/>
            <a:pathLst>
              <a:path w="5260258" h="98323">
                <a:moveTo>
                  <a:pt x="49161" y="0"/>
                </a:moveTo>
                <a:lnTo>
                  <a:pt x="5211097" y="0"/>
                </a:lnTo>
                <a:cubicBezTo>
                  <a:pt x="5238248" y="0"/>
                  <a:pt x="5260258" y="22010"/>
                  <a:pt x="5260258" y="49161"/>
                </a:cubicBezTo>
                <a:lnTo>
                  <a:pt x="5260258" y="49161"/>
                </a:lnTo>
                <a:cubicBezTo>
                  <a:pt x="5260258" y="76312"/>
                  <a:pt x="5238248" y="98323"/>
                  <a:pt x="5211097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2" name="Shape 41"/>
          <p:cNvSpPr/>
          <p:nvPr/>
        </p:nvSpPr>
        <p:spPr>
          <a:xfrm>
            <a:off x="6397522" y="2792834"/>
            <a:ext cx="4318000" cy="98323"/>
          </a:xfrm>
          <a:custGeom>
            <a:avLst/>
            <a:gdLst/>
            <a:ahLst/>
            <a:cxnLst/>
            <a:rect l="l" t="t" r="r" b="b"/>
            <a:pathLst>
              <a:path w="4318000" h="98323">
                <a:moveTo>
                  <a:pt x="49161" y="0"/>
                </a:moveTo>
                <a:lnTo>
                  <a:pt x="4268839" y="0"/>
                </a:lnTo>
                <a:cubicBezTo>
                  <a:pt x="4295990" y="0"/>
                  <a:pt x="4318000" y="22010"/>
                  <a:pt x="4318000" y="49161"/>
                </a:cubicBezTo>
                <a:lnTo>
                  <a:pt x="4318000" y="49161"/>
                </a:lnTo>
                <a:cubicBezTo>
                  <a:pt x="4318000" y="76312"/>
                  <a:pt x="4295990" y="98323"/>
                  <a:pt x="4268839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3" name="Text 42"/>
          <p:cNvSpPr/>
          <p:nvPr/>
        </p:nvSpPr>
        <p:spPr>
          <a:xfrm>
            <a:off x="6397522" y="2923931"/>
            <a:ext cx="5309419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GPT-5.1: 77.9% | 提升4.1%</a:t>
            </a:r>
            <a:endParaRPr lang="en-US" sz="8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 43"/>
          <p:cNvSpPr/>
          <p:nvPr/>
        </p:nvSpPr>
        <p:spPr>
          <a:xfrm>
            <a:off x="6397625" y="3218815"/>
            <a:ext cx="1198880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航空业 (Airline)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 44"/>
          <p:cNvSpPr/>
          <p:nvPr/>
        </p:nvSpPr>
        <p:spPr>
          <a:xfrm>
            <a:off x="11124995" y="3186020"/>
            <a:ext cx="630903" cy="2621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80.1%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6" name="Shape 45"/>
          <p:cNvSpPr/>
          <p:nvPr/>
        </p:nvSpPr>
        <p:spPr>
          <a:xfrm>
            <a:off x="6397522" y="3513658"/>
            <a:ext cx="5260258" cy="98323"/>
          </a:xfrm>
          <a:custGeom>
            <a:avLst/>
            <a:gdLst/>
            <a:ahLst/>
            <a:cxnLst/>
            <a:rect l="l" t="t" r="r" b="b"/>
            <a:pathLst>
              <a:path w="5260258" h="98323">
                <a:moveTo>
                  <a:pt x="49161" y="0"/>
                </a:moveTo>
                <a:lnTo>
                  <a:pt x="5211097" y="0"/>
                </a:lnTo>
                <a:cubicBezTo>
                  <a:pt x="5238248" y="0"/>
                  <a:pt x="5260258" y="22010"/>
                  <a:pt x="5260258" y="49161"/>
                </a:cubicBezTo>
                <a:lnTo>
                  <a:pt x="5260258" y="49161"/>
                </a:lnTo>
                <a:cubicBezTo>
                  <a:pt x="5260258" y="76312"/>
                  <a:pt x="5238248" y="98323"/>
                  <a:pt x="5211097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7" name="Shape 46"/>
          <p:cNvSpPr/>
          <p:nvPr/>
        </p:nvSpPr>
        <p:spPr>
          <a:xfrm>
            <a:off x="6397522" y="3513658"/>
            <a:ext cx="4219677" cy="98323"/>
          </a:xfrm>
          <a:custGeom>
            <a:avLst/>
            <a:gdLst/>
            <a:ahLst/>
            <a:cxnLst/>
            <a:rect l="l" t="t" r="r" b="b"/>
            <a:pathLst>
              <a:path w="4219677" h="98323">
                <a:moveTo>
                  <a:pt x="49161" y="0"/>
                </a:moveTo>
                <a:lnTo>
                  <a:pt x="4170516" y="0"/>
                </a:lnTo>
                <a:cubicBezTo>
                  <a:pt x="4197667" y="0"/>
                  <a:pt x="4219677" y="22010"/>
                  <a:pt x="4219677" y="49161"/>
                </a:cubicBezTo>
                <a:lnTo>
                  <a:pt x="4219677" y="49161"/>
                </a:lnTo>
                <a:cubicBezTo>
                  <a:pt x="4219677" y="76312"/>
                  <a:pt x="4197667" y="98323"/>
                  <a:pt x="4170516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8" name="Text 47"/>
          <p:cNvSpPr/>
          <p:nvPr/>
        </p:nvSpPr>
        <p:spPr>
          <a:xfrm>
            <a:off x="6397522" y="3644755"/>
            <a:ext cx="5309419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多步骤任务编排能力</a:t>
            </a:r>
            <a:endParaRPr lang="en-US" sz="8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9" name="Shape 48"/>
          <p:cNvSpPr/>
          <p:nvPr/>
        </p:nvSpPr>
        <p:spPr>
          <a:xfrm>
            <a:off x="6197600" y="4113320"/>
            <a:ext cx="5660103" cy="1907458"/>
          </a:xfrm>
          <a:custGeom>
            <a:avLst/>
            <a:gdLst/>
            <a:ahLst/>
            <a:cxnLst/>
            <a:rect l="l" t="t" r="r" b="b"/>
            <a:pathLst>
              <a:path w="5660103" h="1907458">
                <a:moveTo>
                  <a:pt x="98329" y="0"/>
                </a:moveTo>
                <a:lnTo>
                  <a:pt x="5561774" y="0"/>
                </a:lnTo>
                <a:cubicBezTo>
                  <a:pt x="5616080" y="0"/>
                  <a:pt x="5660103" y="44024"/>
                  <a:pt x="5660103" y="98329"/>
                </a:cubicBezTo>
                <a:lnTo>
                  <a:pt x="5660103" y="1809129"/>
                </a:lnTo>
                <a:cubicBezTo>
                  <a:pt x="5660103" y="1863434"/>
                  <a:pt x="5616080" y="1907458"/>
                  <a:pt x="5561774" y="1907458"/>
                </a:cubicBezTo>
                <a:lnTo>
                  <a:pt x="98329" y="1907458"/>
                </a:lnTo>
                <a:cubicBezTo>
                  <a:pt x="44024" y="1907458"/>
                  <a:pt x="0" y="1863434"/>
                  <a:pt x="0" y="1809129"/>
                </a:cubicBezTo>
                <a:lnTo>
                  <a:pt x="0" y="98329"/>
                </a:lnTo>
                <a:cubicBezTo>
                  <a:pt x="0" y="44060"/>
                  <a:pt x="44060" y="0"/>
                  <a:pt x="9832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10" name="Shape 49"/>
          <p:cNvSpPr/>
          <p:nvPr/>
        </p:nvSpPr>
        <p:spPr>
          <a:xfrm>
            <a:off x="6407764" y="4346024"/>
            <a:ext cx="184355" cy="163871"/>
          </a:xfrm>
          <a:custGeom>
            <a:avLst/>
            <a:gdLst/>
            <a:ahLst/>
            <a:cxnLst/>
            <a:rect l="l" t="t" r="r" b="b"/>
            <a:pathLst>
              <a:path w="184355" h="163871">
                <a:moveTo>
                  <a:pt x="166431" y="64012"/>
                </a:moveTo>
                <a:cubicBezTo>
                  <a:pt x="176321" y="64012"/>
                  <a:pt x="184355" y="72046"/>
                  <a:pt x="184355" y="81935"/>
                </a:cubicBezTo>
                <a:cubicBezTo>
                  <a:pt x="184355" y="91825"/>
                  <a:pt x="176321" y="99859"/>
                  <a:pt x="166431" y="99859"/>
                </a:cubicBezTo>
                <a:lnTo>
                  <a:pt x="125688" y="99859"/>
                </a:lnTo>
                <a:lnTo>
                  <a:pt x="74734" y="155421"/>
                </a:lnTo>
                <a:cubicBezTo>
                  <a:pt x="72782" y="157534"/>
                  <a:pt x="70061" y="158750"/>
                  <a:pt x="67181" y="158750"/>
                </a:cubicBezTo>
                <a:lnTo>
                  <a:pt x="53194" y="158750"/>
                </a:lnTo>
                <a:cubicBezTo>
                  <a:pt x="49705" y="158750"/>
                  <a:pt x="47241" y="155325"/>
                  <a:pt x="48329" y="151997"/>
                </a:cubicBezTo>
                <a:lnTo>
                  <a:pt x="65708" y="99859"/>
                </a:lnTo>
                <a:lnTo>
                  <a:pt x="33798" y="99859"/>
                </a:lnTo>
                <a:lnTo>
                  <a:pt x="16899" y="120983"/>
                </a:lnTo>
                <a:cubicBezTo>
                  <a:pt x="15939" y="122199"/>
                  <a:pt x="14467" y="122903"/>
                  <a:pt x="12898" y="122903"/>
                </a:cubicBezTo>
                <a:lnTo>
                  <a:pt x="6561" y="122903"/>
                </a:lnTo>
                <a:cubicBezTo>
                  <a:pt x="3233" y="122903"/>
                  <a:pt x="800" y="119767"/>
                  <a:pt x="1600" y="116534"/>
                </a:cubicBezTo>
                <a:lnTo>
                  <a:pt x="10242" y="81935"/>
                </a:lnTo>
                <a:lnTo>
                  <a:pt x="1600" y="47337"/>
                </a:lnTo>
                <a:cubicBezTo>
                  <a:pt x="768" y="44104"/>
                  <a:pt x="3233" y="40968"/>
                  <a:pt x="6561" y="40968"/>
                </a:cubicBezTo>
                <a:lnTo>
                  <a:pt x="12898" y="40968"/>
                </a:lnTo>
                <a:cubicBezTo>
                  <a:pt x="14467" y="40968"/>
                  <a:pt x="15939" y="41672"/>
                  <a:pt x="16899" y="42888"/>
                </a:cubicBezTo>
                <a:lnTo>
                  <a:pt x="33798" y="64012"/>
                </a:lnTo>
                <a:lnTo>
                  <a:pt x="65708" y="64012"/>
                </a:lnTo>
                <a:lnTo>
                  <a:pt x="48329" y="11874"/>
                </a:lnTo>
                <a:cubicBezTo>
                  <a:pt x="47241" y="8546"/>
                  <a:pt x="49705" y="5121"/>
                  <a:pt x="53194" y="5121"/>
                </a:cubicBezTo>
                <a:lnTo>
                  <a:pt x="67181" y="5121"/>
                </a:lnTo>
                <a:cubicBezTo>
                  <a:pt x="70061" y="5121"/>
                  <a:pt x="72782" y="6337"/>
                  <a:pt x="74734" y="8450"/>
                </a:cubicBezTo>
                <a:lnTo>
                  <a:pt x="125688" y="64012"/>
                </a:lnTo>
                <a:lnTo>
                  <a:pt x="166431" y="6401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11" name="Text 50"/>
          <p:cNvSpPr/>
          <p:nvPr/>
        </p:nvSpPr>
        <p:spPr>
          <a:xfrm>
            <a:off x="6602361" y="4313249"/>
            <a:ext cx="5137355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真实场景应用示例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12" name="Shape 51"/>
          <p:cNvSpPr/>
          <p:nvPr/>
        </p:nvSpPr>
        <p:spPr>
          <a:xfrm>
            <a:off x="6397522" y="4673765"/>
            <a:ext cx="5260258" cy="917677"/>
          </a:xfrm>
          <a:custGeom>
            <a:avLst/>
            <a:gdLst/>
            <a:ahLst/>
            <a:cxnLst/>
            <a:rect l="l" t="t" r="r" b="b"/>
            <a:pathLst>
              <a:path w="5260258" h="917677">
                <a:moveTo>
                  <a:pt x="65550" y="0"/>
                </a:moveTo>
                <a:lnTo>
                  <a:pt x="5194708" y="0"/>
                </a:lnTo>
                <a:cubicBezTo>
                  <a:pt x="5230910" y="0"/>
                  <a:pt x="5260258" y="29348"/>
                  <a:pt x="5260258" y="65550"/>
                </a:cubicBezTo>
                <a:lnTo>
                  <a:pt x="5260258" y="852128"/>
                </a:lnTo>
                <a:cubicBezTo>
                  <a:pt x="5260258" y="888330"/>
                  <a:pt x="5230910" y="917677"/>
                  <a:pt x="5194708" y="917677"/>
                </a:cubicBezTo>
                <a:lnTo>
                  <a:pt x="65550" y="917677"/>
                </a:lnTo>
                <a:cubicBezTo>
                  <a:pt x="29348" y="917677"/>
                  <a:pt x="0" y="888330"/>
                  <a:pt x="0" y="852128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14" name="Text 53"/>
          <p:cNvSpPr/>
          <p:nvPr/>
        </p:nvSpPr>
        <p:spPr>
          <a:xfrm>
            <a:off x="6528619" y="4890772"/>
            <a:ext cx="5063613" cy="426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当客户报告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航班延误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错过转机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需要过夜住宿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医疗座位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时,GPT-5.2能够管理整个任务链——重新预订、特殊协助座位和补偿,提供比GPT-5.1更完整的解决方案。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ext 54"/>
          <p:cNvSpPr/>
          <p:nvPr/>
        </p:nvSpPr>
        <p:spPr>
          <a:xfrm>
            <a:off x="6397522" y="5689765"/>
            <a:ext cx="5309419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数据来源: OpenAI GPT-5.2官方发布 (2025年12月)</a:t>
            </a:r>
            <a:endParaRPr lang="en-US" sz="8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843026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主流</a:t>
            </a: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GUI Agent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基准测试数据全景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3"/>
          <p:cNvSpPr/>
          <p:nvPr/>
        </p:nvSpPr>
        <p:spPr>
          <a:xfrm>
            <a:off x="320675" y="981075"/>
            <a:ext cx="5673725" cy="2546350"/>
          </a:xfrm>
          <a:custGeom>
            <a:avLst/>
            <a:gdLst/>
            <a:ahLst/>
            <a:cxnLst/>
            <a:rect l="l" t="t" r="r" b="b"/>
            <a:pathLst>
              <a:path w="5673725" h="2546350">
                <a:moveTo>
                  <a:pt x="95259" y="0"/>
                </a:moveTo>
                <a:lnTo>
                  <a:pt x="5578466" y="0"/>
                </a:lnTo>
                <a:cubicBezTo>
                  <a:pt x="5631076" y="0"/>
                  <a:pt x="5673725" y="42649"/>
                  <a:pt x="5673725" y="95259"/>
                </a:cubicBezTo>
                <a:lnTo>
                  <a:pt x="5673725" y="2451091"/>
                </a:lnTo>
                <a:cubicBezTo>
                  <a:pt x="5673725" y="2503701"/>
                  <a:pt x="5631076" y="2546350"/>
                  <a:pt x="5578466" y="2546350"/>
                </a:cubicBezTo>
                <a:lnTo>
                  <a:pt x="95259" y="2546350"/>
                </a:lnTo>
                <a:cubicBezTo>
                  <a:pt x="42649" y="2546350"/>
                  <a:pt x="0" y="2503701"/>
                  <a:pt x="0" y="2451091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8" name="Shape 4"/>
          <p:cNvSpPr/>
          <p:nvPr/>
        </p:nvSpPr>
        <p:spPr>
          <a:xfrm>
            <a:off x="534194" y="120649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9110" y="86816"/>
                </a:moveTo>
                <a:lnTo>
                  <a:pt x="49919" y="86816"/>
                </a:lnTo>
                <a:cubicBezTo>
                  <a:pt x="50819" y="106815"/>
                  <a:pt x="55252" y="125233"/>
                  <a:pt x="61547" y="138720"/>
                </a:cubicBezTo>
                <a:cubicBezTo>
                  <a:pt x="65081" y="146317"/>
                  <a:pt x="68895" y="151681"/>
                  <a:pt x="72430" y="154967"/>
                </a:cubicBezTo>
                <a:cubicBezTo>
                  <a:pt x="75902" y="158223"/>
                  <a:pt x="78290" y="158750"/>
                  <a:pt x="79530" y="158750"/>
                </a:cubicBezTo>
                <a:cubicBezTo>
                  <a:pt x="80770" y="158750"/>
                  <a:pt x="83158" y="158223"/>
                  <a:pt x="86630" y="154967"/>
                </a:cubicBezTo>
                <a:cubicBezTo>
                  <a:pt x="90165" y="151681"/>
                  <a:pt x="93979" y="146286"/>
                  <a:pt x="97513" y="138720"/>
                </a:cubicBezTo>
                <a:cubicBezTo>
                  <a:pt x="103808" y="125233"/>
                  <a:pt x="108241" y="106815"/>
                  <a:pt x="109141" y="86816"/>
                </a:cubicBezTo>
                <a:close/>
                <a:moveTo>
                  <a:pt x="49888" y="71934"/>
                </a:moveTo>
                <a:lnTo>
                  <a:pt x="109079" y="71934"/>
                </a:lnTo>
                <a:cubicBezTo>
                  <a:pt x="108210" y="51935"/>
                  <a:pt x="103777" y="33517"/>
                  <a:pt x="97482" y="20030"/>
                </a:cubicBezTo>
                <a:cubicBezTo>
                  <a:pt x="93948" y="12464"/>
                  <a:pt x="90134" y="7069"/>
                  <a:pt x="86599" y="3783"/>
                </a:cubicBezTo>
                <a:cubicBezTo>
                  <a:pt x="83127" y="527"/>
                  <a:pt x="80739" y="0"/>
                  <a:pt x="79499" y="0"/>
                </a:cubicBezTo>
                <a:cubicBezTo>
                  <a:pt x="78259" y="0"/>
                  <a:pt x="75871" y="527"/>
                  <a:pt x="72399" y="3783"/>
                </a:cubicBezTo>
                <a:cubicBezTo>
                  <a:pt x="68864" y="7069"/>
                  <a:pt x="65050" y="12464"/>
                  <a:pt x="61516" y="20030"/>
                </a:cubicBezTo>
                <a:cubicBezTo>
                  <a:pt x="55221" y="33517"/>
                  <a:pt x="50788" y="51935"/>
                  <a:pt x="49888" y="71934"/>
                </a:cubicBezTo>
                <a:close/>
                <a:moveTo>
                  <a:pt x="35006" y="71934"/>
                </a:moveTo>
                <a:cubicBezTo>
                  <a:pt x="36091" y="45393"/>
                  <a:pt x="42943" y="20743"/>
                  <a:pt x="52958" y="4558"/>
                </a:cubicBezTo>
                <a:cubicBezTo>
                  <a:pt x="24402" y="14666"/>
                  <a:pt x="3380" y="40680"/>
                  <a:pt x="465" y="71934"/>
                </a:cubicBezTo>
                <a:lnTo>
                  <a:pt x="35006" y="71934"/>
                </a:lnTo>
                <a:close/>
                <a:moveTo>
                  <a:pt x="465" y="86816"/>
                </a:moveTo>
                <a:cubicBezTo>
                  <a:pt x="3380" y="118070"/>
                  <a:pt x="24402" y="144084"/>
                  <a:pt x="52958" y="154192"/>
                </a:cubicBezTo>
                <a:cubicBezTo>
                  <a:pt x="42943" y="138007"/>
                  <a:pt x="36091" y="113357"/>
                  <a:pt x="35006" y="86816"/>
                </a:cubicBezTo>
                <a:lnTo>
                  <a:pt x="465" y="86816"/>
                </a:lnTo>
                <a:close/>
                <a:moveTo>
                  <a:pt x="123992" y="86816"/>
                </a:moveTo>
                <a:cubicBezTo>
                  <a:pt x="122907" y="113357"/>
                  <a:pt x="116055" y="138007"/>
                  <a:pt x="106040" y="154192"/>
                </a:cubicBezTo>
                <a:cubicBezTo>
                  <a:pt x="134596" y="144053"/>
                  <a:pt x="155618" y="118070"/>
                  <a:pt x="158533" y="86816"/>
                </a:cubicBezTo>
                <a:lnTo>
                  <a:pt x="123992" y="86816"/>
                </a:lnTo>
                <a:close/>
                <a:moveTo>
                  <a:pt x="158533" y="71934"/>
                </a:moveTo>
                <a:cubicBezTo>
                  <a:pt x="155618" y="40680"/>
                  <a:pt x="134596" y="14666"/>
                  <a:pt x="106040" y="4558"/>
                </a:cubicBezTo>
                <a:cubicBezTo>
                  <a:pt x="116055" y="20743"/>
                  <a:pt x="122907" y="45393"/>
                  <a:pt x="123992" y="71934"/>
                </a:cubicBezTo>
                <a:lnTo>
                  <a:pt x="158533" y="71934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29" name="Text 5"/>
          <p:cNvSpPr/>
          <p:nvPr/>
        </p:nvSpPr>
        <p:spPr>
          <a:xfrm>
            <a:off x="753428" y="1174748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WebArena - 网页自动化测试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514350" y="1523998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1" name="Text 7"/>
          <p:cNvSpPr/>
          <p:nvPr/>
        </p:nvSpPr>
        <p:spPr>
          <a:xfrm>
            <a:off x="609600" y="1548130"/>
            <a:ext cx="164274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OpenAI Operator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Text 8"/>
          <p:cNvSpPr/>
          <p:nvPr/>
        </p:nvSpPr>
        <p:spPr>
          <a:xfrm>
            <a:off x="609600" y="1809748"/>
            <a:ext cx="1047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闭源方案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Text 9"/>
          <p:cNvSpPr/>
          <p:nvPr/>
        </p:nvSpPr>
        <p:spPr>
          <a:xfrm>
            <a:off x="5078730" y="1666875"/>
            <a:ext cx="72263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58.0%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514350" y="2158998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5" name="Text 11"/>
          <p:cNvSpPr/>
          <p:nvPr/>
        </p:nvSpPr>
        <p:spPr>
          <a:xfrm>
            <a:off x="609600" y="2183130"/>
            <a:ext cx="109601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Jace.AI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609600" y="2444750"/>
            <a:ext cx="86614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闭源方案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5079365" y="2301875"/>
            <a:ext cx="72326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57.1%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514350" y="2793998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0" name="Text 15"/>
          <p:cNvSpPr/>
          <p:nvPr/>
        </p:nvSpPr>
        <p:spPr>
          <a:xfrm>
            <a:off x="609600" y="2818130"/>
            <a:ext cx="167386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Learn-by-Interact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609600" y="3079748"/>
            <a:ext cx="1087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开源最佳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5080000" y="2936875"/>
            <a:ext cx="72326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48.0%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320675" y="3797940"/>
            <a:ext cx="5673725" cy="2546350"/>
          </a:xfrm>
          <a:custGeom>
            <a:avLst/>
            <a:gdLst/>
            <a:ahLst/>
            <a:cxnLst/>
            <a:rect l="l" t="t" r="r" b="b"/>
            <a:pathLst>
              <a:path w="5673725" h="2546350">
                <a:moveTo>
                  <a:pt x="95259" y="0"/>
                </a:moveTo>
                <a:lnTo>
                  <a:pt x="5578466" y="0"/>
                </a:lnTo>
                <a:cubicBezTo>
                  <a:pt x="5631076" y="0"/>
                  <a:pt x="5673725" y="42649"/>
                  <a:pt x="5673725" y="95259"/>
                </a:cubicBezTo>
                <a:lnTo>
                  <a:pt x="5673725" y="2451091"/>
                </a:lnTo>
                <a:cubicBezTo>
                  <a:pt x="5673725" y="2503701"/>
                  <a:pt x="5631076" y="2546350"/>
                  <a:pt x="5578466" y="2546350"/>
                </a:cubicBezTo>
                <a:lnTo>
                  <a:pt x="95259" y="2546350"/>
                </a:lnTo>
                <a:cubicBezTo>
                  <a:pt x="42649" y="2546350"/>
                  <a:pt x="0" y="2503701"/>
                  <a:pt x="0" y="2451091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4" name="Shape 19"/>
          <p:cNvSpPr/>
          <p:nvPr/>
        </p:nvSpPr>
        <p:spPr>
          <a:xfrm>
            <a:off x="534194" y="40233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5" name="Text 20"/>
          <p:cNvSpPr/>
          <p:nvPr/>
        </p:nvSpPr>
        <p:spPr>
          <a:xfrm>
            <a:off x="753428" y="3991613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OSWorld - 计算机使用能力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514350" y="4340863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7" name="Text 22"/>
          <p:cNvSpPr/>
          <p:nvPr/>
        </p:nvSpPr>
        <p:spPr>
          <a:xfrm>
            <a:off x="609600" y="4364990"/>
            <a:ext cx="164211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OpenAI Operator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609600" y="4626613"/>
            <a:ext cx="1047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闭源方案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5012690" y="4483735"/>
            <a:ext cx="7905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38.0%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0" name="Shape 25"/>
          <p:cNvSpPr/>
          <p:nvPr/>
        </p:nvSpPr>
        <p:spPr>
          <a:xfrm>
            <a:off x="514350" y="4975863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1" name="Text 26"/>
          <p:cNvSpPr/>
          <p:nvPr/>
        </p:nvSpPr>
        <p:spPr>
          <a:xfrm>
            <a:off x="609600" y="4999990"/>
            <a:ext cx="164274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UI-TARS-72B-DPO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609600" y="5261613"/>
            <a:ext cx="1150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开源最佳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3" name="Text 28"/>
          <p:cNvSpPr/>
          <p:nvPr/>
        </p:nvSpPr>
        <p:spPr>
          <a:xfrm>
            <a:off x="5012690" y="5118735"/>
            <a:ext cx="79121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24.6%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Shape 29"/>
          <p:cNvSpPr/>
          <p:nvPr/>
        </p:nvSpPr>
        <p:spPr>
          <a:xfrm>
            <a:off x="514350" y="5610863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5" name="Text 30"/>
          <p:cNvSpPr/>
          <p:nvPr/>
        </p:nvSpPr>
        <p:spPr>
          <a:xfrm>
            <a:off x="609600" y="5634990"/>
            <a:ext cx="7943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OSCAR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609600" y="5896610"/>
            <a:ext cx="71945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截图交互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7" name="Text 32"/>
          <p:cNvSpPr/>
          <p:nvPr/>
        </p:nvSpPr>
        <p:spPr>
          <a:xfrm>
            <a:off x="5013325" y="5753735"/>
            <a:ext cx="79184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24.5%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Shape 33"/>
          <p:cNvSpPr/>
          <p:nvPr/>
        </p:nvSpPr>
        <p:spPr>
          <a:xfrm>
            <a:off x="6194425" y="958215"/>
            <a:ext cx="5673725" cy="3197225"/>
          </a:xfrm>
          <a:custGeom>
            <a:avLst/>
            <a:gdLst/>
            <a:ahLst/>
            <a:cxnLst/>
            <a:rect l="l" t="t" r="r" b="b"/>
            <a:pathLst>
              <a:path w="5673725" h="3197225">
                <a:moveTo>
                  <a:pt x="95245" y="0"/>
                </a:moveTo>
                <a:lnTo>
                  <a:pt x="5578480" y="0"/>
                </a:lnTo>
                <a:cubicBezTo>
                  <a:pt x="5631082" y="0"/>
                  <a:pt x="5673725" y="42643"/>
                  <a:pt x="5673725" y="95245"/>
                </a:cubicBezTo>
                <a:lnTo>
                  <a:pt x="5673725" y="3101980"/>
                </a:lnTo>
                <a:cubicBezTo>
                  <a:pt x="5673725" y="3154582"/>
                  <a:pt x="5631082" y="3197225"/>
                  <a:pt x="5578480" y="3197225"/>
                </a:cubicBezTo>
                <a:lnTo>
                  <a:pt x="95245" y="3197225"/>
                </a:lnTo>
                <a:cubicBezTo>
                  <a:pt x="42643" y="3197225"/>
                  <a:pt x="0" y="3154582"/>
                  <a:pt x="0" y="3101980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9" name="Shape 34"/>
          <p:cNvSpPr/>
          <p:nvPr/>
        </p:nvSpPr>
        <p:spPr>
          <a:xfrm>
            <a:off x="6407944" y="11836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0" name="Text 35"/>
          <p:cNvSpPr/>
          <p:nvPr/>
        </p:nvSpPr>
        <p:spPr>
          <a:xfrm>
            <a:off x="6627177" y="1151888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GAIA Level 3 - 通用AI助手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Shape 36"/>
          <p:cNvSpPr/>
          <p:nvPr/>
        </p:nvSpPr>
        <p:spPr>
          <a:xfrm>
            <a:off x="6391275" y="1504313"/>
            <a:ext cx="5284788" cy="546100"/>
          </a:xfrm>
          <a:custGeom>
            <a:avLst/>
            <a:gdLst/>
            <a:ahLst/>
            <a:cxnLst/>
            <a:rect l="l" t="t" r="r" b="b"/>
            <a:pathLst>
              <a:path w="5284788" h="546100">
                <a:moveTo>
                  <a:pt x="63501" y="0"/>
                </a:moveTo>
                <a:lnTo>
                  <a:pt x="5221287" y="0"/>
                </a:lnTo>
                <a:cubicBezTo>
                  <a:pt x="5256357" y="0"/>
                  <a:pt x="5284788" y="28430"/>
                  <a:pt x="5284788" y="63501"/>
                </a:cubicBezTo>
                <a:lnTo>
                  <a:pt x="5284788" y="482599"/>
                </a:lnTo>
                <a:cubicBezTo>
                  <a:pt x="5284788" y="517670"/>
                  <a:pt x="5256357" y="546100"/>
                  <a:pt x="5221287" y="546100"/>
                </a:cubicBezTo>
                <a:lnTo>
                  <a:pt x="63501" y="546100"/>
                </a:lnTo>
                <a:cubicBezTo>
                  <a:pt x="28430" y="546100"/>
                  <a:pt x="0" y="517670"/>
                  <a:pt x="0" y="4825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  <a:ln w="10160">
            <a:solidFill>
              <a:srgbClr val="B10015"/>
            </a:solidFill>
            <a:prstDash val="solid"/>
          </a:ln>
        </p:spPr>
      </p:sp>
      <p:sp>
        <p:nvSpPr>
          <p:cNvPr id="62" name="Text 37"/>
          <p:cNvSpPr/>
          <p:nvPr/>
        </p:nvSpPr>
        <p:spPr>
          <a:xfrm>
            <a:off x="6489700" y="1531620"/>
            <a:ext cx="215963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Writer's Action Agent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3" name="Text 38"/>
          <p:cNvSpPr/>
          <p:nvPr/>
        </p:nvSpPr>
        <p:spPr>
          <a:xfrm>
            <a:off x="6489700" y="1793245"/>
            <a:ext cx="1293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当前最佳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Text 39"/>
          <p:cNvSpPr/>
          <p:nvPr/>
        </p:nvSpPr>
        <p:spPr>
          <a:xfrm>
            <a:off x="10676255" y="1634490"/>
            <a:ext cx="101790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61.0%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Shape 40"/>
          <p:cNvSpPr/>
          <p:nvPr/>
        </p:nvSpPr>
        <p:spPr>
          <a:xfrm>
            <a:off x="6388100" y="2148843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66" name="Text 41"/>
          <p:cNvSpPr/>
          <p:nvPr/>
        </p:nvSpPr>
        <p:spPr>
          <a:xfrm>
            <a:off x="6483350" y="2172970"/>
            <a:ext cx="9448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Manus AI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Text 42"/>
          <p:cNvSpPr/>
          <p:nvPr/>
        </p:nvSpPr>
        <p:spPr>
          <a:xfrm>
            <a:off x="6483350" y="2434590"/>
            <a:ext cx="78486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通用Agent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 43"/>
          <p:cNvSpPr/>
          <p:nvPr/>
        </p:nvSpPr>
        <p:spPr>
          <a:xfrm>
            <a:off x="10833100" y="2291715"/>
            <a:ext cx="84328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57.7%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9" name="Shape 44"/>
          <p:cNvSpPr/>
          <p:nvPr/>
        </p:nvSpPr>
        <p:spPr>
          <a:xfrm>
            <a:off x="6388100" y="2783843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0" name="Text 45"/>
          <p:cNvSpPr/>
          <p:nvPr/>
        </p:nvSpPr>
        <p:spPr>
          <a:xfrm>
            <a:off x="6483350" y="2807970"/>
            <a:ext cx="24568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OpenAI Deep Research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1" name="Text 46"/>
          <p:cNvSpPr/>
          <p:nvPr/>
        </p:nvSpPr>
        <p:spPr>
          <a:xfrm>
            <a:off x="6483350" y="3069593"/>
            <a:ext cx="1412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研究型Agent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 47"/>
          <p:cNvSpPr/>
          <p:nvPr/>
        </p:nvSpPr>
        <p:spPr>
          <a:xfrm>
            <a:off x="10887075" y="2926715"/>
            <a:ext cx="79184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47.6%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3" name="Shape 48"/>
          <p:cNvSpPr/>
          <p:nvPr/>
        </p:nvSpPr>
        <p:spPr>
          <a:xfrm>
            <a:off x="6388100" y="3418843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4" name="Text 49"/>
          <p:cNvSpPr/>
          <p:nvPr/>
        </p:nvSpPr>
        <p:spPr>
          <a:xfrm>
            <a:off x="6483350" y="3442970"/>
            <a:ext cx="1790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人类专家平均水平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5" name="Text 50"/>
          <p:cNvSpPr/>
          <p:nvPr/>
        </p:nvSpPr>
        <p:spPr>
          <a:xfrm>
            <a:off x="6483350" y="3704593"/>
            <a:ext cx="1071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参考基准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6" name="Text 51"/>
          <p:cNvSpPr/>
          <p:nvPr/>
        </p:nvSpPr>
        <p:spPr>
          <a:xfrm>
            <a:off x="10937240" y="3561715"/>
            <a:ext cx="74231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92.0%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7" name="Shape 52"/>
          <p:cNvSpPr/>
          <p:nvPr/>
        </p:nvSpPr>
        <p:spPr>
          <a:xfrm>
            <a:off x="6194425" y="4224657"/>
            <a:ext cx="5673725" cy="2546350"/>
          </a:xfrm>
          <a:custGeom>
            <a:avLst/>
            <a:gdLst/>
            <a:ahLst/>
            <a:cxnLst/>
            <a:rect l="l" t="t" r="r" b="b"/>
            <a:pathLst>
              <a:path w="5673725" h="2546350">
                <a:moveTo>
                  <a:pt x="95259" y="0"/>
                </a:moveTo>
                <a:lnTo>
                  <a:pt x="5578466" y="0"/>
                </a:lnTo>
                <a:cubicBezTo>
                  <a:pt x="5631076" y="0"/>
                  <a:pt x="5673725" y="42649"/>
                  <a:pt x="5673725" y="95259"/>
                </a:cubicBezTo>
                <a:lnTo>
                  <a:pt x="5673725" y="2451091"/>
                </a:lnTo>
                <a:cubicBezTo>
                  <a:pt x="5673725" y="2503701"/>
                  <a:pt x="5631076" y="2546350"/>
                  <a:pt x="5578466" y="2546350"/>
                </a:cubicBezTo>
                <a:lnTo>
                  <a:pt x="95259" y="2546350"/>
                </a:lnTo>
                <a:cubicBezTo>
                  <a:pt x="42649" y="2546350"/>
                  <a:pt x="0" y="2503701"/>
                  <a:pt x="0" y="2451091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8" name="Shape 53"/>
          <p:cNvSpPr/>
          <p:nvPr/>
        </p:nvSpPr>
        <p:spPr>
          <a:xfrm>
            <a:off x="6407944" y="445008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9" name="Text 54"/>
          <p:cNvSpPr/>
          <p:nvPr/>
        </p:nvSpPr>
        <p:spPr>
          <a:xfrm>
            <a:off x="6627177" y="4418330"/>
            <a:ext cx="516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Mind2Web - 网页导航能力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Shape 55"/>
          <p:cNvSpPr/>
          <p:nvPr/>
        </p:nvSpPr>
        <p:spPr>
          <a:xfrm>
            <a:off x="6388100" y="4767580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1" name="Text 56"/>
          <p:cNvSpPr/>
          <p:nvPr/>
        </p:nvSpPr>
        <p:spPr>
          <a:xfrm>
            <a:off x="6483350" y="4791710"/>
            <a:ext cx="141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GPT-5 Medium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2" name="Text 57"/>
          <p:cNvSpPr/>
          <p:nvPr/>
        </p:nvSpPr>
        <p:spPr>
          <a:xfrm>
            <a:off x="6483350" y="5053330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2025年8月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 58"/>
          <p:cNvSpPr/>
          <p:nvPr/>
        </p:nvSpPr>
        <p:spPr>
          <a:xfrm>
            <a:off x="10833735" y="4910455"/>
            <a:ext cx="84582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42.33%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4" name="Shape 59"/>
          <p:cNvSpPr/>
          <p:nvPr/>
        </p:nvSpPr>
        <p:spPr>
          <a:xfrm>
            <a:off x="6388100" y="5402580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5" name="Text 60"/>
          <p:cNvSpPr/>
          <p:nvPr/>
        </p:nvSpPr>
        <p:spPr>
          <a:xfrm>
            <a:off x="6483350" y="5426710"/>
            <a:ext cx="148844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Claude Sonnet 4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6" name="Text 61"/>
          <p:cNvSpPr/>
          <p:nvPr/>
        </p:nvSpPr>
        <p:spPr>
          <a:xfrm>
            <a:off x="6483350" y="5688330"/>
            <a:ext cx="1023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2025年5月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 62"/>
          <p:cNvSpPr/>
          <p:nvPr/>
        </p:nvSpPr>
        <p:spPr>
          <a:xfrm>
            <a:off x="10833100" y="5545455"/>
            <a:ext cx="84201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36.67%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8" name="Shape 63"/>
          <p:cNvSpPr/>
          <p:nvPr/>
        </p:nvSpPr>
        <p:spPr>
          <a:xfrm>
            <a:off x="6388100" y="6037580"/>
            <a:ext cx="5286375" cy="539750"/>
          </a:xfrm>
          <a:custGeom>
            <a:avLst/>
            <a:gdLst/>
            <a:ahLst/>
            <a:cxnLst/>
            <a:rect l="l" t="t" r="r" b="b"/>
            <a:pathLst>
              <a:path w="5286375" h="539750">
                <a:moveTo>
                  <a:pt x="63502" y="0"/>
                </a:moveTo>
                <a:lnTo>
                  <a:pt x="5222873" y="0"/>
                </a:lnTo>
                <a:cubicBezTo>
                  <a:pt x="5257944" y="0"/>
                  <a:pt x="5286375" y="28431"/>
                  <a:pt x="5286375" y="63502"/>
                </a:cubicBezTo>
                <a:lnTo>
                  <a:pt x="5286375" y="476248"/>
                </a:lnTo>
                <a:cubicBezTo>
                  <a:pt x="5286375" y="511319"/>
                  <a:pt x="5257944" y="539750"/>
                  <a:pt x="5222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13" name="Text 64"/>
          <p:cNvSpPr/>
          <p:nvPr/>
        </p:nvSpPr>
        <p:spPr>
          <a:xfrm>
            <a:off x="6483350" y="6061710"/>
            <a:ext cx="10718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GPT-4基线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 65"/>
          <p:cNvSpPr/>
          <p:nvPr/>
        </p:nvSpPr>
        <p:spPr>
          <a:xfrm>
            <a:off x="6483350" y="6323330"/>
            <a:ext cx="690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早期测试</a:t>
            </a:r>
            <a:endParaRPr lang="en-US" sz="108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7" name="Text 66"/>
          <p:cNvSpPr/>
          <p:nvPr/>
        </p:nvSpPr>
        <p:spPr>
          <a:xfrm>
            <a:off x="10887075" y="6180455"/>
            <a:ext cx="793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23.0%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843026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SWE-bench: 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代码生成与问题解决能力评估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3313" y="1137352"/>
            <a:ext cx="6763002" cy="4694632"/>
          </a:xfrm>
          <a:custGeom>
            <a:avLst/>
            <a:gdLst/>
            <a:ahLst/>
            <a:cxnLst/>
            <a:rect l="l" t="t" r="r" b="b"/>
            <a:pathLst>
              <a:path w="6763002" h="4694632">
                <a:moveTo>
                  <a:pt x="113845" y="0"/>
                </a:moveTo>
                <a:lnTo>
                  <a:pt x="6649157" y="0"/>
                </a:lnTo>
                <a:cubicBezTo>
                  <a:pt x="6712032" y="0"/>
                  <a:pt x="6763002" y="50970"/>
                  <a:pt x="6763002" y="113845"/>
                </a:cubicBezTo>
                <a:lnTo>
                  <a:pt x="6763002" y="4580787"/>
                </a:lnTo>
                <a:cubicBezTo>
                  <a:pt x="6763002" y="4643662"/>
                  <a:pt x="6712032" y="4694632"/>
                  <a:pt x="6649157" y="4694632"/>
                </a:cubicBezTo>
                <a:lnTo>
                  <a:pt x="113845" y="4694632"/>
                </a:lnTo>
                <a:cubicBezTo>
                  <a:pt x="50970" y="4694632"/>
                  <a:pt x="0" y="4643662"/>
                  <a:pt x="0" y="4580787"/>
                </a:cubicBezTo>
                <a:lnTo>
                  <a:pt x="0" y="113845"/>
                </a:lnTo>
                <a:cubicBezTo>
                  <a:pt x="0" y="50970"/>
                  <a:pt x="50970" y="0"/>
                  <a:pt x="11384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678" y="1406807"/>
            <a:ext cx="213479" cy="189759"/>
          </a:xfrm>
          <a:custGeom>
            <a:avLst/>
            <a:gdLst/>
            <a:ahLst/>
            <a:cxnLst/>
            <a:rect l="l" t="t" r="r" b="b"/>
            <a:pathLst>
              <a:path w="213479" h="189759">
                <a:moveTo>
                  <a:pt x="133721" y="445"/>
                </a:moveTo>
                <a:cubicBezTo>
                  <a:pt x="127420" y="-1371"/>
                  <a:pt x="120860" y="2298"/>
                  <a:pt x="119044" y="8598"/>
                </a:cubicBezTo>
                <a:lnTo>
                  <a:pt x="71604" y="174637"/>
                </a:lnTo>
                <a:cubicBezTo>
                  <a:pt x="69788" y="180938"/>
                  <a:pt x="73457" y="187498"/>
                  <a:pt x="79758" y="189314"/>
                </a:cubicBezTo>
                <a:cubicBezTo>
                  <a:pt x="86059" y="191130"/>
                  <a:pt x="92619" y="187461"/>
                  <a:pt x="94435" y="181160"/>
                </a:cubicBezTo>
                <a:lnTo>
                  <a:pt x="141874" y="15121"/>
                </a:lnTo>
                <a:cubicBezTo>
                  <a:pt x="143690" y="8821"/>
                  <a:pt x="140021" y="2261"/>
                  <a:pt x="133721" y="445"/>
                </a:cubicBezTo>
                <a:close/>
                <a:moveTo>
                  <a:pt x="157663" y="50886"/>
                </a:moveTo>
                <a:cubicBezTo>
                  <a:pt x="153030" y="55519"/>
                  <a:pt x="153030" y="63043"/>
                  <a:pt x="157663" y="67676"/>
                </a:cubicBezTo>
                <a:lnTo>
                  <a:pt x="184867" y="94879"/>
                </a:lnTo>
                <a:lnTo>
                  <a:pt x="157663" y="122083"/>
                </a:lnTo>
                <a:cubicBezTo>
                  <a:pt x="153030" y="126716"/>
                  <a:pt x="153030" y="134239"/>
                  <a:pt x="157663" y="138872"/>
                </a:cubicBezTo>
                <a:cubicBezTo>
                  <a:pt x="162296" y="143505"/>
                  <a:pt x="169819" y="143505"/>
                  <a:pt x="174452" y="138872"/>
                </a:cubicBezTo>
                <a:lnTo>
                  <a:pt x="210032" y="103293"/>
                </a:lnTo>
                <a:cubicBezTo>
                  <a:pt x="214665" y="98660"/>
                  <a:pt x="214665" y="91136"/>
                  <a:pt x="210032" y="86503"/>
                </a:cubicBezTo>
                <a:lnTo>
                  <a:pt x="174452" y="50924"/>
                </a:lnTo>
                <a:cubicBezTo>
                  <a:pt x="169819" y="46291"/>
                  <a:pt x="162296" y="46291"/>
                  <a:pt x="157663" y="50924"/>
                </a:cubicBezTo>
                <a:close/>
                <a:moveTo>
                  <a:pt x="55853" y="50886"/>
                </a:moveTo>
                <a:cubicBezTo>
                  <a:pt x="51220" y="46254"/>
                  <a:pt x="43696" y="46254"/>
                  <a:pt x="39064" y="50886"/>
                </a:cubicBezTo>
                <a:lnTo>
                  <a:pt x="3484" y="86466"/>
                </a:lnTo>
                <a:cubicBezTo>
                  <a:pt x="-1149" y="91099"/>
                  <a:pt x="-1149" y="98623"/>
                  <a:pt x="3484" y="103255"/>
                </a:cubicBezTo>
                <a:lnTo>
                  <a:pt x="39064" y="138835"/>
                </a:lnTo>
                <a:cubicBezTo>
                  <a:pt x="43696" y="143468"/>
                  <a:pt x="51220" y="143468"/>
                  <a:pt x="55853" y="138835"/>
                </a:cubicBezTo>
                <a:cubicBezTo>
                  <a:pt x="60486" y="134202"/>
                  <a:pt x="60486" y="126679"/>
                  <a:pt x="55853" y="122046"/>
                </a:cubicBezTo>
                <a:lnTo>
                  <a:pt x="28649" y="94879"/>
                </a:lnTo>
                <a:lnTo>
                  <a:pt x="55816" y="67676"/>
                </a:lnTo>
                <a:cubicBezTo>
                  <a:pt x="60449" y="63043"/>
                  <a:pt x="60449" y="55519"/>
                  <a:pt x="55816" y="5088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" name="Text 5"/>
          <p:cNvSpPr/>
          <p:nvPr/>
        </p:nvSpPr>
        <p:spPr>
          <a:xfrm>
            <a:off x="958697" y="1368856"/>
            <a:ext cx="6157672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SWE-bench Verified - 真实软件工程任务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8614" y="1790120"/>
            <a:ext cx="6288605" cy="766625"/>
          </a:xfrm>
          <a:custGeom>
            <a:avLst/>
            <a:gdLst/>
            <a:ahLst/>
            <a:cxnLst/>
            <a:rect l="l" t="t" r="r" b="b"/>
            <a:pathLst>
              <a:path w="6288605" h="766625">
                <a:moveTo>
                  <a:pt x="75904" y="0"/>
                </a:moveTo>
                <a:lnTo>
                  <a:pt x="6212702" y="0"/>
                </a:lnTo>
                <a:cubicBezTo>
                  <a:pt x="6254622" y="0"/>
                  <a:pt x="6288605" y="33983"/>
                  <a:pt x="6288605" y="75904"/>
                </a:cubicBezTo>
                <a:lnTo>
                  <a:pt x="6288605" y="690722"/>
                </a:lnTo>
                <a:cubicBezTo>
                  <a:pt x="6288605" y="732642"/>
                  <a:pt x="6254622" y="766625"/>
                  <a:pt x="6212702" y="766625"/>
                </a:cubicBezTo>
                <a:lnTo>
                  <a:pt x="75904" y="766625"/>
                </a:lnTo>
                <a:cubicBezTo>
                  <a:pt x="34011" y="766625"/>
                  <a:pt x="0" y="732614"/>
                  <a:pt x="0" y="69072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  <a:ln w="10160">
            <a:solidFill>
              <a:srgbClr val="B100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065" y="1945640"/>
            <a:ext cx="1538605" cy="26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Gemini 3 Pro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4216" y="2211383"/>
            <a:ext cx="1081625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当前最佳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60060" y="1983740"/>
            <a:ext cx="1370330" cy="37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76.2%</a:t>
            </a:r>
            <a:endParaRPr lang="en-US" sz="3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4818" y="2674392"/>
            <a:ext cx="6299991" cy="645180"/>
          </a:xfrm>
          <a:custGeom>
            <a:avLst/>
            <a:gdLst/>
            <a:ahLst/>
            <a:cxnLst/>
            <a:rect l="l" t="t" r="r" b="b"/>
            <a:pathLst>
              <a:path w="6299991" h="645180">
                <a:moveTo>
                  <a:pt x="75905" y="0"/>
                </a:moveTo>
                <a:lnTo>
                  <a:pt x="6224085" y="0"/>
                </a:lnTo>
                <a:cubicBezTo>
                  <a:pt x="6266007" y="0"/>
                  <a:pt x="6299991" y="33984"/>
                  <a:pt x="6299991" y="75905"/>
                </a:cubicBezTo>
                <a:lnTo>
                  <a:pt x="6299991" y="569274"/>
                </a:lnTo>
                <a:cubicBezTo>
                  <a:pt x="6299991" y="611196"/>
                  <a:pt x="6266007" y="645180"/>
                  <a:pt x="6224085" y="645180"/>
                </a:cubicBezTo>
                <a:lnTo>
                  <a:pt x="75905" y="645180"/>
                </a:lnTo>
                <a:cubicBezTo>
                  <a:pt x="34012" y="645180"/>
                  <a:pt x="0" y="611168"/>
                  <a:pt x="0" y="56927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3" name="Text 11"/>
          <p:cNvSpPr/>
          <p:nvPr/>
        </p:nvSpPr>
        <p:spPr>
          <a:xfrm>
            <a:off x="728980" y="2788285"/>
            <a:ext cx="706755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GPT-5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8980" y="3016250"/>
            <a:ext cx="706755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OpenAI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93435" y="2845435"/>
            <a:ext cx="1022985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74.9%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4818" y="3433427"/>
            <a:ext cx="6299991" cy="645180"/>
          </a:xfrm>
          <a:custGeom>
            <a:avLst/>
            <a:gdLst/>
            <a:ahLst/>
            <a:cxnLst/>
            <a:rect l="l" t="t" r="r" b="b"/>
            <a:pathLst>
              <a:path w="6299991" h="645180">
                <a:moveTo>
                  <a:pt x="75905" y="0"/>
                </a:moveTo>
                <a:lnTo>
                  <a:pt x="6224085" y="0"/>
                </a:lnTo>
                <a:cubicBezTo>
                  <a:pt x="6266007" y="0"/>
                  <a:pt x="6299991" y="33984"/>
                  <a:pt x="6299991" y="75905"/>
                </a:cubicBezTo>
                <a:lnTo>
                  <a:pt x="6299991" y="569274"/>
                </a:lnTo>
                <a:cubicBezTo>
                  <a:pt x="6299991" y="611196"/>
                  <a:pt x="6266007" y="645180"/>
                  <a:pt x="6224085" y="645180"/>
                </a:cubicBezTo>
                <a:lnTo>
                  <a:pt x="75905" y="645180"/>
                </a:lnTo>
                <a:cubicBezTo>
                  <a:pt x="34012" y="645180"/>
                  <a:pt x="0" y="611168"/>
                  <a:pt x="0" y="56927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7" name="Text 15"/>
          <p:cNvSpPr/>
          <p:nvPr/>
        </p:nvSpPr>
        <p:spPr>
          <a:xfrm>
            <a:off x="728980" y="3547110"/>
            <a:ext cx="1707515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Claude Opus 4.5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8980" y="3775075"/>
            <a:ext cx="1416050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Anthropic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61380" y="3604260"/>
            <a:ext cx="955040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74.5%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4818" y="4192462"/>
            <a:ext cx="6299991" cy="645180"/>
          </a:xfrm>
          <a:custGeom>
            <a:avLst/>
            <a:gdLst/>
            <a:ahLst/>
            <a:cxnLst/>
            <a:rect l="l" t="t" r="r" b="b"/>
            <a:pathLst>
              <a:path w="6299991" h="645180">
                <a:moveTo>
                  <a:pt x="75905" y="0"/>
                </a:moveTo>
                <a:lnTo>
                  <a:pt x="6224085" y="0"/>
                </a:lnTo>
                <a:cubicBezTo>
                  <a:pt x="6266007" y="0"/>
                  <a:pt x="6299991" y="33984"/>
                  <a:pt x="6299991" y="75905"/>
                </a:cubicBezTo>
                <a:lnTo>
                  <a:pt x="6299991" y="569274"/>
                </a:lnTo>
                <a:cubicBezTo>
                  <a:pt x="6299991" y="611196"/>
                  <a:pt x="6266007" y="645180"/>
                  <a:pt x="6224085" y="645180"/>
                </a:cubicBezTo>
                <a:lnTo>
                  <a:pt x="75905" y="645180"/>
                </a:lnTo>
                <a:cubicBezTo>
                  <a:pt x="34012" y="645180"/>
                  <a:pt x="0" y="611168"/>
                  <a:pt x="0" y="56927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1" name="Text 19"/>
          <p:cNvSpPr/>
          <p:nvPr/>
        </p:nvSpPr>
        <p:spPr>
          <a:xfrm>
            <a:off x="728674" y="4306317"/>
            <a:ext cx="1062649" cy="22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o3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8980" y="4533900"/>
            <a:ext cx="1480185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OpenAI推理模型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62015" y="4363085"/>
            <a:ext cx="951865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69.1%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4818" y="4951497"/>
            <a:ext cx="6299991" cy="645180"/>
          </a:xfrm>
          <a:custGeom>
            <a:avLst/>
            <a:gdLst/>
            <a:ahLst/>
            <a:cxnLst/>
            <a:rect l="l" t="t" r="r" b="b"/>
            <a:pathLst>
              <a:path w="6299991" h="645180">
                <a:moveTo>
                  <a:pt x="75905" y="0"/>
                </a:moveTo>
                <a:lnTo>
                  <a:pt x="6224085" y="0"/>
                </a:lnTo>
                <a:cubicBezTo>
                  <a:pt x="6266007" y="0"/>
                  <a:pt x="6299991" y="33984"/>
                  <a:pt x="6299991" y="75905"/>
                </a:cubicBezTo>
                <a:lnTo>
                  <a:pt x="6299991" y="569274"/>
                </a:lnTo>
                <a:cubicBezTo>
                  <a:pt x="6299991" y="611196"/>
                  <a:pt x="6266007" y="645180"/>
                  <a:pt x="6224085" y="645180"/>
                </a:cubicBezTo>
                <a:lnTo>
                  <a:pt x="75905" y="645180"/>
                </a:lnTo>
                <a:cubicBezTo>
                  <a:pt x="34012" y="645180"/>
                  <a:pt x="0" y="611168"/>
                  <a:pt x="0" y="56927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5" name="Text 23"/>
          <p:cNvSpPr/>
          <p:nvPr/>
        </p:nvSpPr>
        <p:spPr>
          <a:xfrm>
            <a:off x="728980" y="5065395"/>
            <a:ext cx="1126490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GPT-4o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8980" y="5293360"/>
            <a:ext cx="918845" cy="189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早期基线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62015" y="5122545"/>
            <a:ext cx="951230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30.8%</a:t>
            </a:r>
            <a:endParaRPr 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Shape 26"/>
          <p:cNvSpPr/>
          <p:nvPr/>
        </p:nvSpPr>
        <p:spPr>
          <a:xfrm>
            <a:off x="7381497" y="1137352"/>
            <a:ext cx="4428969" cy="3233489"/>
          </a:xfrm>
          <a:custGeom>
            <a:avLst/>
            <a:gdLst/>
            <a:ahLst/>
            <a:cxnLst/>
            <a:rect l="l" t="t" r="r" b="b"/>
            <a:pathLst>
              <a:path w="4428969" h="3233489">
                <a:moveTo>
                  <a:pt x="113851" y="0"/>
                </a:moveTo>
                <a:lnTo>
                  <a:pt x="4315118" y="0"/>
                </a:lnTo>
                <a:cubicBezTo>
                  <a:pt x="4377996" y="0"/>
                  <a:pt x="4428969" y="50973"/>
                  <a:pt x="4428969" y="113851"/>
                </a:cubicBezTo>
                <a:lnTo>
                  <a:pt x="4428969" y="3119638"/>
                </a:lnTo>
                <a:cubicBezTo>
                  <a:pt x="4428969" y="3182516"/>
                  <a:pt x="4377996" y="3233489"/>
                  <a:pt x="4315118" y="3233489"/>
                </a:cubicBezTo>
                <a:lnTo>
                  <a:pt x="113851" y="3233489"/>
                </a:lnTo>
                <a:cubicBezTo>
                  <a:pt x="50973" y="3233489"/>
                  <a:pt x="0" y="3182516"/>
                  <a:pt x="0" y="3119638"/>
                </a:cubicBezTo>
                <a:lnTo>
                  <a:pt x="0" y="113851"/>
                </a:lnTo>
                <a:cubicBezTo>
                  <a:pt x="0" y="50973"/>
                  <a:pt x="50973" y="0"/>
                  <a:pt x="113851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" name="Shape 27"/>
          <p:cNvSpPr/>
          <p:nvPr/>
        </p:nvSpPr>
        <p:spPr>
          <a:xfrm>
            <a:off x="7648583" y="1406807"/>
            <a:ext cx="166039" cy="189759"/>
          </a:xfrm>
          <a:custGeom>
            <a:avLst/>
            <a:gdLst/>
            <a:ahLst/>
            <a:cxnLst/>
            <a:rect l="l" t="t" r="r" b="b"/>
            <a:pathLst>
              <a:path w="166039" h="189759">
                <a:moveTo>
                  <a:pt x="106739" y="0"/>
                </a:moveTo>
                <a:lnTo>
                  <a:pt x="47440" y="0"/>
                </a:lnTo>
                <a:cubicBezTo>
                  <a:pt x="40880" y="0"/>
                  <a:pt x="35580" y="5300"/>
                  <a:pt x="35580" y="11860"/>
                </a:cubicBezTo>
                <a:cubicBezTo>
                  <a:pt x="35580" y="18420"/>
                  <a:pt x="40880" y="23720"/>
                  <a:pt x="47440" y="23720"/>
                </a:cubicBezTo>
                <a:lnTo>
                  <a:pt x="47440" y="79869"/>
                </a:lnTo>
                <a:lnTo>
                  <a:pt x="2780" y="157996"/>
                </a:lnTo>
                <a:cubicBezTo>
                  <a:pt x="964" y="161221"/>
                  <a:pt x="0" y="164816"/>
                  <a:pt x="0" y="168522"/>
                </a:cubicBezTo>
                <a:cubicBezTo>
                  <a:pt x="0" y="180271"/>
                  <a:pt x="9488" y="189759"/>
                  <a:pt x="21237" y="189759"/>
                </a:cubicBezTo>
                <a:lnTo>
                  <a:pt x="144802" y="189759"/>
                </a:lnTo>
                <a:cubicBezTo>
                  <a:pt x="156514" y="189759"/>
                  <a:pt x="166039" y="180271"/>
                  <a:pt x="166039" y="168522"/>
                </a:cubicBezTo>
                <a:cubicBezTo>
                  <a:pt x="166039" y="164816"/>
                  <a:pt x="165075" y="161184"/>
                  <a:pt x="163259" y="157996"/>
                </a:cubicBezTo>
                <a:lnTo>
                  <a:pt x="118599" y="79869"/>
                </a:lnTo>
                <a:lnTo>
                  <a:pt x="118599" y="23720"/>
                </a:lnTo>
                <a:cubicBezTo>
                  <a:pt x="125159" y="23720"/>
                  <a:pt x="130459" y="18420"/>
                  <a:pt x="130459" y="11860"/>
                </a:cubicBezTo>
                <a:cubicBezTo>
                  <a:pt x="130459" y="5300"/>
                  <a:pt x="125159" y="0"/>
                  <a:pt x="118599" y="0"/>
                </a:cubicBezTo>
                <a:lnTo>
                  <a:pt x="106739" y="0"/>
                </a:lnTo>
                <a:close/>
                <a:moveTo>
                  <a:pt x="71160" y="79869"/>
                </a:moveTo>
                <a:lnTo>
                  <a:pt x="71160" y="23720"/>
                </a:lnTo>
                <a:lnTo>
                  <a:pt x="94879" y="23720"/>
                </a:lnTo>
                <a:lnTo>
                  <a:pt x="94879" y="79869"/>
                </a:lnTo>
                <a:cubicBezTo>
                  <a:pt x="94879" y="83983"/>
                  <a:pt x="95954" y="88060"/>
                  <a:pt x="97993" y="91655"/>
                </a:cubicBezTo>
                <a:lnTo>
                  <a:pt x="113411" y="118599"/>
                </a:lnTo>
                <a:lnTo>
                  <a:pt x="52628" y="118599"/>
                </a:lnTo>
                <a:lnTo>
                  <a:pt x="68046" y="91655"/>
                </a:lnTo>
                <a:cubicBezTo>
                  <a:pt x="70085" y="88060"/>
                  <a:pt x="71160" y="84020"/>
                  <a:pt x="71160" y="7986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9" name="Text 28"/>
          <p:cNvSpPr/>
          <p:nvPr/>
        </p:nvSpPr>
        <p:spPr>
          <a:xfrm>
            <a:off x="7956881" y="1368856"/>
            <a:ext cx="3823639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SWE-bench Pro - 企业级代码库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Shape 29"/>
          <p:cNvSpPr/>
          <p:nvPr/>
        </p:nvSpPr>
        <p:spPr>
          <a:xfrm>
            <a:off x="7613003" y="1786325"/>
            <a:ext cx="3965958" cy="1176504"/>
          </a:xfrm>
          <a:custGeom>
            <a:avLst/>
            <a:gdLst/>
            <a:ahLst/>
            <a:cxnLst/>
            <a:rect l="l" t="t" r="r" b="b"/>
            <a:pathLst>
              <a:path w="3965958" h="1176504">
                <a:moveTo>
                  <a:pt x="75908" y="0"/>
                </a:moveTo>
                <a:lnTo>
                  <a:pt x="3890050" y="0"/>
                </a:lnTo>
                <a:cubicBezTo>
                  <a:pt x="3931973" y="0"/>
                  <a:pt x="3965958" y="33985"/>
                  <a:pt x="3965958" y="75908"/>
                </a:cubicBezTo>
                <a:lnTo>
                  <a:pt x="3965958" y="1100596"/>
                </a:lnTo>
                <a:cubicBezTo>
                  <a:pt x="3965958" y="1142519"/>
                  <a:pt x="3931973" y="1176504"/>
                  <a:pt x="3890050" y="1176504"/>
                </a:cubicBezTo>
                <a:lnTo>
                  <a:pt x="75908" y="1176504"/>
                </a:lnTo>
                <a:cubicBezTo>
                  <a:pt x="33985" y="1176504"/>
                  <a:pt x="0" y="1142519"/>
                  <a:pt x="0" y="1100596"/>
                </a:cubicBezTo>
                <a:lnTo>
                  <a:pt x="0" y="75908"/>
                </a:lnTo>
                <a:cubicBezTo>
                  <a:pt x="0" y="34013"/>
                  <a:pt x="34013" y="0"/>
                  <a:pt x="75908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1" name="Text 30"/>
          <p:cNvSpPr/>
          <p:nvPr/>
        </p:nvSpPr>
        <p:spPr>
          <a:xfrm>
            <a:off x="7764810" y="1938132"/>
            <a:ext cx="3728760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公开数据集 (Public Set)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Text 31"/>
          <p:cNvSpPr/>
          <p:nvPr/>
        </p:nvSpPr>
        <p:spPr>
          <a:xfrm>
            <a:off x="7764780" y="2222500"/>
            <a:ext cx="752475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GPT-5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3" name="Text 32"/>
          <p:cNvSpPr/>
          <p:nvPr/>
        </p:nvSpPr>
        <p:spPr>
          <a:xfrm>
            <a:off x="10581005" y="2204085"/>
            <a:ext cx="937895" cy="26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23.3%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4" name="Text 33"/>
          <p:cNvSpPr/>
          <p:nvPr/>
        </p:nvSpPr>
        <p:spPr>
          <a:xfrm>
            <a:off x="7764780" y="2564130"/>
            <a:ext cx="1769110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Claude Opus 4.1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5" name="Text 34"/>
          <p:cNvSpPr/>
          <p:nvPr/>
        </p:nvSpPr>
        <p:spPr>
          <a:xfrm>
            <a:off x="10683240" y="2545080"/>
            <a:ext cx="844550" cy="26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22.7%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6" name="Shape 35"/>
          <p:cNvSpPr/>
          <p:nvPr/>
        </p:nvSpPr>
        <p:spPr>
          <a:xfrm>
            <a:off x="7613003" y="3076684"/>
            <a:ext cx="3965958" cy="1062649"/>
          </a:xfrm>
          <a:custGeom>
            <a:avLst/>
            <a:gdLst/>
            <a:ahLst/>
            <a:cxnLst/>
            <a:rect l="l" t="t" r="r" b="b"/>
            <a:pathLst>
              <a:path w="3965958" h="1062649">
                <a:moveTo>
                  <a:pt x="75905" y="0"/>
                </a:moveTo>
                <a:lnTo>
                  <a:pt x="3890053" y="0"/>
                </a:lnTo>
                <a:cubicBezTo>
                  <a:pt x="3931974" y="0"/>
                  <a:pt x="3965958" y="33984"/>
                  <a:pt x="3965958" y="75905"/>
                </a:cubicBezTo>
                <a:lnTo>
                  <a:pt x="3965958" y="986744"/>
                </a:lnTo>
                <a:cubicBezTo>
                  <a:pt x="3965958" y="1028665"/>
                  <a:pt x="3931974" y="1062649"/>
                  <a:pt x="3890053" y="1062649"/>
                </a:cubicBezTo>
                <a:lnTo>
                  <a:pt x="75905" y="1062649"/>
                </a:lnTo>
                <a:cubicBezTo>
                  <a:pt x="33984" y="1062649"/>
                  <a:pt x="0" y="1028665"/>
                  <a:pt x="0" y="98674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7" name="Text 36"/>
          <p:cNvSpPr/>
          <p:nvPr/>
        </p:nvSpPr>
        <p:spPr>
          <a:xfrm>
            <a:off x="7764810" y="3228491"/>
            <a:ext cx="3728760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商业数据集 (Commercial Set)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 37"/>
          <p:cNvSpPr/>
          <p:nvPr/>
        </p:nvSpPr>
        <p:spPr>
          <a:xfrm>
            <a:off x="7764780" y="3512820"/>
            <a:ext cx="942340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最佳模型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9" name="Text 38"/>
          <p:cNvSpPr/>
          <p:nvPr/>
        </p:nvSpPr>
        <p:spPr>
          <a:xfrm>
            <a:off x="10580370" y="3494405"/>
            <a:ext cx="940435" cy="26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&lt;20%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0" name="Text 39"/>
          <p:cNvSpPr/>
          <p:nvPr/>
        </p:nvSpPr>
        <p:spPr>
          <a:xfrm>
            <a:off x="7764810" y="3835719"/>
            <a:ext cx="3719272" cy="151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企业级代码库更具挑战性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1" name="Shape 40"/>
          <p:cNvSpPr/>
          <p:nvPr/>
        </p:nvSpPr>
        <p:spPr>
          <a:xfrm>
            <a:off x="7381497" y="4530114"/>
            <a:ext cx="4428969" cy="2019033"/>
          </a:xfrm>
          <a:custGeom>
            <a:avLst/>
            <a:gdLst/>
            <a:ahLst/>
            <a:cxnLst/>
            <a:rect l="l" t="t" r="r" b="b"/>
            <a:pathLst>
              <a:path w="4428969" h="2019033">
                <a:moveTo>
                  <a:pt x="113853" y="0"/>
                </a:moveTo>
                <a:lnTo>
                  <a:pt x="4315116" y="0"/>
                </a:lnTo>
                <a:cubicBezTo>
                  <a:pt x="4377953" y="0"/>
                  <a:pt x="4428969" y="51016"/>
                  <a:pt x="4428969" y="113853"/>
                </a:cubicBezTo>
                <a:lnTo>
                  <a:pt x="4428969" y="1905180"/>
                </a:lnTo>
                <a:cubicBezTo>
                  <a:pt x="4428969" y="1968017"/>
                  <a:pt x="4377953" y="2019033"/>
                  <a:pt x="4315116" y="2019033"/>
                </a:cubicBezTo>
                <a:lnTo>
                  <a:pt x="113853" y="2019033"/>
                </a:lnTo>
                <a:cubicBezTo>
                  <a:pt x="51016" y="2019033"/>
                  <a:pt x="0" y="1968017"/>
                  <a:pt x="0" y="1905180"/>
                </a:cubicBezTo>
                <a:lnTo>
                  <a:pt x="0" y="113853"/>
                </a:lnTo>
                <a:cubicBezTo>
                  <a:pt x="0" y="51016"/>
                  <a:pt x="51016" y="0"/>
                  <a:pt x="11385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02" name="Shape 41"/>
          <p:cNvSpPr/>
          <p:nvPr/>
        </p:nvSpPr>
        <p:spPr>
          <a:xfrm>
            <a:off x="7613003" y="4799570"/>
            <a:ext cx="237198" cy="189759"/>
          </a:xfrm>
          <a:custGeom>
            <a:avLst/>
            <a:gdLst/>
            <a:ahLst/>
            <a:cxnLst/>
            <a:rect l="l" t="t" r="r" b="b"/>
            <a:pathLst>
              <a:path w="237198" h="189759">
                <a:moveTo>
                  <a:pt x="23720" y="35580"/>
                </a:moveTo>
                <a:cubicBezTo>
                  <a:pt x="23720" y="22497"/>
                  <a:pt x="34357" y="11860"/>
                  <a:pt x="47440" y="11860"/>
                </a:cubicBezTo>
                <a:lnTo>
                  <a:pt x="189759" y="11860"/>
                </a:lnTo>
                <a:cubicBezTo>
                  <a:pt x="202842" y="11860"/>
                  <a:pt x="213479" y="22497"/>
                  <a:pt x="213479" y="35580"/>
                </a:cubicBezTo>
                <a:lnTo>
                  <a:pt x="213479" y="124529"/>
                </a:lnTo>
                <a:lnTo>
                  <a:pt x="189759" y="124529"/>
                </a:lnTo>
                <a:lnTo>
                  <a:pt x="189759" y="35580"/>
                </a:lnTo>
                <a:lnTo>
                  <a:pt x="47440" y="35580"/>
                </a:lnTo>
                <a:lnTo>
                  <a:pt x="47440" y="124529"/>
                </a:lnTo>
                <a:lnTo>
                  <a:pt x="23720" y="124529"/>
                </a:lnTo>
                <a:lnTo>
                  <a:pt x="23720" y="35580"/>
                </a:lnTo>
                <a:close/>
                <a:moveTo>
                  <a:pt x="0" y="149435"/>
                </a:moveTo>
                <a:cubicBezTo>
                  <a:pt x="0" y="145506"/>
                  <a:pt x="3187" y="142319"/>
                  <a:pt x="7116" y="142319"/>
                </a:cubicBezTo>
                <a:lnTo>
                  <a:pt x="230082" y="142319"/>
                </a:lnTo>
                <a:cubicBezTo>
                  <a:pt x="234011" y="142319"/>
                  <a:pt x="237198" y="145506"/>
                  <a:pt x="237198" y="149435"/>
                </a:cubicBezTo>
                <a:cubicBezTo>
                  <a:pt x="237198" y="165149"/>
                  <a:pt x="224449" y="177899"/>
                  <a:pt x="208735" y="177899"/>
                </a:cubicBezTo>
                <a:lnTo>
                  <a:pt x="28464" y="177899"/>
                </a:lnTo>
                <a:cubicBezTo>
                  <a:pt x="12749" y="177899"/>
                  <a:pt x="0" y="165149"/>
                  <a:pt x="0" y="149435"/>
                </a:cubicBezTo>
                <a:close/>
                <a:moveTo>
                  <a:pt x="104145" y="77460"/>
                </a:moveTo>
                <a:lnTo>
                  <a:pt x="92656" y="88949"/>
                </a:lnTo>
                <a:lnTo>
                  <a:pt x="104145" y="100439"/>
                </a:lnTo>
                <a:cubicBezTo>
                  <a:pt x="107629" y="103923"/>
                  <a:pt x="107629" y="109556"/>
                  <a:pt x="104145" y="113003"/>
                </a:cubicBezTo>
                <a:cubicBezTo>
                  <a:pt x="100661" y="116450"/>
                  <a:pt x="95028" y="116487"/>
                  <a:pt x="91581" y="113003"/>
                </a:cubicBezTo>
                <a:lnTo>
                  <a:pt x="73791" y="95213"/>
                </a:lnTo>
                <a:cubicBezTo>
                  <a:pt x="70307" y="91729"/>
                  <a:pt x="70307" y="86096"/>
                  <a:pt x="73791" y="82649"/>
                </a:cubicBezTo>
                <a:lnTo>
                  <a:pt x="91581" y="64859"/>
                </a:lnTo>
                <a:cubicBezTo>
                  <a:pt x="95065" y="61375"/>
                  <a:pt x="100698" y="61375"/>
                  <a:pt x="104145" y="64859"/>
                </a:cubicBezTo>
                <a:cubicBezTo>
                  <a:pt x="107592" y="68343"/>
                  <a:pt x="107629" y="73976"/>
                  <a:pt x="104145" y="77423"/>
                </a:cubicBezTo>
                <a:close/>
                <a:moveTo>
                  <a:pt x="145655" y="64859"/>
                </a:moveTo>
                <a:lnTo>
                  <a:pt x="163445" y="82649"/>
                </a:lnTo>
                <a:cubicBezTo>
                  <a:pt x="166928" y="86133"/>
                  <a:pt x="166928" y="91766"/>
                  <a:pt x="163445" y="95213"/>
                </a:cubicBezTo>
                <a:lnTo>
                  <a:pt x="145655" y="113003"/>
                </a:lnTo>
                <a:cubicBezTo>
                  <a:pt x="142171" y="116487"/>
                  <a:pt x="136537" y="116487"/>
                  <a:pt x="133091" y="113003"/>
                </a:cubicBezTo>
                <a:cubicBezTo>
                  <a:pt x="129644" y="109519"/>
                  <a:pt x="129607" y="103886"/>
                  <a:pt x="133091" y="100439"/>
                </a:cubicBezTo>
                <a:lnTo>
                  <a:pt x="144580" y="88949"/>
                </a:lnTo>
                <a:lnTo>
                  <a:pt x="133091" y="77460"/>
                </a:lnTo>
                <a:cubicBezTo>
                  <a:pt x="129607" y="73976"/>
                  <a:pt x="129607" y="68343"/>
                  <a:pt x="133091" y="64896"/>
                </a:cubicBezTo>
                <a:cubicBezTo>
                  <a:pt x="136574" y="61449"/>
                  <a:pt x="142208" y="61412"/>
                  <a:pt x="145655" y="6489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3" name="Text 42"/>
          <p:cNvSpPr/>
          <p:nvPr/>
        </p:nvSpPr>
        <p:spPr>
          <a:xfrm>
            <a:off x="7956881" y="4761618"/>
            <a:ext cx="3823639" cy="265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编程语言性能差异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04" name="Shape 43"/>
          <p:cNvSpPr/>
          <p:nvPr/>
        </p:nvSpPr>
        <p:spPr>
          <a:xfrm>
            <a:off x="7613003" y="5254991"/>
            <a:ext cx="75904" cy="75904"/>
          </a:xfrm>
          <a:custGeom>
            <a:avLst/>
            <a:gdLst/>
            <a:ahLst/>
            <a:cxnLst/>
            <a:rect l="l" t="t" r="r" b="b"/>
            <a:pathLst>
              <a:path w="75904" h="75904">
                <a:moveTo>
                  <a:pt x="37952" y="0"/>
                </a:moveTo>
                <a:lnTo>
                  <a:pt x="37952" y="0"/>
                </a:lnTo>
                <a:cubicBezTo>
                  <a:pt x="58898" y="0"/>
                  <a:pt x="75904" y="17006"/>
                  <a:pt x="75904" y="37952"/>
                </a:cubicBezTo>
                <a:lnTo>
                  <a:pt x="75904" y="37952"/>
                </a:lnTo>
                <a:cubicBezTo>
                  <a:pt x="75904" y="58898"/>
                  <a:pt x="58898" y="75904"/>
                  <a:pt x="37952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5" name="Text 44"/>
          <p:cNvSpPr/>
          <p:nvPr/>
        </p:nvSpPr>
        <p:spPr>
          <a:xfrm>
            <a:off x="7802880" y="5179060"/>
            <a:ext cx="3174365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Go/Python: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部分模型超过30%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Shape 45"/>
          <p:cNvSpPr/>
          <p:nvPr/>
        </p:nvSpPr>
        <p:spPr>
          <a:xfrm>
            <a:off x="7613003" y="5558605"/>
            <a:ext cx="75904" cy="75904"/>
          </a:xfrm>
          <a:custGeom>
            <a:avLst/>
            <a:gdLst/>
            <a:ahLst/>
            <a:cxnLst/>
            <a:rect l="l" t="t" r="r" b="b"/>
            <a:pathLst>
              <a:path w="75904" h="75904">
                <a:moveTo>
                  <a:pt x="37952" y="0"/>
                </a:moveTo>
                <a:lnTo>
                  <a:pt x="37952" y="0"/>
                </a:lnTo>
                <a:cubicBezTo>
                  <a:pt x="58898" y="0"/>
                  <a:pt x="75904" y="17006"/>
                  <a:pt x="75904" y="37952"/>
                </a:cubicBezTo>
                <a:lnTo>
                  <a:pt x="75904" y="37952"/>
                </a:lnTo>
                <a:cubicBezTo>
                  <a:pt x="75904" y="58898"/>
                  <a:pt x="58898" y="75904"/>
                  <a:pt x="37952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7" name="Text 46"/>
          <p:cNvSpPr/>
          <p:nvPr/>
        </p:nvSpPr>
        <p:spPr>
          <a:xfrm>
            <a:off x="7802880" y="5482590"/>
            <a:ext cx="2778125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JS/TS: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性能波动大(0%-30%)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Shape 47"/>
          <p:cNvSpPr/>
          <p:nvPr/>
        </p:nvSpPr>
        <p:spPr>
          <a:xfrm>
            <a:off x="7613003" y="5862219"/>
            <a:ext cx="75904" cy="75904"/>
          </a:xfrm>
          <a:custGeom>
            <a:avLst/>
            <a:gdLst/>
            <a:ahLst/>
            <a:cxnLst/>
            <a:rect l="l" t="t" r="r" b="b"/>
            <a:pathLst>
              <a:path w="75904" h="75904">
                <a:moveTo>
                  <a:pt x="37952" y="0"/>
                </a:moveTo>
                <a:lnTo>
                  <a:pt x="37952" y="0"/>
                </a:lnTo>
                <a:cubicBezTo>
                  <a:pt x="58898" y="0"/>
                  <a:pt x="75904" y="17006"/>
                  <a:pt x="75904" y="37952"/>
                </a:cubicBezTo>
                <a:lnTo>
                  <a:pt x="75904" y="37952"/>
                </a:lnTo>
                <a:cubicBezTo>
                  <a:pt x="75904" y="58898"/>
                  <a:pt x="58898" y="75904"/>
                  <a:pt x="37952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9" name="Text 48"/>
          <p:cNvSpPr/>
          <p:nvPr/>
        </p:nvSpPr>
        <p:spPr>
          <a:xfrm>
            <a:off x="7802880" y="5786120"/>
            <a:ext cx="3681095" cy="227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代码库差异: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部分低于10%,部分达50%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Text 49"/>
          <p:cNvSpPr/>
          <p:nvPr/>
        </p:nvSpPr>
        <p:spPr>
          <a:xfrm>
            <a:off x="7613003" y="6127881"/>
            <a:ext cx="4032374" cy="189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代码库复杂度、文档质量、问题类型均影响性能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能力扩展与评估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542861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Agent</a:t>
            </a: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执行循环：多步交互闭环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5207000" cy="2413000"/>
          </a:xfrm>
          <a:prstGeom prst="rect">
            <a:avLst/>
          </a:prstGeom>
          <a:noFill/>
          <a:ln w="12700" cap="flat" cmpd="sng">
            <a:solidFill>
              <a:srgbClr val="B10015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651000"/>
            <a:ext cx="355600" cy="3556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5"/>
            </p:custDataLst>
          </p:nvPr>
        </p:nvSpPr>
        <p:spPr>
          <a:xfrm>
            <a:off x="14605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可靠性优化：指令校验与迭代</a:t>
            </a:r>
            <a:endParaRPr lang="en-US" sz="2000" b="1" i="0" u="none" strike="noStrike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7"/>
          <p:cNvCxnSpPr/>
          <p:nvPr>
            <p:custDataLst>
              <p:tags r:id="rId6"/>
            </p:custDataLst>
          </p:nvPr>
        </p:nvCxnSpPr>
        <p:spPr>
          <a:xfrm rot="-9291">
            <a:off x="1016009" y="208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1001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8"/>
          <p:cNvSpPr/>
          <p:nvPr>
            <p:custDataLst>
              <p:tags r:id="rId7"/>
            </p:custDataLst>
          </p:nvPr>
        </p:nvSpPr>
        <p:spPr>
          <a:xfrm>
            <a:off x="1016000" y="222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构建指令校验模块，提前修正错误Action指令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优化提示词工程，增加操作规范与约束示例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引入调用成功率反馈机制，持续迭代模型行为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>
            <p:custDataLst>
              <p:tags r:id="rId8"/>
            </p:custDataLst>
          </p:nvPr>
        </p:nvSpPr>
        <p:spPr>
          <a:xfrm>
            <a:off x="6223000" y="1397000"/>
            <a:ext cx="5207000" cy="2413000"/>
          </a:xfrm>
          <a:prstGeom prst="rect">
            <a:avLst/>
          </a:prstGeom>
          <a:solidFill>
            <a:srgbClr val="B10015">
              <a:alpha val="10000"/>
            </a:srgbClr>
          </a:solidFill>
          <a:ln w="12700" cap="flat" cmpd="sng">
            <a:solidFill>
              <a:srgbClr val="B10015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1651000"/>
            <a:ext cx="355600" cy="355600"/>
          </a:xfrm>
          <a:prstGeom prst="rect">
            <a:avLst/>
          </a:prstGeom>
        </p:spPr>
      </p:pic>
      <p:sp>
        <p:nvSpPr>
          <p:cNvPr id="12" name="AutoShape 11"/>
          <p:cNvSpPr/>
          <p:nvPr>
            <p:custDataLst>
              <p:tags r:id="rId12"/>
            </p:custDataLst>
          </p:nvPr>
        </p:nvSpPr>
        <p:spPr>
          <a:xfrm>
            <a:off x="6921500" y="162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安全性管控：权限分级与过滤</a:t>
            </a:r>
            <a:endParaRPr lang="en-US" sz="2000" b="1" i="0" u="none" strike="noStrike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2"/>
          <p:cNvCxnSpPr/>
          <p:nvPr>
            <p:custDataLst>
              <p:tags r:id="rId13"/>
            </p:custDataLst>
          </p:nvPr>
        </p:nvCxnSpPr>
        <p:spPr>
          <a:xfrm rot="-9291">
            <a:off x="6477009" y="208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1001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3"/>
          <p:cNvSpPr/>
          <p:nvPr>
            <p:custDataLst>
              <p:tags r:id="rId14"/>
            </p:custDataLst>
          </p:nvPr>
        </p:nvSpPr>
        <p:spPr>
          <a:xfrm>
            <a:off x="6477000" y="222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实施工具白名单机制，严格限制Agent调用范围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增加指令审查模块，过滤恶意或违规用户指令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核心操作设置人工确认环节，实现权限分级管控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5" name="AutoShape 14"/>
          <p:cNvSpPr/>
          <p:nvPr>
            <p:custDataLst>
              <p:tags r:id="rId15"/>
            </p:custDataLst>
          </p:nvPr>
        </p:nvSpPr>
        <p:spPr>
          <a:xfrm>
            <a:off x="762000" y="4000500"/>
            <a:ext cx="5207000" cy="2413000"/>
          </a:xfrm>
          <a:prstGeom prst="rect">
            <a:avLst/>
          </a:prstGeom>
          <a:solidFill>
            <a:srgbClr val="B10015">
              <a:alpha val="10000"/>
            </a:srgbClr>
          </a:solidFill>
          <a:ln w="12700" cap="flat" cmpd="sng">
            <a:solidFill>
              <a:srgbClr val="B10015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4254500"/>
            <a:ext cx="355600" cy="355600"/>
          </a:xfrm>
          <a:prstGeom prst="rect">
            <a:avLst/>
          </a:prstGeom>
        </p:spPr>
      </p:pic>
      <p:sp>
        <p:nvSpPr>
          <p:cNvPr id="17" name="AutoShape 16"/>
          <p:cNvSpPr/>
          <p:nvPr>
            <p:custDataLst>
              <p:tags r:id="rId19"/>
            </p:custDataLst>
          </p:nvPr>
        </p:nvSpPr>
        <p:spPr>
          <a:xfrm>
            <a:off x="1460500" y="4229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环境适配：视觉增强与接口封装</a:t>
            </a:r>
            <a:endParaRPr lang="en-US" sz="2000" b="1" i="0" u="none" strike="noStrike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7"/>
          <p:cNvCxnSpPr/>
          <p:nvPr>
            <p:custDataLst>
              <p:tags r:id="rId20"/>
            </p:custDataLst>
          </p:nvPr>
        </p:nvCxnSpPr>
        <p:spPr>
          <a:xfrm rot="-9291">
            <a:off x="1016009" y="469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1001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8"/>
          <p:cNvSpPr/>
          <p:nvPr>
            <p:custDataLst>
              <p:tags r:id="rId21"/>
            </p:custDataLst>
          </p:nvPr>
        </p:nvSpPr>
        <p:spPr>
          <a:xfrm>
            <a:off x="1016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结合OCR与目标检测技术，解析无API的GUI界面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使用自动化框架封装复杂逻辑，提供简洁接口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将界面元素转化为模型可理解的文本信息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0" name="AutoShape 19"/>
          <p:cNvSpPr/>
          <p:nvPr>
            <p:custDataLst>
              <p:tags r:id="rId22"/>
            </p:custDataLst>
          </p:nvPr>
        </p:nvSpPr>
        <p:spPr>
          <a:xfrm>
            <a:off x="6223000" y="4000500"/>
            <a:ext cx="5207000" cy="2413000"/>
          </a:xfrm>
          <a:prstGeom prst="rect">
            <a:avLst/>
          </a:prstGeom>
          <a:noFill/>
          <a:ln w="12700" cap="flat" cmpd="sng">
            <a:solidFill>
              <a:srgbClr val="B10015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000" y="4254500"/>
            <a:ext cx="355600" cy="355600"/>
          </a:xfrm>
          <a:prstGeom prst="rect">
            <a:avLst/>
          </a:prstGeom>
        </p:spPr>
      </p:pic>
      <p:sp>
        <p:nvSpPr>
          <p:cNvPr id="22" name="AutoShape 21"/>
          <p:cNvSpPr/>
          <p:nvPr>
            <p:custDataLst>
              <p:tags r:id="rId26"/>
            </p:custDataLst>
          </p:nvPr>
        </p:nvSpPr>
        <p:spPr>
          <a:xfrm>
            <a:off x="6921500" y="4229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效率提升：规划先行与模型轻量化</a:t>
            </a:r>
            <a:endParaRPr lang="en-US" sz="2000" b="1" i="0" u="none" strike="noStrike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22"/>
          <p:cNvCxnSpPr/>
          <p:nvPr>
            <p:custDataLst>
              <p:tags r:id="rId27"/>
            </p:custDataLst>
          </p:nvPr>
        </p:nvCxnSpPr>
        <p:spPr>
          <a:xfrm rot="-9291">
            <a:off x="6477009" y="469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1001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3"/>
          <p:cNvSpPr/>
          <p:nvPr>
            <p:custDataLst>
              <p:tags r:id="rId28"/>
            </p:custDataLst>
          </p:nvPr>
        </p:nvSpPr>
        <p:spPr>
          <a:xfrm>
            <a:off x="6477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引入任务预规划模块，减少执行循环次数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小模型负责快速决策，大模型专注复杂推理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25000"/>
              </a:lnSpc>
              <a:buClr>
                <a:srgbClr val="B10015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优化工具调用缓存机制，复用历史执行结果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挑战、前沿与总结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891" y="441479"/>
            <a:ext cx="386080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核心技术挑战深度剖析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384810" y="1451610"/>
            <a:ext cx="5589270" cy="2446020"/>
          </a:xfrm>
          <a:custGeom>
            <a:avLst/>
            <a:gdLst/>
            <a:ahLst/>
            <a:cxnLst/>
            <a:rect l="l" t="t" r="r" b="b"/>
            <a:pathLst>
              <a:path w="5589270" h="2446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2331717"/>
                </a:lnTo>
                <a:cubicBezTo>
                  <a:pt x="5589270" y="2394845"/>
                  <a:pt x="5538095" y="2446020"/>
                  <a:pt x="54749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7" name="Shape 4"/>
          <p:cNvSpPr/>
          <p:nvPr/>
        </p:nvSpPr>
        <p:spPr>
          <a:xfrm>
            <a:off x="617220" y="16840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8" name="Shape 5"/>
          <p:cNvSpPr/>
          <p:nvPr/>
        </p:nvSpPr>
        <p:spPr>
          <a:xfrm>
            <a:off x="717233" y="179832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85725" y="42863"/>
                </a:moveTo>
                <a:cubicBezTo>
                  <a:pt x="85725" y="19199"/>
                  <a:pt x="104924" y="0"/>
                  <a:pt x="128588" y="0"/>
                </a:cubicBezTo>
                <a:cubicBezTo>
                  <a:pt x="152251" y="0"/>
                  <a:pt x="171450" y="19199"/>
                  <a:pt x="171450" y="42863"/>
                </a:cubicBezTo>
                <a:lnTo>
                  <a:pt x="171450" y="44470"/>
                </a:lnTo>
                <a:cubicBezTo>
                  <a:pt x="171450" y="51480"/>
                  <a:pt x="165780" y="57150"/>
                  <a:pt x="158770" y="57150"/>
                </a:cubicBezTo>
                <a:lnTo>
                  <a:pt x="98450" y="57150"/>
                </a:lnTo>
                <a:cubicBezTo>
                  <a:pt x="91440" y="57150"/>
                  <a:pt x="85770" y="51480"/>
                  <a:pt x="85770" y="44470"/>
                </a:cubicBezTo>
                <a:lnTo>
                  <a:pt x="85770" y="42863"/>
                </a:lnTo>
                <a:close/>
                <a:moveTo>
                  <a:pt x="240030" y="48578"/>
                </a:moveTo>
                <a:cubicBezTo>
                  <a:pt x="244763" y="54873"/>
                  <a:pt x="243468" y="63847"/>
                  <a:pt x="237173" y="68580"/>
                </a:cubicBezTo>
                <a:lnTo>
                  <a:pt x="193506" y="101307"/>
                </a:lnTo>
                <a:cubicBezTo>
                  <a:pt x="195873" y="105281"/>
                  <a:pt x="197659" y="109657"/>
                  <a:pt x="198775" y="114300"/>
                </a:cubicBezTo>
                <a:lnTo>
                  <a:pt x="242888" y="114300"/>
                </a:lnTo>
                <a:cubicBezTo>
                  <a:pt x="250790" y="114300"/>
                  <a:pt x="257175" y="120685"/>
                  <a:pt x="257175" y="128588"/>
                </a:cubicBezTo>
                <a:cubicBezTo>
                  <a:pt x="257175" y="136490"/>
                  <a:pt x="250790" y="142875"/>
                  <a:pt x="242888" y="142875"/>
                </a:cubicBezTo>
                <a:lnTo>
                  <a:pt x="200025" y="142875"/>
                </a:lnTo>
                <a:lnTo>
                  <a:pt x="200025" y="157163"/>
                </a:lnTo>
                <a:cubicBezTo>
                  <a:pt x="200025" y="158323"/>
                  <a:pt x="199980" y="159529"/>
                  <a:pt x="199936" y="160690"/>
                </a:cubicBezTo>
                <a:lnTo>
                  <a:pt x="237173" y="188595"/>
                </a:lnTo>
                <a:cubicBezTo>
                  <a:pt x="243468" y="193328"/>
                  <a:pt x="244763" y="202302"/>
                  <a:pt x="240030" y="208598"/>
                </a:cubicBezTo>
                <a:cubicBezTo>
                  <a:pt x="235297" y="214893"/>
                  <a:pt x="226323" y="216188"/>
                  <a:pt x="220028" y="211455"/>
                </a:cubicBezTo>
                <a:lnTo>
                  <a:pt x="191854" y="190336"/>
                </a:lnTo>
                <a:cubicBezTo>
                  <a:pt x="181496" y="210071"/>
                  <a:pt x="162163" y="224358"/>
                  <a:pt x="139303" y="227796"/>
                </a:cubicBezTo>
                <a:lnTo>
                  <a:pt x="139303" y="125016"/>
                </a:lnTo>
                <a:cubicBezTo>
                  <a:pt x="139303" y="119077"/>
                  <a:pt x="134526" y="114300"/>
                  <a:pt x="128588" y="114300"/>
                </a:cubicBezTo>
                <a:cubicBezTo>
                  <a:pt x="122649" y="114300"/>
                  <a:pt x="117872" y="119077"/>
                  <a:pt x="117872" y="125016"/>
                </a:cubicBezTo>
                <a:lnTo>
                  <a:pt x="117872" y="227796"/>
                </a:lnTo>
                <a:cubicBezTo>
                  <a:pt x="95012" y="224358"/>
                  <a:pt x="75679" y="210071"/>
                  <a:pt x="65321" y="190336"/>
                </a:cubicBezTo>
                <a:lnTo>
                  <a:pt x="37148" y="211455"/>
                </a:lnTo>
                <a:cubicBezTo>
                  <a:pt x="30852" y="216188"/>
                  <a:pt x="21878" y="214893"/>
                  <a:pt x="17145" y="208598"/>
                </a:cubicBezTo>
                <a:cubicBezTo>
                  <a:pt x="12412" y="202302"/>
                  <a:pt x="13707" y="193328"/>
                  <a:pt x="20003" y="188595"/>
                </a:cubicBezTo>
                <a:lnTo>
                  <a:pt x="57239" y="160690"/>
                </a:lnTo>
                <a:cubicBezTo>
                  <a:pt x="57195" y="159529"/>
                  <a:pt x="57150" y="158368"/>
                  <a:pt x="57150" y="157163"/>
                </a:cubicBezTo>
                <a:lnTo>
                  <a:pt x="57150" y="142875"/>
                </a:lnTo>
                <a:lnTo>
                  <a:pt x="14288" y="142875"/>
                </a:lnTo>
                <a:cubicBezTo>
                  <a:pt x="6385" y="142875"/>
                  <a:pt x="0" y="136490"/>
                  <a:pt x="0" y="128588"/>
                </a:cubicBezTo>
                <a:cubicBezTo>
                  <a:pt x="0" y="120685"/>
                  <a:pt x="6385" y="114300"/>
                  <a:pt x="14288" y="114300"/>
                </a:cubicBezTo>
                <a:lnTo>
                  <a:pt x="58400" y="114300"/>
                </a:lnTo>
                <a:cubicBezTo>
                  <a:pt x="59516" y="109657"/>
                  <a:pt x="61302" y="105281"/>
                  <a:pt x="63669" y="101307"/>
                </a:cubicBezTo>
                <a:lnTo>
                  <a:pt x="20003" y="68580"/>
                </a:lnTo>
                <a:cubicBezTo>
                  <a:pt x="13707" y="63847"/>
                  <a:pt x="12412" y="54873"/>
                  <a:pt x="17145" y="48578"/>
                </a:cubicBezTo>
                <a:cubicBezTo>
                  <a:pt x="21878" y="42282"/>
                  <a:pt x="30852" y="40987"/>
                  <a:pt x="37147" y="45720"/>
                </a:cubicBezTo>
                <a:lnTo>
                  <a:pt x="85725" y="82153"/>
                </a:lnTo>
                <a:cubicBezTo>
                  <a:pt x="91217" y="79876"/>
                  <a:pt x="97244" y="78581"/>
                  <a:pt x="103584" y="78581"/>
                </a:cubicBezTo>
                <a:lnTo>
                  <a:pt x="153591" y="78581"/>
                </a:lnTo>
                <a:cubicBezTo>
                  <a:pt x="159931" y="78581"/>
                  <a:pt x="165958" y="79831"/>
                  <a:pt x="171450" y="82153"/>
                </a:cubicBezTo>
                <a:lnTo>
                  <a:pt x="220028" y="45720"/>
                </a:lnTo>
                <a:cubicBezTo>
                  <a:pt x="226323" y="40987"/>
                  <a:pt x="235297" y="42282"/>
                  <a:pt x="240030" y="4857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6"/>
          <p:cNvSpPr/>
          <p:nvPr/>
        </p:nvSpPr>
        <p:spPr>
          <a:xfrm>
            <a:off x="1188720" y="1779270"/>
            <a:ext cx="197739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执行可靠性问题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22" name="Text 7"/>
          <p:cNvSpPr/>
          <p:nvPr/>
        </p:nvSpPr>
        <p:spPr>
          <a:xfrm>
            <a:off x="617220" y="2293627"/>
            <a:ext cx="52006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大模型可能生成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格式错误或逻辑矛盾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的指令,导致工具调用失败。在复杂任务中,容易出现步骤遗漏或重复操作的问题。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636270" y="29794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8" name="Text 9"/>
          <p:cNvSpPr/>
          <p:nvPr/>
        </p:nvSpPr>
        <p:spPr>
          <a:xfrm>
            <a:off x="883920" y="2941320"/>
            <a:ext cx="26866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JSON格式错误导致API调用失败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636270" y="32461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0" name="Text 11"/>
          <p:cNvSpPr/>
          <p:nvPr/>
        </p:nvSpPr>
        <p:spPr>
          <a:xfrm>
            <a:off x="883920" y="3208020"/>
            <a:ext cx="272542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参数类型不匹配引发运行时错误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636270" y="35128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2" name="Text 13"/>
          <p:cNvSpPr/>
          <p:nvPr/>
        </p:nvSpPr>
        <p:spPr>
          <a:xfrm>
            <a:off x="883920" y="3474720"/>
            <a:ext cx="22155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多步骤任务中出现逻辑断层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384810" y="4057656"/>
            <a:ext cx="5589270" cy="2446020"/>
          </a:xfrm>
          <a:custGeom>
            <a:avLst/>
            <a:gdLst/>
            <a:ahLst/>
            <a:cxnLst/>
            <a:rect l="l" t="t" r="r" b="b"/>
            <a:pathLst>
              <a:path w="5589270" h="2446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2331717"/>
                </a:lnTo>
                <a:cubicBezTo>
                  <a:pt x="5589270" y="2394845"/>
                  <a:pt x="5538095" y="2446020"/>
                  <a:pt x="54749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4" name="Shape 15"/>
          <p:cNvSpPr/>
          <p:nvPr/>
        </p:nvSpPr>
        <p:spPr>
          <a:xfrm>
            <a:off x="617220" y="41643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5" name="Shape 16"/>
          <p:cNvSpPr/>
          <p:nvPr/>
        </p:nvSpPr>
        <p:spPr>
          <a:xfrm>
            <a:off x="731520" y="42786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17"/>
          <p:cNvSpPr/>
          <p:nvPr/>
        </p:nvSpPr>
        <p:spPr>
          <a:xfrm>
            <a:off x="1188720" y="4259580"/>
            <a:ext cx="228790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安全性与权限管控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617220" y="4853944"/>
            <a:ext cx="52006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缺乏有效约束可能导致执行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删除文件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等有害操作。在恶意指令诱导下,存在突破权限边界的风险,需建立严格的管控机制。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636270" y="56940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0" name="Text 20"/>
          <p:cNvSpPr/>
          <p:nvPr/>
        </p:nvSpPr>
        <p:spPr>
          <a:xfrm>
            <a:off x="883920" y="5655945"/>
            <a:ext cx="22148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Injection攻击风险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636270" y="59607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2" name="Text 22"/>
          <p:cNvSpPr/>
          <p:nvPr/>
        </p:nvSpPr>
        <p:spPr>
          <a:xfrm>
            <a:off x="883920" y="5922645"/>
            <a:ext cx="198056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越权访问敏感数据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636270" y="62274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4" name="Text 24"/>
          <p:cNvSpPr/>
          <p:nvPr/>
        </p:nvSpPr>
        <p:spPr>
          <a:xfrm>
            <a:off x="883920" y="6189345"/>
            <a:ext cx="217297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恶意指令执行破坏性操作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6214110" y="1451610"/>
            <a:ext cx="5589270" cy="2446020"/>
          </a:xfrm>
          <a:custGeom>
            <a:avLst/>
            <a:gdLst/>
            <a:ahLst/>
            <a:cxnLst/>
            <a:rect l="l" t="t" r="r" b="b"/>
            <a:pathLst>
              <a:path w="5589270" h="2446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2331717"/>
                </a:lnTo>
                <a:cubicBezTo>
                  <a:pt x="5589270" y="2394845"/>
                  <a:pt x="5538095" y="2446020"/>
                  <a:pt x="54749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6" name="Shape 26"/>
          <p:cNvSpPr/>
          <p:nvPr/>
        </p:nvSpPr>
        <p:spPr>
          <a:xfrm>
            <a:off x="6446520" y="16840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7" name="Shape 27"/>
          <p:cNvSpPr/>
          <p:nvPr/>
        </p:nvSpPr>
        <p:spPr>
          <a:xfrm>
            <a:off x="6560820" y="17983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28"/>
          <p:cNvSpPr/>
          <p:nvPr/>
        </p:nvSpPr>
        <p:spPr>
          <a:xfrm>
            <a:off x="7018020" y="1779270"/>
            <a:ext cx="221107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环境适配性难题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49" name="Text 29"/>
          <p:cNvSpPr/>
          <p:nvPr/>
        </p:nvSpPr>
        <p:spPr>
          <a:xfrm>
            <a:off x="6446520" y="2293627"/>
            <a:ext cx="52006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图形界面元素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复杂且无标准API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,纯文本模型难以直接理解。通常需要结合计算机视觉技术,大大增加了系统的复杂度。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Shape 30"/>
          <p:cNvSpPr/>
          <p:nvPr/>
        </p:nvSpPr>
        <p:spPr>
          <a:xfrm>
            <a:off x="6465570" y="29794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1" name="Text 31"/>
          <p:cNvSpPr/>
          <p:nvPr/>
        </p:nvSpPr>
        <p:spPr>
          <a:xfrm>
            <a:off x="6713220" y="2941320"/>
            <a:ext cx="201549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UI元素识别准确率受限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Shape 32"/>
          <p:cNvSpPr/>
          <p:nvPr/>
        </p:nvSpPr>
        <p:spPr>
          <a:xfrm>
            <a:off x="6465570" y="32461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3" name="Text 33"/>
          <p:cNvSpPr/>
          <p:nvPr/>
        </p:nvSpPr>
        <p:spPr>
          <a:xfrm>
            <a:off x="6713220" y="3208020"/>
            <a:ext cx="16821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跨平台适配成本高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Shape 34"/>
          <p:cNvSpPr/>
          <p:nvPr/>
        </p:nvSpPr>
        <p:spPr>
          <a:xfrm>
            <a:off x="6465570" y="35128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5" name="Text 35"/>
          <p:cNvSpPr/>
          <p:nvPr/>
        </p:nvSpPr>
        <p:spPr>
          <a:xfrm>
            <a:off x="6713220" y="3474720"/>
            <a:ext cx="19234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动态界面变化难以追踪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Shape 36"/>
          <p:cNvSpPr/>
          <p:nvPr/>
        </p:nvSpPr>
        <p:spPr>
          <a:xfrm>
            <a:off x="6214110" y="4057656"/>
            <a:ext cx="5589270" cy="2446020"/>
          </a:xfrm>
          <a:custGeom>
            <a:avLst/>
            <a:gdLst/>
            <a:ahLst/>
            <a:cxnLst/>
            <a:rect l="l" t="t" r="r" b="b"/>
            <a:pathLst>
              <a:path w="5589270" h="2446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2331717"/>
                </a:lnTo>
                <a:cubicBezTo>
                  <a:pt x="5589270" y="2394845"/>
                  <a:pt x="5538095" y="2446020"/>
                  <a:pt x="54749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7" name="Shape 37"/>
          <p:cNvSpPr/>
          <p:nvPr/>
        </p:nvSpPr>
        <p:spPr>
          <a:xfrm>
            <a:off x="6446520" y="41643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8" name="Shape 38"/>
          <p:cNvSpPr/>
          <p:nvPr/>
        </p:nvSpPr>
        <p:spPr>
          <a:xfrm>
            <a:off x="6560820" y="42786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9" name="Text 39"/>
          <p:cNvSpPr/>
          <p:nvPr/>
        </p:nvSpPr>
        <p:spPr>
          <a:xfrm>
            <a:off x="7018020" y="4259580"/>
            <a:ext cx="269684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执行效率与实时性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60" name="Text 40"/>
          <p:cNvSpPr/>
          <p:nvPr/>
        </p:nvSpPr>
        <p:spPr>
          <a:xfrm>
            <a:off x="6446520" y="4853944"/>
            <a:ext cx="52006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多步执行循环中,每一步的</a:t>
            </a: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推理和调用都存在延迟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。步骤越多效率越低,难以满足工业控制等高实时性场景的需求。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Shape 41"/>
          <p:cNvSpPr/>
          <p:nvPr/>
        </p:nvSpPr>
        <p:spPr>
          <a:xfrm>
            <a:off x="6465570" y="55854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2" name="Text 42"/>
          <p:cNvSpPr/>
          <p:nvPr/>
        </p:nvSpPr>
        <p:spPr>
          <a:xfrm>
            <a:off x="6713220" y="5547360"/>
            <a:ext cx="201485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单次推理延迟1-3秒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hape 43"/>
          <p:cNvSpPr/>
          <p:nvPr/>
        </p:nvSpPr>
        <p:spPr>
          <a:xfrm>
            <a:off x="6465570" y="58521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4" name="Text 44"/>
          <p:cNvSpPr/>
          <p:nvPr/>
        </p:nvSpPr>
        <p:spPr>
          <a:xfrm>
            <a:off x="6713220" y="5814060"/>
            <a:ext cx="205803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多步任务累积延迟显著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Shape 45"/>
          <p:cNvSpPr/>
          <p:nvPr/>
        </p:nvSpPr>
        <p:spPr>
          <a:xfrm>
            <a:off x="6465570" y="61188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6" name="Text 46"/>
          <p:cNvSpPr/>
          <p:nvPr/>
        </p:nvSpPr>
        <p:spPr>
          <a:xfrm>
            <a:off x="6713220" y="6080760"/>
            <a:ext cx="213106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API调用成本随步骤增加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"/>
          <p:cNvSpPr txBox="1"/>
          <p:nvPr/>
        </p:nvSpPr>
        <p:spPr>
          <a:xfrm>
            <a:off x="387985" y="441325"/>
            <a:ext cx="631063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核心优化与落地思路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352078" y="1168115"/>
            <a:ext cx="5636730" cy="3423172"/>
          </a:xfrm>
          <a:custGeom>
            <a:avLst/>
            <a:gdLst/>
            <a:ahLst/>
            <a:cxnLst/>
            <a:rect l="l" t="t" r="r" b="b"/>
            <a:pathLst>
              <a:path w="5636730" h="3423172">
                <a:moveTo>
                  <a:pt x="104578" y="0"/>
                </a:moveTo>
                <a:lnTo>
                  <a:pt x="5532152" y="0"/>
                </a:lnTo>
                <a:cubicBezTo>
                  <a:pt x="5589909" y="0"/>
                  <a:pt x="5636730" y="46821"/>
                  <a:pt x="5636730" y="104578"/>
                </a:cubicBezTo>
                <a:lnTo>
                  <a:pt x="5636730" y="3318594"/>
                </a:lnTo>
                <a:cubicBezTo>
                  <a:pt x="5636730" y="3376351"/>
                  <a:pt x="5589909" y="3423172"/>
                  <a:pt x="5532152" y="3423172"/>
                </a:cubicBezTo>
                <a:lnTo>
                  <a:pt x="104578" y="3423172"/>
                </a:lnTo>
                <a:cubicBezTo>
                  <a:pt x="46821" y="3423172"/>
                  <a:pt x="0" y="3376351"/>
                  <a:pt x="0" y="3318594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9" name="Shape 4"/>
          <p:cNvSpPr/>
          <p:nvPr/>
        </p:nvSpPr>
        <p:spPr>
          <a:xfrm>
            <a:off x="586506" y="1415613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40851" y="19064"/>
                </a:moveTo>
                <a:cubicBezTo>
                  <a:pt x="40851" y="8545"/>
                  <a:pt x="49395" y="0"/>
                  <a:pt x="59914" y="0"/>
                </a:cubicBezTo>
                <a:lnTo>
                  <a:pt x="68084" y="0"/>
                </a:lnTo>
                <a:cubicBezTo>
                  <a:pt x="74110" y="0"/>
                  <a:pt x="78978" y="4868"/>
                  <a:pt x="78978" y="10893"/>
                </a:cubicBezTo>
                <a:lnTo>
                  <a:pt x="78978" y="163402"/>
                </a:lnTo>
                <a:cubicBezTo>
                  <a:pt x="78978" y="169428"/>
                  <a:pt x="74110" y="174296"/>
                  <a:pt x="68084" y="174296"/>
                </a:cubicBezTo>
                <a:lnTo>
                  <a:pt x="57191" y="174296"/>
                </a:lnTo>
                <a:cubicBezTo>
                  <a:pt x="47046" y="174296"/>
                  <a:pt x="38502" y="167351"/>
                  <a:pt x="36085" y="157956"/>
                </a:cubicBezTo>
                <a:cubicBezTo>
                  <a:pt x="35846" y="157956"/>
                  <a:pt x="35642" y="157956"/>
                  <a:pt x="35404" y="157956"/>
                </a:cubicBezTo>
                <a:cubicBezTo>
                  <a:pt x="20357" y="157956"/>
                  <a:pt x="8170" y="145769"/>
                  <a:pt x="8170" y="130722"/>
                </a:cubicBezTo>
                <a:cubicBezTo>
                  <a:pt x="8170" y="124594"/>
                  <a:pt x="10213" y="118943"/>
                  <a:pt x="13617" y="114382"/>
                </a:cubicBezTo>
                <a:cubicBezTo>
                  <a:pt x="7013" y="109412"/>
                  <a:pt x="2723" y="101514"/>
                  <a:pt x="2723" y="92595"/>
                </a:cubicBezTo>
                <a:cubicBezTo>
                  <a:pt x="2723" y="82076"/>
                  <a:pt x="8715" y="72918"/>
                  <a:pt x="17430" y="68391"/>
                </a:cubicBezTo>
                <a:cubicBezTo>
                  <a:pt x="15013" y="64306"/>
                  <a:pt x="13617" y="59540"/>
                  <a:pt x="13617" y="54467"/>
                </a:cubicBezTo>
                <a:cubicBezTo>
                  <a:pt x="13617" y="39421"/>
                  <a:pt x="25804" y="27234"/>
                  <a:pt x="40851" y="27234"/>
                </a:cubicBezTo>
                <a:lnTo>
                  <a:pt x="40851" y="19064"/>
                </a:lnTo>
                <a:close/>
                <a:moveTo>
                  <a:pt x="133445" y="19064"/>
                </a:moveTo>
                <a:lnTo>
                  <a:pt x="133445" y="27234"/>
                </a:lnTo>
                <a:cubicBezTo>
                  <a:pt x="148492" y="27234"/>
                  <a:pt x="160679" y="39421"/>
                  <a:pt x="160679" y="54467"/>
                </a:cubicBezTo>
                <a:cubicBezTo>
                  <a:pt x="160679" y="59574"/>
                  <a:pt x="159283" y="64340"/>
                  <a:pt x="156866" y="68391"/>
                </a:cubicBezTo>
                <a:cubicBezTo>
                  <a:pt x="165615" y="72918"/>
                  <a:pt x="171573" y="82042"/>
                  <a:pt x="171573" y="92595"/>
                </a:cubicBezTo>
                <a:cubicBezTo>
                  <a:pt x="171573" y="101514"/>
                  <a:pt x="167283" y="109412"/>
                  <a:pt x="160679" y="114382"/>
                </a:cubicBezTo>
                <a:cubicBezTo>
                  <a:pt x="164083" y="118943"/>
                  <a:pt x="166126" y="124594"/>
                  <a:pt x="166126" y="130722"/>
                </a:cubicBezTo>
                <a:cubicBezTo>
                  <a:pt x="166126" y="145769"/>
                  <a:pt x="153939" y="157956"/>
                  <a:pt x="138892" y="157956"/>
                </a:cubicBezTo>
                <a:cubicBezTo>
                  <a:pt x="138654" y="157956"/>
                  <a:pt x="138450" y="157956"/>
                  <a:pt x="138211" y="157956"/>
                </a:cubicBezTo>
                <a:cubicBezTo>
                  <a:pt x="135794" y="167351"/>
                  <a:pt x="127250" y="174296"/>
                  <a:pt x="117105" y="174296"/>
                </a:cubicBezTo>
                <a:lnTo>
                  <a:pt x="106212" y="174296"/>
                </a:lnTo>
                <a:cubicBezTo>
                  <a:pt x="100186" y="174296"/>
                  <a:pt x="95318" y="169428"/>
                  <a:pt x="95318" y="163402"/>
                </a:cubicBezTo>
                <a:lnTo>
                  <a:pt x="95318" y="10893"/>
                </a:lnTo>
                <a:cubicBezTo>
                  <a:pt x="95318" y="4868"/>
                  <a:pt x="100186" y="0"/>
                  <a:pt x="106212" y="0"/>
                </a:cubicBezTo>
                <a:lnTo>
                  <a:pt x="114382" y="0"/>
                </a:lnTo>
                <a:cubicBezTo>
                  <a:pt x="124901" y="0"/>
                  <a:pt x="133445" y="8545"/>
                  <a:pt x="133445" y="1906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0" name="Text 5"/>
          <p:cNvSpPr/>
          <p:nvPr/>
        </p:nvSpPr>
        <p:spPr>
          <a:xfrm>
            <a:off x="782589" y="1380754"/>
            <a:ext cx="5080726" cy="244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模型能力持续提升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564719" y="1764205"/>
            <a:ext cx="5211448" cy="801761"/>
          </a:xfrm>
          <a:custGeom>
            <a:avLst/>
            <a:gdLst/>
            <a:ahLst/>
            <a:cxnLst/>
            <a:rect l="l" t="t" r="r" b="b"/>
            <a:pathLst>
              <a:path w="5211448" h="801761">
                <a:moveTo>
                  <a:pt x="69721" y="0"/>
                </a:moveTo>
                <a:lnTo>
                  <a:pt x="5141727" y="0"/>
                </a:lnTo>
                <a:cubicBezTo>
                  <a:pt x="5180207" y="0"/>
                  <a:pt x="5211448" y="31241"/>
                  <a:pt x="5211448" y="69721"/>
                </a:cubicBezTo>
                <a:lnTo>
                  <a:pt x="5211448" y="732040"/>
                </a:lnTo>
                <a:cubicBezTo>
                  <a:pt x="5211448" y="770520"/>
                  <a:pt x="5180207" y="801761"/>
                  <a:pt x="5141727" y="801761"/>
                </a:cubicBezTo>
                <a:lnTo>
                  <a:pt x="69721" y="801761"/>
                </a:lnTo>
                <a:cubicBezTo>
                  <a:pt x="31241" y="801761"/>
                  <a:pt x="0" y="770520"/>
                  <a:pt x="0" y="732040"/>
                </a:cubicBezTo>
                <a:lnTo>
                  <a:pt x="0" y="69721"/>
                </a:lnTo>
                <a:cubicBezTo>
                  <a:pt x="0" y="31241"/>
                  <a:pt x="31241" y="0"/>
                  <a:pt x="6972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2" name="Text 7"/>
          <p:cNvSpPr/>
          <p:nvPr/>
        </p:nvSpPr>
        <p:spPr>
          <a:xfrm>
            <a:off x="704215" y="1938655"/>
            <a:ext cx="1410970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工具调用准确率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3" name="Text 8"/>
          <p:cNvSpPr/>
          <p:nvPr/>
        </p:nvSpPr>
        <p:spPr>
          <a:xfrm>
            <a:off x="4898390" y="1903730"/>
            <a:ext cx="83883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80.1%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4" name="Text 9"/>
          <p:cNvSpPr/>
          <p:nvPr/>
        </p:nvSpPr>
        <p:spPr>
          <a:xfrm>
            <a:off x="704156" y="2252123"/>
            <a:ext cx="4993578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GPT-5已达到生产级可靠性,预计2026年将突破90%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564719" y="2670433"/>
            <a:ext cx="5211448" cy="801761"/>
          </a:xfrm>
          <a:custGeom>
            <a:avLst/>
            <a:gdLst/>
            <a:ahLst/>
            <a:cxnLst/>
            <a:rect l="l" t="t" r="r" b="b"/>
            <a:pathLst>
              <a:path w="5211448" h="801761">
                <a:moveTo>
                  <a:pt x="69721" y="0"/>
                </a:moveTo>
                <a:lnTo>
                  <a:pt x="5141727" y="0"/>
                </a:lnTo>
                <a:cubicBezTo>
                  <a:pt x="5180207" y="0"/>
                  <a:pt x="5211448" y="31241"/>
                  <a:pt x="5211448" y="69721"/>
                </a:cubicBezTo>
                <a:lnTo>
                  <a:pt x="5211448" y="732040"/>
                </a:lnTo>
                <a:cubicBezTo>
                  <a:pt x="5211448" y="770520"/>
                  <a:pt x="5180207" y="801761"/>
                  <a:pt x="5141727" y="801761"/>
                </a:cubicBezTo>
                <a:lnTo>
                  <a:pt x="69721" y="801761"/>
                </a:lnTo>
                <a:cubicBezTo>
                  <a:pt x="31241" y="801761"/>
                  <a:pt x="0" y="770520"/>
                  <a:pt x="0" y="732040"/>
                </a:cubicBezTo>
                <a:lnTo>
                  <a:pt x="0" y="69721"/>
                </a:lnTo>
                <a:cubicBezTo>
                  <a:pt x="0" y="31241"/>
                  <a:pt x="31241" y="0"/>
                  <a:pt x="6972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6" name="Text 11"/>
          <p:cNvSpPr/>
          <p:nvPr/>
        </p:nvSpPr>
        <p:spPr>
          <a:xfrm>
            <a:off x="704215" y="2844800"/>
            <a:ext cx="1033145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幻觉率降低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4959350" y="2809875"/>
            <a:ext cx="777240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-80%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704156" y="3158360"/>
            <a:ext cx="4993578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相比o3模型,推理模式下幻觉率显著降低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564719" y="3576670"/>
            <a:ext cx="5211448" cy="801761"/>
          </a:xfrm>
          <a:custGeom>
            <a:avLst/>
            <a:gdLst/>
            <a:ahLst/>
            <a:cxnLst/>
            <a:rect l="l" t="t" r="r" b="b"/>
            <a:pathLst>
              <a:path w="5211448" h="801761">
                <a:moveTo>
                  <a:pt x="69721" y="0"/>
                </a:moveTo>
                <a:lnTo>
                  <a:pt x="5141727" y="0"/>
                </a:lnTo>
                <a:cubicBezTo>
                  <a:pt x="5180207" y="0"/>
                  <a:pt x="5211448" y="31241"/>
                  <a:pt x="5211448" y="69721"/>
                </a:cubicBezTo>
                <a:lnTo>
                  <a:pt x="5211448" y="732040"/>
                </a:lnTo>
                <a:cubicBezTo>
                  <a:pt x="5211448" y="770520"/>
                  <a:pt x="5180207" y="801761"/>
                  <a:pt x="5141727" y="801761"/>
                </a:cubicBezTo>
                <a:lnTo>
                  <a:pt x="69721" y="801761"/>
                </a:lnTo>
                <a:cubicBezTo>
                  <a:pt x="31241" y="801761"/>
                  <a:pt x="0" y="770520"/>
                  <a:pt x="0" y="732040"/>
                </a:cubicBezTo>
                <a:lnTo>
                  <a:pt x="0" y="69721"/>
                </a:lnTo>
                <a:cubicBezTo>
                  <a:pt x="0" y="31241"/>
                  <a:pt x="31241" y="0"/>
                  <a:pt x="69721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0" name="Text 15"/>
          <p:cNvSpPr/>
          <p:nvPr/>
        </p:nvSpPr>
        <p:spPr>
          <a:xfrm>
            <a:off x="704215" y="3750945"/>
            <a:ext cx="1172210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长上下文能力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4958715" y="3716020"/>
            <a:ext cx="78549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256K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704156" y="4064580"/>
            <a:ext cx="4993578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tokens处理能力,支持整本书籍或复杂项目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352078" y="4737369"/>
            <a:ext cx="5636730" cy="1854509"/>
          </a:xfrm>
          <a:custGeom>
            <a:avLst/>
            <a:gdLst/>
            <a:ahLst/>
            <a:cxnLst/>
            <a:rect l="l" t="t" r="r" b="b"/>
            <a:pathLst>
              <a:path w="5636730" h="1854509">
                <a:moveTo>
                  <a:pt x="104576" y="0"/>
                </a:moveTo>
                <a:lnTo>
                  <a:pt x="5532154" y="0"/>
                </a:lnTo>
                <a:cubicBezTo>
                  <a:pt x="5589910" y="0"/>
                  <a:pt x="5636730" y="46820"/>
                  <a:pt x="5636730" y="104576"/>
                </a:cubicBezTo>
                <a:lnTo>
                  <a:pt x="5636730" y="1749933"/>
                </a:lnTo>
                <a:cubicBezTo>
                  <a:pt x="5636730" y="1807688"/>
                  <a:pt x="5589910" y="1854509"/>
                  <a:pt x="5532154" y="1854509"/>
                </a:cubicBezTo>
                <a:lnTo>
                  <a:pt x="104576" y="1854509"/>
                </a:lnTo>
                <a:cubicBezTo>
                  <a:pt x="46859" y="1854509"/>
                  <a:pt x="0" y="1807650"/>
                  <a:pt x="0" y="1749933"/>
                </a:cubicBezTo>
                <a:lnTo>
                  <a:pt x="0" y="104576"/>
                </a:lnTo>
                <a:cubicBezTo>
                  <a:pt x="0" y="46859"/>
                  <a:pt x="46859" y="0"/>
                  <a:pt x="104576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94" name="Shape 19"/>
          <p:cNvSpPr/>
          <p:nvPr/>
        </p:nvSpPr>
        <p:spPr>
          <a:xfrm>
            <a:off x="586506" y="4984876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49123" y="0"/>
                </a:moveTo>
                <a:lnTo>
                  <a:pt x="125377" y="0"/>
                </a:lnTo>
                <a:cubicBezTo>
                  <a:pt x="134398" y="0"/>
                  <a:pt x="141752" y="7421"/>
                  <a:pt x="141411" y="16408"/>
                </a:cubicBezTo>
                <a:cubicBezTo>
                  <a:pt x="141343" y="18213"/>
                  <a:pt x="141275" y="20017"/>
                  <a:pt x="141173" y="21787"/>
                </a:cubicBezTo>
                <a:lnTo>
                  <a:pt x="158058" y="21787"/>
                </a:lnTo>
                <a:cubicBezTo>
                  <a:pt x="166943" y="21787"/>
                  <a:pt x="174773" y="29140"/>
                  <a:pt x="174092" y="38740"/>
                </a:cubicBezTo>
                <a:cubicBezTo>
                  <a:pt x="171539" y="74042"/>
                  <a:pt x="153496" y="93446"/>
                  <a:pt x="133922" y="103590"/>
                </a:cubicBezTo>
                <a:cubicBezTo>
                  <a:pt x="128543" y="106382"/>
                  <a:pt x="123062" y="108458"/>
                  <a:pt x="117854" y="109990"/>
                </a:cubicBezTo>
                <a:cubicBezTo>
                  <a:pt x="110977" y="119726"/>
                  <a:pt x="103829" y="124867"/>
                  <a:pt x="98144" y="127624"/>
                </a:cubicBezTo>
                <a:lnTo>
                  <a:pt x="98144" y="152509"/>
                </a:lnTo>
                <a:lnTo>
                  <a:pt x="119931" y="152509"/>
                </a:lnTo>
                <a:cubicBezTo>
                  <a:pt x="125956" y="152509"/>
                  <a:pt x="130824" y="157377"/>
                  <a:pt x="130824" y="163402"/>
                </a:cubicBezTo>
                <a:cubicBezTo>
                  <a:pt x="130824" y="169428"/>
                  <a:pt x="125956" y="174296"/>
                  <a:pt x="119931" y="174296"/>
                </a:cubicBezTo>
                <a:lnTo>
                  <a:pt x="54570" y="174296"/>
                </a:lnTo>
                <a:cubicBezTo>
                  <a:pt x="48544" y="174296"/>
                  <a:pt x="43676" y="169428"/>
                  <a:pt x="43676" y="163402"/>
                </a:cubicBezTo>
                <a:cubicBezTo>
                  <a:pt x="43676" y="157377"/>
                  <a:pt x="48544" y="152509"/>
                  <a:pt x="54570" y="152509"/>
                </a:cubicBezTo>
                <a:lnTo>
                  <a:pt x="76357" y="152509"/>
                </a:lnTo>
                <a:lnTo>
                  <a:pt x="76357" y="127624"/>
                </a:lnTo>
                <a:cubicBezTo>
                  <a:pt x="70910" y="125003"/>
                  <a:pt x="64135" y="120135"/>
                  <a:pt x="57531" y="111182"/>
                </a:cubicBezTo>
                <a:cubicBezTo>
                  <a:pt x="51268" y="109548"/>
                  <a:pt x="44459" y="107063"/>
                  <a:pt x="37821" y="103318"/>
                </a:cubicBezTo>
                <a:cubicBezTo>
                  <a:pt x="19404" y="93003"/>
                  <a:pt x="2791" y="73565"/>
                  <a:pt x="409" y="38672"/>
                </a:cubicBezTo>
                <a:cubicBezTo>
                  <a:pt x="-238" y="29106"/>
                  <a:pt x="7557" y="21753"/>
                  <a:pt x="16442" y="21753"/>
                </a:cubicBezTo>
                <a:lnTo>
                  <a:pt x="33327" y="21753"/>
                </a:lnTo>
                <a:cubicBezTo>
                  <a:pt x="33225" y="19983"/>
                  <a:pt x="33157" y="18213"/>
                  <a:pt x="33089" y="16374"/>
                </a:cubicBezTo>
                <a:cubicBezTo>
                  <a:pt x="32749" y="7353"/>
                  <a:pt x="40102" y="-34"/>
                  <a:pt x="49123" y="-34"/>
                </a:cubicBezTo>
                <a:close/>
                <a:moveTo>
                  <a:pt x="34553" y="38127"/>
                </a:moveTo>
                <a:lnTo>
                  <a:pt x="16715" y="38127"/>
                </a:lnTo>
                <a:cubicBezTo>
                  <a:pt x="18825" y="66961"/>
                  <a:pt x="32068" y="81395"/>
                  <a:pt x="45719" y="89054"/>
                </a:cubicBezTo>
                <a:cubicBezTo>
                  <a:pt x="40817" y="76357"/>
                  <a:pt x="36766" y="59778"/>
                  <a:pt x="34553" y="38127"/>
                </a:cubicBezTo>
                <a:close/>
                <a:moveTo>
                  <a:pt x="129360" y="87420"/>
                </a:moveTo>
                <a:cubicBezTo>
                  <a:pt x="143147" y="79318"/>
                  <a:pt x="155607" y="64918"/>
                  <a:pt x="157717" y="38127"/>
                </a:cubicBezTo>
                <a:lnTo>
                  <a:pt x="139913" y="38127"/>
                </a:lnTo>
                <a:cubicBezTo>
                  <a:pt x="137803" y="58859"/>
                  <a:pt x="133990" y="74961"/>
                  <a:pt x="129360" y="8742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5" name="Text 20"/>
          <p:cNvSpPr/>
          <p:nvPr/>
        </p:nvSpPr>
        <p:spPr>
          <a:xfrm>
            <a:off x="782589" y="4950017"/>
            <a:ext cx="5080726" cy="244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基准测试演进方向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96" name="Shape 21"/>
          <p:cNvSpPr/>
          <p:nvPr/>
        </p:nvSpPr>
        <p:spPr>
          <a:xfrm>
            <a:off x="564719" y="5403186"/>
            <a:ext cx="69718" cy="69718"/>
          </a:xfrm>
          <a:custGeom>
            <a:avLst/>
            <a:gdLst/>
            <a:ahLst/>
            <a:cxnLst/>
            <a:rect l="l" t="t" r="r" b="b"/>
            <a:pathLst>
              <a:path w="69718" h="69718">
                <a:moveTo>
                  <a:pt x="34859" y="0"/>
                </a:moveTo>
                <a:lnTo>
                  <a:pt x="34859" y="0"/>
                </a:lnTo>
                <a:cubicBezTo>
                  <a:pt x="54098" y="0"/>
                  <a:pt x="69718" y="15620"/>
                  <a:pt x="69718" y="34859"/>
                </a:cubicBezTo>
                <a:lnTo>
                  <a:pt x="69718" y="34859"/>
                </a:lnTo>
                <a:cubicBezTo>
                  <a:pt x="69718" y="54098"/>
                  <a:pt x="54098" y="69718"/>
                  <a:pt x="34859" y="69718"/>
                </a:cubicBezTo>
                <a:lnTo>
                  <a:pt x="34859" y="69718"/>
                </a:lnTo>
                <a:cubicBezTo>
                  <a:pt x="15620" y="69718"/>
                  <a:pt x="0" y="54098"/>
                  <a:pt x="0" y="34859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7" name="Text 22"/>
          <p:cNvSpPr/>
          <p:nvPr/>
        </p:nvSpPr>
        <p:spPr>
          <a:xfrm>
            <a:off x="739140" y="5333365"/>
            <a:ext cx="4469130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GAIA Level 4: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引入协作任务和跨天持久化挑战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564719" y="5682059"/>
            <a:ext cx="69718" cy="69718"/>
          </a:xfrm>
          <a:custGeom>
            <a:avLst/>
            <a:gdLst/>
            <a:ahLst/>
            <a:cxnLst/>
            <a:rect l="l" t="t" r="r" b="b"/>
            <a:pathLst>
              <a:path w="69718" h="69718">
                <a:moveTo>
                  <a:pt x="34859" y="0"/>
                </a:moveTo>
                <a:lnTo>
                  <a:pt x="34859" y="0"/>
                </a:lnTo>
                <a:cubicBezTo>
                  <a:pt x="54098" y="0"/>
                  <a:pt x="69718" y="15620"/>
                  <a:pt x="69718" y="34859"/>
                </a:cubicBezTo>
                <a:lnTo>
                  <a:pt x="69718" y="34859"/>
                </a:lnTo>
                <a:cubicBezTo>
                  <a:pt x="69718" y="54098"/>
                  <a:pt x="54098" y="69718"/>
                  <a:pt x="34859" y="69718"/>
                </a:cubicBezTo>
                <a:lnTo>
                  <a:pt x="34859" y="69718"/>
                </a:lnTo>
                <a:cubicBezTo>
                  <a:pt x="15620" y="69718"/>
                  <a:pt x="0" y="54098"/>
                  <a:pt x="0" y="34859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9" name="Text 24"/>
          <p:cNvSpPr/>
          <p:nvPr/>
        </p:nvSpPr>
        <p:spPr>
          <a:xfrm>
            <a:off x="739140" y="5612130"/>
            <a:ext cx="5036820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CUB扩展: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覆盖更多行业场景和现代低代码工具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Shape 25"/>
          <p:cNvSpPr/>
          <p:nvPr/>
        </p:nvSpPr>
        <p:spPr>
          <a:xfrm>
            <a:off x="564719" y="5960933"/>
            <a:ext cx="69718" cy="69718"/>
          </a:xfrm>
          <a:custGeom>
            <a:avLst/>
            <a:gdLst/>
            <a:ahLst/>
            <a:cxnLst/>
            <a:rect l="l" t="t" r="r" b="b"/>
            <a:pathLst>
              <a:path w="69718" h="69718">
                <a:moveTo>
                  <a:pt x="34859" y="0"/>
                </a:moveTo>
                <a:lnTo>
                  <a:pt x="34859" y="0"/>
                </a:lnTo>
                <a:cubicBezTo>
                  <a:pt x="54098" y="0"/>
                  <a:pt x="69718" y="15620"/>
                  <a:pt x="69718" y="34859"/>
                </a:cubicBezTo>
                <a:lnTo>
                  <a:pt x="69718" y="34859"/>
                </a:lnTo>
                <a:cubicBezTo>
                  <a:pt x="69718" y="54098"/>
                  <a:pt x="54098" y="69718"/>
                  <a:pt x="34859" y="69718"/>
                </a:cubicBezTo>
                <a:lnTo>
                  <a:pt x="34859" y="69718"/>
                </a:lnTo>
                <a:cubicBezTo>
                  <a:pt x="15620" y="69718"/>
                  <a:pt x="0" y="54098"/>
                  <a:pt x="0" y="34859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1" name="Text 26"/>
          <p:cNvSpPr/>
          <p:nvPr/>
        </p:nvSpPr>
        <p:spPr>
          <a:xfrm>
            <a:off x="739140" y="5891530"/>
            <a:ext cx="4998085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Teamwork Challenge: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多Agent协同完成任务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Shape 27"/>
          <p:cNvSpPr/>
          <p:nvPr/>
        </p:nvSpPr>
        <p:spPr>
          <a:xfrm>
            <a:off x="564719" y="6239806"/>
            <a:ext cx="69718" cy="69718"/>
          </a:xfrm>
          <a:custGeom>
            <a:avLst/>
            <a:gdLst/>
            <a:ahLst/>
            <a:cxnLst/>
            <a:rect l="l" t="t" r="r" b="b"/>
            <a:pathLst>
              <a:path w="69718" h="69718">
                <a:moveTo>
                  <a:pt x="34859" y="0"/>
                </a:moveTo>
                <a:lnTo>
                  <a:pt x="34859" y="0"/>
                </a:lnTo>
                <a:cubicBezTo>
                  <a:pt x="54098" y="0"/>
                  <a:pt x="69718" y="15620"/>
                  <a:pt x="69718" y="34859"/>
                </a:cubicBezTo>
                <a:lnTo>
                  <a:pt x="69718" y="34859"/>
                </a:lnTo>
                <a:cubicBezTo>
                  <a:pt x="69718" y="54098"/>
                  <a:pt x="54098" y="69718"/>
                  <a:pt x="34859" y="69718"/>
                </a:cubicBezTo>
                <a:lnTo>
                  <a:pt x="34859" y="69718"/>
                </a:lnTo>
                <a:cubicBezTo>
                  <a:pt x="15620" y="69718"/>
                  <a:pt x="0" y="54098"/>
                  <a:pt x="0" y="34859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3" name="Text 28"/>
          <p:cNvSpPr/>
          <p:nvPr/>
        </p:nvSpPr>
        <p:spPr>
          <a:xfrm>
            <a:off x="739140" y="6170295"/>
            <a:ext cx="4564380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Robustness Benchmark: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测试抗干扰和异常处理能力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Shape 29"/>
          <p:cNvSpPr/>
          <p:nvPr/>
        </p:nvSpPr>
        <p:spPr>
          <a:xfrm>
            <a:off x="6204499" y="1168115"/>
            <a:ext cx="5636730" cy="3144298"/>
          </a:xfrm>
          <a:custGeom>
            <a:avLst/>
            <a:gdLst/>
            <a:ahLst/>
            <a:cxnLst/>
            <a:rect l="l" t="t" r="r" b="b"/>
            <a:pathLst>
              <a:path w="5636730" h="3144298">
                <a:moveTo>
                  <a:pt x="104579" y="0"/>
                </a:moveTo>
                <a:lnTo>
                  <a:pt x="5532151" y="0"/>
                </a:lnTo>
                <a:cubicBezTo>
                  <a:pt x="5589908" y="0"/>
                  <a:pt x="5636730" y="46822"/>
                  <a:pt x="5636730" y="104579"/>
                </a:cubicBezTo>
                <a:lnTo>
                  <a:pt x="5636730" y="3039719"/>
                </a:lnTo>
                <a:cubicBezTo>
                  <a:pt x="5636730" y="3097477"/>
                  <a:pt x="5589908" y="3144298"/>
                  <a:pt x="5532151" y="3144298"/>
                </a:cubicBezTo>
                <a:lnTo>
                  <a:pt x="104579" y="3144298"/>
                </a:lnTo>
                <a:cubicBezTo>
                  <a:pt x="46822" y="3144298"/>
                  <a:pt x="0" y="3097477"/>
                  <a:pt x="0" y="3039719"/>
                </a:cubicBezTo>
                <a:lnTo>
                  <a:pt x="0" y="104579"/>
                </a:lnTo>
                <a:cubicBezTo>
                  <a:pt x="0" y="46860"/>
                  <a:pt x="46860" y="0"/>
                  <a:pt x="104579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05" name="Shape 30"/>
          <p:cNvSpPr/>
          <p:nvPr/>
        </p:nvSpPr>
        <p:spPr>
          <a:xfrm>
            <a:off x="6438928" y="1415613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65361" y="21787"/>
                </a:moveTo>
                <a:cubicBezTo>
                  <a:pt x="65361" y="15762"/>
                  <a:pt x="70229" y="10893"/>
                  <a:pt x="76254" y="10893"/>
                </a:cubicBezTo>
                <a:lnTo>
                  <a:pt x="98041" y="10893"/>
                </a:lnTo>
                <a:cubicBezTo>
                  <a:pt x="104067" y="10893"/>
                  <a:pt x="108935" y="15762"/>
                  <a:pt x="108935" y="21787"/>
                </a:cubicBezTo>
                <a:lnTo>
                  <a:pt x="108935" y="43574"/>
                </a:lnTo>
                <a:cubicBezTo>
                  <a:pt x="108935" y="49599"/>
                  <a:pt x="104067" y="54467"/>
                  <a:pt x="98041" y="54467"/>
                </a:cubicBezTo>
                <a:lnTo>
                  <a:pt x="95318" y="54467"/>
                </a:lnTo>
                <a:lnTo>
                  <a:pt x="95318" y="76254"/>
                </a:lnTo>
                <a:lnTo>
                  <a:pt x="136169" y="76254"/>
                </a:lnTo>
                <a:cubicBezTo>
                  <a:pt x="149717" y="76254"/>
                  <a:pt x="160679" y="87216"/>
                  <a:pt x="160679" y="100765"/>
                </a:cubicBezTo>
                <a:lnTo>
                  <a:pt x="160679" y="119828"/>
                </a:lnTo>
                <a:lnTo>
                  <a:pt x="163402" y="119828"/>
                </a:lnTo>
                <a:cubicBezTo>
                  <a:pt x="169428" y="119828"/>
                  <a:pt x="174296" y="124696"/>
                  <a:pt x="174296" y="130722"/>
                </a:cubicBezTo>
                <a:lnTo>
                  <a:pt x="174296" y="152509"/>
                </a:lnTo>
                <a:cubicBezTo>
                  <a:pt x="174296" y="158534"/>
                  <a:pt x="169428" y="163402"/>
                  <a:pt x="163402" y="163402"/>
                </a:cubicBezTo>
                <a:lnTo>
                  <a:pt x="141615" y="163402"/>
                </a:lnTo>
                <a:cubicBezTo>
                  <a:pt x="135590" y="163402"/>
                  <a:pt x="130722" y="158534"/>
                  <a:pt x="130722" y="152509"/>
                </a:cubicBezTo>
                <a:lnTo>
                  <a:pt x="130722" y="130722"/>
                </a:lnTo>
                <a:cubicBezTo>
                  <a:pt x="130722" y="124696"/>
                  <a:pt x="135590" y="119828"/>
                  <a:pt x="141615" y="119828"/>
                </a:cubicBezTo>
                <a:lnTo>
                  <a:pt x="144339" y="119828"/>
                </a:lnTo>
                <a:lnTo>
                  <a:pt x="144339" y="100765"/>
                </a:lnTo>
                <a:cubicBezTo>
                  <a:pt x="144339" y="96237"/>
                  <a:pt x="140696" y="92595"/>
                  <a:pt x="136169" y="92595"/>
                </a:cubicBezTo>
                <a:lnTo>
                  <a:pt x="95318" y="92595"/>
                </a:lnTo>
                <a:lnTo>
                  <a:pt x="95318" y="119828"/>
                </a:lnTo>
                <a:lnTo>
                  <a:pt x="98041" y="119828"/>
                </a:lnTo>
                <a:cubicBezTo>
                  <a:pt x="104067" y="119828"/>
                  <a:pt x="108935" y="124696"/>
                  <a:pt x="108935" y="130722"/>
                </a:cubicBezTo>
                <a:lnTo>
                  <a:pt x="108935" y="152509"/>
                </a:lnTo>
                <a:cubicBezTo>
                  <a:pt x="108935" y="158534"/>
                  <a:pt x="104067" y="163402"/>
                  <a:pt x="98041" y="163402"/>
                </a:cubicBezTo>
                <a:lnTo>
                  <a:pt x="76254" y="163402"/>
                </a:lnTo>
                <a:cubicBezTo>
                  <a:pt x="70229" y="163402"/>
                  <a:pt x="65361" y="158534"/>
                  <a:pt x="65361" y="152509"/>
                </a:cubicBezTo>
                <a:lnTo>
                  <a:pt x="65361" y="130722"/>
                </a:lnTo>
                <a:cubicBezTo>
                  <a:pt x="65361" y="124696"/>
                  <a:pt x="70229" y="119828"/>
                  <a:pt x="76254" y="119828"/>
                </a:cubicBezTo>
                <a:lnTo>
                  <a:pt x="78978" y="119828"/>
                </a:lnTo>
                <a:lnTo>
                  <a:pt x="78978" y="92595"/>
                </a:lnTo>
                <a:lnTo>
                  <a:pt x="38127" y="92595"/>
                </a:lnTo>
                <a:cubicBezTo>
                  <a:pt x="33600" y="92595"/>
                  <a:pt x="29957" y="96237"/>
                  <a:pt x="29957" y="100765"/>
                </a:cubicBezTo>
                <a:lnTo>
                  <a:pt x="29957" y="119828"/>
                </a:lnTo>
                <a:lnTo>
                  <a:pt x="32680" y="119828"/>
                </a:lnTo>
                <a:cubicBezTo>
                  <a:pt x="38706" y="119828"/>
                  <a:pt x="43574" y="124696"/>
                  <a:pt x="43574" y="130722"/>
                </a:cubicBezTo>
                <a:lnTo>
                  <a:pt x="43574" y="152509"/>
                </a:lnTo>
                <a:cubicBezTo>
                  <a:pt x="43574" y="158534"/>
                  <a:pt x="38706" y="163402"/>
                  <a:pt x="32680" y="163402"/>
                </a:cubicBezTo>
                <a:lnTo>
                  <a:pt x="10893" y="163402"/>
                </a:lnTo>
                <a:cubicBezTo>
                  <a:pt x="4868" y="163402"/>
                  <a:pt x="0" y="158534"/>
                  <a:pt x="0" y="152509"/>
                </a:cubicBezTo>
                <a:lnTo>
                  <a:pt x="0" y="130722"/>
                </a:lnTo>
                <a:cubicBezTo>
                  <a:pt x="0" y="124696"/>
                  <a:pt x="4868" y="119828"/>
                  <a:pt x="10893" y="119828"/>
                </a:cubicBezTo>
                <a:lnTo>
                  <a:pt x="13617" y="119828"/>
                </a:lnTo>
                <a:lnTo>
                  <a:pt x="13617" y="100765"/>
                </a:lnTo>
                <a:cubicBezTo>
                  <a:pt x="13617" y="87216"/>
                  <a:pt x="24578" y="76254"/>
                  <a:pt x="38127" y="76254"/>
                </a:cubicBezTo>
                <a:lnTo>
                  <a:pt x="78978" y="76254"/>
                </a:lnTo>
                <a:lnTo>
                  <a:pt x="78978" y="54467"/>
                </a:lnTo>
                <a:lnTo>
                  <a:pt x="76254" y="54467"/>
                </a:lnTo>
                <a:cubicBezTo>
                  <a:pt x="70229" y="54467"/>
                  <a:pt x="65361" y="49599"/>
                  <a:pt x="65361" y="43574"/>
                </a:cubicBezTo>
                <a:lnTo>
                  <a:pt x="65361" y="21787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6" name="Text 31"/>
          <p:cNvSpPr/>
          <p:nvPr/>
        </p:nvSpPr>
        <p:spPr>
          <a:xfrm>
            <a:off x="6635010" y="1380754"/>
            <a:ext cx="5080726" cy="244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架构创新趋势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07" name="Shape 32"/>
          <p:cNvSpPr/>
          <p:nvPr/>
        </p:nvSpPr>
        <p:spPr>
          <a:xfrm>
            <a:off x="6417141" y="1764205"/>
            <a:ext cx="5211448" cy="1498945"/>
          </a:xfrm>
          <a:custGeom>
            <a:avLst/>
            <a:gdLst/>
            <a:ahLst/>
            <a:cxnLst/>
            <a:rect l="l" t="t" r="r" b="b"/>
            <a:pathLst>
              <a:path w="5211448" h="1498945">
                <a:moveTo>
                  <a:pt x="69716" y="0"/>
                </a:moveTo>
                <a:lnTo>
                  <a:pt x="5141732" y="0"/>
                </a:lnTo>
                <a:cubicBezTo>
                  <a:pt x="5180235" y="0"/>
                  <a:pt x="5211448" y="31213"/>
                  <a:pt x="5211448" y="69716"/>
                </a:cubicBezTo>
                <a:lnTo>
                  <a:pt x="5211448" y="1429229"/>
                </a:lnTo>
                <a:cubicBezTo>
                  <a:pt x="5211448" y="1467732"/>
                  <a:pt x="5180235" y="1498945"/>
                  <a:pt x="5141732" y="1498945"/>
                </a:cubicBezTo>
                <a:lnTo>
                  <a:pt x="69716" y="1498945"/>
                </a:lnTo>
                <a:cubicBezTo>
                  <a:pt x="31213" y="1498945"/>
                  <a:pt x="0" y="1467732"/>
                  <a:pt x="0" y="1429229"/>
                </a:cubicBezTo>
                <a:lnTo>
                  <a:pt x="0" y="69716"/>
                </a:lnTo>
                <a:cubicBezTo>
                  <a:pt x="0" y="31213"/>
                  <a:pt x="31213" y="0"/>
                  <a:pt x="697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08" name="Text 33"/>
          <p:cNvSpPr/>
          <p:nvPr/>
        </p:nvSpPr>
        <p:spPr>
          <a:xfrm>
            <a:off x="6556577" y="1903642"/>
            <a:ext cx="5002293" cy="20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模块化 vs 单体架构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 34"/>
          <p:cNvSpPr/>
          <p:nvPr/>
        </p:nvSpPr>
        <p:spPr>
          <a:xfrm>
            <a:off x="6556577" y="2182516"/>
            <a:ext cx="4993578" cy="348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Simular的S2 agent采用多模型协作,在OSWorld 50-step任务中达到34.5%,超越OpenAI CUA的32.6%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Shape 35"/>
          <p:cNvSpPr/>
          <p:nvPr/>
        </p:nvSpPr>
        <p:spPr>
          <a:xfrm>
            <a:off x="6556577" y="2600834"/>
            <a:ext cx="2396569" cy="522888"/>
          </a:xfrm>
          <a:custGeom>
            <a:avLst/>
            <a:gdLst/>
            <a:ahLst/>
            <a:cxnLst/>
            <a:rect l="l" t="t" r="r" b="b"/>
            <a:pathLst>
              <a:path w="2396569" h="522888">
                <a:moveTo>
                  <a:pt x="34861" y="0"/>
                </a:moveTo>
                <a:lnTo>
                  <a:pt x="2361708" y="0"/>
                </a:lnTo>
                <a:cubicBezTo>
                  <a:pt x="2380961" y="0"/>
                  <a:pt x="2396569" y="15608"/>
                  <a:pt x="2396569" y="34861"/>
                </a:cubicBezTo>
                <a:lnTo>
                  <a:pt x="2396569" y="488027"/>
                </a:lnTo>
                <a:cubicBezTo>
                  <a:pt x="2396569" y="507280"/>
                  <a:pt x="2380961" y="522888"/>
                  <a:pt x="2361708" y="522888"/>
                </a:cubicBezTo>
                <a:lnTo>
                  <a:pt x="34861" y="522888"/>
                </a:lnTo>
                <a:cubicBezTo>
                  <a:pt x="15608" y="522888"/>
                  <a:pt x="0" y="507280"/>
                  <a:pt x="0" y="488027"/>
                </a:cubicBezTo>
                <a:lnTo>
                  <a:pt x="0" y="34861"/>
                </a:lnTo>
                <a:cubicBezTo>
                  <a:pt x="0" y="15621"/>
                  <a:pt x="15621" y="0"/>
                  <a:pt x="34861" y="0"/>
                </a:cubicBezTo>
                <a:close/>
              </a:path>
            </a:pathLst>
          </a:custGeom>
          <a:solidFill>
            <a:srgbClr val="B10015">
              <a:alpha val="20000"/>
            </a:srgbClr>
          </a:solidFill>
        </p:spPr>
      </p:sp>
      <p:sp>
        <p:nvSpPr>
          <p:cNvPr id="111" name="Text 36"/>
          <p:cNvSpPr/>
          <p:nvPr/>
        </p:nvSpPr>
        <p:spPr>
          <a:xfrm>
            <a:off x="6600151" y="2670553"/>
            <a:ext cx="2309421" cy="1394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OpenAI CUA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2" name="Text 37"/>
          <p:cNvSpPr/>
          <p:nvPr/>
        </p:nvSpPr>
        <p:spPr>
          <a:xfrm>
            <a:off x="6587079" y="2809870"/>
            <a:ext cx="2335565" cy="244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32.6%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3" name="Shape 38"/>
          <p:cNvSpPr/>
          <p:nvPr/>
        </p:nvSpPr>
        <p:spPr>
          <a:xfrm>
            <a:off x="9092365" y="2600834"/>
            <a:ext cx="2396569" cy="522888"/>
          </a:xfrm>
          <a:custGeom>
            <a:avLst/>
            <a:gdLst/>
            <a:ahLst/>
            <a:cxnLst/>
            <a:rect l="l" t="t" r="r" b="b"/>
            <a:pathLst>
              <a:path w="2396569" h="522888">
                <a:moveTo>
                  <a:pt x="34861" y="0"/>
                </a:moveTo>
                <a:lnTo>
                  <a:pt x="2361708" y="0"/>
                </a:lnTo>
                <a:cubicBezTo>
                  <a:pt x="2380961" y="0"/>
                  <a:pt x="2396569" y="15608"/>
                  <a:pt x="2396569" y="34861"/>
                </a:cubicBezTo>
                <a:lnTo>
                  <a:pt x="2396569" y="488027"/>
                </a:lnTo>
                <a:cubicBezTo>
                  <a:pt x="2396569" y="507280"/>
                  <a:pt x="2380961" y="522888"/>
                  <a:pt x="2361708" y="522888"/>
                </a:cubicBezTo>
                <a:lnTo>
                  <a:pt x="34861" y="522888"/>
                </a:lnTo>
                <a:cubicBezTo>
                  <a:pt x="15608" y="522888"/>
                  <a:pt x="0" y="507280"/>
                  <a:pt x="0" y="488027"/>
                </a:cubicBezTo>
                <a:lnTo>
                  <a:pt x="0" y="34861"/>
                </a:lnTo>
                <a:cubicBezTo>
                  <a:pt x="0" y="15621"/>
                  <a:pt x="15621" y="0"/>
                  <a:pt x="34861" y="0"/>
                </a:cubicBezTo>
                <a:close/>
              </a:path>
            </a:pathLst>
          </a:custGeom>
          <a:solidFill>
            <a:srgbClr val="B10015">
              <a:alpha val="20000"/>
            </a:srgbClr>
          </a:solidFill>
        </p:spPr>
      </p:sp>
      <p:sp>
        <p:nvSpPr>
          <p:cNvPr id="114" name="Text 39"/>
          <p:cNvSpPr/>
          <p:nvPr/>
        </p:nvSpPr>
        <p:spPr>
          <a:xfrm>
            <a:off x="9135939" y="2670553"/>
            <a:ext cx="2309421" cy="1394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3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Simular S2</a:t>
            </a:r>
            <a:endParaRPr lang="en-US" sz="103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5" name="Text 40"/>
          <p:cNvSpPr/>
          <p:nvPr/>
        </p:nvSpPr>
        <p:spPr>
          <a:xfrm>
            <a:off x="9122867" y="2809870"/>
            <a:ext cx="2335565" cy="244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34.5%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6" name="Shape 41"/>
          <p:cNvSpPr/>
          <p:nvPr/>
        </p:nvSpPr>
        <p:spPr>
          <a:xfrm>
            <a:off x="6417141" y="3367617"/>
            <a:ext cx="5211448" cy="732043"/>
          </a:xfrm>
          <a:custGeom>
            <a:avLst/>
            <a:gdLst/>
            <a:ahLst/>
            <a:cxnLst/>
            <a:rect l="l" t="t" r="r" b="b"/>
            <a:pathLst>
              <a:path w="5211448" h="732043">
                <a:moveTo>
                  <a:pt x="69720" y="0"/>
                </a:moveTo>
                <a:lnTo>
                  <a:pt x="5141728" y="0"/>
                </a:lnTo>
                <a:cubicBezTo>
                  <a:pt x="5180234" y="0"/>
                  <a:pt x="5211448" y="31215"/>
                  <a:pt x="5211448" y="69720"/>
                </a:cubicBezTo>
                <a:lnTo>
                  <a:pt x="5211448" y="662323"/>
                </a:lnTo>
                <a:cubicBezTo>
                  <a:pt x="5211448" y="700828"/>
                  <a:pt x="5180234" y="732043"/>
                  <a:pt x="5141728" y="732043"/>
                </a:cubicBezTo>
                <a:lnTo>
                  <a:pt x="69720" y="732043"/>
                </a:lnTo>
                <a:cubicBezTo>
                  <a:pt x="31215" y="732043"/>
                  <a:pt x="0" y="700828"/>
                  <a:pt x="0" y="662323"/>
                </a:cubicBezTo>
                <a:lnTo>
                  <a:pt x="0" y="69720"/>
                </a:lnTo>
                <a:cubicBezTo>
                  <a:pt x="0" y="31215"/>
                  <a:pt x="31215" y="0"/>
                  <a:pt x="6972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17" name="Text 42"/>
          <p:cNvSpPr/>
          <p:nvPr/>
        </p:nvSpPr>
        <p:spPr>
          <a:xfrm>
            <a:off x="6556577" y="3507054"/>
            <a:ext cx="5002293" cy="20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专业化模型兴起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8" name="Text 43"/>
          <p:cNvSpPr/>
          <p:nvPr/>
        </p:nvSpPr>
        <p:spPr>
          <a:xfrm>
            <a:off x="6556577" y="3785927"/>
            <a:ext cx="4993578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Uground、SeeClick等专门针对GUI的模型在特定任务上超越通用大模型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Shape 44"/>
          <p:cNvSpPr/>
          <p:nvPr/>
        </p:nvSpPr>
        <p:spPr>
          <a:xfrm>
            <a:off x="6204499" y="4458716"/>
            <a:ext cx="5636730" cy="2237960"/>
          </a:xfrm>
          <a:custGeom>
            <a:avLst/>
            <a:gdLst/>
            <a:ahLst/>
            <a:cxnLst/>
            <a:rect l="l" t="t" r="r" b="b"/>
            <a:pathLst>
              <a:path w="5636730" h="2237960">
                <a:moveTo>
                  <a:pt x="104580" y="0"/>
                </a:moveTo>
                <a:lnTo>
                  <a:pt x="5532150" y="0"/>
                </a:lnTo>
                <a:cubicBezTo>
                  <a:pt x="5589908" y="0"/>
                  <a:pt x="5636730" y="46822"/>
                  <a:pt x="5636730" y="104580"/>
                </a:cubicBezTo>
                <a:lnTo>
                  <a:pt x="5636730" y="2133380"/>
                </a:lnTo>
                <a:cubicBezTo>
                  <a:pt x="5636730" y="2191138"/>
                  <a:pt x="5589908" y="2237960"/>
                  <a:pt x="5532150" y="2237960"/>
                </a:cubicBezTo>
                <a:lnTo>
                  <a:pt x="104580" y="2237960"/>
                </a:lnTo>
                <a:cubicBezTo>
                  <a:pt x="46822" y="2237960"/>
                  <a:pt x="0" y="2191138"/>
                  <a:pt x="0" y="2133380"/>
                </a:cubicBezTo>
                <a:lnTo>
                  <a:pt x="0" y="104580"/>
                </a:lnTo>
                <a:cubicBezTo>
                  <a:pt x="0" y="46822"/>
                  <a:pt x="46822" y="0"/>
                  <a:pt x="10458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20" name="Shape 45"/>
          <p:cNvSpPr/>
          <p:nvPr/>
        </p:nvSpPr>
        <p:spPr>
          <a:xfrm>
            <a:off x="6438928" y="4706207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43574" y="108935"/>
                </a:moveTo>
                <a:lnTo>
                  <a:pt x="8340" y="108935"/>
                </a:lnTo>
                <a:cubicBezTo>
                  <a:pt x="-136" y="108935"/>
                  <a:pt x="-5345" y="99710"/>
                  <a:pt x="-987" y="92424"/>
                </a:cubicBezTo>
                <a:lnTo>
                  <a:pt x="17021" y="62399"/>
                </a:lnTo>
                <a:cubicBezTo>
                  <a:pt x="19983" y="57463"/>
                  <a:pt x="25293" y="54467"/>
                  <a:pt x="31046" y="54467"/>
                </a:cubicBezTo>
                <a:lnTo>
                  <a:pt x="63387" y="54467"/>
                </a:lnTo>
                <a:cubicBezTo>
                  <a:pt x="89293" y="10587"/>
                  <a:pt x="127930" y="8374"/>
                  <a:pt x="153768" y="12153"/>
                </a:cubicBezTo>
                <a:cubicBezTo>
                  <a:pt x="158126" y="12800"/>
                  <a:pt x="161530" y="16204"/>
                  <a:pt x="162143" y="20527"/>
                </a:cubicBezTo>
                <a:cubicBezTo>
                  <a:pt x="165922" y="46365"/>
                  <a:pt x="163709" y="85003"/>
                  <a:pt x="119828" y="110909"/>
                </a:cubicBezTo>
                <a:lnTo>
                  <a:pt x="119828" y="143249"/>
                </a:lnTo>
                <a:cubicBezTo>
                  <a:pt x="119828" y="149003"/>
                  <a:pt x="116833" y="154313"/>
                  <a:pt x="111897" y="157275"/>
                </a:cubicBezTo>
                <a:lnTo>
                  <a:pt x="81871" y="175283"/>
                </a:lnTo>
                <a:cubicBezTo>
                  <a:pt x="74620" y="179641"/>
                  <a:pt x="65361" y="174398"/>
                  <a:pt x="65361" y="165956"/>
                </a:cubicBezTo>
                <a:lnTo>
                  <a:pt x="65361" y="130722"/>
                </a:lnTo>
                <a:cubicBezTo>
                  <a:pt x="65361" y="118705"/>
                  <a:pt x="55591" y="108935"/>
                  <a:pt x="43574" y="108935"/>
                </a:cubicBezTo>
                <a:lnTo>
                  <a:pt x="43540" y="108935"/>
                </a:lnTo>
                <a:close/>
                <a:moveTo>
                  <a:pt x="136169" y="54467"/>
                </a:moveTo>
                <a:cubicBezTo>
                  <a:pt x="136169" y="45449"/>
                  <a:pt x="128847" y="38127"/>
                  <a:pt x="119828" y="38127"/>
                </a:cubicBezTo>
                <a:cubicBezTo>
                  <a:pt x="110810" y="38127"/>
                  <a:pt x="103488" y="45449"/>
                  <a:pt x="103488" y="54467"/>
                </a:cubicBezTo>
                <a:cubicBezTo>
                  <a:pt x="103488" y="63486"/>
                  <a:pt x="110810" y="70808"/>
                  <a:pt x="119828" y="70808"/>
                </a:cubicBezTo>
                <a:cubicBezTo>
                  <a:pt x="128847" y="70808"/>
                  <a:pt x="136169" y="63486"/>
                  <a:pt x="136169" y="54467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21" name="Text 46"/>
          <p:cNvSpPr/>
          <p:nvPr/>
        </p:nvSpPr>
        <p:spPr>
          <a:xfrm>
            <a:off x="6635010" y="4671347"/>
            <a:ext cx="5080726" cy="244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Alimama ShuHeiTi" pitchFamily="34" charset="-120"/>
              </a:rPr>
              <a:t>应用场景拓展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Alimama ShuHeiTi" pitchFamily="34" charset="-120"/>
            </a:endParaRPr>
          </a:p>
        </p:txBody>
      </p:sp>
      <p:sp>
        <p:nvSpPr>
          <p:cNvPr id="122" name="Shape 47"/>
          <p:cNvSpPr/>
          <p:nvPr/>
        </p:nvSpPr>
        <p:spPr>
          <a:xfrm>
            <a:off x="6417141" y="5054798"/>
            <a:ext cx="2553435" cy="662325"/>
          </a:xfrm>
          <a:custGeom>
            <a:avLst/>
            <a:gdLst/>
            <a:ahLst/>
            <a:cxnLst/>
            <a:rect l="l" t="t" r="r" b="b"/>
            <a:pathLst>
              <a:path w="2553435" h="662325">
                <a:moveTo>
                  <a:pt x="69716" y="0"/>
                </a:moveTo>
                <a:lnTo>
                  <a:pt x="2483719" y="0"/>
                </a:lnTo>
                <a:cubicBezTo>
                  <a:pt x="2522196" y="0"/>
                  <a:pt x="2553435" y="31239"/>
                  <a:pt x="2553435" y="69716"/>
                </a:cubicBezTo>
                <a:lnTo>
                  <a:pt x="2553435" y="592608"/>
                </a:lnTo>
                <a:cubicBezTo>
                  <a:pt x="2553435" y="631111"/>
                  <a:pt x="2522222" y="662325"/>
                  <a:pt x="2483719" y="662325"/>
                </a:cubicBezTo>
                <a:lnTo>
                  <a:pt x="69716" y="662325"/>
                </a:lnTo>
                <a:cubicBezTo>
                  <a:pt x="31239" y="662325"/>
                  <a:pt x="0" y="631086"/>
                  <a:pt x="0" y="592608"/>
                </a:cubicBezTo>
                <a:lnTo>
                  <a:pt x="0" y="69716"/>
                </a:lnTo>
                <a:cubicBezTo>
                  <a:pt x="0" y="31239"/>
                  <a:pt x="31239" y="0"/>
                  <a:pt x="697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23" name="Shape 48"/>
          <p:cNvSpPr/>
          <p:nvPr/>
        </p:nvSpPr>
        <p:spPr>
          <a:xfrm>
            <a:off x="7615316" y="5159376"/>
            <a:ext cx="156866" cy="209155"/>
          </a:xfrm>
          <a:custGeom>
            <a:avLst/>
            <a:gdLst/>
            <a:ahLst/>
            <a:cxnLst/>
            <a:rect l="l" t="t" r="r" b="b"/>
            <a:pathLst>
              <a:path w="156866" h="209155">
                <a:moveTo>
                  <a:pt x="26144" y="0"/>
                </a:moveTo>
                <a:cubicBezTo>
                  <a:pt x="11724" y="0"/>
                  <a:pt x="0" y="11724"/>
                  <a:pt x="0" y="26144"/>
                </a:cubicBezTo>
                <a:lnTo>
                  <a:pt x="0" y="183011"/>
                </a:lnTo>
                <a:cubicBezTo>
                  <a:pt x="0" y="197431"/>
                  <a:pt x="11724" y="209155"/>
                  <a:pt x="26144" y="209155"/>
                </a:cubicBezTo>
                <a:lnTo>
                  <a:pt x="130722" y="209155"/>
                </a:lnTo>
                <a:cubicBezTo>
                  <a:pt x="145142" y="209155"/>
                  <a:pt x="156866" y="197431"/>
                  <a:pt x="156866" y="183011"/>
                </a:cubicBezTo>
                <a:lnTo>
                  <a:pt x="156866" y="26144"/>
                </a:lnTo>
                <a:cubicBezTo>
                  <a:pt x="156866" y="11724"/>
                  <a:pt x="145142" y="0"/>
                  <a:pt x="130722" y="0"/>
                </a:cubicBezTo>
                <a:lnTo>
                  <a:pt x="26144" y="0"/>
                </a:lnTo>
                <a:close/>
                <a:moveTo>
                  <a:pt x="71897" y="143794"/>
                </a:moveTo>
                <a:lnTo>
                  <a:pt x="84969" y="143794"/>
                </a:lnTo>
                <a:cubicBezTo>
                  <a:pt x="92200" y="143794"/>
                  <a:pt x="98041" y="149636"/>
                  <a:pt x="98041" y="156866"/>
                </a:cubicBezTo>
                <a:lnTo>
                  <a:pt x="98041" y="189547"/>
                </a:lnTo>
                <a:lnTo>
                  <a:pt x="58825" y="189547"/>
                </a:lnTo>
                <a:lnTo>
                  <a:pt x="58825" y="156866"/>
                </a:lnTo>
                <a:cubicBezTo>
                  <a:pt x="58825" y="149636"/>
                  <a:pt x="64667" y="143794"/>
                  <a:pt x="71897" y="143794"/>
                </a:cubicBezTo>
                <a:close/>
                <a:moveTo>
                  <a:pt x="39217" y="45753"/>
                </a:moveTo>
                <a:cubicBezTo>
                  <a:pt x="39217" y="42158"/>
                  <a:pt x="42158" y="39217"/>
                  <a:pt x="45753" y="39217"/>
                </a:cubicBezTo>
                <a:lnTo>
                  <a:pt x="58825" y="39217"/>
                </a:lnTo>
                <a:cubicBezTo>
                  <a:pt x="62420" y="39217"/>
                  <a:pt x="65361" y="42158"/>
                  <a:pt x="65361" y="45753"/>
                </a:cubicBezTo>
                <a:lnTo>
                  <a:pt x="65361" y="58825"/>
                </a:lnTo>
                <a:cubicBezTo>
                  <a:pt x="65361" y="62420"/>
                  <a:pt x="62420" y="65361"/>
                  <a:pt x="58825" y="65361"/>
                </a:cubicBezTo>
                <a:lnTo>
                  <a:pt x="45753" y="65361"/>
                </a:lnTo>
                <a:cubicBezTo>
                  <a:pt x="42158" y="65361"/>
                  <a:pt x="39217" y="62420"/>
                  <a:pt x="39217" y="58825"/>
                </a:cubicBezTo>
                <a:lnTo>
                  <a:pt x="39217" y="45753"/>
                </a:lnTo>
                <a:close/>
                <a:moveTo>
                  <a:pt x="98041" y="39217"/>
                </a:moveTo>
                <a:lnTo>
                  <a:pt x="111114" y="39217"/>
                </a:lnTo>
                <a:cubicBezTo>
                  <a:pt x="114709" y="39217"/>
                  <a:pt x="117650" y="42158"/>
                  <a:pt x="117650" y="45753"/>
                </a:cubicBezTo>
                <a:lnTo>
                  <a:pt x="117650" y="58825"/>
                </a:lnTo>
                <a:cubicBezTo>
                  <a:pt x="117650" y="62420"/>
                  <a:pt x="114709" y="65361"/>
                  <a:pt x="111114" y="65361"/>
                </a:cubicBezTo>
                <a:lnTo>
                  <a:pt x="98041" y="65361"/>
                </a:lnTo>
                <a:cubicBezTo>
                  <a:pt x="94447" y="65361"/>
                  <a:pt x="91505" y="62420"/>
                  <a:pt x="91505" y="58825"/>
                </a:cubicBezTo>
                <a:lnTo>
                  <a:pt x="91505" y="45753"/>
                </a:lnTo>
                <a:cubicBezTo>
                  <a:pt x="91505" y="42158"/>
                  <a:pt x="94447" y="39217"/>
                  <a:pt x="98041" y="39217"/>
                </a:cubicBezTo>
                <a:close/>
                <a:moveTo>
                  <a:pt x="39217" y="98041"/>
                </a:moveTo>
                <a:cubicBezTo>
                  <a:pt x="39217" y="94447"/>
                  <a:pt x="42158" y="91505"/>
                  <a:pt x="45753" y="91505"/>
                </a:cubicBezTo>
                <a:lnTo>
                  <a:pt x="58825" y="91505"/>
                </a:lnTo>
                <a:cubicBezTo>
                  <a:pt x="62420" y="91505"/>
                  <a:pt x="65361" y="94447"/>
                  <a:pt x="65361" y="98041"/>
                </a:cubicBezTo>
                <a:lnTo>
                  <a:pt x="65361" y="111114"/>
                </a:lnTo>
                <a:cubicBezTo>
                  <a:pt x="65361" y="114709"/>
                  <a:pt x="62420" y="117650"/>
                  <a:pt x="58825" y="117650"/>
                </a:cubicBezTo>
                <a:lnTo>
                  <a:pt x="45753" y="117650"/>
                </a:lnTo>
                <a:cubicBezTo>
                  <a:pt x="42158" y="117650"/>
                  <a:pt x="39217" y="114709"/>
                  <a:pt x="39217" y="111114"/>
                </a:cubicBezTo>
                <a:lnTo>
                  <a:pt x="39217" y="98041"/>
                </a:lnTo>
                <a:close/>
                <a:moveTo>
                  <a:pt x="98041" y="91505"/>
                </a:moveTo>
                <a:lnTo>
                  <a:pt x="111114" y="91505"/>
                </a:lnTo>
                <a:cubicBezTo>
                  <a:pt x="114709" y="91505"/>
                  <a:pt x="117650" y="94447"/>
                  <a:pt x="117650" y="98041"/>
                </a:cubicBezTo>
                <a:lnTo>
                  <a:pt x="117650" y="111114"/>
                </a:lnTo>
                <a:cubicBezTo>
                  <a:pt x="117650" y="114709"/>
                  <a:pt x="114709" y="117650"/>
                  <a:pt x="111114" y="117650"/>
                </a:cubicBezTo>
                <a:lnTo>
                  <a:pt x="98041" y="117650"/>
                </a:lnTo>
                <a:cubicBezTo>
                  <a:pt x="94447" y="117650"/>
                  <a:pt x="91505" y="114709"/>
                  <a:pt x="91505" y="111114"/>
                </a:cubicBezTo>
                <a:lnTo>
                  <a:pt x="91505" y="98041"/>
                </a:lnTo>
                <a:cubicBezTo>
                  <a:pt x="91505" y="94447"/>
                  <a:pt x="94447" y="91505"/>
                  <a:pt x="98041" y="9150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24" name="Text 49"/>
          <p:cNvSpPr/>
          <p:nvPr/>
        </p:nvSpPr>
        <p:spPr>
          <a:xfrm>
            <a:off x="6491216" y="5438249"/>
            <a:ext cx="2405284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企业流程自动化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5" name="Shape 50"/>
          <p:cNvSpPr/>
          <p:nvPr/>
        </p:nvSpPr>
        <p:spPr>
          <a:xfrm>
            <a:off x="9074936" y="5054798"/>
            <a:ext cx="2553435" cy="662325"/>
          </a:xfrm>
          <a:custGeom>
            <a:avLst/>
            <a:gdLst/>
            <a:ahLst/>
            <a:cxnLst/>
            <a:rect l="l" t="t" r="r" b="b"/>
            <a:pathLst>
              <a:path w="2553435" h="662325">
                <a:moveTo>
                  <a:pt x="69716" y="0"/>
                </a:moveTo>
                <a:lnTo>
                  <a:pt x="2483719" y="0"/>
                </a:lnTo>
                <a:cubicBezTo>
                  <a:pt x="2522196" y="0"/>
                  <a:pt x="2553435" y="31239"/>
                  <a:pt x="2553435" y="69716"/>
                </a:cubicBezTo>
                <a:lnTo>
                  <a:pt x="2553435" y="592608"/>
                </a:lnTo>
                <a:cubicBezTo>
                  <a:pt x="2553435" y="631111"/>
                  <a:pt x="2522222" y="662325"/>
                  <a:pt x="2483719" y="662325"/>
                </a:cubicBezTo>
                <a:lnTo>
                  <a:pt x="69716" y="662325"/>
                </a:lnTo>
                <a:cubicBezTo>
                  <a:pt x="31239" y="662325"/>
                  <a:pt x="0" y="631086"/>
                  <a:pt x="0" y="592608"/>
                </a:cubicBezTo>
                <a:lnTo>
                  <a:pt x="0" y="69716"/>
                </a:lnTo>
                <a:cubicBezTo>
                  <a:pt x="0" y="31239"/>
                  <a:pt x="31239" y="0"/>
                  <a:pt x="697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26" name="Shape 51"/>
          <p:cNvSpPr/>
          <p:nvPr/>
        </p:nvSpPr>
        <p:spPr>
          <a:xfrm>
            <a:off x="10246966" y="5159376"/>
            <a:ext cx="209155" cy="209155"/>
          </a:xfrm>
          <a:custGeom>
            <a:avLst/>
            <a:gdLst/>
            <a:ahLst/>
            <a:cxnLst/>
            <a:rect l="l" t="t" r="r" b="b"/>
            <a:pathLst>
              <a:path w="209155" h="209155">
                <a:moveTo>
                  <a:pt x="13072" y="13072"/>
                </a:moveTo>
                <a:cubicBezTo>
                  <a:pt x="5842" y="13072"/>
                  <a:pt x="0" y="18914"/>
                  <a:pt x="0" y="26144"/>
                </a:cubicBezTo>
                <a:lnTo>
                  <a:pt x="0" y="176475"/>
                </a:lnTo>
                <a:cubicBezTo>
                  <a:pt x="0" y="187300"/>
                  <a:pt x="8783" y="196083"/>
                  <a:pt x="19608" y="196083"/>
                </a:cubicBezTo>
                <a:lnTo>
                  <a:pt x="189547" y="196083"/>
                </a:lnTo>
                <a:cubicBezTo>
                  <a:pt x="200372" y="196083"/>
                  <a:pt x="209155" y="187300"/>
                  <a:pt x="209155" y="176475"/>
                </a:cubicBezTo>
                <a:lnTo>
                  <a:pt x="209155" y="62175"/>
                </a:lnTo>
                <a:cubicBezTo>
                  <a:pt x="209155" y="54740"/>
                  <a:pt x="201230" y="50042"/>
                  <a:pt x="194694" y="53555"/>
                </a:cubicBezTo>
                <a:lnTo>
                  <a:pt x="130722" y="87992"/>
                </a:lnTo>
                <a:lnTo>
                  <a:pt x="130722" y="62175"/>
                </a:lnTo>
                <a:cubicBezTo>
                  <a:pt x="130722" y="54740"/>
                  <a:pt x="122797" y="50042"/>
                  <a:pt x="116261" y="53555"/>
                </a:cubicBezTo>
                <a:lnTo>
                  <a:pt x="52289" y="87992"/>
                </a:lnTo>
                <a:lnTo>
                  <a:pt x="52289" y="26144"/>
                </a:lnTo>
                <a:cubicBezTo>
                  <a:pt x="52289" y="18914"/>
                  <a:pt x="46447" y="13072"/>
                  <a:pt x="39217" y="13072"/>
                </a:cubicBezTo>
                <a:lnTo>
                  <a:pt x="13072" y="1307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27" name="Text 52"/>
          <p:cNvSpPr/>
          <p:nvPr/>
        </p:nvSpPr>
        <p:spPr>
          <a:xfrm>
            <a:off x="9149012" y="5438249"/>
            <a:ext cx="2405284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工业控制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8" name="Shape 53"/>
          <p:cNvSpPr/>
          <p:nvPr/>
        </p:nvSpPr>
        <p:spPr>
          <a:xfrm>
            <a:off x="6417141" y="5821700"/>
            <a:ext cx="2553435" cy="662325"/>
          </a:xfrm>
          <a:custGeom>
            <a:avLst/>
            <a:gdLst/>
            <a:ahLst/>
            <a:cxnLst/>
            <a:rect l="l" t="t" r="r" b="b"/>
            <a:pathLst>
              <a:path w="2553435" h="662325">
                <a:moveTo>
                  <a:pt x="69716" y="0"/>
                </a:moveTo>
                <a:lnTo>
                  <a:pt x="2483719" y="0"/>
                </a:lnTo>
                <a:cubicBezTo>
                  <a:pt x="2522196" y="0"/>
                  <a:pt x="2553435" y="31239"/>
                  <a:pt x="2553435" y="69716"/>
                </a:cubicBezTo>
                <a:lnTo>
                  <a:pt x="2553435" y="592608"/>
                </a:lnTo>
                <a:cubicBezTo>
                  <a:pt x="2553435" y="631111"/>
                  <a:pt x="2522222" y="662325"/>
                  <a:pt x="2483719" y="662325"/>
                </a:cubicBezTo>
                <a:lnTo>
                  <a:pt x="69716" y="662325"/>
                </a:lnTo>
                <a:cubicBezTo>
                  <a:pt x="31239" y="662325"/>
                  <a:pt x="0" y="631086"/>
                  <a:pt x="0" y="592608"/>
                </a:cubicBezTo>
                <a:lnTo>
                  <a:pt x="0" y="69716"/>
                </a:lnTo>
                <a:cubicBezTo>
                  <a:pt x="0" y="31239"/>
                  <a:pt x="31239" y="0"/>
                  <a:pt x="697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29" name="Shape 54"/>
          <p:cNvSpPr/>
          <p:nvPr/>
        </p:nvSpPr>
        <p:spPr>
          <a:xfrm>
            <a:off x="7589172" y="5926278"/>
            <a:ext cx="209155" cy="209155"/>
          </a:xfrm>
          <a:custGeom>
            <a:avLst/>
            <a:gdLst/>
            <a:ahLst/>
            <a:cxnLst/>
            <a:rect l="l" t="t" r="r" b="b"/>
            <a:pathLst>
              <a:path w="209155" h="209155">
                <a:moveTo>
                  <a:pt x="113483" y="3513"/>
                </a:moveTo>
                <a:cubicBezTo>
                  <a:pt x="108458" y="-1144"/>
                  <a:pt x="100697" y="-1144"/>
                  <a:pt x="95713" y="3513"/>
                </a:cubicBezTo>
                <a:lnTo>
                  <a:pt x="4208" y="88482"/>
                </a:lnTo>
                <a:cubicBezTo>
                  <a:pt x="286" y="92159"/>
                  <a:pt x="-1021" y="97837"/>
                  <a:pt x="940" y="102821"/>
                </a:cubicBezTo>
                <a:cubicBezTo>
                  <a:pt x="2900" y="107805"/>
                  <a:pt x="7680" y="111114"/>
                  <a:pt x="13072" y="111114"/>
                </a:cubicBezTo>
                <a:lnTo>
                  <a:pt x="19608" y="111114"/>
                </a:lnTo>
                <a:lnTo>
                  <a:pt x="19608" y="183011"/>
                </a:lnTo>
                <a:cubicBezTo>
                  <a:pt x="19608" y="197431"/>
                  <a:pt x="31332" y="209155"/>
                  <a:pt x="45753" y="209155"/>
                </a:cubicBezTo>
                <a:lnTo>
                  <a:pt x="163402" y="209155"/>
                </a:lnTo>
                <a:cubicBezTo>
                  <a:pt x="177823" y="209155"/>
                  <a:pt x="189547" y="197431"/>
                  <a:pt x="189547" y="183011"/>
                </a:cubicBezTo>
                <a:lnTo>
                  <a:pt x="189547" y="111114"/>
                </a:lnTo>
                <a:lnTo>
                  <a:pt x="196083" y="111114"/>
                </a:lnTo>
                <a:cubicBezTo>
                  <a:pt x="201475" y="111114"/>
                  <a:pt x="206296" y="107805"/>
                  <a:pt x="208256" y="102821"/>
                </a:cubicBezTo>
                <a:cubicBezTo>
                  <a:pt x="210217" y="97837"/>
                  <a:pt x="208910" y="92118"/>
                  <a:pt x="204988" y="88482"/>
                </a:cubicBezTo>
                <a:lnTo>
                  <a:pt x="113483" y="3513"/>
                </a:lnTo>
                <a:close/>
                <a:moveTo>
                  <a:pt x="98041" y="130722"/>
                </a:moveTo>
                <a:lnTo>
                  <a:pt x="111114" y="130722"/>
                </a:lnTo>
                <a:cubicBezTo>
                  <a:pt x="121939" y="130722"/>
                  <a:pt x="130722" y="139505"/>
                  <a:pt x="130722" y="150330"/>
                </a:cubicBezTo>
                <a:lnTo>
                  <a:pt x="130722" y="189547"/>
                </a:lnTo>
                <a:lnTo>
                  <a:pt x="78433" y="189547"/>
                </a:lnTo>
                <a:lnTo>
                  <a:pt x="78433" y="150330"/>
                </a:lnTo>
                <a:cubicBezTo>
                  <a:pt x="78433" y="139505"/>
                  <a:pt x="87216" y="130722"/>
                  <a:pt x="98041" y="13072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30" name="Text 55"/>
          <p:cNvSpPr/>
          <p:nvPr/>
        </p:nvSpPr>
        <p:spPr>
          <a:xfrm>
            <a:off x="6491216" y="6205151"/>
            <a:ext cx="2405284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智能家居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1" name="Shape 56"/>
          <p:cNvSpPr/>
          <p:nvPr/>
        </p:nvSpPr>
        <p:spPr>
          <a:xfrm>
            <a:off x="9074936" y="5821700"/>
            <a:ext cx="2553435" cy="662325"/>
          </a:xfrm>
          <a:custGeom>
            <a:avLst/>
            <a:gdLst/>
            <a:ahLst/>
            <a:cxnLst/>
            <a:rect l="l" t="t" r="r" b="b"/>
            <a:pathLst>
              <a:path w="2553435" h="662325">
                <a:moveTo>
                  <a:pt x="69716" y="0"/>
                </a:moveTo>
                <a:lnTo>
                  <a:pt x="2483719" y="0"/>
                </a:lnTo>
                <a:cubicBezTo>
                  <a:pt x="2522196" y="0"/>
                  <a:pt x="2553435" y="31239"/>
                  <a:pt x="2553435" y="69716"/>
                </a:cubicBezTo>
                <a:lnTo>
                  <a:pt x="2553435" y="592608"/>
                </a:lnTo>
                <a:cubicBezTo>
                  <a:pt x="2553435" y="631111"/>
                  <a:pt x="2522222" y="662325"/>
                  <a:pt x="2483719" y="662325"/>
                </a:cubicBezTo>
                <a:lnTo>
                  <a:pt x="69716" y="662325"/>
                </a:lnTo>
                <a:cubicBezTo>
                  <a:pt x="31239" y="662325"/>
                  <a:pt x="0" y="631086"/>
                  <a:pt x="0" y="592608"/>
                </a:cubicBezTo>
                <a:lnTo>
                  <a:pt x="0" y="69716"/>
                </a:lnTo>
                <a:cubicBezTo>
                  <a:pt x="0" y="31239"/>
                  <a:pt x="31239" y="0"/>
                  <a:pt x="69716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32" name="Shape 57"/>
          <p:cNvSpPr/>
          <p:nvPr/>
        </p:nvSpPr>
        <p:spPr>
          <a:xfrm>
            <a:off x="10233894" y="5926278"/>
            <a:ext cx="235299" cy="209155"/>
          </a:xfrm>
          <a:custGeom>
            <a:avLst/>
            <a:gdLst/>
            <a:ahLst/>
            <a:cxnLst/>
            <a:rect l="l" t="t" r="r" b="b"/>
            <a:pathLst>
              <a:path w="235299" h="209155">
                <a:moveTo>
                  <a:pt x="52289" y="26144"/>
                </a:moveTo>
                <a:cubicBezTo>
                  <a:pt x="52289" y="11724"/>
                  <a:pt x="64013" y="0"/>
                  <a:pt x="78433" y="0"/>
                </a:cubicBezTo>
                <a:lnTo>
                  <a:pt x="156866" y="0"/>
                </a:lnTo>
                <a:cubicBezTo>
                  <a:pt x="171287" y="0"/>
                  <a:pt x="183011" y="11724"/>
                  <a:pt x="183011" y="26144"/>
                </a:cubicBezTo>
                <a:lnTo>
                  <a:pt x="183011" y="52289"/>
                </a:lnTo>
                <a:lnTo>
                  <a:pt x="209155" y="52289"/>
                </a:lnTo>
                <a:cubicBezTo>
                  <a:pt x="223575" y="52289"/>
                  <a:pt x="235299" y="64013"/>
                  <a:pt x="235299" y="78433"/>
                </a:cubicBezTo>
                <a:lnTo>
                  <a:pt x="235299" y="183011"/>
                </a:lnTo>
                <a:cubicBezTo>
                  <a:pt x="235299" y="197431"/>
                  <a:pt x="223575" y="209155"/>
                  <a:pt x="209155" y="209155"/>
                </a:cubicBezTo>
                <a:lnTo>
                  <a:pt x="26144" y="209155"/>
                </a:lnTo>
                <a:cubicBezTo>
                  <a:pt x="11724" y="209155"/>
                  <a:pt x="0" y="197431"/>
                  <a:pt x="0" y="183011"/>
                </a:cubicBezTo>
                <a:lnTo>
                  <a:pt x="0" y="78433"/>
                </a:lnTo>
                <a:cubicBezTo>
                  <a:pt x="0" y="64013"/>
                  <a:pt x="11724" y="52289"/>
                  <a:pt x="26144" y="52289"/>
                </a:cubicBezTo>
                <a:lnTo>
                  <a:pt x="52289" y="52289"/>
                </a:lnTo>
                <a:lnTo>
                  <a:pt x="52289" y="26144"/>
                </a:lnTo>
                <a:close/>
                <a:moveTo>
                  <a:pt x="111114" y="143794"/>
                </a:moveTo>
                <a:cubicBezTo>
                  <a:pt x="103883" y="143794"/>
                  <a:pt x="98041" y="149636"/>
                  <a:pt x="98041" y="156866"/>
                </a:cubicBezTo>
                <a:lnTo>
                  <a:pt x="98041" y="189547"/>
                </a:lnTo>
                <a:lnTo>
                  <a:pt x="137258" y="189547"/>
                </a:lnTo>
                <a:lnTo>
                  <a:pt x="137258" y="156866"/>
                </a:lnTo>
                <a:cubicBezTo>
                  <a:pt x="137258" y="149636"/>
                  <a:pt x="131416" y="143794"/>
                  <a:pt x="124186" y="143794"/>
                </a:cubicBezTo>
                <a:lnTo>
                  <a:pt x="111114" y="143794"/>
                </a:lnTo>
                <a:close/>
                <a:moveTo>
                  <a:pt x="52289" y="150330"/>
                </a:moveTo>
                <a:lnTo>
                  <a:pt x="52289" y="137258"/>
                </a:lnTo>
                <a:cubicBezTo>
                  <a:pt x="52289" y="133663"/>
                  <a:pt x="49348" y="130722"/>
                  <a:pt x="45753" y="130722"/>
                </a:cubicBezTo>
                <a:lnTo>
                  <a:pt x="32680" y="130722"/>
                </a:lnTo>
                <a:cubicBezTo>
                  <a:pt x="29086" y="130722"/>
                  <a:pt x="26144" y="133663"/>
                  <a:pt x="26144" y="137258"/>
                </a:cubicBezTo>
                <a:lnTo>
                  <a:pt x="26144" y="150330"/>
                </a:lnTo>
                <a:cubicBezTo>
                  <a:pt x="26144" y="153925"/>
                  <a:pt x="29086" y="156866"/>
                  <a:pt x="32680" y="156866"/>
                </a:cubicBezTo>
                <a:lnTo>
                  <a:pt x="45753" y="156866"/>
                </a:lnTo>
                <a:cubicBezTo>
                  <a:pt x="49348" y="156866"/>
                  <a:pt x="52289" y="153925"/>
                  <a:pt x="52289" y="150330"/>
                </a:cubicBezTo>
                <a:close/>
                <a:moveTo>
                  <a:pt x="45753" y="104578"/>
                </a:moveTo>
                <a:cubicBezTo>
                  <a:pt x="49348" y="104578"/>
                  <a:pt x="52289" y="101636"/>
                  <a:pt x="52289" y="98041"/>
                </a:cubicBezTo>
                <a:lnTo>
                  <a:pt x="52289" y="84969"/>
                </a:lnTo>
                <a:cubicBezTo>
                  <a:pt x="52289" y="81374"/>
                  <a:pt x="49348" y="78433"/>
                  <a:pt x="45753" y="78433"/>
                </a:cubicBezTo>
                <a:lnTo>
                  <a:pt x="32680" y="78433"/>
                </a:lnTo>
                <a:cubicBezTo>
                  <a:pt x="29086" y="78433"/>
                  <a:pt x="26144" y="81374"/>
                  <a:pt x="26144" y="84969"/>
                </a:cubicBezTo>
                <a:lnTo>
                  <a:pt x="26144" y="98041"/>
                </a:lnTo>
                <a:cubicBezTo>
                  <a:pt x="26144" y="101636"/>
                  <a:pt x="29086" y="104578"/>
                  <a:pt x="32680" y="104578"/>
                </a:cubicBezTo>
                <a:lnTo>
                  <a:pt x="45753" y="104578"/>
                </a:lnTo>
                <a:close/>
                <a:moveTo>
                  <a:pt x="209155" y="150330"/>
                </a:moveTo>
                <a:lnTo>
                  <a:pt x="209155" y="137258"/>
                </a:lnTo>
                <a:cubicBezTo>
                  <a:pt x="209155" y="133663"/>
                  <a:pt x="206214" y="130722"/>
                  <a:pt x="202619" y="130722"/>
                </a:cubicBezTo>
                <a:lnTo>
                  <a:pt x="189547" y="130722"/>
                </a:lnTo>
                <a:cubicBezTo>
                  <a:pt x="185952" y="130722"/>
                  <a:pt x="183011" y="133663"/>
                  <a:pt x="183011" y="137258"/>
                </a:cubicBezTo>
                <a:lnTo>
                  <a:pt x="183011" y="150330"/>
                </a:lnTo>
                <a:cubicBezTo>
                  <a:pt x="183011" y="153925"/>
                  <a:pt x="185952" y="156866"/>
                  <a:pt x="189547" y="156866"/>
                </a:cubicBezTo>
                <a:lnTo>
                  <a:pt x="202619" y="156866"/>
                </a:lnTo>
                <a:cubicBezTo>
                  <a:pt x="206214" y="156866"/>
                  <a:pt x="209155" y="153925"/>
                  <a:pt x="209155" y="150330"/>
                </a:cubicBezTo>
                <a:close/>
                <a:moveTo>
                  <a:pt x="202619" y="104578"/>
                </a:moveTo>
                <a:cubicBezTo>
                  <a:pt x="206214" y="104578"/>
                  <a:pt x="209155" y="101636"/>
                  <a:pt x="209155" y="98041"/>
                </a:cubicBezTo>
                <a:lnTo>
                  <a:pt x="209155" y="84969"/>
                </a:lnTo>
                <a:cubicBezTo>
                  <a:pt x="209155" y="81374"/>
                  <a:pt x="206214" y="78433"/>
                  <a:pt x="202619" y="78433"/>
                </a:cubicBezTo>
                <a:lnTo>
                  <a:pt x="189547" y="78433"/>
                </a:lnTo>
                <a:cubicBezTo>
                  <a:pt x="185952" y="78433"/>
                  <a:pt x="183011" y="81374"/>
                  <a:pt x="183011" y="84969"/>
                </a:cubicBezTo>
                <a:lnTo>
                  <a:pt x="183011" y="98041"/>
                </a:lnTo>
                <a:cubicBezTo>
                  <a:pt x="183011" y="101636"/>
                  <a:pt x="185952" y="104578"/>
                  <a:pt x="189547" y="104578"/>
                </a:cubicBezTo>
                <a:lnTo>
                  <a:pt x="202619" y="104578"/>
                </a:lnTo>
                <a:close/>
                <a:moveTo>
                  <a:pt x="107846" y="42485"/>
                </a:moveTo>
                <a:lnTo>
                  <a:pt x="107846" y="55557"/>
                </a:lnTo>
                <a:lnTo>
                  <a:pt x="94773" y="55557"/>
                </a:lnTo>
                <a:cubicBezTo>
                  <a:pt x="91179" y="55557"/>
                  <a:pt x="88237" y="58498"/>
                  <a:pt x="88237" y="62093"/>
                </a:cubicBezTo>
                <a:lnTo>
                  <a:pt x="88237" y="68629"/>
                </a:lnTo>
                <a:cubicBezTo>
                  <a:pt x="88237" y="72224"/>
                  <a:pt x="91179" y="75165"/>
                  <a:pt x="94773" y="75165"/>
                </a:cubicBezTo>
                <a:lnTo>
                  <a:pt x="107846" y="75165"/>
                </a:lnTo>
                <a:lnTo>
                  <a:pt x="107846" y="88237"/>
                </a:lnTo>
                <a:cubicBezTo>
                  <a:pt x="107846" y="91832"/>
                  <a:pt x="110787" y="94773"/>
                  <a:pt x="114382" y="94773"/>
                </a:cubicBezTo>
                <a:lnTo>
                  <a:pt x="120918" y="94773"/>
                </a:lnTo>
                <a:cubicBezTo>
                  <a:pt x="124513" y="94773"/>
                  <a:pt x="127454" y="91832"/>
                  <a:pt x="127454" y="88237"/>
                </a:cubicBezTo>
                <a:lnTo>
                  <a:pt x="127454" y="75165"/>
                </a:lnTo>
                <a:lnTo>
                  <a:pt x="140526" y="75165"/>
                </a:lnTo>
                <a:cubicBezTo>
                  <a:pt x="144121" y="75165"/>
                  <a:pt x="147062" y="72224"/>
                  <a:pt x="147062" y="68629"/>
                </a:cubicBezTo>
                <a:lnTo>
                  <a:pt x="147062" y="62093"/>
                </a:lnTo>
                <a:cubicBezTo>
                  <a:pt x="147062" y="58498"/>
                  <a:pt x="144121" y="55557"/>
                  <a:pt x="140526" y="55557"/>
                </a:cubicBezTo>
                <a:lnTo>
                  <a:pt x="127454" y="55557"/>
                </a:lnTo>
                <a:lnTo>
                  <a:pt x="127454" y="42485"/>
                </a:lnTo>
                <a:cubicBezTo>
                  <a:pt x="127454" y="38890"/>
                  <a:pt x="124513" y="35949"/>
                  <a:pt x="120918" y="35949"/>
                </a:cubicBezTo>
                <a:lnTo>
                  <a:pt x="114382" y="35949"/>
                </a:lnTo>
                <a:cubicBezTo>
                  <a:pt x="110787" y="35949"/>
                  <a:pt x="107846" y="38890"/>
                  <a:pt x="107846" y="4248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33" name="Text 58"/>
          <p:cNvSpPr/>
          <p:nvPr/>
        </p:nvSpPr>
        <p:spPr>
          <a:xfrm>
            <a:off x="9149012" y="6205151"/>
            <a:ext cx="2405284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医疗健康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343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总结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29493" y="1824641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矩形: 单圆角 61"/>
          <p:cNvSpPr/>
          <p:nvPr/>
        </p:nvSpPr>
        <p:spPr>
          <a:xfrm>
            <a:off x="1045903" y="205186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5903" y="212875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8192" y="1733836"/>
            <a:ext cx="791959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B1001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定位与价值：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GUI Agent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实现了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LLM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从文本回答到实体操作的能力延伸，以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ReAct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为代表的范式让模型具备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推理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行动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闭环，是大模型从被动交互走向主动执行的关键技术路径。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29493" y="353464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矩形: 单圆角 65"/>
          <p:cNvSpPr/>
          <p:nvPr/>
        </p:nvSpPr>
        <p:spPr>
          <a:xfrm>
            <a:off x="1045903" y="374419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5903" y="382108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48192" y="3369865"/>
            <a:ext cx="79195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B1001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核心实现逻辑：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ReAct Prompting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为决策基础，配合标准化工具接口与多步执行循环，使模型能按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反馈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迭代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流程自主完成复杂操作，兼顾落地便捷性与任务适配性。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45903" y="5114710"/>
            <a:ext cx="10100194" cy="1302385"/>
            <a:chOff x="1045903" y="5114710"/>
            <a:chExt cx="10100194" cy="1302385"/>
          </a:xfrm>
        </p:grpSpPr>
        <p:sp>
          <p:nvSpPr>
            <p:cNvPr id="14" name="矩形 13"/>
            <p:cNvSpPr/>
            <p:nvPr/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5" name="矩形: 单圆角 69"/>
            <p:cNvSpPr/>
            <p:nvPr/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45903" y="5484330"/>
              <a:ext cx="1231419" cy="646331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948192" y="5114710"/>
              <a:ext cx="7919595" cy="1291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关键约束与方向：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当前仍面临可靠性、安全性、环境适配性三大挑战，需通过指令校验、权限白名单、环境适配封装等手段优化，在可控范围内实现工具调用与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GUI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自动化的规模化落地。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74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75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76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77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78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79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0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1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2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3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4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5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6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7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8.xml><?xml version="1.0" encoding="utf-8"?>
<p:tagLst xmlns:p="http://schemas.openxmlformats.org/presentationml/2006/main">
  <p:tag name="KSO_WM_DIAGRAM_VIRTUALLY_FRAME" val="{&quot;height&quot;:417,&quot;left&quot;:82.35,&quot;top&quot;:106.8,&quot;width&quot;:795.3}"/>
</p:tagLst>
</file>

<file path=ppt/tags/tag89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0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1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2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3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4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5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6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7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8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99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0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1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2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3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4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5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6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7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8.xml><?xml version="1.0" encoding="utf-8"?>
<p:tagLst xmlns:p="http://schemas.openxmlformats.org/presentationml/2006/main">
  <p:tag name="KSO_WM_DIAGRAM_VIRTUALLY_FRAME" val="{&quot;height&quot;:395,&quot;left&quot;:60,&quot;top&quot;:110,&quot;width&quot;:840}"/>
</p:tagLst>
</file>

<file path=ppt/tags/tag109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6825</Words>
  <Application>WPS 演示</Application>
  <PresentationFormat>宽屏</PresentationFormat>
  <Paragraphs>1010</Paragraphs>
  <Slides>23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Wingdings</vt:lpstr>
      <vt:lpstr>微软雅黑</vt:lpstr>
      <vt:lpstr>Microsoft Sans Serif</vt:lpstr>
      <vt:lpstr>MiSans</vt:lpstr>
      <vt:lpstr>MingLiU-ExtB</vt:lpstr>
      <vt:lpstr>Alimama ShuHeiTi</vt:lpstr>
      <vt:lpstr>Arial Unicode MS</vt:lpstr>
      <vt:lpstr>Calibri</vt:lpstr>
      <vt:lpstr>Noto Sans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Sakura</cp:lastModifiedBy>
  <cp:revision>325</cp:revision>
  <dcterms:created xsi:type="dcterms:W3CDTF">2026-01-27T07:46:00Z</dcterms:created>
  <dcterms:modified xsi:type="dcterms:W3CDTF">2026-02-07T14:56:22Z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E3FA85B52710459E935AE5FBA763DCF3_13</vt:lpwstr>
  </property>
</Properties>
</file>