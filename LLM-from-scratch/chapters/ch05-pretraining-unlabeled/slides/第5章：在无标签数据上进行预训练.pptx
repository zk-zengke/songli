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670" r:id="rId5"/>
    <p:sldId id="671" r:id="rId6"/>
    <p:sldId id="682" r:id="rId7"/>
    <p:sldId id="677" r:id="rId8"/>
    <p:sldId id="681" r:id="rId9"/>
    <p:sldId id="680" r:id="rId10"/>
    <p:sldId id="679" r:id="rId11"/>
    <p:sldId id="678" r:id="rId12"/>
    <p:sldId id="676" r:id="rId13"/>
    <p:sldId id="672" r:id="rId14"/>
    <p:sldId id="673" r:id="rId15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嘉莉 曾" initials="嘉莉" lastIdx="2" clrIdx="0"/>
  <p:cmAuthor id="2" name="作者" initials="A" lastIdx="1" clrIdx="1"/>
  <p:cmAuthor id="3" name="25108" initials="2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202"/>
    <a:srgbClr val="B10015"/>
    <a:srgbClr val="FFFFFF"/>
    <a:srgbClr val="FFBBCD"/>
    <a:srgbClr val="FFEEF2"/>
    <a:srgbClr val="FFEFF2"/>
    <a:srgbClr val="FFC0CD"/>
    <a:srgbClr val="FF005F"/>
    <a:srgbClr val="AC6E6E"/>
    <a:srgbClr val="FFF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4660"/>
  </p:normalViewPr>
  <p:slideViewPr>
    <p:cSldViewPr snapToGrid="0" showGuides="1">
      <p:cViewPr varScale="1">
        <p:scale>
          <a:sx n="153" d="100"/>
          <a:sy n="153" d="100"/>
        </p:scale>
        <p:origin x="714" y="108"/>
      </p:cViewPr>
      <p:guideLst>
        <p:guide orient="horz" pos="227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73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483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 userDrawn="1"/>
        </p:nvPicPr>
        <p:blipFill>
          <a:blip r:embed="rId4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5.jpeg"/><Relationship Id="rId7" Type="http://schemas.openxmlformats.org/officeDocument/2006/relationships/tags" Target="../tags/tag68.xml"/><Relationship Id="rId6" Type="http://schemas.openxmlformats.org/officeDocument/2006/relationships/image" Target="../media/image4.jpeg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2.jpe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4528" y="6677822"/>
            <a:ext cx="12201060" cy="179990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708397" y="122907"/>
            <a:ext cx="2330246" cy="1402662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1638611" y="3998"/>
            <a:ext cx="549245" cy="1605827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6892" y="-316"/>
            <a:ext cx="4677259" cy="160548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828811" y="243322"/>
            <a:ext cx="2330246" cy="1402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 bwMode="auto">
          <a:xfrm>
            <a:off x="4689552" y="-8702"/>
            <a:ext cx="2233808" cy="1614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0" name="图片 99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14688" y="11628"/>
            <a:ext cx="2288484" cy="159429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67201" y="3801"/>
            <a:ext cx="2299923" cy="16159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 descr="透明底"/>
          <p:cNvPicPr>
            <a:picLocks noChangeAspect="1"/>
          </p:cNvPicPr>
          <p:nvPr/>
        </p:nvPicPr>
        <p:blipFill>
          <a:blip r:embed="rId11"/>
          <a:srcRect l="10822" t="13549" r="9928" b="12441"/>
          <a:stretch>
            <a:fillRect/>
          </a:stretch>
        </p:blipFill>
        <p:spPr>
          <a:xfrm>
            <a:off x="8549640" y="2045335"/>
            <a:ext cx="925195" cy="820420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/>
        </p:nvPicPr>
        <p:blipFill>
          <a:blip r:embed="rId12"/>
          <a:srcRect t="36843" b="36463"/>
          <a:stretch>
            <a:fillRect/>
          </a:stretch>
        </p:blipFill>
        <p:spPr>
          <a:xfrm>
            <a:off x="1033780" y="2044700"/>
            <a:ext cx="3077210" cy="82169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2475230" y="3161030"/>
            <a:ext cx="6861175" cy="2144395"/>
            <a:chOff x="3770" y="4978"/>
            <a:chExt cx="10805" cy="3377"/>
          </a:xfrm>
        </p:grpSpPr>
        <p:sp>
          <p:nvSpPr>
            <p:cNvPr id="6" name="矩形 5"/>
            <p:cNvSpPr/>
            <p:nvPr>
              <p:custDataLst>
                <p:tags r:id="rId13"/>
              </p:custDataLst>
            </p:nvPr>
          </p:nvSpPr>
          <p:spPr>
            <a:xfrm>
              <a:off x="3770" y="4978"/>
              <a:ext cx="10805" cy="845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第</a:t>
              </a:r>
              <a:r>
                <a:rPr lang="en-US" altLang="zh-CN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5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章：</a:t>
              </a:r>
              <a:endParaRPr lang="zh-CN" altLang="en-US" sz="3600" b="1" dirty="0">
                <a:solidFill>
                  <a:srgbClr val="B1001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在无标签数据上进行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预训练</a:t>
              </a:r>
              <a:endParaRPr lang="zh-CN" altLang="en-US" sz="3600" b="1" dirty="0">
                <a:solidFill>
                  <a:srgbClr val="B1001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4"/>
              </p:custDataLst>
            </p:nvPr>
          </p:nvSpPr>
          <p:spPr>
            <a:xfrm>
              <a:off x="3771" y="7078"/>
              <a:ext cx="10804" cy="1277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indent="0" algn="ctr">
                <a:spcBef>
                  <a:spcPts val="600"/>
                </a:spcBef>
                <a:spcAft>
                  <a:spcPts val="600"/>
                </a:spcAft>
                <a:buFont typeface="Arial" panose="020B0604020202090204" pitchFamily="34" charset="0"/>
                <a:buNone/>
              </a:pPr>
              <a:endParaRPr lang="en-US" altLang="zh-CN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未训练的模型：随机的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“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混沌大脑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”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0040" y="1133475"/>
            <a:ext cx="11257915" cy="2294890"/>
          </a:xfrm>
          <a:prstGeom prst="rect">
            <a:avLst/>
          </a:prstGeom>
        </p:spPr>
        <p:txBody>
          <a:bodyPr wrap="square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在训练开始之前，模型的权重通常是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随机初始化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的。此时它具备“计算能力”，能把输入送进网络做一连串矩阵运算，但几乎没有任何语言知识或规律可用。即使输入是一句连贯的话，例如 “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Every effort moves you”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，信号在层与层之间也只是穿过一堆随机数字的变换，最终输出往往是毫无意义的乱码。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这时模型像是在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“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乱猜音节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或随意拼接词片段，因为它尚未从数据中学会词与词之间的统计关系、语法结构和上下文依赖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740" y="3428365"/>
            <a:ext cx="10510520" cy="30740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学习目标：预测下一个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Token</a:t>
            </a:r>
            <a:endParaRPr lang="en-US" altLang="zh-CN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8840" y="907415"/>
            <a:ext cx="5791200" cy="53721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0040" y="1445895"/>
            <a:ext cx="5080000" cy="4892675"/>
          </a:xfrm>
          <a:prstGeom prst="rect">
            <a:avLst/>
          </a:prstGeom>
        </p:spPr>
        <p:txBody>
          <a:bodyPr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为了训练模型，我们会把原始文本改造成一种“输入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—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目标错位”的监督形式：对输入序列中的每一个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来说，它的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正确答案（</a:t>
            </a: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target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就是紧跟在后面的那个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。也就是说，模型看到前面的内容，要学会预测下一步会出现什么。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输入（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x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）是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“every effort moves”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，对应的目标（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y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）就是把序列整体右移一位后的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“effort moves you”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。训练时，模型会为词表中所有词输出分数，并通过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Softmax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转成概率分布；但计算损失时，我们只关心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模型给</a:t>
            </a: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“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目标</a:t>
            </a: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token 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的</a:t>
            </a: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ID”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分配了多大的概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率，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目标越接近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1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，说明预测越正确。其他错误词的分数不会被当作正确答案，只会通过损失函数间接地被压低。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215515"/>
            <a:ext cx="8077200" cy="34861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给模型打分：交叉熵损失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0040" y="2066290"/>
            <a:ext cx="3601720" cy="378460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·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如果模型对正确答案的概率是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100%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，也就是非常确定，那么损失为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0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；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·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如果模型给正确答案的概率很低、很不确定，那么损失就会变得很大。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训练时，优化器的目标就是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不断调整参数，让这个失败分数逐步下降，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从而让模型越来越倾向于把高概率分配给正确的词。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79425" y="1046480"/>
            <a:ext cx="11069955" cy="706755"/>
            <a:chOff x="755" y="1648"/>
            <a:chExt cx="17433" cy="1113"/>
          </a:xfrm>
        </p:grpSpPr>
        <p:sp>
          <p:nvSpPr>
            <p:cNvPr id="17" name="任意多边形: 形状 96"/>
            <p:cNvSpPr/>
            <p:nvPr/>
          </p:nvSpPr>
          <p:spPr>
            <a:xfrm>
              <a:off x="755" y="1813"/>
              <a:ext cx="3548" cy="783"/>
            </a:xfrm>
            <a:custGeom>
              <a:avLst/>
              <a:gdLst>
                <a:gd name="connsiteX0" fmla="*/ 0 w 2252751"/>
                <a:gd name="connsiteY0" fmla="*/ 0 h 461665"/>
                <a:gd name="connsiteX1" fmla="*/ 2252751 w 2252751"/>
                <a:gd name="connsiteY1" fmla="*/ 0 h 461665"/>
                <a:gd name="connsiteX2" fmla="*/ 2131458 w 2252751"/>
                <a:gd name="connsiteY2" fmla="*/ 230833 h 461665"/>
                <a:gd name="connsiteX3" fmla="*/ 2252751 w 2252751"/>
                <a:gd name="connsiteY3" fmla="*/ 461665 h 461665"/>
                <a:gd name="connsiteX4" fmla="*/ 0 w 2252751"/>
                <a:gd name="connsiteY4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751" h="461665">
                  <a:moveTo>
                    <a:pt x="0" y="0"/>
                  </a:moveTo>
                  <a:lnTo>
                    <a:pt x="2252751" y="0"/>
                  </a:lnTo>
                  <a:lnTo>
                    <a:pt x="2131458" y="230833"/>
                  </a:lnTo>
                  <a:lnTo>
                    <a:pt x="2252751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73" y="1918"/>
              <a:ext cx="2912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 defTabSz="457200"/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核心</a:t>
              </a:r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原理</a:t>
              </a:r>
              <a:endParaRPr lang="zh-CN" altLang="en-US" b="1" dirty="0">
                <a:solidFill>
                  <a:sysClr val="window" lastClr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361" y="1648"/>
              <a:ext cx="13827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just">
                <a:lnSpc>
                  <a:spcPct val="125000"/>
                </a:lnSpc>
                <a:spcBef>
                  <a:spcPts val="400"/>
                </a:spcBef>
              </a:pPr>
              <a:r>
                <a:rPr lang="zh-CN" altLang="en-US" sz="1600">
                  <a:solidFill>
                    <a:srgbClr val="000000"/>
                  </a:solidFill>
                  <a:latin typeface="-webkit-standard"/>
                  <a:ea typeface="-webkit-standard"/>
                  <a:sym typeface="+mn-ea"/>
                </a:rPr>
                <a:t>模型会对正确答案（正确的下一个词）给出一个预测概率，然后我们对这个概率取负对数（</a:t>
              </a:r>
              <a:r>
                <a:rPr lang="en-US" altLang="zh-CN" sz="1600">
                  <a:solidFill>
                    <a:srgbClr val="000000"/>
                  </a:solidFill>
                  <a:latin typeface="-webkit-standard"/>
                  <a:ea typeface="-webkit-standard"/>
                  <a:sym typeface="+mn-ea"/>
                </a:rPr>
                <a:t>negative log</a:t>
              </a:r>
              <a:r>
                <a:rPr lang="zh-CN" altLang="en-US" sz="1600">
                  <a:solidFill>
                    <a:srgbClr val="000000"/>
                  </a:solidFill>
                  <a:latin typeface="-webkit-standard"/>
                  <a:ea typeface="-webkit-standard"/>
                  <a:sym typeface="+mn-ea"/>
                </a:rPr>
                <a:t>）。</a:t>
              </a:r>
              <a:endParaRPr lang="zh-CN" altLang="en-US" sz="1600" dirty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微软雅黑" charset="0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5-7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学习的循环：训练流程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Training Loop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1815" y="1115695"/>
            <a:ext cx="4754880" cy="508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5-11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0675" y="1210945"/>
            <a:ext cx="6750685" cy="498475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b="1" i="0">
                <a:solidFill>
                  <a:srgbClr val="0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预训练本质上是一个不断“犯错</a:t>
            </a:r>
            <a:r>
              <a:rPr lang="en-US" altLang="zh-CN" sz="2000" b="1" i="0">
                <a:solidFill>
                  <a:srgbClr val="0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—</a:t>
            </a:r>
            <a:r>
              <a:rPr lang="zh-CN" altLang="en-US" sz="2000" b="1" i="0">
                <a:solidFill>
                  <a:srgbClr val="0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纠错</a:t>
            </a:r>
            <a:r>
              <a:rPr lang="en-US" altLang="zh-CN" sz="2000" b="1" i="0">
                <a:solidFill>
                  <a:srgbClr val="0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—</a:t>
            </a:r>
            <a:r>
              <a:rPr lang="zh-CN" altLang="en-US" sz="2000" b="1" i="0">
                <a:solidFill>
                  <a:srgbClr val="0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改进”的迭代循环。</a:t>
            </a:r>
            <a:endParaRPr lang="zh-CN" altLang="en-US" sz="2000" b="1" i="0">
              <a:solidFill>
                <a:srgbClr val="0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（1）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前向传播（</a:t>
            </a: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Forward Pass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模型在一批文本（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batch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）上根据上下文猜测下一个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（2）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计算损失（</a:t>
            </a: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Calculate Loss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把模型的预测与真实目标进行对比，得到误差大小。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（3）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反向传播（</a:t>
            </a: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Backward Pass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计算梯度，把误差追溯到网络中哪些参数和神经元导致了这些错误。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（4）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更新权重（</a:t>
            </a: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Update Weights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优化器根据梯度对参数做小幅调整，让模型在下一次遇到类似输入时更不容易出错。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Batch 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与上下文窗口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Context 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3971925"/>
            <a:ext cx="10680700" cy="24180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0040" y="1105535"/>
            <a:ext cx="11295380" cy="258445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我们不可能一次把整个训练语料都喂进模型。实际训练时，会先用“滑动窗口”的方式把长文本切成可管理的片段，每个片段的长度由</a:t>
            </a:r>
            <a:r>
              <a:rPr lang="zh-CN" altLang="en-US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上下文长度（</a:t>
            </a:r>
            <a:r>
              <a:rPr lang="en-US" altLang="zh-CN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context length</a:t>
            </a:r>
            <a:r>
              <a:rPr lang="zh-CN" altLang="en-US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决定。这样做既能控制计算量，也能让模型在固定窗口内学习词与词之间的关系。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切好的这些片段会再被堆叠成</a:t>
            </a:r>
            <a:r>
              <a:rPr lang="zh-CN" altLang="en-US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批次（</a:t>
            </a:r>
            <a:r>
              <a:rPr lang="en-US" altLang="zh-CN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batches</a:t>
            </a:r>
            <a:r>
              <a:rPr lang="zh-CN" altLang="en-US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。一个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batch 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里包含多条序列，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GPU 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可以并行处理它们，从而显著提高吞吐量，加速训练过程。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记忆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vs 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理解：看懂损失曲线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Loss Curves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1350" y="2016125"/>
            <a:ext cx="6115050" cy="35052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8635" y="1137920"/>
            <a:ext cx="5382260" cy="52622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为了判断模型是在真正学习规律，还是只是在“背题”，训练时通常会同时跟踪两个指标：训练损失和验证损失。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训练损失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（实线）衡量模型在已经见过的训练文本上的表现，它一般会随着训练不断下降，这是正常现象。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验证损失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（虚线）衡量模型在未见过的新文本上的表现，更能代表真实的泛化能力。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需要重点观察的是两条曲线是否出现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“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分叉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。如果训练损失还在持续下降，但验证损失不再下降甚至开始上升，这通常意味着模型发生了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过拟合（</a:t>
            </a: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Overfitting</a:t>
            </a: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它在机械记忆训练数据的细节，而不是学到可迁移的语言规律，因此在新数据上反而表现变差。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5-12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从概率到文字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Generation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79425" y="1046480"/>
            <a:ext cx="11069955" cy="706755"/>
            <a:chOff x="755" y="1648"/>
            <a:chExt cx="17433" cy="1113"/>
          </a:xfrm>
        </p:grpSpPr>
        <p:sp>
          <p:nvSpPr>
            <p:cNvPr id="17" name="任意多边形: 形状 96"/>
            <p:cNvSpPr/>
            <p:nvPr/>
          </p:nvSpPr>
          <p:spPr>
            <a:xfrm>
              <a:off x="755" y="1813"/>
              <a:ext cx="3548" cy="783"/>
            </a:xfrm>
            <a:custGeom>
              <a:avLst/>
              <a:gdLst>
                <a:gd name="connsiteX0" fmla="*/ 0 w 2252751"/>
                <a:gd name="connsiteY0" fmla="*/ 0 h 461665"/>
                <a:gd name="connsiteX1" fmla="*/ 2252751 w 2252751"/>
                <a:gd name="connsiteY1" fmla="*/ 0 h 461665"/>
                <a:gd name="connsiteX2" fmla="*/ 2131458 w 2252751"/>
                <a:gd name="connsiteY2" fmla="*/ 230833 h 461665"/>
                <a:gd name="connsiteX3" fmla="*/ 2252751 w 2252751"/>
                <a:gd name="connsiteY3" fmla="*/ 461665 h 461665"/>
                <a:gd name="connsiteX4" fmla="*/ 0 w 2252751"/>
                <a:gd name="connsiteY4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751" h="461665">
                  <a:moveTo>
                    <a:pt x="0" y="0"/>
                  </a:moveTo>
                  <a:lnTo>
                    <a:pt x="2252751" y="0"/>
                  </a:lnTo>
                  <a:lnTo>
                    <a:pt x="2131458" y="230833"/>
                  </a:lnTo>
                  <a:lnTo>
                    <a:pt x="2252751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73" y="1918"/>
              <a:ext cx="2912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 defTabSz="457200"/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核心</a:t>
              </a:r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原理</a:t>
              </a:r>
              <a:endParaRPr lang="zh-CN" altLang="en-US" b="1" dirty="0">
                <a:solidFill>
                  <a:sysClr val="window" lastClr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361" y="1648"/>
              <a:ext cx="13827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just">
                <a:lnSpc>
                  <a:spcPct val="125000"/>
                </a:lnSpc>
                <a:spcBef>
                  <a:spcPts val="400"/>
                </a:spcBef>
              </a:pPr>
              <a:r>
                <a:rPr lang="zh-CN" altLang="en-US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面对一堆</a:t>
              </a:r>
              <a:r>
                <a:rPr lang="en-US" altLang="zh-CN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“</a:t>
              </a:r>
              <a:r>
                <a:rPr lang="zh-CN" altLang="en-US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下一个词的概率</a:t>
              </a:r>
              <a:r>
                <a:rPr lang="en-US" altLang="zh-CN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”</a:t>
              </a:r>
              <a:r>
                <a:rPr lang="zh-CN" altLang="en-US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，到底该选哪一个词输出。不同的解码策略会直接影响文本的风格与质量。</a:t>
              </a:r>
              <a:endParaRPr lang="zh-CN" altLang="en-US" sz="1600" dirty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微软雅黑" charset="0"/>
                <a:sym typeface="汉仪旗黑-55简" panose="00020600040101010101" pitchFamily="18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7040" y="1892300"/>
            <a:ext cx="4752340" cy="45326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9425" y="1896745"/>
            <a:ext cx="5872480" cy="42462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贪心解码（</a:t>
            </a:r>
            <a:r>
              <a:rPr lang="en-US" altLang="zh-CN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Greedy Decoding</a:t>
            </a:r>
            <a:r>
              <a:rPr lang="zh-CN" altLang="en-US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，温度 </a:t>
            </a:r>
            <a:r>
              <a:rPr lang="en-US" altLang="zh-CN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Temp=0</a:t>
            </a:r>
            <a:r>
              <a:rPr lang="zh-CN" altLang="en-US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）</a:t>
            </a:r>
            <a:endParaRPr lang="zh-CN" altLang="en-US" b="1" i="0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每一步都只选择概率最高的那个词。这种方式很稳、很少出错，但往往显得机械，容易产生重复和循环，读起来不够自然。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概率采样（</a:t>
            </a:r>
            <a:r>
              <a:rPr lang="en-US" altLang="zh-CN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Probabilistic Sampling</a:t>
            </a:r>
            <a:r>
              <a:rPr lang="zh-CN" altLang="en-US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endParaRPr lang="zh-CN" altLang="en-US" b="1" i="0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则像掷骰子一样按概率抽取词：高概率的词更容易被选中，但“第二好、第三好”的选项也偶尔会出现。这样能带来更接近人类的多样性与创造性，让生成内容更灵活、更有变化。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温度缩放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Temperature Scaling 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270" y="2669540"/>
            <a:ext cx="8999220" cy="35261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0040" y="1283970"/>
            <a:ext cx="10916920" cy="119888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温度（</a:t>
            </a: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Temperature</a:t>
            </a:r>
            <a:r>
              <a:rPr lang="zh-CN" altLang="en-US" sz="1600" b="1" i="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用来调节模型输出概率分布的“尖锐程度”（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sharpness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。温度越低，分布越尖锐，模型更倾向于选择最高概率的词，输出更稳定但更保守；温度越高，分布越平坦，低概率词也更有机会被采样到，文本会更有变化、更具创造性，但也更容易跑题或产生不连贯的内容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Top-k 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采样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Top-k Sampling 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608"/>
          <a:stretch>
            <a:fillRect/>
          </a:stretch>
        </p:blipFill>
        <p:spPr>
          <a:xfrm>
            <a:off x="320040" y="1472565"/>
            <a:ext cx="5866765" cy="46247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484620" y="1869440"/>
            <a:ext cx="5080000" cy="3830955"/>
          </a:xfrm>
          <a:prstGeom prst="rect">
            <a:avLst/>
          </a:prstGeom>
        </p:spPr>
        <p:txBody>
          <a:bodyPr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en-US" altLang="zh-CN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Top-k </a:t>
            </a:r>
            <a:r>
              <a:rPr lang="zh-CN" altLang="en-US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采样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是一种控制生成风险的解码策略，可以把它理解为给模型加上“安全护栏”。在每一步生成时，</a:t>
            </a:r>
            <a:r>
              <a:rPr lang="zh-CN" altLang="en-US" b="0" i="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模型先只保留概率最高的前 </a:t>
            </a:r>
            <a:r>
              <a:rPr lang="en-US" altLang="zh-CN" b="0" i="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k </a:t>
            </a:r>
            <a:r>
              <a:rPr lang="zh-CN" altLang="en-US" b="0" i="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个候选词，把其余低概率词全部屏蔽掉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；然后只在这 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k 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个候选里按概率进行采样。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这样既能保留一定的随机性与多样性，又能避免模型从大量极低概率的词里“乱选”，从而减少离谱输出、提升整体连贯性与可控性。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保存模型能力：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State Dictionary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（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state_dict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）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505" y="4128135"/>
            <a:ext cx="10207625" cy="19932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0040" y="1207770"/>
            <a:ext cx="11427460" cy="230695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训练大模型的计算成本很高，因此必须能随时保存进度，避免中断后从头再来。在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PyTorch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里，</a:t>
            </a:r>
            <a:r>
              <a:rPr lang="en-US" altLang="zh-CN" sz="1600" b="1" i="0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state_dict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 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是一个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Python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字典，用来把模型的每一层映射到它学到的</a:t>
            </a:r>
            <a:r>
              <a:rPr lang="zh-CN" altLang="en-US" sz="1600" i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 Semibold" panose="020B0400000000000000" charset="-122"/>
              </a:rPr>
              <a:t>张量参数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。你可以把它理解为模型的一张“记忆快照”，把当前学到的知识完整记录下来。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通过保存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 state_dict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，我们可以把训练过程中的检查点（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checkpoint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）写入磁盘，常见文件扩展名是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 .pth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。之后无论是继续训练（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resume training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），还是把模型加载出来用于部署与推理，都可以直接从这些检查点恢复参数，从而保留已有的训练成果。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使用预训练权重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7890" y="1499235"/>
            <a:ext cx="5873750" cy="41446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9405" y="1679575"/>
            <a:ext cx="5658485" cy="378460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从零开始训练一个大语言模型需要极其庞大的数据与算力，通常只有大型数据中心级别的资源才能承担。更现实的做法是复用已经训练好的预训练权重，例如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OpenAI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发布的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GPT-2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权重。只要我们的模型架构与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GPT-2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对齐，就可以把这些权重直接加载进来。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模型会从一个“随机猜测器”瞬间升级为能够流畅生成英文文本的系统。也就是说，我们不需要重新学会基础语言规律，而是直接继承了预训练阶段已经学到的大量统计模式与语言结构，然后再根据自己的任务做进一步微调或应用开发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73.xml><?xml version="1.0" encoding="utf-8"?>
<p:tagLst xmlns:p="http://schemas.openxmlformats.org/presentationml/2006/main">
  <p:tag name="COMMONDATA" val="eyJoZGlkIjoiMjVhODdiNDM4NzVmNGNiNWI5YjAyNzNmMzg1OGIwZTYifQ=="/>
  <p:tag name="RESOURCE_RECORD_KEY" val="{&quot;13&quot;:[20481688],&quot;8&quot;:[2047082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2865</Words>
  <Application>WPS 演示</Application>
  <PresentationFormat>宽屏</PresentationFormat>
  <Paragraphs>97</Paragraphs>
  <Slides>12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8" baseType="lpstr">
      <vt:lpstr>Arial</vt:lpstr>
      <vt:lpstr>宋体</vt:lpstr>
      <vt:lpstr>Wingdings</vt:lpstr>
      <vt:lpstr>Wingdings</vt:lpstr>
      <vt:lpstr>微软雅黑</vt:lpstr>
      <vt:lpstr>汉仪旗黑</vt:lpstr>
      <vt:lpstr>PingFang SC Semibold</vt:lpstr>
      <vt:lpstr>PingFang SC Regular</vt:lpstr>
      <vt:lpstr>Arial</vt:lpstr>
      <vt:lpstr>汉仪旗黑-55简</vt:lpstr>
      <vt:lpstr>等线</vt:lpstr>
      <vt:lpstr>汉仪中等线KW</vt:lpstr>
      <vt:lpstr>微软雅黑</vt:lpstr>
      <vt:lpstr>宋体</vt:lpstr>
      <vt:lpstr>Arial Unicode MS</vt:lpstr>
      <vt:lpstr>Calibri</vt:lpstr>
      <vt:lpstr>Helvetica Neue</vt:lpstr>
      <vt:lpstr>汉仪书宋二KW</vt:lpstr>
      <vt:lpstr>汉仪中黑KW</vt:lpstr>
      <vt:lpstr>汉仪旗黑-55简</vt:lpstr>
      <vt:lpstr>-webkit-standard</vt:lpstr>
      <vt:lpstr>Thonburi</vt:lpstr>
      <vt:lpstr>-webkit-standard</vt:lpstr>
      <vt:lpstr>苹方-简</vt:lpstr>
      <vt:lpstr>PingFang SC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王皓平</cp:lastModifiedBy>
  <cp:revision>357</cp:revision>
  <dcterms:created xsi:type="dcterms:W3CDTF">2026-02-03T22:13:27Z</dcterms:created>
  <dcterms:modified xsi:type="dcterms:W3CDTF">2026-02-03T22:13:27Z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3CE87763D32441DF07738269BA3FEB4F_43</vt:lpwstr>
  </property>
</Properties>
</file>