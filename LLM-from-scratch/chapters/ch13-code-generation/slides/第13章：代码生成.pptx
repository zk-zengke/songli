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492" r:id="rId5"/>
    <p:sldId id="518" r:id="rId6"/>
    <p:sldId id="493" r:id="rId7"/>
    <p:sldId id="510" r:id="rId8"/>
    <p:sldId id="281" r:id="rId9"/>
    <p:sldId id="572" r:id="rId10"/>
    <p:sldId id="542" r:id="rId11"/>
    <p:sldId id="521" r:id="rId12"/>
    <p:sldId id="523" r:id="rId13"/>
    <p:sldId id="556" r:id="rId14"/>
    <p:sldId id="545" r:id="rId15"/>
    <p:sldId id="562" r:id="rId16"/>
    <p:sldId id="549" r:id="rId17"/>
    <p:sldId id="564" r:id="rId18"/>
    <p:sldId id="567" r:id="rId19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嘉莉 曾" initials="嘉莉" lastIdx="2" clrIdx="0"/>
  <p:cmAuthor id="2" name="作者" initials="A" lastIdx="1" clrIdx="1"/>
  <p:cmAuthor id="3" name="25108" initials="2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9CD"/>
    <a:srgbClr val="FFF0F2"/>
    <a:srgbClr val="FFC5CD"/>
    <a:srgbClr val="FFFFFF"/>
    <a:srgbClr val="FD005D"/>
    <a:srgbClr val="FEF1F2"/>
    <a:srgbClr val="E0385C"/>
    <a:srgbClr val="B10015"/>
    <a:srgbClr val="FF5F70"/>
    <a:srgbClr val="BC6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20" y="204"/>
      </p:cViewPr>
      <p:guideLst>
        <p:guide orient="horz" pos="2160"/>
        <p:guide pos="38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95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语言模型的推理能力并非一蹴而就。早期的模型在这方面能力很弱。直到大模型时代，推理能力开始“涌现”出来。而真正的转折点，是2022年思维链提示（CoT）方法的出现，它让模型学会了“一步步地想问题”，效果立竿见影。之后，又有Self-Consistency等方法进一步优化了这一过程，使得模型的推理能力越来越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语言模型的推理能力并非一蹴而就。早期的模型在这方面能力很弱。直到大模型时代，推理能力开始“涌现”出来。而真正的转折点，是2022年思维链提示（CoT）方法的出现，它让模型学会了“一步步地想问题”，效果立竿见影。之后，又有Self-Consistency等方法进一步优化了这一过程，使得模型的推理能力越来越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483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2.jpeg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71.xml"/><Relationship Id="rId14" Type="http://schemas.openxmlformats.org/officeDocument/2006/relationships/image" Target="../media/image6.jpeg"/><Relationship Id="rId13" Type="http://schemas.openxmlformats.org/officeDocument/2006/relationships/image" Target="../media/image5.png"/><Relationship Id="rId12" Type="http://schemas.openxmlformats.org/officeDocument/2006/relationships/image" Target="../media/image4.jpeg"/><Relationship Id="rId11" Type="http://schemas.openxmlformats.org/officeDocument/2006/relationships/tags" Target="../tags/tag70.xml"/><Relationship Id="rId10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6.jpeg"/><Relationship Id="rId15" Type="http://schemas.openxmlformats.org/officeDocument/2006/relationships/image" Target="../media/image8.png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tags" Target="../tags/tag8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tags" Target="../tags/tag8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tags" Target="../tags/tag8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tags" Target="../tags/tag8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.jpeg"/><Relationship Id="rId3" Type="http://schemas.openxmlformats.org/officeDocument/2006/relationships/image" Target="../media/image8.png"/><Relationship Id="rId2" Type="http://schemas.openxmlformats.org/officeDocument/2006/relationships/tags" Target="../tags/tag90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tags" Target="../tags/tag9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png"/><Relationship Id="rId2" Type="http://schemas.openxmlformats.org/officeDocument/2006/relationships/tags" Target="../tags/tag92.xml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tags" Target="../tags/tag93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tags" Target="../tags/tag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4528" y="6677822"/>
            <a:ext cx="12201060" cy="179990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708397" y="122907"/>
            <a:ext cx="2330246" cy="1402662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1638611" y="3998"/>
            <a:ext cx="549245" cy="1605827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6892" y="-316"/>
            <a:ext cx="4677259" cy="160548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grpSp>
        <p:nvGrpSpPr>
          <p:cNvPr id="13" name="组合 12"/>
          <p:cNvGrpSpPr/>
          <p:nvPr/>
        </p:nvGrpSpPr>
        <p:grpSpPr>
          <a:xfrm>
            <a:off x="1863090" y="3385820"/>
            <a:ext cx="8454390" cy="1919605"/>
            <a:chOff x="2806" y="5332"/>
            <a:chExt cx="13314" cy="3023"/>
          </a:xfrm>
        </p:grpSpPr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2806" y="5332"/>
              <a:ext cx="13314" cy="845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第</a:t>
              </a: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13</a:t>
              </a: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章：代码生成与代码大模型</a:t>
              </a:r>
              <a:endParaRPr lang="zh-CN" altLang="en-US" sz="3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3771" y="7078"/>
              <a:ext cx="10804" cy="1277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indent="0" algn="ctr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endParaRPr lang="en-US" altLang="zh-CN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828811" y="243322"/>
            <a:ext cx="2330246" cy="1402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 bwMode="auto">
          <a:xfrm>
            <a:off x="4689552" y="-8702"/>
            <a:ext cx="2233808" cy="1614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0" name="图片 99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314688" y="11628"/>
            <a:ext cx="2288484" cy="159429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967201" y="3801"/>
            <a:ext cx="2299923" cy="16159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 descr="透明底"/>
          <p:cNvPicPr>
            <a:picLocks noChangeAspect="1"/>
          </p:cNvPicPr>
          <p:nvPr/>
        </p:nvPicPr>
        <p:blipFill>
          <a:blip r:embed="rId13"/>
          <a:srcRect l="10822" t="13549" r="9928" b="12441"/>
          <a:stretch>
            <a:fillRect/>
          </a:stretch>
        </p:blipFill>
        <p:spPr>
          <a:xfrm>
            <a:off x="8549640" y="2045335"/>
            <a:ext cx="925195" cy="820420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/>
        </p:nvPicPr>
        <p:blipFill>
          <a:blip r:embed="rId14"/>
          <a:srcRect t="36843" b="36463"/>
          <a:stretch>
            <a:fillRect/>
          </a:stretch>
        </p:blipFill>
        <p:spPr>
          <a:xfrm>
            <a:off x="1033780" y="2044700"/>
            <a:ext cx="3077210" cy="82169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6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学习目标与主线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270700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学习目标与主线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1829493" y="1842317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7" name="矩形: 单圆角 61"/>
          <p:cNvSpPr/>
          <p:nvPr>
            <p:custDataLst>
              <p:tags r:id="rId2"/>
            </p:custDataLst>
          </p:nvPr>
        </p:nvSpPr>
        <p:spPr>
          <a:xfrm>
            <a:off x="1045903" y="205186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045903" y="212875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829493" y="3688096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1" name="矩形: 单圆角 65"/>
          <p:cNvSpPr/>
          <p:nvPr>
            <p:custDataLst>
              <p:tags r:id="rId5"/>
            </p:custDataLst>
          </p:nvPr>
        </p:nvSpPr>
        <p:spPr>
          <a:xfrm>
            <a:off x="1045903" y="374419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045903" y="382108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7"/>
            </p:custDataLst>
          </p:nvPr>
        </p:nvGrpSpPr>
        <p:grpSpPr>
          <a:xfrm>
            <a:off x="1045903" y="5197895"/>
            <a:ext cx="10100194" cy="1219200"/>
            <a:chOff x="1045903" y="5197895"/>
            <a:chExt cx="10100194" cy="1219200"/>
          </a:xfrm>
        </p:grpSpPr>
        <p:sp>
          <p:nvSpPr>
            <p:cNvPr id="14" name="矩形 13"/>
            <p:cNvSpPr/>
            <p:nvPr>
              <p:custDataLst>
                <p:tags r:id="rId8"/>
              </p:custDataLst>
            </p:nvPr>
          </p:nvSpPr>
          <p:spPr>
            <a:xfrm>
              <a:off x="1829493" y="5197895"/>
              <a:ext cx="9316604" cy="1219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5" name="矩形: 单圆角 69"/>
            <p:cNvSpPr/>
            <p:nvPr>
              <p:custDataLst>
                <p:tags r:id="rId9"/>
              </p:custDataLst>
            </p:nvPr>
          </p:nvSpPr>
          <p:spPr>
            <a:xfrm>
              <a:off x="1045903" y="5407445"/>
              <a:ext cx="1427700" cy="800100"/>
            </a:xfrm>
            <a:prstGeom prst="round1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10"/>
              </p:custDataLst>
            </p:nvPr>
          </p:nvSpPr>
          <p:spPr>
            <a:xfrm>
              <a:off x="1045903" y="5484330"/>
              <a:ext cx="1231419" cy="646331"/>
            </a:xfrm>
            <a:prstGeom prst="rect">
              <a:avLst/>
            </a:prstGeom>
            <a:solidFill>
              <a:srgbClr val="9B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文本框 3"/>
          <p:cNvSpPr txBox="1"/>
          <p:nvPr>
            <p:custDataLst>
              <p:tags r:id="rId11"/>
            </p:custDataLst>
          </p:nvPr>
        </p:nvSpPr>
        <p:spPr>
          <a:xfrm>
            <a:off x="2974086" y="1995491"/>
            <a:ext cx="71574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/>
            </a:lvl1pPr>
          </a:lstStyle>
          <a:p>
            <a:r>
              <a:rPr lang="zh-CN" altLang="en-US" dirty="0"/>
              <a:t>明确代码生成的核心任务范畴与特殊性，掌握代码大模型的定义、典型代表及核心应用场景（如自然语言转代码、代码补全 </a:t>
            </a:r>
            <a:r>
              <a:rPr lang="en-US" altLang="zh-CN" dirty="0"/>
              <a:t>/ </a:t>
            </a:r>
            <a:r>
              <a:rPr lang="zh-CN" altLang="en-US" dirty="0"/>
              <a:t>翻译 </a:t>
            </a:r>
            <a:r>
              <a:rPr lang="en-US" altLang="zh-CN" dirty="0"/>
              <a:t>/ </a:t>
            </a:r>
            <a:r>
              <a:rPr lang="zh-CN" altLang="en-US" dirty="0"/>
              <a:t>重构）。</a:t>
            </a:r>
            <a:endParaRPr lang="zh-CN" altLang="en-US" dirty="0"/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2974340" y="3795395"/>
            <a:ext cx="715708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/>
            </a:lvl1pPr>
          </a:lstStyle>
          <a:p>
            <a:r>
              <a:rPr lang="zh-CN" altLang="en-US" dirty="0"/>
              <a:t>理解代码生成的范式演变逻辑，梳理从早期符号方法、统计模型到现代大模型（尤其是 </a:t>
            </a:r>
            <a:r>
              <a:rPr lang="en-US" altLang="zh-CN" dirty="0"/>
              <a:t>GPT </a:t>
            </a:r>
            <a:r>
              <a:rPr lang="zh-CN" altLang="en-US" dirty="0"/>
              <a:t>系列衍生模型）的技术迭代脉络与关键突破点。</a:t>
            </a:r>
            <a:endParaRPr lang="zh-CN" altLang="en-US" dirty="0"/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2974340" y="5309870"/>
            <a:ext cx="715708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/>
            </a:lvl1pPr>
          </a:lstStyle>
          <a:p>
            <a:r>
              <a:rPr lang="zh-CN" altLang="en-US" dirty="0"/>
              <a:t>掌握代码大模型的核心技术方法（预训练、微调与提示、辅助工具），以及其面临的正确性、可靠性等挑战与对应的评估指标（如 </a:t>
            </a:r>
            <a:r>
              <a:rPr lang="en-US" altLang="zh-CN" dirty="0" err="1"/>
              <a:t>pass@k</a:t>
            </a:r>
            <a:r>
              <a:rPr lang="zh-CN" altLang="en-US" dirty="0"/>
              <a:t>）。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5" name="图片 4" descr="Lychee定稿_画板 1"/>
          <p:cNvPicPr>
            <a:picLocks noChangeAspect="1"/>
          </p:cNvPicPr>
          <p:nvPr userDrawn="1"/>
        </p:nvPicPr>
        <p:blipFill>
          <a:blip r:embed="rId16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311"/>
            <a:ext cx="9044357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引言与全景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2"/>
          <p:cNvSpPr/>
          <p:nvPr/>
        </p:nvSpPr>
        <p:spPr>
          <a:xfrm>
            <a:off x="323088" y="3556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代码生成任务的核心定义</a:t>
            </a:r>
            <a:endParaRPr lang="en-US" sz="1100" dirty="0"/>
          </a:p>
        </p:txBody>
      </p:sp>
      <p:sp>
        <p:nvSpPr>
          <p:cNvPr id="2" name="Shape 3"/>
          <p:cNvSpPr/>
          <p:nvPr/>
        </p:nvSpPr>
        <p:spPr>
          <a:xfrm>
            <a:off x="355283" y="1071563"/>
            <a:ext cx="3695700" cy="1190625"/>
          </a:xfrm>
          <a:custGeom>
            <a:avLst/>
            <a:gdLst/>
            <a:ahLst/>
            <a:cxnLst/>
            <a:rect l="l" t="t" r="r" b="b"/>
            <a:pathLst>
              <a:path w="3695700" h="1190625">
                <a:moveTo>
                  <a:pt x="114300" y="0"/>
                </a:moveTo>
                <a:lnTo>
                  <a:pt x="3581400" y="0"/>
                </a:lnTo>
                <a:cubicBezTo>
                  <a:pt x="3644484" y="0"/>
                  <a:pt x="3695700" y="51216"/>
                  <a:pt x="3695700" y="114300"/>
                </a:cubicBezTo>
                <a:lnTo>
                  <a:pt x="3695700" y="1076325"/>
                </a:lnTo>
                <a:cubicBezTo>
                  <a:pt x="3695700" y="1139409"/>
                  <a:pt x="3644484" y="1190625"/>
                  <a:pt x="3581400" y="1190625"/>
                </a:cubicBezTo>
                <a:lnTo>
                  <a:pt x="114300" y="1190625"/>
                </a:lnTo>
                <a:cubicBezTo>
                  <a:pt x="51216" y="1190625"/>
                  <a:pt x="0" y="1139409"/>
                  <a:pt x="0" y="10763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4"/>
          <p:cNvSpPr/>
          <p:nvPr/>
        </p:nvSpPr>
        <p:spPr>
          <a:xfrm>
            <a:off x="512445" y="1228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17" name="Shape 5"/>
          <p:cNvSpPr/>
          <p:nvPr/>
        </p:nvSpPr>
        <p:spPr>
          <a:xfrm>
            <a:off x="608886" y="13335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53578" y="0"/>
                </a:moveTo>
                <a:cubicBezTo>
                  <a:pt x="59505" y="0"/>
                  <a:pt x="64294" y="4789"/>
                  <a:pt x="64294" y="10716"/>
                </a:cubicBezTo>
                <a:lnTo>
                  <a:pt x="64294" y="21431"/>
                </a:lnTo>
                <a:lnTo>
                  <a:pt x="107156" y="21431"/>
                </a:lnTo>
                <a:cubicBezTo>
                  <a:pt x="113083" y="21431"/>
                  <a:pt x="117872" y="26220"/>
                  <a:pt x="117872" y="32147"/>
                </a:cubicBezTo>
                <a:cubicBezTo>
                  <a:pt x="117872" y="38074"/>
                  <a:pt x="113083" y="42863"/>
                  <a:pt x="107156" y="42863"/>
                </a:cubicBezTo>
                <a:lnTo>
                  <a:pt x="103942" y="42863"/>
                </a:lnTo>
                <a:lnTo>
                  <a:pt x="101129" y="50598"/>
                </a:lnTo>
                <a:cubicBezTo>
                  <a:pt x="95637" y="65734"/>
                  <a:pt x="87366" y="79564"/>
                  <a:pt x="76952" y="91451"/>
                </a:cubicBezTo>
                <a:cubicBezTo>
                  <a:pt x="81707" y="94398"/>
                  <a:pt x="86663" y="97010"/>
                  <a:pt x="91820" y="99320"/>
                </a:cubicBezTo>
                <a:lnTo>
                  <a:pt x="108697" y="106821"/>
                </a:lnTo>
                <a:lnTo>
                  <a:pt x="129525" y="59941"/>
                </a:lnTo>
                <a:cubicBezTo>
                  <a:pt x="131233" y="56056"/>
                  <a:pt x="135084" y="53578"/>
                  <a:pt x="139303" y="53578"/>
                </a:cubicBezTo>
                <a:cubicBezTo>
                  <a:pt x="143522" y="53578"/>
                  <a:pt x="147373" y="56056"/>
                  <a:pt x="149081" y="59941"/>
                </a:cubicBezTo>
                <a:lnTo>
                  <a:pt x="191944" y="156381"/>
                </a:lnTo>
                <a:cubicBezTo>
                  <a:pt x="194355" y="161806"/>
                  <a:pt x="191910" y="168135"/>
                  <a:pt x="186519" y="170512"/>
                </a:cubicBezTo>
                <a:cubicBezTo>
                  <a:pt x="181128" y="172890"/>
                  <a:pt x="174765" y="170479"/>
                  <a:pt x="172388" y="165088"/>
                </a:cubicBezTo>
                <a:lnTo>
                  <a:pt x="165690" y="150019"/>
                </a:lnTo>
                <a:lnTo>
                  <a:pt x="112949" y="150019"/>
                </a:lnTo>
                <a:lnTo>
                  <a:pt x="106252" y="165088"/>
                </a:lnTo>
                <a:cubicBezTo>
                  <a:pt x="103841" y="170512"/>
                  <a:pt x="97512" y="172923"/>
                  <a:pt x="92121" y="170512"/>
                </a:cubicBezTo>
                <a:cubicBezTo>
                  <a:pt x="86730" y="168101"/>
                  <a:pt x="84285" y="161772"/>
                  <a:pt x="86696" y="156381"/>
                </a:cubicBezTo>
                <a:lnTo>
                  <a:pt x="100024" y="126411"/>
                </a:lnTo>
                <a:lnTo>
                  <a:pt x="83147" y="118910"/>
                </a:lnTo>
                <a:cubicBezTo>
                  <a:pt x="75445" y="115494"/>
                  <a:pt x="68078" y="111409"/>
                  <a:pt x="61113" y="106721"/>
                </a:cubicBezTo>
                <a:cubicBezTo>
                  <a:pt x="53980" y="112481"/>
                  <a:pt x="46178" y="117504"/>
                  <a:pt x="37840" y="121689"/>
                </a:cubicBezTo>
                <a:lnTo>
                  <a:pt x="26220" y="127449"/>
                </a:lnTo>
                <a:cubicBezTo>
                  <a:pt x="20929" y="130094"/>
                  <a:pt x="14500" y="127951"/>
                  <a:pt x="11854" y="122660"/>
                </a:cubicBezTo>
                <a:cubicBezTo>
                  <a:pt x="9209" y="117370"/>
                  <a:pt x="11352" y="110940"/>
                  <a:pt x="16643" y="108295"/>
                </a:cubicBezTo>
                <a:lnTo>
                  <a:pt x="28195" y="102502"/>
                </a:lnTo>
                <a:cubicBezTo>
                  <a:pt x="33654" y="99756"/>
                  <a:pt x="38844" y="96575"/>
                  <a:pt x="43733" y="93025"/>
                </a:cubicBezTo>
                <a:cubicBezTo>
                  <a:pt x="39112" y="88772"/>
                  <a:pt x="34759" y="84185"/>
                  <a:pt x="30707" y="79329"/>
                </a:cubicBezTo>
                <a:lnTo>
                  <a:pt x="27325" y="75244"/>
                </a:lnTo>
                <a:cubicBezTo>
                  <a:pt x="23541" y="70690"/>
                  <a:pt x="24144" y="63925"/>
                  <a:pt x="28698" y="60141"/>
                </a:cubicBezTo>
                <a:cubicBezTo>
                  <a:pt x="33252" y="56357"/>
                  <a:pt x="40016" y="56960"/>
                  <a:pt x="43800" y="61514"/>
                </a:cubicBezTo>
                <a:lnTo>
                  <a:pt x="47216" y="65600"/>
                </a:lnTo>
                <a:cubicBezTo>
                  <a:pt x="51067" y="70254"/>
                  <a:pt x="55286" y="74574"/>
                  <a:pt x="59740" y="78559"/>
                </a:cubicBezTo>
                <a:cubicBezTo>
                  <a:pt x="68948" y="68379"/>
                  <a:pt x="76215" y="56424"/>
                  <a:pt x="81003" y="43264"/>
                </a:cubicBezTo>
                <a:lnTo>
                  <a:pt x="81171" y="42862"/>
                </a:lnTo>
                <a:lnTo>
                  <a:pt x="10749" y="42862"/>
                </a:lnTo>
                <a:cubicBezTo>
                  <a:pt x="4789" y="42863"/>
                  <a:pt x="0" y="38074"/>
                  <a:pt x="0" y="32147"/>
                </a:cubicBezTo>
                <a:cubicBezTo>
                  <a:pt x="0" y="26220"/>
                  <a:pt x="4789" y="21431"/>
                  <a:pt x="10716" y="21431"/>
                </a:cubicBezTo>
                <a:lnTo>
                  <a:pt x="42863" y="21431"/>
                </a:lnTo>
                <a:lnTo>
                  <a:pt x="42863" y="10716"/>
                </a:lnTo>
                <a:cubicBezTo>
                  <a:pt x="42863" y="4789"/>
                  <a:pt x="47651" y="0"/>
                  <a:pt x="53578" y="0"/>
                </a:cubicBezTo>
                <a:close/>
                <a:moveTo>
                  <a:pt x="139303" y="90681"/>
                </a:moveTo>
                <a:lnTo>
                  <a:pt x="122460" y="128588"/>
                </a:lnTo>
                <a:lnTo>
                  <a:pt x="156147" y="128588"/>
                </a:lnTo>
                <a:lnTo>
                  <a:pt x="139303" y="90681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18" name="Text 6"/>
          <p:cNvSpPr/>
          <p:nvPr/>
        </p:nvSpPr>
        <p:spPr>
          <a:xfrm>
            <a:off x="1007745" y="1285875"/>
            <a:ext cx="222186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自然语言生成代码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19" name="Text 7"/>
          <p:cNvSpPr/>
          <p:nvPr/>
        </p:nvSpPr>
        <p:spPr>
          <a:xfrm>
            <a:off x="512445" y="1685925"/>
            <a:ext cx="345757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将人类的自然语言需求描述，自动转化为可执行的计算机程序代码。</a:t>
            </a:r>
            <a:endParaRPr lang="en-US" sz="16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0" name="Shape 8"/>
          <p:cNvSpPr/>
          <p:nvPr/>
        </p:nvSpPr>
        <p:spPr>
          <a:xfrm>
            <a:off x="4216033" y="1071563"/>
            <a:ext cx="3695700" cy="1190625"/>
          </a:xfrm>
          <a:custGeom>
            <a:avLst/>
            <a:gdLst/>
            <a:ahLst/>
            <a:cxnLst/>
            <a:rect l="l" t="t" r="r" b="b"/>
            <a:pathLst>
              <a:path w="3695700" h="1190625">
                <a:moveTo>
                  <a:pt x="114300" y="0"/>
                </a:moveTo>
                <a:lnTo>
                  <a:pt x="3581400" y="0"/>
                </a:lnTo>
                <a:cubicBezTo>
                  <a:pt x="3644484" y="0"/>
                  <a:pt x="3695700" y="51216"/>
                  <a:pt x="3695700" y="114300"/>
                </a:cubicBezTo>
                <a:lnTo>
                  <a:pt x="3695700" y="1076325"/>
                </a:lnTo>
                <a:cubicBezTo>
                  <a:pt x="3695700" y="1139409"/>
                  <a:pt x="3644484" y="1190625"/>
                  <a:pt x="3581400" y="1190625"/>
                </a:cubicBezTo>
                <a:lnTo>
                  <a:pt x="114300" y="1190625"/>
                </a:lnTo>
                <a:cubicBezTo>
                  <a:pt x="51216" y="1190625"/>
                  <a:pt x="0" y="1139409"/>
                  <a:pt x="0" y="10763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1" name="Shape 9"/>
          <p:cNvSpPr/>
          <p:nvPr/>
        </p:nvSpPr>
        <p:spPr>
          <a:xfrm>
            <a:off x="4373195" y="1228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22" name="Shape 10"/>
          <p:cNvSpPr/>
          <p:nvPr/>
        </p:nvSpPr>
        <p:spPr>
          <a:xfrm>
            <a:off x="4480352" y="1333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3443" y="4085"/>
                </a:moveTo>
                <a:lnTo>
                  <a:pt x="103908" y="33620"/>
                </a:lnTo>
                <a:lnTo>
                  <a:pt x="137830" y="67542"/>
                </a:lnTo>
                <a:lnTo>
                  <a:pt x="167365" y="38007"/>
                </a:lnTo>
                <a:cubicBezTo>
                  <a:pt x="169977" y="35362"/>
                  <a:pt x="171450" y="31812"/>
                  <a:pt x="171450" y="28129"/>
                </a:cubicBezTo>
                <a:cubicBezTo>
                  <a:pt x="171450" y="24445"/>
                  <a:pt x="169977" y="20895"/>
                  <a:pt x="167365" y="18250"/>
                </a:cubicBezTo>
                <a:lnTo>
                  <a:pt x="153200" y="4085"/>
                </a:lnTo>
                <a:cubicBezTo>
                  <a:pt x="150555" y="1473"/>
                  <a:pt x="147005" y="0"/>
                  <a:pt x="143321" y="0"/>
                </a:cubicBezTo>
                <a:cubicBezTo>
                  <a:pt x="139638" y="0"/>
                  <a:pt x="136088" y="1473"/>
                  <a:pt x="133443" y="4085"/>
                </a:cubicBezTo>
                <a:close/>
                <a:moveTo>
                  <a:pt x="92556" y="44972"/>
                </a:moveTo>
                <a:lnTo>
                  <a:pt x="4085" y="133443"/>
                </a:lnTo>
                <a:cubicBezTo>
                  <a:pt x="1473" y="136088"/>
                  <a:pt x="0" y="139638"/>
                  <a:pt x="0" y="143321"/>
                </a:cubicBezTo>
                <a:cubicBezTo>
                  <a:pt x="0" y="147005"/>
                  <a:pt x="1473" y="150555"/>
                  <a:pt x="4085" y="153200"/>
                </a:cubicBezTo>
                <a:lnTo>
                  <a:pt x="18250" y="167365"/>
                </a:lnTo>
                <a:cubicBezTo>
                  <a:pt x="20895" y="169977"/>
                  <a:pt x="24445" y="171450"/>
                  <a:pt x="28129" y="171450"/>
                </a:cubicBezTo>
                <a:cubicBezTo>
                  <a:pt x="31812" y="171450"/>
                  <a:pt x="35362" y="169977"/>
                  <a:pt x="38007" y="167365"/>
                </a:cubicBezTo>
                <a:lnTo>
                  <a:pt x="126478" y="78894"/>
                </a:lnTo>
                <a:lnTo>
                  <a:pt x="92556" y="44972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23" name="Text 11"/>
          <p:cNvSpPr/>
          <p:nvPr/>
        </p:nvSpPr>
        <p:spPr>
          <a:xfrm>
            <a:off x="4868545" y="1285875"/>
            <a:ext cx="1558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代码自动补全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4373195" y="1685925"/>
            <a:ext cx="345757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在程序员编写代码的过程中，实时预测并提供后续代码片段的智能建议。</a:t>
            </a:r>
            <a:endParaRPr lang="en-US" sz="16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5" name="Shape 13"/>
          <p:cNvSpPr/>
          <p:nvPr/>
        </p:nvSpPr>
        <p:spPr>
          <a:xfrm>
            <a:off x="8076783" y="1071563"/>
            <a:ext cx="3695700" cy="1190625"/>
          </a:xfrm>
          <a:custGeom>
            <a:avLst/>
            <a:gdLst/>
            <a:ahLst/>
            <a:cxnLst/>
            <a:rect l="l" t="t" r="r" b="b"/>
            <a:pathLst>
              <a:path w="3695700" h="1190625">
                <a:moveTo>
                  <a:pt x="114300" y="0"/>
                </a:moveTo>
                <a:lnTo>
                  <a:pt x="3581400" y="0"/>
                </a:lnTo>
                <a:cubicBezTo>
                  <a:pt x="3644484" y="0"/>
                  <a:pt x="3695700" y="51216"/>
                  <a:pt x="3695700" y="114300"/>
                </a:cubicBezTo>
                <a:lnTo>
                  <a:pt x="3695700" y="1076325"/>
                </a:lnTo>
                <a:cubicBezTo>
                  <a:pt x="3695700" y="1139409"/>
                  <a:pt x="3644484" y="1190625"/>
                  <a:pt x="3581400" y="1190625"/>
                </a:cubicBezTo>
                <a:lnTo>
                  <a:pt x="114300" y="1190625"/>
                </a:lnTo>
                <a:cubicBezTo>
                  <a:pt x="51216" y="1190625"/>
                  <a:pt x="0" y="1139409"/>
                  <a:pt x="0" y="10763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6" name="Shape 14"/>
          <p:cNvSpPr/>
          <p:nvPr/>
        </p:nvSpPr>
        <p:spPr>
          <a:xfrm>
            <a:off x="8233946" y="1228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27" name="Shape 15"/>
          <p:cNvSpPr/>
          <p:nvPr/>
        </p:nvSpPr>
        <p:spPr>
          <a:xfrm>
            <a:off x="8341102" y="1333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50430"/>
                </a:moveTo>
                <a:lnTo>
                  <a:pt x="136155" y="82577"/>
                </a:lnTo>
                <a:cubicBezTo>
                  <a:pt x="133075" y="85658"/>
                  <a:pt x="128487" y="86562"/>
                  <a:pt x="124469" y="84888"/>
                </a:cubicBezTo>
                <a:cubicBezTo>
                  <a:pt x="120450" y="83214"/>
                  <a:pt x="117872" y="79329"/>
                  <a:pt x="117872" y="75009"/>
                </a:cubicBezTo>
                <a:lnTo>
                  <a:pt x="117872" y="53578"/>
                </a:ln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117872" y="32147"/>
                </a:lnTo>
                <a:lnTo>
                  <a:pt x="117872" y="10716"/>
                </a:lnTo>
                <a:cubicBezTo>
                  <a:pt x="117872" y="6396"/>
                  <a:pt x="120484" y="2478"/>
                  <a:pt x="124502" y="804"/>
                </a:cubicBezTo>
                <a:cubicBezTo>
                  <a:pt x="128521" y="-871"/>
                  <a:pt x="133108" y="67"/>
                  <a:pt x="136189" y="3114"/>
                </a:cubicBezTo>
                <a:lnTo>
                  <a:pt x="168336" y="35261"/>
                </a:lnTo>
                <a:cubicBezTo>
                  <a:pt x="172522" y="39447"/>
                  <a:pt x="172522" y="46245"/>
                  <a:pt x="168336" y="50430"/>
                </a:cubicBezTo>
                <a:close/>
                <a:moveTo>
                  <a:pt x="35261" y="168302"/>
                </a:moveTo>
                <a:lnTo>
                  <a:pt x="3114" y="136155"/>
                </a:lnTo>
                <a:cubicBezTo>
                  <a:pt x="-1072" y="131970"/>
                  <a:pt x="-1072" y="125172"/>
                  <a:pt x="3114" y="120986"/>
                </a:cubicBezTo>
                <a:lnTo>
                  <a:pt x="35261" y="88839"/>
                </a:lnTo>
                <a:cubicBezTo>
                  <a:pt x="38342" y="85758"/>
                  <a:pt x="42929" y="84854"/>
                  <a:pt x="46948" y="86529"/>
                </a:cubicBezTo>
                <a:cubicBezTo>
                  <a:pt x="50966" y="88203"/>
                  <a:pt x="53578" y="92121"/>
                  <a:pt x="53578" y="96441"/>
                </a:cubicBezTo>
                <a:lnTo>
                  <a:pt x="53578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cubicBezTo>
                  <a:pt x="171450" y="134515"/>
                  <a:pt x="166661" y="139303"/>
                  <a:pt x="160734" y="139303"/>
                </a:cubicBezTo>
                <a:lnTo>
                  <a:pt x="53578" y="139303"/>
                </a:lnTo>
                <a:lnTo>
                  <a:pt x="53578" y="160734"/>
                </a:lnTo>
                <a:cubicBezTo>
                  <a:pt x="53578" y="165054"/>
                  <a:pt x="50966" y="168972"/>
                  <a:pt x="46948" y="170646"/>
                </a:cubicBezTo>
                <a:cubicBezTo>
                  <a:pt x="42929" y="172321"/>
                  <a:pt x="38342" y="171383"/>
                  <a:pt x="35261" y="16833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8" name="Text 16"/>
          <p:cNvSpPr/>
          <p:nvPr/>
        </p:nvSpPr>
        <p:spPr>
          <a:xfrm>
            <a:off x="8729345" y="1285875"/>
            <a:ext cx="195135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代码翻译与重构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29" name="Text 17"/>
          <p:cNvSpPr/>
          <p:nvPr/>
        </p:nvSpPr>
        <p:spPr>
          <a:xfrm>
            <a:off x="8233946" y="1685925"/>
            <a:ext cx="345757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实现跨编程语言的代码转换，或对现有代码进行结构优化与性能提升。</a:t>
            </a:r>
            <a:endParaRPr lang="en-US" sz="16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5" name="Shape 18"/>
          <p:cNvSpPr/>
          <p:nvPr/>
        </p:nvSpPr>
        <p:spPr>
          <a:xfrm>
            <a:off x="355600" y="2386330"/>
            <a:ext cx="11420475" cy="2415540"/>
          </a:xfrm>
          <a:custGeom>
            <a:avLst/>
            <a:gdLst/>
            <a:ahLst/>
            <a:cxnLst/>
            <a:rect l="l" t="t" r="r" b="b"/>
            <a:pathLst>
              <a:path w="11420475" h="1800225">
                <a:moveTo>
                  <a:pt x="114296" y="0"/>
                </a:moveTo>
                <a:lnTo>
                  <a:pt x="11306179" y="0"/>
                </a:lnTo>
                <a:cubicBezTo>
                  <a:pt x="11369261" y="0"/>
                  <a:pt x="11420475" y="51214"/>
                  <a:pt x="11420475" y="114296"/>
                </a:cubicBezTo>
                <a:lnTo>
                  <a:pt x="11420475" y="1685929"/>
                </a:lnTo>
                <a:cubicBezTo>
                  <a:pt x="11420475" y="1749011"/>
                  <a:pt x="11369261" y="1800225"/>
                  <a:pt x="11306179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5" name="Shape 19"/>
          <p:cNvSpPr/>
          <p:nvPr/>
        </p:nvSpPr>
        <p:spPr>
          <a:xfrm>
            <a:off x="498158" y="2543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56" name="Text 20"/>
          <p:cNvSpPr/>
          <p:nvPr/>
        </p:nvSpPr>
        <p:spPr>
          <a:xfrm>
            <a:off x="712470" y="2505075"/>
            <a:ext cx="11039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代码生成的特殊性：远超NLP的挑战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Shape 21"/>
          <p:cNvSpPr/>
          <p:nvPr/>
        </p:nvSpPr>
        <p:spPr>
          <a:xfrm>
            <a:off x="493395" y="2888615"/>
            <a:ext cx="5495925" cy="1800000"/>
          </a:xfrm>
          <a:custGeom>
            <a:avLst/>
            <a:gdLst/>
            <a:ahLst/>
            <a:cxnLst/>
            <a:rect l="l" t="t" r="r" b="b"/>
            <a:pathLst>
              <a:path w="5495925" h="1219200">
                <a:moveTo>
                  <a:pt x="38100" y="0"/>
                </a:moveTo>
                <a:lnTo>
                  <a:pt x="5419725" y="0"/>
                </a:lnTo>
                <a:cubicBezTo>
                  <a:pt x="5461781" y="0"/>
                  <a:pt x="5495925" y="34144"/>
                  <a:pt x="5495925" y="76200"/>
                </a:cubicBezTo>
                <a:lnTo>
                  <a:pt x="5495925" y="1143000"/>
                </a:lnTo>
                <a:cubicBezTo>
                  <a:pt x="5495925" y="1185056"/>
                  <a:pt x="5461781" y="1219200"/>
                  <a:pt x="5419725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58" name="Shape 22"/>
          <p:cNvSpPr/>
          <p:nvPr/>
        </p:nvSpPr>
        <p:spPr>
          <a:xfrm>
            <a:off x="493395" y="2888615"/>
            <a:ext cx="38100" cy="18000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59" name="Shape 23"/>
          <p:cNvSpPr/>
          <p:nvPr/>
        </p:nvSpPr>
        <p:spPr>
          <a:xfrm>
            <a:off x="626745" y="305244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60" name="Shape 24"/>
          <p:cNvSpPr/>
          <p:nvPr/>
        </p:nvSpPr>
        <p:spPr>
          <a:xfrm>
            <a:off x="714851" y="313817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61" name="Text 25"/>
          <p:cNvSpPr/>
          <p:nvPr/>
        </p:nvSpPr>
        <p:spPr>
          <a:xfrm>
            <a:off x="1045845" y="3014345"/>
            <a:ext cx="4914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语法严格 Strict Syntax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 26"/>
          <p:cNvSpPr/>
          <p:nvPr/>
        </p:nvSpPr>
        <p:spPr>
          <a:xfrm>
            <a:off x="1045845" y="3353435"/>
            <a:ext cx="4905375" cy="756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代码是 </a:t>
            </a:r>
            <a:r>
              <a:rPr lang="en-US" sz="1600" dirty="0">
                <a:solidFill>
                  <a:schemeClr val="tx1"/>
                </a:solidFill>
                <a:highlight>
                  <a:srgbClr val="D8A252">
                    <a:alpha val="2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形式化语言 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，任何语法错误都会导致程序无法编译或运行。模型必须生成 </a:t>
            </a: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完全符合语法规范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的代码，容不得半点差错。</a:t>
            </a:r>
            <a:endParaRPr lang="en-US" sz="16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Shape 27"/>
          <p:cNvSpPr/>
          <p:nvPr/>
        </p:nvSpPr>
        <p:spPr>
          <a:xfrm>
            <a:off x="1064895" y="423164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64" name="Text 28"/>
          <p:cNvSpPr/>
          <p:nvPr/>
        </p:nvSpPr>
        <p:spPr>
          <a:xfrm>
            <a:off x="1289050" y="4203065"/>
            <a:ext cx="379984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对比：自然语言即使有语法错误，仍能理解大意</a:t>
            </a:r>
            <a:endParaRPr lang="en-US" sz="1400" dirty="0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5" name="Shape 29"/>
          <p:cNvSpPr/>
          <p:nvPr/>
        </p:nvSpPr>
        <p:spPr>
          <a:xfrm>
            <a:off x="6160770" y="2888615"/>
            <a:ext cx="5495925" cy="1800000"/>
          </a:xfrm>
          <a:custGeom>
            <a:avLst/>
            <a:gdLst/>
            <a:ahLst/>
            <a:cxnLst/>
            <a:rect l="l" t="t" r="r" b="b"/>
            <a:pathLst>
              <a:path w="5495925" h="1219200">
                <a:moveTo>
                  <a:pt x="38100" y="0"/>
                </a:moveTo>
                <a:lnTo>
                  <a:pt x="5419725" y="0"/>
                </a:lnTo>
                <a:cubicBezTo>
                  <a:pt x="5461781" y="0"/>
                  <a:pt x="5495925" y="34144"/>
                  <a:pt x="5495925" y="76200"/>
                </a:cubicBezTo>
                <a:lnTo>
                  <a:pt x="5495925" y="1143000"/>
                </a:lnTo>
                <a:cubicBezTo>
                  <a:pt x="5495925" y="1185056"/>
                  <a:pt x="5461781" y="1219200"/>
                  <a:pt x="5419725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66" name="Shape 30"/>
          <p:cNvSpPr/>
          <p:nvPr/>
        </p:nvSpPr>
        <p:spPr>
          <a:xfrm>
            <a:off x="6160770" y="2888615"/>
            <a:ext cx="38100" cy="18000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67" name="Shape 31"/>
          <p:cNvSpPr/>
          <p:nvPr/>
        </p:nvSpPr>
        <p:spPr>
          <a:xfrm>
            <a:off x="6294120" y="305244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68" name="Shape 32"/>
          <p:cNvSpPr/>
          <p:nvPr/>
        </p:nvSpPr>
        <p:spPr>
          <a:xfrm>
            <a:off x="6382226" y="313817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16681" y="66675"/>
                </a:moveTo>
                <a:cubicBezTo>
                  <a:pt x="116681" y="39076"/>
                  <a:pt x="94274" y="16669"/>
                  <a:pt x="66675" y="16669"/>
                </a:cubicBezTo>
                <a:cubicBezTo>
                  <a:pt x="39076" y="16669"/>
                  <a:pt x="16669" y="39076"/>
                  <a:pt x="16669" y="66675"/>
                </a:cubicBezTo>
                <a:cubicBezTo>
                  <a:pt x="16669" y="94274"/>
                  <a:pt x="39076" y="116681"/>
                  <a:pt x="66675" y="116681"/>
                </a:cubicBezTo>
                <a:cubicBezTo>
                  <a:pt x="94274" y="116681"/>
                  <a:pt x="116681" y="94274"/>
                  <a:pt x="116681" y="66675"/>
                </a:cubicBezTo>
                <a:close/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  <a:moveTo>
                  <a:pt x="66675" y="87511"/>
                </a:moveTo>
                <a:cubicBezTo>
                  <a:pt x="78175" y="87511"/>
                  <a:pt x="87511" y="78175"/>
                  <a:pt x="87511" y="66675"/>
                </a:cubicBezTo>
                <a:cubicBezTo>
                  <a:pt x="87511" y="55175"/>
                  <a:pt x="78175" y="45839"/>
                  <a:pt x="66675" y="45839"/>
                </a:cubicBezTo>
                <a:cubicBezTo>
                  <a:pt x="55175" y="45839"/>
                  <a:pt x="45839" y="55175"/>
                  <a:pt x="45839" y="66675"/>
                </a:cubicBezTo>
                <a:cubicBezTo>
                  <a:pt x="45839" y="78175"/>
                  <a:pt x="55175" y="87511"/>
                  <a:pt x="66675" y="87511"/>
                </a:cubicBezTo>
                <a:close/>
                <a:moveTo>
                  <a:pt x="66675" y="29170"/>
                </a:moveTo>
                <a:cubicBezTo>
                  <a:pt x="87374" y="29170"/>
                  <a:pt x="104180" y="45976"/>
                  <a:pt x="104180" y="66675"/>
                </a:cubicBezTo>
                <a:cubicBezTo>
                  <a:pt x="104180" y="87374"/>
                  <a:pt x="87374" y="104180"/>
                  <a:pt x="66675" y="104180"/>
                </a:cubicBezTo>
                <a:cubicBezTo>
                  <a:pt x="45976" y="104180"/>
                  <a:pt x="29170" y="87374"/>
                  <a:pt x="29170" y="66675"/>
                </a:cubicBezTo>
                <a:cubicBezTo>
                  <a:pt x="29170" y="45976"/>
                  <a:pt x="45976" y="29170"/>
                  <a:pt x="66675" y="29170"/>
                </a:cubicBezTo>
                <a:close/>
                <a:moveTo>
                  <a:pt x="58341" y="66675"/>
                </a:moveTo>
                <a:cubicBezTo>
                  <a:pt x="58341" y="62075"/>
                  <a:pt x="62075" y="58341"/>
                  <a:pt x="66675" y="58341"/>
                </a:cubicBezTo>
                <a:cubicBezTo>
                  <a:pt x="71275" y="58341"/>
                  <a:pt x="75009" y="62075"/>
                  <a:pt x="75009" y="66675"/>
                </a:cubicBezTo>
                <a:cubicBezTo>
                  <a:pt x="75009" y="71275"/>
                  <a:pt x="71275" y="75009"/>
                  <a:pt x="66675" y="75009"/>
                </a:cubicBezTo>
                <a:cubicBezTo>
                  <a:pt x="62075" y="75009"/>
                  <a:pt x="58341" y="71275"/>
                  <a:pt x="58341" y="66675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69" name="Text 33"/>
          <p:cNvSpPr/>
          <p:nvPr/>
        </p:nvSpPr>
        <p:spPr>
          <a:xfrm>
            <a:off x="6713220" y="3014345"/>
            <a:ext cx="4914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语义精确 Semantic Accuracy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 34"/>
          <p:cNvSpPr/>
          <p:nvPr/>
        </p:nvSpPr>
        <p:spPr>
          <a:xfrm>
            <a:off x="6713220" y="3353435"/>
            <a:ext cx="4905375" cy="709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生成的代码不仅要语法正确，更要 </a:t>
            </a:r>
            <a:r>
              <a:rPr lang="en-US" sz="1600" dirty="0">
                <a:solidFill>
                  <a:schemeClr val="tx1"/>
                </a:solidFill>
                <a:highlight>
                  <a:srgbClr val="4A6D8C">
                    <a:alpha val="2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准确实现用户意图 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。逻辑错误同样会导致程序失效，这要求模型具备 </a:t>
            </a: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深层的逻辑推理能力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。</a:t>
            </a:r>
            <a:endParaRPr lang="en-US" sz="16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Shape 35"/>
          <p:cNvSpPr/>
          <p:nvPr/>
        </p:nvSpPr>
        <p:spPr>
          <a:xfrm>
            <a:off x="6748939" y="420878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72" name="Text 36"/>
          <p:cNvSpPr/>
          <p:nvPr/>
        </p:nvSpPr>
        <p:spPr>
          <a:xfrm>
            <a:off x="6956425" y="4222115"/>
            <a:ext cx="4661535" cy="318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关键转折：2022年思维链提示(CoT)让模型学会"一步步想问题"</a:t>
            </a:r>
            <a:endParaRPr lang="en-US" sz="1400" dirty="0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18"/>
          <p:cNvSpPr/>
          <p:nvPr/>
        </p:nvSpPr>
        <p:spPr>
          <a:xfrm>
            <a:off x="351790" y="4904740"/>
            <a:ext cx="11420475" cy="1836000"/>
          </a:xfrm>
          <a:custGeom>
            <a:avLst/>
            <a:gdLst/>
            <a:ahLst/>
            <a:cxnLst/>
            <a:rect l="l" t="t" r="r" b="b"/>
            <a:pathLst>
              <a:path w="11420475" h="1800225">
                <a:moveTo>
                  <a:pt x="114296" y="0"/>
                </a:moveTo>
                <a:lnTo>
                  <a:pt x="11306179" y="0"/>
                </a:lnTo>
                <a:cubicBezTo>
                  <a:pt x="11369261" y="0"/>
                  <a:pt x="11420475" y="51214"/>
                  <a:pt x="11420475" y="114296"/>
                </a:cubicBezTo>
                <a:lnTo>
                  <a:pt x="11420475" y="1685929"/>
                </a:lnTo>
                <a:cubicBezTo>
                  <a:pt x="11420475" y="1749011"/>
                  <a:pt x="11369261" y="1800225"/>
                  <a:pt x="11306179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19"/>
          <p:cNvSpPr/>
          <p:nvPr/>
        </p:nvSpPr>
        <p:spPr>
          <a:xfrm>
            <a:off x="493078" y="499681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6" name="Text 20"/>
          <p:cNvSpPr/>
          <p:nvPr/>
        </p:nvSpPr>
        <p:spPr>
          <a:xfrm>
            <a:off x="707390" y="4958715"/>
            <a:ext cx="11039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核心动因阐释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21"/>
          <p:cNvSpPr/>
          <p:nvPr/>
        </p:nvSpPr>
        <p:spPr>
          <a:xfrm>
            <a:off x="498475" y="5271135"/>
            <a:ext cx="3472180" cy="1399540"/>
          </a:xfrm>
          <a:custGeom>
            <a:avLst/>
            <a:gdLst/>
            <a:ahLst/>
            <a:cxnLst/>
            <a:rect l="l" t="t" r="r" b="b"/>
            <a:pathLst>
              <a:path w="5495925" h="1219200">
                <a:moveTo>
                  <a:pt x="38100" y="0"/>
                </a:moveTo>
                <a:lnTo>
                  <a:pt x="5419725" y="0"/>
                </a:lnTo>
                <a:cubicBezTo>
                  <a:pt x="5461781" y="0"/>
                  <a:pt x="5495925" y="34144"/>
                  <a:pt x="5495925" y="76200"/>
                </a:cubicBezTo>
                <a:lnTo>
                  <a:pt x="5495925" y="1143000"/>
                </a:lnTo>
                <a:cubicBezTo>
                  <a:pt x="5495925" y="1185056"/>
                  <a:pt x="5461781" y="1219200"/>
                  <a:pt x="5419725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8" name="Shape 22"/>
          <p:cNvSpPr/>
          <p:nvPr/>
        </p:nvSpPr>
        <p:spPr>
          <a:xfrm>
            <a:off x="498475" y="5271135"/>
            <a:ext cx="76200" cy="139954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9" name="Shape 23"/>
          <p:cNvSpPr/>
          <p:nvPr/>
        </p:nvSpPr>
        <p:spPr>
          <a:xfrm>
            <a:off x="631825" y="53333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10" name="Shape 24"/>
          <p:cNvSpPr/>
          <p:nvPr/>
        </p:nvSpPr>
        <p:spPr>
          <a:xfrm>
            <a:off x="719931" y="541909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" name="Text 25"/>
          <p:cNvSpPr/>
          <p:nvPr/>
        </p:nvSpPr>
        <p:spPr>
          <a:xfrm>
            <a:off x="1050925" y="5295265"/>
            <a:ext cx="217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代码的强形式化属性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26"/>
          <p:cNvSpPr/>
          <p:nvPr/>
        </p:nvSpPr>
        <p:spPr>
          <a:xfrm>
            <a:off x="1050925" y="5735955"/>
            <a:ext cx="2919730" cy="756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代码语法严格、语义精确且容错率趋近于零，需专门训练掌握语法规则、</a:t>
            </a:r>
            <a:r>
              <a:rPr lang="en-US" altLang="zh-CN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</a:t>
            </a:r>
            <a:r>
              <a:rPr lang="zh-CN" alt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用法及代码逻辑，与自然语言需求差异显著。</a:t>
            </a:r>
            <a:endParaRPr lang="zh-CN" altLang="en-US" sz="16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hape 21"/>
          <p:cNvSpPr/>
          <p:nvPr/>
        </p:nvSpPr>
        <p:spPr>
          <a:xfrm>
            <a:off x="4327525" y="5271135"/>
            <a:ext cx="3472180" cy="1399540"/>
          </a:xfrm>
          <a:custGeom>
            <a:avLst/>
            <a:gdLst/>
            <a:ahLst/>
            <a:cxnLst/>
            <a:rect l="l" t="t" r="r" b="b"/>
            <a:pathLst>
              <a:path w="5495925" h="1219200">
                <a:moveTo>
                  <a:pt x="38100" y="0"/>
                </a:moveTo>
                <a:lnTo>
                  <a:pt x="5419725" y="0"/>
                </a:lnTo>
                <a:cubicBezTo>
                  <a:pt x="5461781" y="0"/>
                  <a:pt x="5495925" y="34144"/>
                  <a:pt x="5495925" y="76200"/>
                </a:cubicBezTo>
                <a:lnTo>
                  <a:pt x="5495925" y="1143000"/>
                </a:lnTo>
                <a:cubicBezTo>
                  <a:pt x="5495925" y="1185056"/>
                  <a:pt x="5461781" y="1219200"/>
                  <a:pt x="5419725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30" name="Shape 22"/>
          <p:cNvSpPr/>
          <p:nvPr/>
        </p:nvSpPr>
        <p:spPr>
          <a:xfrm>
            <a:off x="4327525" y="5271135"/>
            <a:ext cx="76200" cy="139954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1" name="Shape 23"/>
          <p:cNvSpPr/>
          <p:nvPr/>
        </p:nvSpPr>
        <p:spPr>
          <a:xfrm>
            <a:off x="4460875" y="53333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32" name="Shape 24"/>
          <p:cNvSpPr/>
          <p:nvPr/>
        </p:nvSpPr>
        <p:spPr>
          <a:xfrm>
            <a:off x="4548981" y="541909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33" name="Text 25"/>
          <p:cNvSpPr/>
          <p:nvPr/>
        </p:nvSpPr>
        <p:spPr>
          <a:xfrm>
            <a:off x="4879975" y="5295265"/>
            <a:ext cx="217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任务场景的特殊性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4879975" y="5735955"/>
            <a:ext cx="2856230" cy="756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涵盖自然语言转代码、跨语言翻译等专属任务，需针对性学习</a:t>
            </a:r>
            <a:r>
              <a:rPr lang="en-US" altLang="zh-CN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</a:t>
            </a:r>
            <a:r>
              <a:rPr lang="zh-CN" alt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r>
              <a:rPr lang="en-US" altLang="zh-CN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</a:t>
            </a:r>
            <a:r>
              <a:rPr lang="en-US" altLang="zh-CN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 </a:t>
            </a:r>
            <a:r>
              <a:rPr lang="zh-CN" alt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映射及语言差异，通用模型无法覆盖。</a:t>
            </a:r>
            <a:endParaRPr lang="zh-CN" altLang="en-US" sz="16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Shape 21"/>
          <p:cNvSpPr/>
          <p:nvPr/>
        </p:nvSpPr>
        <p:spPr>
          <a:xfrm>
            <a:off x="8154035" y="5276215"/>
            <a:ext cx="3472180" cy="1399540"/>
          </a:xfrm>
          <a:custGeom>
            <a:avLst/>
            <a:gdLst/>
            <a:ahLst/>
            <a:cxnLst/>
            <a:rect l="l" t="t" r="r" b="b"/>
            <a:pathLst>
              <a:path w="5495925" h="1219200">
                <a:moveTo>
                  <a:pt x="38100" y="0"/>
                </a:moveTo>
                <a:lnTo>
                  <a:pt x="5419725" y="0"/>
                </a:lnTo>
                <a:cubicBezTo>
                  <a:pt x="5461781" y="0"/>
                  <a:pt x="5495925" y="34144"/>
                  <a:pt x="5495925" y="76200"/>
                </a:cubicBezTo>
                <a:lnTo>
                  <a:pt x="5495925" y="1143000"/>
                </a:lnTo>
                <a:cubicBezTo>
                  <a:pt x="5495925" y="1185056"/>
                  <a:pt x="5461781" y="1219200"/>
                  <a:pt x="5419725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36" name="Shape 22"/>
          <p:cNvSpPr/>
          <p:nvPr/>
        </p:nvSpPr>
        <p:spPr>
          <a:xfrm>
            <a:off x="8154035" y="5276215"/>
            <a:ext cx="76200" cy="139954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7" name="Shape 23"/>
          <p:cNvSpPr/>
          <p:nvPr/>
        </p:nvSpPr>
        <p:spPr>
          <a:xfrm>
            <a:off x="8287385" y="533844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38" name="Shape 24"/>
          <p:cNvSpPr/>
          <p:nvPr/>
        </p:nvSpPr>
        <p:spPr>
          <a:xfrm>
            <a:off x="8375491" y="542417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39" name="Text 25"/>
          <p:cNvSpPr/>
          <p:nvPr/>
        </p:nvSpPr>
        <p:spPr>
          <a:xfrm>
            <a:off x="8706485" y="5300345"/>
            <a:ext cx="217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专业知识的强依赖性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 26"/>
          <p:cNvSpPr/>
          <p:nvPr/>
        </p:nvSpPr>
        <p:spPr>
          <a:xfrm>
            <a:off x="8706485" y="5741035"/>
            <a:ext cx="2919730" cy="756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需融合算法、数据结构等专业知识，需在海量开源代码中学习代码模式与工程规范，才能精准落地用户意图。</a:t>
            </a:r>
            <a:endParaRPr lang="zh-CN" altLang="en-US" sz="16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4" name="图片 13" descr="Lychee定稿_画板 1"/>
          <p:cNvPicPr>
            <a:picLocks noChangeAspect="1"/>
          </p:cNvPicPr>
          <p:nvPr userDrawn="1"/>
        </p:nvPicPr>
        <p:blipFill>
          <a:blip r:embed="rId3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295275" y="561975"/>
            <a:ext cx="1160145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US" sz="3200" b="1" dirty="0" err="1">
                <a:latin typeface="Noto Sans SC" panose="020B0200000000000000" charset="-122"/>
                <a:ea typeface="Noto Sans SC" panose="020B0200000000000000" charset="-122"/>
              </a:rPr>
              <a:t>代码大模型：概念与行业代表</a:t>
            </a:r>
            <a:endParaRPr lang="en-US" sz="3200" b="1" dirty="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" name="Shape 3"/>
          <p:cNvSpPr/>
          <p:nvPr/>
        </p:nvSpPr>
        <p:spPr>
          <a:xfrm>
            <a:off x="300038" y="1138238"/>
            <a:ext cx="11420475" cy="962025"/>
          </a:xfrm>
          <a:custGeom>
            <a:avLst/>
            <a:gdLst/>
            <a:ahLst/>
            <a:cxnLst/>
            <a:rect l="l" t="t" r="r" b="b"/>
            <a:pathLst>
              <a:path w="11420475" h="962025">
                <a:moveTo>
                  <a:pt x="114298" y="0"/>
                </a:moveTo>
                <a:lnTo>
                  <a:pt x="11306177" y="0"/>
                </a:lnTo>
                <a:cubicBezTo>
                  <a:pt x="11369302" y="0"/>
                  <a:pt x="11420475" y="51173"/>
                  <a:pt x="11420475" y="114298"/>
                </a:cubicBezTo>
                <a:lnTo>
                  <a:pt x="11420475" y="847727"/>
                </a:lnTo>
                <a:cubicBezTo>
                  <a:pt x="11420475" y="910852"/>
                  <a:pt x="11369302" y="962025"/>
                  <a:pt x="113061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4"/>
          <p:cNvSpPr/>
          <p:nvPr/>
        </p:nvSpPr>
        <p:spPr>
          <a:xfrm>
            <a:off x="419100" y="1257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5"/>
          <p:cNvSpPr/>
          <p:nvPr/>
        </p:nvSpPr>
        <p:spPr>
          <a:xfrm>
            <a:off x="552450" y="1390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8700" y="1247140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核心定义</a:t>
            </a:r>
            <a:endParaRPr lang="en-US" sz="15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8700" y="1562100"/>
            <a:ext cx="1064895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代码大模型是指专门在 </a:t>
            </a:r>
            <a:r>
              <a:rPr lang="en-US" sz="1600" dirty="0">
                <a:solidFill>
                  <a:schemeClr val="tx1"/>
                </a:solidFill>
                <a:highlight>
                  <a:srgbClr val="D8A252">
                    <a:alpha val="2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海量开源代码库 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（如GitHub）上进行预训练或微调的 </a:t>
            </a: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大型语言模型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。它们被优化以理解和生成代码，从而显著提升代码相关任务的表现。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0038" y="2185988"/>
            <a:ext cx="5648325" cy="1752600"/>
          </a:xfrm>
          <a:custGeom>
            <a:avLst/>
            <a:gdLst/>
            <a:ahLst/>
            <a:cxnLst/>
            <a:rect l="l" t="t" r="r" b="b"/>
            <a:pathLst>
              <a:path w="5648325" h="1752600">
                <a:moveTo>
                  <a:pt x="114305" y="0"/>
                </a:moveTo>
                <a:lnTo>
                  <a:pt x="5534020" y="0"/>
                </a:lnTo>
                <a:cubicBezTo>
                  <a:pt x="5597149" y="0"/>
                  <a:pt x="5648325" y="51176"/>
                  <a:pt x="5648325" y="114305"/>
                </a:cubicBezTo>
                <a:lnTo>
                  <a:pt x="5648325" y="1638295"/>
                </a:lnTo>
                <a:cubicBezTo>
                  <a:pt x="5648325" y="1701424"/>
                  <a:pt x="5597149" y="1752600"/>
                  <a:pt x="5534020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19100" y="2305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52450" y="2438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4703" y="147861"/>
                </a:moveTo>
                <a:cubicBezTo>
                  <a:pt x="64703" y="148605"/>
                  <a:pt x="63847" y="149200"/>
                  <a:pt x="62768" y="149200"/>
                </a:cubicBezTo>
                <a:cubicBezTo>
                  <a:pt x="61540" y="149312"/>
                  <a:pt x="60685" y="148717"/>
                  <a:pt x="60685" y="147861"/>
                </a:cubicBezTo>
                <a:cubicBezTo>
                  <a:pt x="60685" y="147117"/>
                  <a:pt x="61540" y="146521"/>
                  <a:pt x="62619" y="146521"/>
                </a:cubicBezTo>
                <a:cubicBezTo>
                  <a:pt x="63736" y="146410"/>
                  <a:pt x="64703" y="147005"/>
                  <a:pt x="64703" y="147861"/>
                </a:cubicBezTo>
                <a:close/>
                <a:moveTo>
                  <a:pt x="53132" y="146186"/>
                </a:moveTo>
                <a:cubicBezTo>
                  <a:pt x="52871" y="146931"/>
                  <a:pt x="53615" y="147786"/>
                  <a:pt x="54732" y="148010"/>
                </a:cubicBezTo>
                <a:cubicBezTo>
                  <a:pt x="55699" y="148382"/>
                  <a:pt x="56815" y="148010"/>
                  <a:pt x="57038" y="147265"/>
                </a:cubicBezTo>
                <a:cubicBezTo>
                  <a:pt x="57262" y="146521"/>
                  <a:pt x="56555" y="145666"/>
                  <a:pt x="55438" y="145331"/>
                </a:cubicBezTo>
                <a:cubicBezTo>
                  <a:pt x="54471" y="145070"/>
                  <a:pt x="53392" y="145442"/>
                  <a:pt x="53132" y="146186"/>
                </a:cubicBezTo>
                <a:close/>
                <a:moveTo>
                  <a:pt x="69577" y="145554"/>
                </a:moveTo>
                <a:cubicBezTo>
                  <a:pt x="68498" y="145814"/>
                  <a:pt x="67754" y="146521"/>
                  <a:pt x="67866" y="147377"/>
                </a:cubicBezTo>
                <a:cubicBezTo>
                  <a:pt x="67977" y="148121"/>
                  <a:pt x="68945" y="148605"/>
                  <a:pt x="70061" y="148344"/>
                </a:cubicBezTo>
                <a:cubicBezTo>
                  <a:pt x="71140" y="148084"/>
                  <a:pt x="71884" y="147377"/>
                  <a:pt x="71772" y="146633"/>
                </a:cubicBezTo>
                <a:cubicBezTo>
                  <a:pt x="71661" y="145926"/>
                  <a:pt x="70656" y="145442"/>
                  <a:pt x="69577" y="145554"/>
                </a:cubicBezTo>
                <a:close/>
                <a:moveTo>
                  <a:pt x="94059" y="2977"/>
                </a:moveTo>
                <a:cubicBezTo>
                  <a:pt x="42453" y="2977"/>
                  <a:pt x="2977" y="42156"/>
                  <a:pt x="2977" y="93762"/>
                </a:cubicBezTo>
                <a:cubicBezTo>
                  <a:pt x="2977" y="135024"/>
                  <a:pt x="28947" y="170334"/>
                  <a:pt x="66042" y="182761"/>
                </a:cubicBezTo>
                <a:cubicBezTo>
                  <a:pt x="70805" y="183617"/>
                  <a:pt x="72479" y="180677"/>
                  <a:pt x="72479" y="178259"/>
                </a:cubicBezTo>
                <a:cubicBezTo>
                  <a:pt x="72479" y="175952"/>
                  <a:pt x="72368" y="163227"/>
                  <a:pt x="72368" y="155414"/>
                </a:cubicBezTo>
                <a:cubicBezTo>
                  <a:pt x="72368" y="155414"/>
                  <a:pt x="46323" y="160995"/>
                  <a:pt x="40853" y="144326"/>
                </a:cubicBezTo>
                <a:cubicBezTo>
                  <a:pt x="40853" y="144326"/>
                  <a:pt x="36612" y="133499"/>
                  <a:pt x="30510" y="130708"/>
                </a:cubicBezTo>
                <a:cubicBezTo>
                  <a:pt x="30510" y="130708"/>
                  <a:pt x="21989" y="124867"/>
                  <a:pt x="31105" y="124978"/>
                </a:cubicBezTo>
                <a:cubicBezTo>
                  <a:pt x="31105" y="124978"/>
                  <a:pt x="40370" y="125723"/>
                  <a:pt x="45467" y="134578"/>
                </a:cubicBezTo>
                <a:cubicBezTo>
                  <a:pt x="53615" y="148940"/>
                  <a:pt x="67270" y="144810"/>
                  <a:pt x="72591" y="142354"/>
                </a:cubicBezTo>
                <a:cubicBezTo>
                  <a:pt x="73447" y="136401"/>
                  <a:pt x="75865" y="132271"/>
                  <a:pt x="78544" y="129815"/>
                </a:cubicBezTo>
                <a:cubicBezTo>
                  <a:pt x="57745" y="127508"/>
                  <a:pt x="36761" y="124495"/>
                  <a:pt x="36761" y="88702"/>
                </a:cubicBezTo>
                <a:cubicBezTo>
                  <a:pt x="36761" y="78470"/>
                  <a:pt x="39588" y="73335"/>
                  <a:pt x="45541" y="66787"/>
                </a:cubicBezTo>
                <a:cubicBezTo>
                  <a:pt x="44574" y="64368"/>
                  <a:pt x="41411" y="54397"/>
                  <a:pt x="46509" y="41523"/>
                </a:cubicBezTo>
                <a:cubicBezTo>
                  <a:pt x="54285" y="39105"/>
                  <a:pt x="72182" y="51569"/>
                  <a:pt x="72182" y="51569"/>
                </a:cubicBezTo>
                <a:cubicBezTo>
                  <a:pt x="79623" y="49485"/>
                  <a:pt x="87623" y="48406"/>
                  <a:pt x="95548" y="48406"/>
                </a:cubicBezTo>
                <a:cubicBezTo>
                  <a:pt x="103473" y="48406"/>
                  <a:pt x="111472" y="49485"/>
                  <a:pt x="118914" y="51569"/>
                </a:cubicBezTo>
                <a:cubicBezTo>
                  <a:pt x="118914" y="51569"/>
                  <a:pt x="136810" y="39067"/>
                  <a:pt x="144587" y="41523"/>
                </a:cubicBezTo>
                <a:cubicBezTo>
                  <a:pt x="149684" y="54434"/>
                  <a:pt x="146521" y="64368"/>
                  <a:pt x="145554" y="66787"/>
                </a:cubicBezTo>
                <a:cubicBezTo>
                  <a:pt x="151507" y="73372"/>
                  <a:pt x="155153" y="78507"/>
                  <a:pt x="155153" y="88702"/>
                </a:cubicBezTo>
                <a:cubicBezTo>
                  <a:pt x="155153" y="124606"/>
                  <a:pt x="133238" y="127471"/>
                  <a:pt x="112440" y="129815"/>
                </a:cubicBezTo>
                <a:cubicBezTo>
                  <a:pt x="115863" y="132755"/>
                  <a:pt x="118765" y="138336"/>
                  <a:pt x="118765" y="147079"/>
                </a:cubicBezTo>
                <a:cubicBezTo>
                  <a:pt x="118765" y="159618"/>
                  <a:pt x="118653" y="175133"/>
                  <a:pt x="118653" y="178184"/>
                </a:cubicBezTo>
                <a:cubicBezTo>
                  <a:pt x="118653" y="180603"/>
                  <a:pt x="120365" y="183542"/>
                  <a:pt x="125090" y="182687"/>
                </a:cubicBezTo>
                <a:cubicBezTo>
                  <a:pt x="162297" y="170334"/>
                  <a:pt x="187523" y="135024"/>
                  <a:pt x="187523" y="93762"/>
                </a:cubicBezTo>
                <a:cubicBezTo>
                  <a:pt x="187523" y="42156"/>
                  <a:pt x="145666" y="2977"/>
                  <a:pt x="94059" y="2977"/>
                </a:cubicBezTo>
                <a:close/>
                <a:moveTo>
                  <a:pt x="39142" y="131304"/>
                </a:moveTo>
                <a:cubicBezTo>
                  <a:pt x="38658" y="131676"/>
                  <a:pt x="38770" y="132531"/>
                  <a:pt x="39402" y="133238"/>
                </a:cubicBezTo>
                <a:cubicBezTo>
                  <a:pt x="39998" y="133834"/>
                  <a:pt x="40853" y="134094"/>
                  <a:pt x="41337" y="133610"/>
                </a:cubicBezTo>
                <a:cubicBezTo>
                  <a:pt x="41821" y="133238"/>
                  <a:pt x="41709" y="132383"/>
                  <a:pt x="41077" y="131676"/>
                </a:cubicBezTo>
                <a:cubicBezTo>
                  <a:pt x="40481" y="131080"/>
                  <a:pt x="39625" y="130820"/>
                  <a:pt x="39142" y="131304"/>
                </a:cubicBezTo>
                <a:close/>
                <a:moveTo>
                  <a:pt x="35123" y="128290"/>
                </a:moveTo>
                <a:cubicBezTo>
                  <a:pt x="34863" y="128774"/>
                  <a:pt x="35235" y="129369"/>
                  <a:pt x="35979" y="129741"/>
                </a:cubicBezTo>
                <a:cubicBezTo>
                  <a:pt x="36575" y="130113"/>
                  <a:pt x="37319" y="130001"/>
                  <a:pt x="37579" y="129480"/>
                </a:cubicBezTo>
                <a:cubicBezTo>
                  <a:pt x="37840" y="128997"/>
                  <a:pt x="37467" y="128401"/>
                  <a:pt x="36723" y="128029"/>
                </a:cubicBezTo>
                <a:cubicBezTo>
                  <a:pt x="35979" y="127806"/>
                  <a:pt x="35384" y="127918"/>
                  <a:pt x="35123" y="128290"/>
                </a:cubicBezTo>
                <a:close/>
                <a:moveTo>
                  <a:pt x="47179" y="141536"/>
                </a:moveTo>
                <a:cubicBezTo>
                  <a:pt x="46583" y="142019"/>
                  <a:pt x="46806" y="143135"/>
                  <a:pt x="47662" y="143842"/>
                </a:cubicBezTo>
                <a:cubicBezTo>
                  <a:pt x="48518" y="144698"/>
                  <a:pt x="49597" y="144810"/>
                  <a:pt x="50081" y="144214"/>
                </a:cubicBezTo>
                <a:cubicBezTo>
                  <a:pt x="50564" y="143731"/>
                  <a:pt x="50341" y="142615"/>
                  <a:pt x="49597" y="141908"/>
                </a:cubicBezTo>
                <a:cubicBezTo>
                  <a:pt x="48778" y="141052"/>
                  <a:pt x="47662" y="140940"/>
                  <a:pt x="47179" y="141536"/>
                </a:cubicBezTo>
                <a:close/>
                <a:moveTo>
                  <a:pt x="42937" y="136066"/>
                </a:moveTo>
                <a:cubicBezTo>
                  <a:pt x="42342" y="136438"/>
                  <a:pt x="42342" y="137406"/>
                  <a:pt x="42937" y="138261"/>
                </a:cubicBezTo>
                <a:cubicBezTo>
                  <a:pt x="43532" y="139117"/>
                  <a:pt x="44537" y="139489"/>
                  <a:pt x="45021" y="139117"/>
                </a:cubicBezTo>
                <a:cubicBezTo>
                  <a:pt x="45616" y="138633"/>
                  <a:pt x="45616" y="137666"/>
                  <a:pt x="45021" y="136810"/>
                </a:cubicBezTo>
                <a:cubicBezTo>
                  <a:pt x="44500" y="135954"/>
                  <a:pt x="43532" y="135582"/>
                  <a:pt x="42937" y="136066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90600" y="2294890"/>
            <a:ext cx="1524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OpenAI Codex</a:t>
            </a:r>
            <a:endParaRPr lang="en-US" sz="15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990600" y="2571750"/>
            <a:ext cx="180213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</a:t>
            </a:r>
            <a:r>
              <a:rPr lang="en-US" sz="105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Copilot核心模型</a:t>
            </a:r>
            <a:endParaRPr lang="en-US" sz="105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19100" y="2838450"/>
            <a:ext cx="5410200" cy="342900"/>
          </a:xfrm>
          <a:custGeom>
            <a:avLst/>
            <a:gdLst/>
            <a:ahLst/>
            <a:cxnLst/>
            <a:rect l="l" t="t" r="r" b="b"/>
            <a:pathLst>
              <a:path w="5410200" h="342900">
                <a:moveTo>
                  <a:pt x="76199" y="0"/>
                </a:moveTo>
                <a:lnTo>
                  <a:pt x="5334001" y="0"/>
                </a:lnTo>
                <a:cubicBezTo>
                  <a:pt x="5376084" y="0"/>
                  <a:pt x="5410200" y="34116"/>
                  <a:pt x="5410200" y="76199"/>
                </a:cubicBezTo>
                <a:lnTo>
                  <a:pt x="5410200" y="266701"/>
                </a:lnTo>
                <a:cubicBezTo>
                  <a:pt x="5410200" y="308784"/>
                  <a:pt x="5376084" y="342900"/>
                  <a:pt x="53340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00000">
              <a:alpha val="15000"/>
            </a:srgbClr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76250" y="2874010"/>
            <a:ext cx="2019300" cy="2928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HumanEval pass@1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331470" y="2895600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28.8%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19100" y="3219450"/>
            <a:ext cx="5410200" cy="342900"/>
          </a:xfrm>
          <a:custGeom>
            <a:avLst/>
            <a:gdLst/>
            <a:ahLst/>
            <a:cxnLst/>
            <a:rect l="l" t="t" r="r" b="b"/>
            <a:pathLst>
              <a:path w="5410200" h="342900">
                <a:moveTo>
                  <a:pt x="76199" y="0"/>
                </a:moveTo>
                <a:lnTo>
                  <a:pt x="5334001" y="0"/>
                </a:lnTo>
                <a:cubicBezTo>
                  <a:pt x="5376084" y="0"/>
                  <a:pt x="5410200" y="34116"/>
                  <a:pt x="5410200" y="76199"/>
                </a:cubicBezTo>
                <a:lnTo>
                  <a:pt x="5410200" y="266701"/>
                </a:lnTo>
                <a:cubicBezTo>
                  <a:pt x="5410200" y="308784"/>
                  <a:pt x="5376084" y="342900"/>
                  <a:pt x="53340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00000">
              <a:alpha val="15000"/>
            </a:srgbClr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76250" y="3255010"/>
            <a:ext cx="1190625" cy="26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对比GPT-3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870549" y="3276600"/>
            <a:ext cx="981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0% → 28.8%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438150" y="3667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8A25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 20"/>
          <p:cNvSpPr/>
          <p:nvPr/>
        </p:nvSpPr>
        <p:spPr>
          <a:xfrm>
            <a:off x="619125" y="3600450"/>
            <a:ext cx="5276850" cy="219075"/>
          </a:xfrm>
          <a:prstGeom prst="rect">
            <a:avLst/>
          </a:prstGeom>
          <a:noFill/>
        </p:spPr>
        <p:txBody>
          <a:bodyPr wrap="square" lIns="0" tIns="3810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基于GPT架构，在 </a:t>
            </a: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179GB Python代码</a:t>
            </a: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上微调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Shape 21"/>
          <p:cNvSpPr/>
          <p:nvPr/>
        </p:nvSpPr>
        <p:spPr>
          <a:xfrm>
            <a:off x="6072188" y="2185988"/>
            <a:ext cx="5648325" cy="1752600"/>
          </a:xfrm>
          <a:custGeom>
            <a:avLst/>
            <a:gdLst/>
            <a:ahLst/>
            <a:cxnLst/>
            <a:rect l="l" t="t" r="r" b="b"/>
            <a:pathLst>
              <a:path w="5648325" h="1752600">
                <a:moveTo>
                  <a:pt x="114305" y="0"/>
                </a:moveTo>
                <a:lnTo>
                  <a:pt x="5534020" y="0"/>
                </a:lnTo>
                <a:cubicBezTo>
                  <a:pt x="5597149" y="0"/>
                  <a:pt x="5648325" y="51176"/>
                  <a:pt x="5648325" y="114305"/>
                </a:cubicBezTo>
                <a:lnTo>
                  <a:pt x="5648325" y="1638295"/>
                </a:lnTo>
                <a:cubicBezTo>
                  <a:pt x="5648325" y="1701424"/>
                  <a:pt x="5597149" y="1752600"/>
                  <a:pt x="5534020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Shape 22"/>
          <p:cNvSpPr/>
          <p:nvPr/>
        </p:nvSpPr>
        <p:spPr>
          <a:xfrm>
            <a:off x="6191250" y="2305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Shape 23"/>
          <p:cNvSpPr/>
          <p:nvPr/>
        </p:nvSpPr>
        <p:spPr>
          <a:xfrm>
            <a:off x="6324600" y="2438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 24"/>
          <p:cNvSpPr/>
          <p:nvPr/>
        </p:nvSpPr>
        <p:spPr>
          <a:xfrm>
            <a:off x="6762750" y="2294890"/>
            <a:ext cx="2295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DeepMind </a:t>
            </a:r>
            <a:r>
              <a:rPr lang="en-US" sz="1500"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AlphaCode</a:t>
            </a:r>
            <a:endParaRPr lang="en-US" sz="1500" b="1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 25"/>
          <p:cNvSpPr/>
          <p:nvPr/>
        </p:nvSpPr>
        <p:spPr>
          <a:xfrm>
            <a:off x="6762750" y="2571750"/>
            <a:ext cx="1895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编程竞赛级表现</a:t>
            </a:r>
            <a:endParaRPr lang="en-US" sz="105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7" name="Shape 26"/>
          <p:cNvSpPr/>
          <p:nvPr/>
        </p:nvSpPr>
        <p:spPr>
          <a:xfrm>
            <a:off x="6191250" y="2838450"/>
            <a:ext cx="5410200" cy="342900"/>
          </a:xfrm>
          <a:custGeom>
            <a:avLst/>
            <a:gdLst/>
            <a:ahLst/>
            <a:cxnLst/>
            <a:rect l="l" t="t" r="r" b="b"/>
            <a:pathLst>
              <a:path w="5410200" h="342900">
                <a:moveTo>
                  <a:pt x="76199" y="0"/>
                </a:moveTo>
                <a:lnTo>
                  <a:pt x="5334001" y="0"/>
                </a:lnTo>
                <a:cubicBezTo>
                  <a:pt x="5376084" y="0"/>
                  <a:pt x="5410200" y="34116"/>
                  <a:pt x="5410200" y="76199"/>
                </a:cubicBezTo>
                <a:lnTo>
                  <a:pt x="5410200" y="266701"/>
                </a:lnTo>
                <a:cubicBezTo>
                  <a:pt x="5410200" y="308784"/>
                  <a:pt x="5376084" y="342900"/>
                  <a:pt x="53340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00000">
              <a:alpha val="15000"/>
            </a:srgbClr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 27"/>
          <p:cNvSpPr/>
          <p:nvPr/>
        </p:nvSpPr>
        <p:spPr>
          <a:xfrm>
            <a:off x="6248400" y="2874010"/>
            <a:ext cx="847725" cy="2547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竞赛排名</a:t>
            </a:r>
            <a:endParaRPr lang="en-US" sz="160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10956875" y="2895600"/>
            <a:ext cx="666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前54.3%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Shape 29"/>
          <p:cNvSpPr/>
          <p:nvPr/>
        </p:nvSpPr>
        <p:spPr>
          <a:xfrm>
            <a:off x="6191250" y="3219450"/>
            <a:ext cx="5410200" cy="342900"/>
          </a:xfrm>
          <a:custGeom>
            <a:avLst/>
            <a:gdLst/>
            <a:ahLst/>
            <a:cxnLst/>
            <a:rect l="l" t="t" r="r" b="b"/>
            <a:pathLst>
              <a:path w="5410200" h="342900">
                <a:moveTo>
                  <a:pt x="76199" y="0"/>
                </a:moveTo>
                <a:lnTo>
                  <a:pt x="5334001" y="0"/>
                </a:lnTo>
                <a:cubicBezTo>
                  <a:pt x="5376084" y="0"/>
                  <a:pt x="5410200" y="34116"/>
                  <a:pt x="5410200" y="76199"/>
                </a:cubicBezTo>
                <a:lnTo>
                  <a:pt x="5410200" y="266701"/>
                </a:lnTo>
                <a:cubicBezTo>
                  <a:pt x="5410200" y="308784"/>
                  <a:pt x="5376084" y="342900"/>
                  <a:pt x="53340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00000">
              <a:alpha val="15000"/>
            </a:srgbClr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 30"/>
          <p:cNvSpPr/>
          <p:nvPr/>
        </p:nvSpPr>
        <p:spPr>
          <a:xfrm>
            <a:off x="6248400" y="3255010"/>
            <a:ext cx="1066800" cy="2524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解决问题数</a:t>
            </a:r>
            <a:endParaRPr lang="en-US" sz="160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 31"/>
          <p:cNvSpPr/>
          <p:nvPr/>
        </p:nvSpPr>
        <p:spPr>
          <a:xfrm>
            <a:off x="11173718" y="3276600"/>
            <a:ext cx="447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10/10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Shape 32"/>
          <p:cNvSpPr/>
          <p:nvPr/>
        </p:nvSpPr>
        <p:spPr>
          <a:xfrm>
            <a:off x="6210300" y="3667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6D8C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 33"/>
          <p:cNvSpPr/>
          <p:nvPr/>
        </p:nvSpPr>
        <p:spPr>
          <a:xfrm>
            <a:off x="6391275" y="3600450"/>
            <a:ext cx="5276850" cy="219075"/>
          </a:xfrm>
          <a:prstGeom prst="rect">
            <a:avLst/>
          </a:prstGeom>
          <a:noFill/>
        </p:spPr>
        <p:txBody>
          <a:bodyPr wrap="square" lIns="0" tIns="3810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在Codeforces竞赛中达到 </a:t>
            </a: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人类选手水平</a:t>
            </a:r>
            <a:endParaRPr lang="en-US" sz="10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Shape 34"/>
          <p:cNvSpPr/>
          <p:nvPr/>
        </p:nvSpPr>
        <p:spPr>
          <a:xfrm>
            <a:off x="300038" y="4064794"/>
            <a:ext cx="5648325" cy="1752600"/>
          </a:xfrm>
          <a:custGeom>
            <a:avLst/>
            <a:gdLst/>
            <a:ahLst/>
            <a:cxnLst/>
            <a:rect l="l" t="t" r="r" b="b"/>
            <a:pathLst>
              <a:path w="5648325" h="1752600">
                <a:moveTo>
                  <a:pt x="114305" y="0"/>
                </a:moveTo>
                <a:lnTo>
                  <a:pt x="5534020" y="0"/>
                </a:lnTo>
                <a:cubicBezTo>
                  <a:pt x="5597149" y="0"/>
                  <a:pt x="5648325" y="51176"/>
                  <a:pt x="5648325" y="114305"/>
                </a:cubicBezTo>
                <a:lnTo>
                  <a:pt x="5648325" y="1638295"/>
                </a:lnTo>
                <a:cubicBezTo>
                  <a:pt x="5648325" y="1701424"/>
                  <a:pt x="5597149" y="1752600"/>
                  <a:pt x="5534020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Shape 35"/>
          <p:cNvSpPr/>
          <p:nvPr/>
        </p:nvSpPr>
        <p:spPr>
          <a:xfrm>
            <a:off x="419100" y="418385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Shape 36"/>
          <p:cNvSpPr/>
          <p:nvPr/>
        </p:nvSpPr>
        <p:spPr>
          <a:xfrm>
            <a:off x="540544" y="431720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 37"/>
          <p:cNvSpPr/>
          <p:nvPr/>
        </p:nvSpPr>
        <p:spPr>
          <a:xfrm>
            <a:off x="990599" y="4173696"/>
            <a:ext cx="1952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500"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BigCode</a:t>
            </a:r>
            <a:r>
              <a:rPr lang="en-US" sz="15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StarCoder</a:t>
            </a:r>
            <a:endParaRPr lang="en-US" sz="1500" b="1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 38"/>
          <p:cNvSpPr/>
          <p:nvPr/>
        </p:nvSpPr>
        <p:spPr>
          <a:xfrm>
            <a:off x="990600" y="4450556"/>
            <a:ext cx="1657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开源模型领导者</a:t>
            </a:r>
            <a:endParaRPr lang="en-US" sz="105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Shape 39"/>
          <p:cNvSpPr/>
          <p:nvPr/>
        </p:nvSpPr>
        <p:spPr>
          <a:xfrm>
            <a:off x="419100" y="4717256"/>
            <a:ext cx="5410200" cy="342900"/>
          </a:xfrm>
          <a:custGeom>
            <a:avLst/>
            <a:gdLst/>
            <a:ahLst/>
            <a:cxnLst/>
            <a:rect l="l" t="t" r="r" b="b"/>
            <a:pathLst>
              <a:path w="5410200" h="342900">
                <a:moveTo>
                  <a:pt x="76199" y="0"/>
                </a:moveTo>
                <a:lnTo>
                  <a:pt x="5334001" y="0"/>
                </a:lnTo>
                <a:cubicBezTo>
                  <a:pt x="5376084" y="0"/>
                  <a:pt x="5410200" y="34116"/>
                  <a:pt x="5410200" y="76199"/>
                </a:cubicBezTo>
                <a:lnTo>
                  <a:pt x="5410200" y="266701"/>
                </a:lnTo>
                <a:cubicBezTo>
                  <a:pt x="5410200" y="308784"/>
                  <a:pt x="5376084" y="342900"/>
                  <a:pt x="53340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00000">
              <a:alpha val="15000"/>
            </a:srgbClr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 40"/>
          <p:cNvSpPr/>
          <p:nvPr/>
        </p:nvSpPr>
        <p:spPr>
          <a:xfrm>
            <a:off x="476250" y="4752815"/>
            <a:ext cx="962025" cy="2619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支持语言</a:t>
            </a:r>
            <a:endParaRPr lang="en-US" sz="160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 41"/>
          <p:cNvSpPr/>
          <p:nvPr/>
        </p:nvSpPr>
        <p:spPr>
          <a:xfrm>
            <a:off x="5489823" y="4774406"/>
            <a:ext cx="361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80+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Shape 42"/>
          <p:cNvSpPr/>
          <p:nvPr/>
        </p:nvSpPr>
        <p:spPr>
          <a:xfrm>
            <a:off x="419100" y="5098256"/>
            <a:ext cx="5410200" cy="342900"/>
          </a:xfrm>
          <a:custGeom>
            <a:avLst/>
            <a:gdLst/>
            <a:ahLst/>
            <a:cxnLst/>
            <a:rect l="l" t="t" r="r" b="b"/>
            <a:pathLst>
              <a:path w="5410200" h="342900">
                <a:moveTo>
                  <a:pt x="76199" y="0"/>
                </a:moveTo>
                <a:lnTo>
                  <a:pt x="5334001" y="0"/>
                </a:lnTo>
                <a:cubicBezTo>
                  <a:pt x="5376084" y="0"/>
                  <a:pt x="5410200" y="34116"/>
                  <a:pt x="5410200" y="76199"/>
                </a:cubicBezTo>
                <a:lnTo>
                  <a:pt x="5410200" y="266701"/>
                </a:lnTo>
                <a:cubicBezTo>
                  <a:pt x="5410200" y="308784"/>
                  <a:pt x="5376084" y="342900"/>
                  <a:pt x="53340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00000">
              <a:alpha val="15000"/>
            </a:srgbClr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 43"/>
          <p:cNvSpPr/>
          <p:nvPr/>
        </p:nvSpPr>
        <p:spPr>
          <a:xfrm>
            <a:off x="476250" y="5133816"/>
            <a:ext cx="11906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HumanEval</a:t>
            </a:r>
            <a:endParaRPr lang="en-US" sz="160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 44"/>
          <p:cNvSpPr/>
          <p:nvPr/>
        </p:nvSpPr>
        <p:spPr>
          <a:xfrm>
            <a:off x="5162550" y="5155406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领先开源</a:t>
            </a:r>
            <a:endParaRPr lang="en-US" sz="12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Shape 45"/>
          <p:cNvSpPr/>
          <p:nvPr/>
        </p:nvSpPr>
        <p:spPr>
          <a:xfrm>
            <a:off x="438150" y="554593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F6B7A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 46"/>
          <p:cNvSpPr/>
          <p:nvPr/>
        </p:nvSpPr>
        <p:spPr>
          <a:xfrm>
            <a:off x="619125" y="5479256"/>
            <a:ext cx="5276850" cy="219075"/>
          </a:xfrm>
          <a:prstGeom prst="rect">
            <a:avLst/>
          </a:prstGeom>
          <a:noFill/>
        </p:spPr>
        <p:txBody>
          <a:bodyPr wrap="square" lIns="0" tIns="3810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由Hugging Face等推出，注重 </a:t>
            </a: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开放与协作</a:t>
            </a:r>
            <a:endParaRPr lang="en-US" sz="10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Shape 47"/>
          <p:cNvSpPr/>
          <p:nvPr/>
        </p:nvSpPr>
        <p:spPr>
          <a:xfrm>
            <a:off x="6072188" y="4064794"/>
            <a:ext cx="5648325" cy="1752600"/>
          </a:xfrm>
          <a:custGeom>
            <a:avLst/>
            <a:gdLst/>
            <a:ahLst/>
            <a:cxnLst/>
            <a:rect l="l" t="t" r="r" b="b"/>
            <a:pathLst>
              <a:path w="5648325" h="1752600">
                <a:moveTo>
                  <a:pt x="114305" y="0"/>
                </a:moveTo>
                <a:lnTo>
                  <a:pt x="5534020" y="0"/>
                </a:lnTo>
                <a:cubicBezTo>
                  <a:pt x="5597149" y="0"/>
                  <a:pt x="5648325" y="51176"/>
                  <a:pt x="5648325" y="114305"/>
                </a:cubicBezTo>
                <a:lnTo>
                  <a:pt x="5648325" y="1638295"/>
                </a:lnTo>
                <a:cubicBezTo>
                  <a:pt x="5648325" y="1701424"/>
                  <a:pt x="5597149" y="1752600"/>
                  <a:pt x="5534020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Shape 48"/>
          <p:cNvSpPr/>
          <p:nvPr/>
        </p:nvSpPr>
        <p:spPr>
          <a:xfrm>
            <a:off x="6191250" y="418385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6312694" y="431720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 50"/>
          <p:cNvSpPr/>
          <p:nvPr/>
        </p:nvSpPr>
        <p:spPr>
          <a:xfrm>
            <a:off x="6762749" y="4173696"/>
            <a:ext cx="1209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500"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CodeLlama</a:t>
            </a:r>
            <a:endParaRPr lang="en-US" sz="1500" b="1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 51"/>
          <p:cNvSpPr/>
          <p:nvPr/>
        </p:nvSpPr>
        <p:spPr>
          <a:xfrm>
            <a:off x="6762750" y="4450556"/>
            <a:ext cx="1009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Meta开源力作</a:t>
            </a:r>
            <a:endParaRPr lang="en-US" sz="105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Shape 52"/>
          <p:cNvSpPr/>
          <p:nvPr/>
        </p:nvSpPr>
        <p:spPr>
          <a:xfrm>
            <a:off x="6191250" y="4717256"/>
            <a:ext cx="5410200" cy="342900"/>
          </a:xfrm>
          <a:custGeom>
            <a:avLst/>
            <a:gdLst/>
            <a:ahLst/>
            <a:cxnLst/>
            <a:rect l="l" t="t" r="r" b="b"/>
            <a:pathLst>
              <a:path w="5410200" h="342900">
                <a:moveTo>
                  <a:pt x="76199" y="0"/>
                </a:moveTo>
                <a:lnTo>
                  <a:pt x="5334001" y="0"/>
                </a:lnTo>
                <a:cubicBezTo>
                  <a:pt x="5376084" y="0"/>
                  <a:pt x="5410200" y="34116"/>
                  <a:pt x="5410200" y="76199"/>
                </a:cubicBezTo>
                <a:lnTo>
                  <a:pt x="5410200" y="266701"/>
                </a:lnTo>
                <a:cubicBezTo>
                  <a:pt x="5410200" y="308784"/>
                  <a:pt x="5376084" y="342900"/>
                  <a:pt x="53340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00000">
              <a:alpha val="15000"/>
            </a:srgbClr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 53"/>
          <p:cNvSpPr/>
          <p:nvPr/>
        </p:nvSpPr>
        <p:spPr>
          <a:xfrm>
            <a:off x="6248400" y="4679315"/>
            <a:ext cx="2560955" cy="354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HumanEval pass@1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 54"/>
          <p:cNvSpPr/>
          <p:nvPr/>
        </p:nvSpPr>
        <p:spPr>
          <a:xfrm>
            <a:off x="11119693" y="4774406"/>
            <a:ext cx="504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53.7%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Shape 55"/>
          <p:cNvSpPr/>
          <p:nvPr/>
        </p:nvSpPr>
        <p:spPr>
          <a:xfrm>
            <a:off x="6191250" y="5098256"/>
            <a:ext cx="5410200" cy="342900"/>
          </a:xfrm>
          <a:custGeom>
            <a:avLst/>
            <a:gdLst/>
            <a:ahLst/>
            <a:cxnLst/>
            <a:rect l="l" t="t" r="r" b="b"/>
            <a:pathLst>
              <a:path w="5410200" h="342900">
                <a:moveTo>
                  <a:pt x="76199" y="0"/>
                </a:moveTo>
                <a:lnTo>
                  <a:pt x="5334001" y="0"/>
                </a:lnTo>
                <a:cubicBezTo>
                  <a:pt x="5376084" y="0"/>
                  <a:pt x="5410200" y="34116"/>
                  <a:pt x="5410200" y="76199"/>
                </a:cubicBezTo>
                <a:lnTo>
                  <a:pt x="5410200" y="266701"/>
                </a:lnTo>
                <a:cubicBezTo>
                  <a:pt x="5410200" y="308784"/>
                  <a:pt x="5376084" y="342900"/>
                  <a:pt x="53340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00000">
              <a:alpha val="15000"/>
            </a:srgbClr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 56"/>
          <p:cNvSpPr/>
          <p:nvPr/>
        </p:nvSpPr>
        <p:spPr>
          <a:xfrm>
            <a:off x="6248400" y="5133816"/>
            <a:ext cx="7334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参数量</a:t>
            </a:r>
            <a:endParaRPr lang="en-US" sz="160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Text 57"/>
          <p:cNvSpPr/>
          <p:nvPr/>
        </p:nvSpPr>
        <p:spPr>
          <a:xfrm>
            <a:off x="10582276" y="5155406"/>
            <a:ext cx="1038076" cy="242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7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B/13B/34B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Shape 58"/>
          <p:cNvSpPr/>
          <p:nvPr/>
        </p:nvSpPr>
        <p:spPr>
          <a:xfrm>
            <a:off x="6210300" y="554593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8A25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Text 59"/>
          <p:cNvSpPr/>
          <p:nvPr/>
        </p:nvSpPr>
        <p:spPr>
          <a:xfrm>
            <a:off x="6391275" y="5479256"/>
            <a:ext cx="5276850" cy="219075"/>
          </a:xfrm>
          <a:prstGeom prst="rect">
            <a:avLst/>
          </a:prstGeom>
          <a:noFill/>
        </p:spPr>
        <p:txBody>
          <a:bodyPr wrap="square" lIns="0" tIns="3810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基于LLaMA 2，在 </a:t>
            </a:r>
            <a:r>
              <a:rPr 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500B+代码token</a:t>
            </a:r>
            <a:r>
              <a:rPr lang="en-US" sz="105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上训练</a:t>
            </a:r>
            <a:endParaRPr lang="en-US" sz="105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Shape 60"/>
          <p:cNvSpPr/>
          <p:nvPr/>
        </p:nvSpPr>
        <p:spPr>
          <a:xfrm>
            <a:off x="300038" y="5905500"/>
            <a:ext cx="11420475" cy="390525"/>
          </a:xfrm>
          <a:custGeom>
            <a:avLst/>
            <a:gdLst/>
            <a:ahLst/>
            <a:cxnLst/>
            <a:rect l="l" t="t" r="r" b="b"/>
            <a:pathLst>
              <a:path w="11420475" h="390525">
                <a:moveTo>
                  <a:pt x="76199" y="0"/>
                </a:moveTo>
                <a:lnTo>
                  <a:pt x="11344276" y="0"/>
                </a:lnTo>
                <a:cubicBezTo>
                  <a:pt x="11386359" y="0"/>
                  <a:pt x="11420475" y="34116"/>
                  <a:pt x="11420475" y="76199"/>
                </a:cubicBezTo>
                <a:lnTo>
                  <a:pt x="11420475" y="314326"/>
                </a:lnTo>
                <a:cubicBezTo>
                  <a:pt x="11420475" y="356409"/>
                  <a:pt x="11386359" y="390525"/>
                  <a:pt x="113442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Shape 61"/>
          <p:cNvSpPr/>
          <p:nvPr/>
        </p:nvSpPr>
        <p:spPr>
          <a:xfrm>
            <a:off x="426244" y="601503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 62"/>
          <p:cNvSpPr/>
          <p:nvPr/>
        </p:nvSpPr>
        <p:spPr>
          <a:xfrm>
            <a:off x="709613" y="5874703"/>
            <a:ext cx="6386512" cy="3976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关键趋势：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闭源模型性能领先，但开源模型快速追赶，技术民主化加速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 63"/>
          <p:cNvSpPr/>
          <p:nvPr/>
        </p:nvSpPr>
        <p:spPr>
          <a:xfrm>
            <a:off x="10324465" y="5986780"/>
            <a:ext cx="138874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Open + Closed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 userDrawn="1"/>
        </p:nvPicPr>
        <p:blipFill>
          <a:blip r:embed="rId3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/>
          <p:cNvSpPr/>
          <p:nvPr/>
        </p:nvSpPr>
        <p:spPr>
          <a:xfrm>
            <a:off x="368309" y="468355"/>
            <a:ext cx="11606482" cy="37775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US" sz="3200" b="1" dirty="0" err="1">
                <a:latin typeface="Noto Sans SC" panose="020B0200000000000000" charset="-122"/>
                <a:ea typeface="Noto Sans SC" panose="020B0200000000000000" charset="-122"/>
              </a:rPr>
              <a:t>技术演进：从符号方法到现代大模型</a:t>
            </a:r>
            <a:endParaRPr lang="en-US" sz="3200" b="1" dirty="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31686" y="1259612"/>
            <a:ext cx="18888" cy="4797472"/>
          </a:xfrm>
          <a:custGeom>
            <a:avLst/>
            <a:gdLst/>
            <a:ahLst/>
            <a:cxnLst/>
            <a:rect l="l" t="t" r="r" b="b"/>
            <a:pathLst>
              <a:path w="18888" h="4797472">
                <a:moveTo>
                  <a:pt x="0" y="0"/>
                </a:moveTo>
                <a:lnTo>
                  <a:pt x="18888" y="0"/>
                </a:lnTo>
                <a:lnTo>
                  <a:pt x="18888" y="4797472"/>
                </a:lnTo>
                <a:lnTo>
                  <a:pt x="0" y="4797472"/>
                </a:lnTo>
                <a:lnTo>
                  <a:pt x="0" y="0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6" name="Shape 4"/>
          <p:cNvSpPr/>
          <p:nvPr/>
        </p:nvSpPr>
        <p:spPr>
          <a:xfrm>
            <a:off x="351704" y="1316275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94438" y="0"/>
                </a:moveTo>
                <a:lnTo>
                  <a:pt x="94438" y="0"/>
                </a:lnTo>
                <a:cubicBezTo>
                  <a:pt x="146595" y="0"/>
                  <a:pt x="188877" y="42282"/>
                  <a:pt x="188877" y="94438"/>
                </a:cubicBezTo>
                <a:lnTo>
                  <a:pt x="188877" y="94438"/>
                </a:lnTo>
                <a:cubicBezTo>
                  <a:pt x="188877" y="146595"/>
                  <a:pt x="146595" y="188877"/>
                  <a:pt x="94438" y="188877"/>
                </a:cubicBezTo>
                <a:lnTo>
                  <a:pt x="94438" y="188877"/>
                </a:lnTo>
                <a:cubicBezTo>
                  <a:pt x="42282" y="188877"/>
                  <a:pt x="0" y="146595"/>
                  <a:pt x="0" y="94438"/>
                </a:cubicBezTo>
                <a:lnTo>
                  <a:pt x="0" y="94438"/>
                </a:lnTo>
                <a:cubicBezTo>
                  <a:pt x="0" y="42282"/>
                  <a:pt x="42282" y="0"/>
                  <a:pt x="94438" y="0"/>
                </a:cubicBezTo>
                <a:close/>
              </a:path>
            </a:pathLst>
          </a:custGeom>
          <a:solidFill>
            <a:srgbClr val="B10015"/>
          </a:solidFill>
          <a:ln w="50800">
            <a:solidFill>
              <a:srgbClr val="1A1D24"/>
            </a:solidFill>
            <a:prstDash val="solid"/>
          </a:ln>
        </p:spPr>
      </p:sp>
      <p:sp>
        <p:nvSpPr>
          <p:cNvPr id="2" name="Shape 5"/>
          <p:cNvSpPr/>
          <p:nvPr/>
        </p:nvSpPr>
        <p:spPr>
          <a:xfrm>
            <a:off x="408367" y="1372938"/>
            <a:ext cx="75551" cy="75551"/>
          </a:xfrm>
          <a:custGeom>
            <a:avLst/>
            <a:gdLst/>
            <a:ahLst/>
            <a:cxnLst/>
            <a:rect l="l" t="t" r="r" b="b"/>
            <a:pathLst>
              <a:path w="75551" h="75551">
                <a:moveTo>
                  <a:pt x="37775" y="0"/>
                </a:moveTo>
                <a:lnTo>
                  <a:pt x="37775" y="0"/>
                </a:lnTo>
                <a:cubicBezTo>
                  <a:pt x="58638" y="0"/>
                  <a:pt x="75551" y="16913"/>
                  <a:pt x="75551" y="37775"/>
                </a:cubicBezTo>
                <a:lnTo>
                  <a:pt x="75551" y="37775"/>
                </a:lnTo>
                <a:cubicBezTo>
                  <a:pt x="75551" y="58638"/>
                  <a:pt x="58638" y="75551"/>
                  <a:pt x="37775" y="75551"/>
                </a:cubicBezTo>
                <a:lnTo>
                  <a:pt x="37775" y="75551"/>
                </a:lnTo>
                <a:cubicBezTo>
                  <a:pt x="16913" y="75551"/>
                  <a:pt x="0" y="58638"/>
                  <a:pt x="0" y="37775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" name="Shape 6"/>
          <p:cNvSpPr/>
          <p:nvPr/>
        </p:nvSpPr>
        <p:spPr>
          <a:xfrm>
            <a:off x="663060" y="1264334"/>
            <a:ext cx="10973744" cy="1171036"/>
          </a:xfrm>
          <a:custGeom>
            <a:avLst/>
            <a:gdLst/>
            <a:ahLst/>
            <a:cxnLst/>
            <a:rect l="l" t="t" r="r" b="b"/>
            <a:pathLst>
              <a:path w="10973744" h="1171036">
                <a:moveTo>
                  <a:pt x="113321" y="0"/>
                </a:moveTo>
                <a:lnTo>
                  <a:pt x="10860423" y="0"/>
                </a:lnTo>
                <a:cubicBezTo>
                  <a:pt x="10923009" y="0"/>
                  <a:pt x="10973744" y="50736"/>
                  <a:pt x="10973744" y="113321"/>
                </a:cubicBezTo>
                <a:lnTo>
                  <a:pt x="10973744" y="1057715"/>
                </a:lnTo>
                <a:cubicBezTo>
                  <a:pt x="10973744" y="1120301"/>
                  <a:pt x="10923009" y="1171036"/>
                  <a:pt x="10860423" y="1171036"/>
                </a:cubicBezTo>
                <a:lnTo>
                  <a:pt x="113321" y="1171036"/>
                </a:lnTo>
                <a:cubicBezTo>
                  <a:pt x="50736" y="1171036"/>
                  <a:pt x="0" y="1120301"/>
                  <a:pt x="0" y="1057715"/>
                </a:cubicBezTo>
                <a:lnTo>
                  <a:pt x="0" y="113321"/>
                </a:lnTo>
                <a:cubicBezTo>
                  <a:pt x="0" y="50778"/>
                  <a:pt x="50778" y="0"/>
                  <a:pt x="113321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108" y="1382382"/>
            <a:ext cx="1029379" cy="264428"/>
          </a:xfrm>
          <a:custGeom>
            <a:avLst/>
            <a:gdLst/>
            <a:ahLst/>
            <a:cxnLst/>
            <a:rect l="l" t="t" r="r" b="b"/>
            <a:pathLst>
              <a:path w="1029379" h="264428">
                <a:moveTo>
                  <a:pt x="132214" y="0"/>
                </a:moveTo>
                <a:lnTo>
                  <a:pt x="897165" y="0"/>
                </a:lnTo>
                <a:cubicBezTo>
                  <a:pt x="970185" y="0"/>
                  <a:pt x="1029379" y="59194"/>
                  <a:pt x="1029379" y="132214"/>
                </a:cubicBezTo>
                <a:lnTo>
                  <a:pt x="1029379" y="132214"/>
                </a:lnTo>
                <a:cubicBezTo>
                  <a:pt x="1029379" y="205233"/>
                  <a:pt x="970185" y="264428"/>
                  <a:pt x="897165" y="264428"/>
                </a:cubicBezTo>
                <a:lnTo>
                  <a:pt x="132214" y="264428"/>
                </a:lnTo>
                <a:cubicBezTo>
                  <a:pt x="59243" y="264428"/>
                  <a:pt x="0" y="205185"/>
                  <a:pt x="0" y="132214"/>
                </a:cubicBezTo>
                <a:lnTo>
                  <a:pt x="0" y="132214"/>
                </a:lnTo>
                <a:cubicBezTo>
                  <a:pt x="0" y="59243"/>
                  <a:pt x="59243" y="0"/>
                  <a:pt x="132214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89610" y="1382395"/>
            <a:ext cx="1236980" cy="264160"/>
          </a:xfrm>
          <a:prstGeom prst="rect">
            <a:avLst/>
          </a:prstGeom>
          <a:noFill/>
        </p:spPr>
        <p:txBody>
          <a:bodyPr wrap="square" lIns="113326" tIns="37775" rIns="113326" bIns="37775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1960s-2000s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920875" y="1382395"/>
            <a:ext cx="1652905" cy="264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早期符号方法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81108" y="1722360"/>
            <a:ext cx="188877" cy="151101"/>
          </a:xfrm>
          <a:custGeom>
            <a:avLst/>
            <a:gdLst/>
            <a:ahLst/>
            <a:cxnLst/>
            <a:rect l="l" t="t" r="r" b="b"/>
            <a:pathLst>
              <a:path w="188877" h="151101">
                <a:moveTo>
                  <a:pt x="122740" y="62123"/>
                </a:moveTo>
                <a:cubicBezTo>
                  <a:pt x="126341" y="61149"/>
                  <a:pt x="130118" y="62861"/>
                  <a:pt x="131742" y="66195"/>
                </a:cubicBezTo>
                <a:lnTo>
                  <a:pt x="137231" y="77292"/>
                </a:lnTo>
                <a:cubicBezTo>
                  <a:pt x="140271" y="77705"/>
                  <a:pt x="143251" y="78531"/>
                  <a:pt x="146055" y="79682"/>
                </a:cubicBezTo>
                <a:lnTo>
                  <a:pt x="156384" y="72806"/>
                </a:lnTo>
                <a:cubicBezTo>
                  <a:pt x="159483" y="70740"/>
                  <a:pt x="163585" y="71153"/>
                  <a:pt x="166212" y="73780"/>
                </a:cubicBezTo>
                <a:lnTo>
                  <a:pt x="171878" y="79446"/>
                </a:lnTo>
                <a:cubicBezTo>
                  <a:pt x="174504" y="82073"/>
                  <a:pt x="174918" y="86205"/>
                  <a:pt x="172852" y="89274"/>
                </a:cubicBezTo>
                <a:lnTo>
                  <a:pt x="165976" y="99574"/>
                </a:lnTo>
                <a:cubicBezTo>
                  <a:pt x="166536" y="100961"/>
                  <a:pt x="167038" y="102407"/>
                  <a:pt x="167451" y="103912"/>
                </a:cubicBezTo>
                <a:cubicBezTo>
                  <a:pt x="167864" y="105417"/>
                  <a:pt x="168130" y="106892"/>
                  <a:pt x="168336" y="108398"/>
                </a:cubicBezTo>
                <a:lnTo>
                  <a:pt x="179463" y="113887"/>
                </a:lnTo>
                <a:cubicBezTo>
                  <a:pt x="182797" y="115540"/>
                  <a:pt x="184509" y="119317"/>
                  <a:pt x="183535" y="122888"/>
                </a:cubicBezTo>
                <a:lnTo>
                  <a:pt x="181469" y="130620"/>
                </a:lnTo>
                <a:cubicBezTo>
                  <a:pt x="180495" y="134191"/>
                  <a:pt x="177161" y="136611"/>
                  <a:pt x="173442" y="136375"/>
                </a:cubicBezTo>
                <a:lnTo>
                  <a:pt x="161047" y="135578"/>
                </a:lnTo>
                <a:cubicBezTo>
                  <a:pt x="159188" y="137969"/>
                  <a:pt x="157033" y="140182"/>
                  <a:pt x="154584" y="142071"/>
                </a:cubicBezTo>
                <a:lnTo>
                  <a:pt x="155381" y="154436"/>
                </a:lnTo>
                <a:cubicBezTo>
                  <a:pt x="155617" y="158155"/>
                  <a:pt x="153197" y="161519"/>
                  <a:pt x="149626" y="162464"/>
                </a:cubicBezTo>
                <a:lnTo>
                  <a:pt x="141894" y="164529"/>
                </a:lnTo>
                <a:cubicBezTo>
                  <a:pt x="138293" y="165503"/>
                  <a:pt x="134545" y="163792"/>
                  <a:pt x="132893" y="160457"/>
                </a:cubicBezTo>
                <a:lnTo>
                  <a:pt x="127403" y="149360"/>
                </a:lnTo>
                <a:cubicBezTo>
                  <a:pt x="124364" y="148947"/>
                  <a:pt x="121383" y="148121"/>
                  <a:pt x="118579" y="146970"/>
                </a:cubicBezTo>
                <a:lnTo>
                  <a:pt x="108250" y="153846"/>
                </a:lnTo>
                <a:cubicBezTo>
                  <a:pt x="105151" y="155912"/>
                  <a:pt x="101049" y="155499"/>
                  <a:pt x="98423" y="152872"/>
                </a:cubicBezTo>
                <a:lnTo>
                  <a:pt x="92756" y="147206"/>
                </a:lnTo>
                <a:cubicBezTo>
                  <a:pt x="90130" y="144579"/>
                  <a:pt x="89716" y="140477"/>
                  <a:pt x="91782" y="137378"/>
                </a:cubicBezTo>
                <a:lnTo>
                  <a:pt x="98659" y="127049"/>
                </a:lnTo>
                <a:cubicBezTo>
                  <a:pt x="98098" y="125662"/>
                  <a:pt x="97596" y="124216"/>
                  <a:pt x="97183" y="122711"/>
                </a:cubicBezTo>
                <a:cubicBezTo>
                  <a:pt x="96770" y="121206"/>
                  <a:pt x="96504" y="119701"/>
                  <a:pt x="96298" y="118225"/>
                </a:cubicBezTo>
                <a:lnTo>
                  <a:pt x="85172" y="112736"/>
                </a:lnTo>
                <a:cubicBezTo>
                  <a:pt x="81837" y="111083"/>
                  <a:pt x="80155" y="107306"/>
                  <a:pt x="81099" y="103735"/>
                </a:cubicBezTo>
                <a:lnTo>
                  <a:pt x="83165" y="96003"/>
                </a:lnTo>
                <a:cubicBezTo>
                  <a:pt x="84139" y="92432"/>
                  <a:pt x="87474" y="90012"/>
                  <a:pt x="91192" y="90248"/>
                </a:cubicBezTo>
                <a:lnTo>
                  <a:pt x="103558" y="91045"/>
                </a:lnTo>
                <a:cubicBezTo>
                  <a:pt x="105417" y="88654"/>
                  <a:pt x="107571" y="86441"/>
                  <a:pt x="110021" y="84552"/>
                </a:cubicBezTo>
                <a:lnTo>
                  <a:pt x="109224" y="72216"/>
                </a:lnTo>
                <a:cubicBezTo>
                  <a:pt x="108988" y="68497"/>
                  <a:pt x="111408" y="65133"/>
                  <a:pt x="114979" y="64189"/>
                </a:cubicBezTo>
                <a:lnTo>
                  <a:pt x="122711" y="62123"/>
                </a:lnTo>
                <a:close/>
                <a:moveTo>
                  <a:pt x="132332" y="100341"/>
                </a:moveTo>
                <a:cubicBezTo>
                  <a:pt x="125165" y="100349"/>
                  <a:pt x="119353" y="106174"/>
                  <a:pt x="119361" y="113341"/>
                </a:cubicBezTo>
                <a:cubicBezTo>
                  <a:pt x="119369" y="120508"/>
                  <a:pt x="125195" y="126320"/>
                  <a:pt x="132361" y="126311"/>
                </a:cubicBezTo>
                <a:cubicBezTo>
                  <a:pt x="139528" y="126303"/>
                  <a:pt x="145340" y="120478"/>
                  <a:pt x="145332" y="113311"/>
                </a:cubicBezTo>
                <a:cubicBezTo>
                  <a:pt x="145324" y="106145"/>
                  <a:pt x="139499" y="100333"/>
                  <a:pt x="132332" y="100341"/>
                </a:cubicBezTo>
                <a:close/>
                <a:moveTo>
                  <a:pt x="66373" y="-13428"/>
                </a:moveTo>
                <a:lnTo>
                  <a:pt x="74105" y="-11362"/>
                </a:lnTo>
                <a:cubicBezTo>
                  <a:pt x="77676" y="-10388"/>
                  <a:pt x="80096" y="-7024"/>
                  <a:pt x="79859" y="-3335"/>
                </a:cubicBezTo>
                <a:lnTo>
                  <a:pt x="79063" y="9001"/>
                </a:lnTo>
                <a:cubicBezTo>
                  <a:pt x="81512" y="10890"/>
                  <a:pt x="83667" y="13074"/>
                  <a:pt x="85526" y="15494"/>
                </a:cubicBezTo>
                <a:lnTo>
                  <a:pt x="97921" y="14697"/>
                </a:lnTo>
                <a:cubicBezTo>
                  <a:pt x="101610" y="14461"/>
                  <a:pt x="104974" y="16881"/>
                  <a:pt x="105948" y="20452"/>
                </a:cubicBezTo>
                <a:lnTo>
                  <a:pt x="108014" y="28184"/>
                </a:lnTo>
                <a:cubicBezTo>
                  <a:pt x="108958" y="31755"/>
                  <a:pt x="107276" y="35532"/>
                  <a:pt x="103941" y="37185"/>
                </a:cubicBezTo>
                <a:lnTo>
                  <a:pt x="92815" y="42674"/>
                </a:lnTo>
                <a:cubicBezTo>
                  <a:pt x="92609" y="44179"/>
                  <a:pt x="92314" y="45685"/>
                  <a:pt x="91930" y="47160"/>
                </a:cubicBezTo>
                <a:cubicBezTo>
                  <a:pt x="91546" y="48636"/>
                  <a:pt x="91015" y="50111"/>
                  <a:pt x="90454" y="51498"/>
                </a:cubicBezTo>
                <a:lnTo>
                  <a:pt x="97331" y="61828"/>
                </a:lnTo>
                <a:cubicBezTo>
                  <a:pt x="99396" y="64926"/>
                  <a:pt x="98983" y="69029"/>
                  <a:pt x="96357" y="71655"/>
                </a:cubicBezTo>
                <a:lnTo>
                  <a:pt x="90690" y="77321"/>
                </a:lnTo>
                <a:cubicBezTo>
                  <a:pt x="88064" y="79948"/>
                  <a:pt x="83962" y="80361"/>
                  <a:pt x="80863" y="78295"/>
                </a:cubicBezTo>
                <a:lnTo>
                  <a:pt x="70534" y="71419"/>
                </a:lnTo>
                <a:cubicBezTo>
                  <a:pt x="67730" y="72570"/>
                  <a:pt x="64749" y="73396"/>
                  <a:pt x="61710" y="73810"/>
                </a:cubicBezTo>
                <a:lnTo>
                  <a:pt x="56220" y="84906"/>
                </a:lnTo>
                <a:cubicBezTo>
                  <a:pt x="54568" y="88241"/>
                  <a:pt x="50790" y="89923"/>
                  <a:pt x="47219" y="88979"/>
                </a:cubicBezTo>
                <a:lnTo>
                  <a:pt x="39487" y="86913"/>
                </a:lnTo>
                <a:cubicBezTo>
                  <a:pt x="35887" y="85939"/>
                  <a:pt x="33496" y="82575"/>
                  <a:pt x="33732" y="78886"/>
                </a:cubicBezTo>
                <a:lnTo>
                  <a:pt x="34529" y="66520"/>
                </a:lnTo>
                <a:cubicBezTo>
                  <a:pt x="32080" y="64631"/>
                  <a:pt x="29925" y="62447"/>
                  <a:pt x="28066" y="60027"/>
                </a:cubicBezTo>
                <a:lnTo>
                  <a:pt x="15671" y="60824"/>
                </a:lnTo>
                <a:cubicBezTo>
                  <a:pt x="11982" y="61060"/>
                  <a:pt x="8618" y="58640"/>
                  <a:pt x="7644" y="55069"/>
                </a:cubicBezTo>
                <a:lnTo>
                  <a:pt x="5578" y="47337"/>
                </a:lnTo>
                <a:cubicBezTo>
                  <a:pt x="4633" y="43766"/>
                  <a:pt x="6316" y="39989"/>
                  <a:pt x="9650" y="38336"/>
                </a:cubicBezTo>
                <a:lnTo>
                  <a:pt x="20776" y="32847"/>
                </a:lnTo>
                <a:cubicBezTo>
                  <a:pt x="20983" y="31342"/>
                  <a:pt x="21278" y="29866"/>
                  <a:pt x="21662" y="28361"/>
                </a:cubicBezTo>
                <a:cubicBezTo>
                  <a:pt x="22075" y="26856"/>
                  <a:pt x="22547" y="25410"/>
                  <a:pt x="23137" y="24023"/>
                </a:cubicBezTo>
                <a:lnTo>
                  <a:pt x="16261" y="13723"/>
                </a:lnTo>
                <a:cubicBezTo>
                  <a:pt x="14195" y="10624"/>
                  <a:pt x="14608" y="6522"/>
                  <a:pt x="17235" y="3896"/>
                </a:cubicBezTo>
                <a:lnTo>
                  <a:pt x="22901" y="-1771"/>
                </a:lnTo>
                <a:cubicBezTo>
                  <a:pt x="25528" y="-4397"/>
                  <a:pt x="29630" y="-4810"/>
                  <a:pt x="32729" y="-2745"/>
                </a:cubicBezTo>
                <a:lnTo>
                  <a:pt x="43058" y="4132"/>
                </a:lnTo>
                <a:cubicBezTo>
                  <a:pt x="45862" y="2981"/>
                  <a:pt x="48842" y="2154"/>
                  <a:pt x="51882" y="1741"/>
                </a:cubicBezTo>
                <a:lnTo>
                  <a:pt x="57371" y="-9355"/>
                </a:lnTo>
                <a:cubicBezTo>
                  <a:pt x="59024" y="-12690"/>
                  <a:pt x="62772" y="-14372"/>
                  <a:pt x="66373" y="-13428"/>
                </a:cubicBezTo>
                <a:close/>
                <a:moveTo>
                  <a:pt x="56781" y="24790"/>
                </a:moveTo>
                <a:cubicBezTo>
                  <a:pt x="49614" y="24790"/>
                  <a:pt x="43796" y="30609"/>
                  <a:pt x="43796" y="37775"/>
                </a:cubicBezTo>
                <a:cubicBezTo>
                  <a:pt x="43796" y="44942"/>
                  <a:pt x="49614" y="50761"/>
                  <a:pt x="56781" y="50761"/>
                </a:cubicBezTo>
                <a:cubicBezTo>
                  <a:pt x="63948" y="50761"/>
                  <a:pt x="69766" y="44942"/>
                  <a:pt x="69766" y="37775"/>
                </a:cubicBezTo>
                <a:cubicBezTo>
                  <a:pt x="69766" y="30609"/>
                  <a:pt x="63948" y="24790"/>
                  <a:pt x="56781" y="2479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3" name="Text 11"/>
          <p:cNvSpPr/>
          <p:nvPr/>
        </p:nvSpPr>
        <p:spPr>
          <a:xfrm>
            <a:off x="1026165" y="1684585"/>
            <a:ext cx="3334159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基于人工规则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81050" y="1948815"/>
            <a:ext cx="3225165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开发者手动编写大量语法规则和逻辑模板，本质是代码片段的"拼图游戏"。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hape 13"/>
          <p:cNvSpPr/>
          <p:nvPr/>
        </p:nvSpPr>
        <p:spPr>
          <a:xfrm>
            <a:off x="4415807" y="1722360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100459" y="62772"/>
                </a:moveTo>
                <a:lnTo>
                  <a:pt x="76849" y="100547"/>
                </a:lnTo>
                <a:cubicBezTo>
                  <a:pt x="75610" y="102525"/>
                  <a:pt x="73485" y="103764"/>
                  <a:pt x="71153" y="103882"/>
                </a:cubicBezTo>
                <a:cubicBezTo>
                  <a:pt x="68822" y="104000"/>
                  <a:pt x="66579" y="102938"/>
                  <a:pt x="65192" y="101049"/>
                </a:cubicBezTo>
                <a:lnTo>
                  <a:pt x="51026" y="82161"/>
                </a:lnTo>
                <a:cubicBezTo>
                  <a:pt x="48665" y="79033"/>
                  <a:pt x="49315" y="74606"/>
                  <a:pt x="52443" y="72245"/>
                </a:cubicBezTo>
                <a:cubicBezTo>
                  <a:pt x="55571" y="69884"/>
                  <a:pt x="59998" y="70534"/>
                  <a:pt x="62359" y="73662"/>
                </a:cubicBezTo>
                <a:lnTo>
                  <a:pt x="70327" y="84286"/>
                </a:lnTo>
                <a:lnTo>
                  <a:pt x="88447" y="55276"/>
                </a:lnTo>
                <a:cubicBezTo>
                  <a:pt x="90513" y="51971"/>
                  <a:pt x="94881" y="50938"/>
                  <a:pt x="98216" y="53033"/>
                </a:cubicBezTo>
                <a:cubicBezTo>
                  <a:pt x="101551" y="55128"/>
                  <a:pt x="102554" y="59467"/>
                  <a:pt x="100459" y="62802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6" name="Text 14"/>
          <p:cNvSpPr/>
          <p:nvPr/>
        </p:nvSpPr>
        <p:spPr>
          <a:xfrm>
            <a:off x="4641976" y="1684585"/>
            <a:ext cx="3334159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核心特点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96740" y="1948815"/>
            <a:ext cx="3241040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可控与可预测</a:t>
            </a: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：生成结果完全由预设规则决定，行为固定，调试简单。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31765" y="1722360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49285" y="49285"/>
                </a:moveTo>
                <a:cubicBezTo>
                  <a:pt x="52059" y="46511"/>
                  <a:pt x="56545" y="46511"/>
                  <a:pt x="59290" y="49285"/>
                </a:cubicBezTo>
                <a:lnTo>
                  <a:pt x="75521" y="65517"/>
                </a:lnTo>
                <a:lnTo>
                  <a:pt x="91753" y="49285"/>
                </a:lnTo>
                <a:cubicBezTo>
                  <a:pt x="94527" y="46511"/>
                  <a:pt x="99013" y="46511"/>
                  <a:pt x="101757" y="49285"/>
                </a:cubicBezTo>
                <a:cubicBezTo>
                  <a:pt x="104502" y="52059"/>
                  <a:pt x="104532" y="56545"/>
                  <a:pt x="101757" y="59290"/>
                </a:cubicBezTo>
                <a:lnTo>
                  <a:pt x="85526" y="75521"/>
                </a:lnTo>
                <a:lnTo>
                  <a:pt x="101757" y="91753"/>
                </a:lnTo>
                <a:cubicBezTo>
                  <a:pt x="104532" y="94527"/>
                  <a:pt x="104532" y="99013"/>
                  <a:pt x="101757" y="101757"/>
                </a:cubicBezTo>
                <a:cubicBezTo>
                  <a:pt x="98983" y="104502"/>
                  <a:pt x="94497" y="104532"/>
                  <a:pt x="91753" y="101757"/>
                </a:cubicBezTo>
                <a:lnTo>
                  <a:pt x="75521" y="85526"/>
                </a:lnTo>
                <a:lnTo>
                  <a:pt x="59290" y="101757"/>
                </a:lnTo>
                <a:cubicBezTo>
                  <a:pt x="56515" y="104532"/>
                  <a:pt x="52030" y="104532"/>
                  <a:pt x="49285" y="101757"/>
                </a:cubicBezTo>
                <a:cubicBezTo>
                  <a:pt x="46540" y="98983"/>
                  <a:pt x="46511" y="94497"/>
                  <a:pt x="49285" y="91753"/>
                </a:cubicBezTo>
                <a:lnTo>
                  <a:pt x="65517" y="75521"/>
                </a:lnTo>
                <a:lnTo>
                  <a:pt x="49285" y="59290"/>
                </a:lnTo>
                <a:cubicBezTo>
                  <a:pt x="46511" y="56515"/>
                  <a:pt x="46511" y="52030"/>
                  <a:pt x="49285" y="49285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9" name="Text 17"/>
          <p:cNvSpPr/>
          <p:nvPr/>
        </p:nvSpPr>
        <p:spPr>
          <a:xfrm>
            <a:off x="8257935" y="1684585"/>
            <a:ext cx="3334159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局限性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13065" y="1948815"/>
            <a:ext cx="3356610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灵活性差</a:t>
            </a: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：难以处理复杂多变需求，无法泛化，维护成本极高。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51704" y="2548696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94438" y="0"/>
                </a:moveTo>
                <a:lnTo>
                  <a:pt x="94438" y="0"/>
                </a:lnTo>
                <a:cubicBezTo>
                  <a:pt x="146595" y="0"/>
                  <a:pt x="188877" y="42282"/>
                  <a:pt x="188877" y="94438"/>
                </a:cubicBezTo>
                <a:lnTo>
                  <a:pt x="188877" y="94438"/>
                </a:lnTo>
                <a:cubicBezTo>
                  <a:pt x="188877" y="146595"/>
                  <a:pt x="146595" y="188877"/>
                  <a:pt x="94438" y="188877"/>
                </a:cubicBezTo>
                <a:lnTo>
                  <a:pt x="94438" y="188877"/>
                </a:lnTo>
                <a:cubicBezTo>
                  <a:pt x="42282" y="188877"/>
                  <a:pt x="0" y="146595"/>
                  <a:pt x="0" y="94438"/>
                </a:cubicBezTo>
                <a:lnTo>
                  <a:pt x="0" y="94438"/>
                </a:lnTo>
                <a:cubicBezTo>
                  <a:pt x="0" y="42282"/>
                  <a:pt x="42282" y="0"/>
                  <a:pt x="94438" y="0"/>
                </a:cubicBezTo>
                <a:close/>
              </a:path>
            </a:pathLst>
          </a:custGeom>
          <a:solidFill>
            <a:srgbClr val="B10015"/>
          </a:solidFill>
          <a:ln w="50800">
            <a:solidFill>
              <a:srgbClr val="1A1D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8367" y="2605359"/>
            <a:ext cx="75551" cy="75551"/>
          </a:xfrm>
          <a:custGeom>
            <a:avLst/>
            <a:gdLst/>
            <a:ahLst/>
            <a:cxnLst/>
            <a:rect l="l" t="t" r="r" b="b"/>
            <a:pathLst>
              <a:path w="75551" h="75551">
                <a:moveTo>
                  <a:pt x="37775" y="0"/>
                </a:moveTo>
                <a:lnTo>
                  <a:pt x="37775" y="0"/>
                </a:lnTo>
                <a:cubicBezTo>
                  <a:pt x="58638" y="0"/>
                  <a:pt x="75551" y="16913"/>
                  <a:pt x="75551" y="37775"/>
                </a:cubicBezTo>
                <a:lnTo>
                  <a:pt x="75551" y="37775"/>
                </a:lnTo>
                <a:cubicBezTo>
                  <a:pt x="75551" y="58638"/>
                  <a:pt x="58638" y="75551"/>
                  <a:pt x="37775" y="75551"/>
                </a:cubicBezTo>
                <a:lnTo>
                  <a:pt x="37775" y="75551"/>
                </a:lnTo>
                <a:cubicBezTo>
                  <a:pt x="16913" y="75551"/>
                  <a:pt x="0" y="58638"/>
                  <a:pt x="0" y="37775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" name="Shape 21"/>
          <p:cNvSpPr/>
          <p:nvPr/>
        </p:nvSpPr>
        <p:spPr>
          <a:xfrm>
            <a:off x="663060" y="2496755"/>
            <a:ext cx="10973744" cy="1171036"/>
          </a:xfrm>
          <a:custGeom>
            <a:avLst/>
            <a:gdLst/>
            <a:ahLst/>
            <a:cxnLst/>
            <a:rect l="l" t="t" r="r" b="b"/>
            <a:pathLst>
              <a:path w="10973744" h="1171036">
                <a:moveTo>
                  <a:pt x="113321" y="0"/>
                </a:moveTo>
                <a:lnTo>
                  <a:pt x="10860423" y="0"/>
                </a:lnTo>
                <a:cubicBezTo>
                  <a:pt x="10923009" y="0"/>
                  <a:pt x="10973744" y="50736"/>
                  <a:pt x="10973744" y="113321"/>
                </a:cubicBezTo>
                <a:lnTo>
                  <a:pt x="10973744" y="1057715"/>
                </a:lnTo>
                <a:cubicBezTo>
                  <a:pt x="10973744" y="1120301"/>
                  <a:pt x="10923009" y="1171036"/>
                  <a:pt x="10860423" y="1171036"/>
                </a:cubicBezTo>
                <a:lnTo>
                  <a:pt x="113321" y="1171036"/>
                </a:lnTo>
                <a:cubicBezTo>
                  <a:pt x="50736" y="1171036"/>
                  <a:pt x="0" y="1120301"/>
                  <a:pt x="0" y="1057715"/>
                </a:cubicBezTo>
                <a:lnTo>
                  <a:pt x="0" y="113321"/>
                </a:lnTo>
                <a:cubicBezTo>
                  <a:pt x="0" y="50778"/>
                  <a:pt x="50778" y="0"/>
                  <a:pt x="113321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81108" y="2614803"/>
            <a:ext cx="963272" cy="264428"/>
          </a:xfrm>
          <a:custGeom>
            <a:avLst/>
            <a:gdLst/>
            <a:ahLst/>
            <a:cxnLst/>
            <a:rect l="l" t="t" r="r" b="b"/>
            <a:pathLst>
              <a:path w="963272" h="264428">
                <a:moveTo>
                  <a:pt x="132214" y="0"/>
                </a:moveTo>
                <a:lnTo>
                  <a:pt x="831058" y="0"/>
                </a:lnTo>
                <a:cubicBezTo>
                  <a:pt x="904078" y="0"/>
                  <a:pt x="963272" y="59194"/>
                  <a:pt x="963272" y="132214"/>
                </a:cubicBezTo>
                <a:lnTo>
                  <a:pt x="963272" y="132214"/>
                </a:lnTo>
                <a:cubicBezTo>
                  <a:pt x="963272" y="205233"/>
                  <a:pt x="904078" y="264428"/>
                  <a:pt x="831058" y="264428"/>
                </a:cubicBezTo>
                <a:lnTo>
                  <a:pt x="132214" y="264428"/>
                </a:lnTo>
                <a:cubicBezTo>
                  <a:pt x="59243" y="264428"/>
                  <a:pt x="0" y="205185"/>
                  <a:pt x="0" y="132214"/>
                </a:cubicBezTo>
                <a:lnTo>
                  <a:pt x="0" y="132214"/>
                </a:lnTo>
                <a:cubicBezTo>
                  <a:pt x="0" y="59243"/>
                  <a:pt x="59243" y="0"/>
                  <a:pt x="132214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</p:spPr>
      </p:sp>
      <p:sp>
        <p:nvSpPr>
          <p:cNvPr id="31" name="Text 23"/>
          <p:cNvSpPr/>
          <p:nvPr/>
        </p:nvSpPr>
        <p:spPr>
          <a:xfrm>
            <a:off x="699770" y="2614930"/>
            <a:ext cx="1235075" cy="264160"/>
          </a:xfrm>
          <a:prstGeom prst="rect">
            <a:avLst/>
          </a:prstGeom>
          <a:noFill/>
        </p:spPr>
        <p:txBody>
          <a:bodyPr wrap="square" lIns="113326" tIns="37775" rIns="113326" bIns="37775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2000s-2018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1857375" y="2614930"/>
            <a:ext cx="1620520" cy="264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统计语言模型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809440" y="2954781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32214" y="60736"/>
                </a:moveTo>
                <a:cubicBezTo>
                  <a:pt x="127846" y="63628"/>
                  <a:pt x="122829" y="65959"/>
                  <a:pt x="117605" y="67819"/>
                </a:cubicBezTo>
                <a:cubicBezTo>
                  <a:pt x="103735" y="72777"/>
                  <a:pt x="85526" y="75551"/>
                  <a:pt x="66107" y="75551"/>
                </a:cubicBezTo>
                <a:cubicBezTo>
                  <a:pt x="46688" y="75551"/>
                  <a:pt x="28450" y="72747"/>
                  <a:pt x="14608" y="67819"/>
                </a:cubicBezTo>
                <a:cubicBezTo>
                  <a:pt x="9414" y="65959"/>
                  <a:pt x="4368" y="63628"/>
                  <a:pt x="0" y="60736"/>
                </a:cubicBezTo>
                <a:lnTo>
                  <a:pt x="0" y="84995"/>
                </a:lnTo>
                <a:cubicBezTo>
                  <a:pt x="0" y="98039"/>
                  <a:pt x="29601" y="108604"/>
                  <a:pt x="66107" y="108604"/>
                </a:cubicBezTo>
                <a:cubicBezTo>
                  <a:pt x="102613" y="108604"/>
                  <a:pt x="132214" y="98039"/>
                  <a:pt x="132214" y="84995"/>
                </a:cubicBezTo>
                <a:lnTo>
                  <a:pt x="132214" y="60736"/>
                </a:lnTo>
                <a:close/>
                <a:moveTo>
                  <a:pt x="132214" y="37775"/>
                </a:moveTo>
                <a:lnTo>
                  <a:pt x="132214" y="23610"/>
                </a:lnTo>
                <a:cubicBezTo>
                  <a:pt x="132214" y="10565"/>
                  <a:pt x="102613" y="0"/>
                  <a:pt x="66107" y="0"/>
                </a:cubicBezTo>
                <a:cubicBezTo>
                  <a:pt x="29601" y="0"/>
                  <a:pt x="0" y="10565"/>
                  <a:pt x="0" y="23610"/>
                </a:cubicBezTo>
                <a:lnTo>
                  <a:pt x="0" y="37775"/>
                </a:lnTo>
                <a:cubicBezTo>
                  <a:pt x="0" y="50820"/>
                  <a:pt x="29601" y="61385"/>
                  <a:pt x="66107" y="61385"/>
                </a:cubicBezTo>
                <a:cubicBezTo>
                  <a:pt x="102613" y="61385"/>
                  <a:pt x="132214" y="50820"/>
                  <a:pt x="132214" y="37775"/>
                </a:cubicBezTo>
                <a:close/>
                <a:moveTo>
                  <a:pt x="117605" y="115038"/>
                </a:moveTo>
                <a:cubicBezTo>
                  <a:pt x="103764" y="119966"/>
                  <a:pt x="85555" y="122770"/>
                  <a:pt x="66107" y="122770"/>
                </a:cubicBezTo>
                <a:cubicBezTo>
                  <a:pt x="46658" y="122770"/>
                  <a:pt x="28450" y="119966"/>
                  <a:pt x="14608" y="115038"/>
                </a:cubicBezTo>
                <a:cubicBezTo>
                  <a:pt x="9414" y="113179"/>
                  <a:pt x="4368" y="110847"/>
                  <a:pt x="0" y="107955"/>
                </a:cubicBezTo>
                <a:lnTo>
                  <a:pt x="0" y="127492"/>
                </a:lnTo>
                <a:cubicBezTo>
                  <a:pt x="0" y="140536"/>
                  <a:pt x="29601" y="151101"/>
                  <a:pt x="66107" y="151101"/>
                </a:cubicBezTo>
                <a:cubicBezTo>
                  <a:pt x="102613" y="151101"/>
                  <a:pt x="132214" y="140536"/>
                  <a:pt x="132214" y="127492"/>
                </a:cubicBezTo>
                <a:lnTo>
                  <a:pt x="132214" y="107955"/>
                </a:lnTo>
                <a:cubicBezTo>
                  <a:pt x="127846" y="110847"/>
                  <a:pt x="122829" y="113179"/>
                  <a:pt x="117605" y="115038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4" name="Text 26"/>
          <p:cNvSpPr/>
          <p:nvPr/>
        </p:nvSpPr>
        <p:spPr>
          <a:xfrm>
            <a:off x="1026165" y="2917006"/>
            <a:ext cx="3334159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数据驱动学习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781050" y="3181350"/>
            <a:ext cx="3225165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模型从大量代码数据中学习词法和句法统计规律，建立概率生成机制。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4434694" y="2954781"/>
            <a:ext cx="113326" cy="151101"/>
          </a:xfrm>
          <a:custGeom>
            <a:avLst/>
            <a:gdLst/>
            <a:ahLst/>
            <a:cxnLst/>
            <a:rect l="l" t="t" r="r" b="b"/>
            <a:pathLst>
              <a:path w="113326" h="151101">
                <a:moveTo>
                  <a:pt x="63333" y="5135"/>
                </a:moveTo>
                <a:cubicBezTo>
                  <a:pt x="59644" y="1446"/>
                  <a:pt x="53653" y="1446"/>
                  <a:pt x="49964" y="5135"/>
                </a:cubicBezTo>
                <a:lnTo>
                  <a:pt x="2745" y="52354"/>
                </a:lnTo>
                <a:cubicBezTo>
                  <a:pt x="-944" y="56043"/>
                  <a:pt x="-944" y="62034"/>
                  <a:pt x="2745" y="65723"/>
                </a:cubicBezTo>
                <a:cubicBezTo>
                  <a:pt x="6434" y="69412"/>
                  <a:pt x="12425" y="69412"/>
                  <a:pt x="16114" y="65723"/>
                </a:cubicBezTo>
                <a:lnTo>
                  <a:pt x="47219" y="34618"/>
                </a:lnTo>
                <a:lnTo>
                  <a:pt x="47219" y="144019"/>
                </a:lnTo>
                <a:cubicBezTo>
                  <a:pt x="47219" y="149242"/>
                  <a:pt x="51439" y="153462"/>
                  <a:pt x="56663" y="153462"/>
                </a:cubicBezTo>
                <a:cubicBezTo>
                  <a:pt x="61887" y="153462"/>
                  <a:pt x="66107" y="149242"/>
                  <a:pt x="66107" y="144019"/>
                </a:cubicBezTo>
                <a:lnTo>
                  <a:pt x="66107" y="34618"/>
                </a:lnTo>
                <a:lnTo>
                  <a:pt x="97213" y="65723"/>
                </a:lnTo>
                <a:cubicBezTo>
                  <a:pt x="100902" y="69412"/>
                  <a:pt x="106892" y="69412"/>
                  <a:pt x="110581" y="65723"/>
                </a:cubicBezTo>
                <a:cubicBezTo>
                  <a:pt x="114270" y="62034"/>
                  <a:pt x="114270" y="56043"/>
                  <a:pt x="110581" y="52354"/>
                </a:cubicBezTo>
                <a:lnTo>
                  <a:pt x="63362" y="5135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37" name="Text 29"/>
          <p:cNvSpPr/>
          <p:nvPr/>
        </p:nvSpPr>
        <p:spPr>
          <a:xfrm>
            <a:off x="4641976" y="2917006"/>
            <a:ext cx="3334159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生成连贯性提升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4396740" y="3181350"/>
            <a:ext cx="3240405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能生成更连贯代码片段，初步实现简单代码补全功能，提升编码效率。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8031765" y="2954781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75551" y="0"/>
                </a:moveTo>
                <a:cubicBezTo>
                  <a:pt x="79889" y="0"/>
                  <a:pt x="83873" y="2390"/>
                  <a:pt x="85939" y="6198"/>
                </a:cubicBezTo>
                <a:lnTo>
                  <a:pt x="149685" y="124246"/>
                </a:lnTo>
                <a:cubicBezTo>
                  <a:pt x="151662" y="127905"/>
                  <a:pt x="151574" y="132332"/>
                  <a:pt x="149449" y="135903"/>
                </a:cubicBezTo>
                <a:cubicBezTo>
                  <a:pt x="147324" y="139474"/>
                  <a:pt x="143458" y="141658"/>
                  <a:pt x="139297" y="141658"/>
                </a:cubicBezTo>
                <a:lnTo>
                  <a:pt x="11805" y="141658"/>
                </a:lnTo>
                <a:cubicBezTo>
                  <a:pt x="7644" y="141658"/>
                  <a:pt x="3807" y="139474"/>
                  <a:pt x="1653" y="135903"/>
                </a:cubicBezTo>
                <a:cubicBezTo>
                  <a:pt x="-502" y="132332"/>
                  <a:pt x="-561" y="127905"/>
                  <a:pt x="1417" y="124246"/>
                </a:cubicBezTo>
                <a:lnTo>
                  <a:pt x="65163" y="6198"/>
                </a:lnTo>
                <a:cubicBezTo>
                  <a:pt x="67228" y="2390"/>
                  <a:pt x="71212" y="0"/>
                  <a:pt x="75551" y="0"/>
                </a:cubicBezTo>
                <a:close/>
                <a:moveTo>
                  <a:pt x="75551" y="49580"/>
                </a:moveTo>
                <a:cubicBezTo>
                  <a:pt x="71626" y="49580"/>
                  <a:pt x="68468" y="52738"/>
                  <a:pt x="68468" y="56663"/>
                </a:cubicBezTo>
                <a:lnTo>
                  <a:pt x="68468" y="89716"/>
                </a:lnTo>
                <a:cubicBezTo>
                  <a:pt x="68468" y="93642"/>
                  <a:pt x="71626" y="96799"/>
                  <a:pt x="75551" y="96799"/>
                </a:cubicBezTo>
                <a:cubicBezTo>
                  <a:pt x="79476" y="96799"/>
                  <a:pt x="82634" y="93642"/>
                  <a:pt x="82634" y="89716"/>
                </a:cubicBezTo>
                <a:lnTo>
                  <a:pt x="82634" y="56663"/>
                </a:lnTo>
                <a:cubicBezTo>
                  <a:pt x="82634" y="52738"/>
                  <a:pt x="79476" y="49580"/>
                  <a:pt x="75551" y="49580"/>
                </a:cubicBezTo>
                <a:close/>
                <a:moveTo>
                  <a:pt x="83430" y="113326"/>
                </a:moveTo>
                <a:cubicBezTo>
                  <a:pt x="83610" y="110401"/>
                  <a:pt x="82151" y="107619"/>
                  <a:pt x="79644" y="106102"/>
                </a:cubicBezTo>
                <a:cubicBezTo>
                  <a:pt x="77136" y="104585"/>
                  <a:pt x="73995" y="104585"/>
                  <a:pt x="71487" y="106102"/>
                </a:cubicBezTo>
                <a:cubicBezTo>
                  <a:pt x="68980" y="107619"/>
                  <a:pt x="67521" y="110401"/>
                  <a:pt x="67701" y="113326"/>
                </a:cubicBezTo>
                <a:cubicBezTo>
                  <a:pt x="67521" y="116251"/>
                  <a:pt x="68980" y="119034"/>
                  <a:pt x="71487" y="120550"/>
                </a:cubicBezTo>
                <a:cubicBezTo>
                  <a:pt x="73995" y="122067"/>
                  <a:pt x="77136" y="122067"/>
                  <a:pt x="79644" y="120550"/>
                </a:cubicBezTo>
                <a:cubicBezTo>
                  <a:pt x="82151" y="119034"/>
                  <a:pt x="83610" y="116251"/>
                  <a:pt x="83430" y="11332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0" name="Text 32"/>
          <p:cNvSpPr/>
          <p:nvPr/>
        </p:nvSpPr>
        <p:spPr>
          <a:xfrm>
            <a:off x="8257935" y="2917006"/>
            <a:ext cx="3334159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模型容量局限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8013065" y="3181350"/>
            <a:ext cx="3356610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受限于模型结构，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难以捕捉长距离依赖</a:t>
            </a: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和深层复杂语义逻辑。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351704" y="3781118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94438" y="0"/>
                </a:moveTo>
                <a:lnTo>
                  <a:pt x="94438" y="0"/>
                </a:lnTo>
                <a:cubicBezTo>
                  <a:pt x="146595" y="0"/>
                  <a:pt x="188877" y="42282"/>
                  <a:pt x="188877" y="94438"/>
                </a:cubicBezTo>
                <a:lnTo>
                  <a:pt x="188877" y="94438"/>
                </a:lnTo>
                <a:cubicBezTo>
                  <a:pt x="188877" y="146595"/>
                  <a:pt x="146595" y="188877"/>
                  <a:pt x="94438" y="188877"/>
                </a:cubicBezTo>
                <a:lnTo>
                  <a:pt x="94438" y="188877"/>
                </a:lnTo>
                <a:cubicBezTo>
                  <a:pt x="42282" y="188877"/>
                  <a:pt x="0" y="146595"/>
                  <a:pt x="0" y="94438"/>
                </a:cubicBezTo>
                <a:lnTo>
                  <a:pt x="0" y="94438"/>
                </a:lnTo>
                <a:cubicBezTo>
                  <a:pt x="0" y="42282"/>
                  <a:pt x="42282" y="0"/>
                  <a:pt x="94438" y="0"/>
                </a:cubicBezTo>
                <a:close/>
              </a:path>
            </a:pathLst>
          </a:custGeom>
          <a:solidFill>
            <a:srgbClr val="B10015"/>
          </a:solidFill>
          <a:ln w="50800">
            <a:solidFill>
              <a:srgbClr val="1A1D24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408367" y="3837781"/>
            <a:ext cx="75551" cy="75551"/>
          </a:xfrm>
          <a:custGeom>
            <a:avLst/>
            <a:gdLst/>
            <a:ahLst/>
            <a:cxnLst/>
            <a:rect l="l" t="t" r="r" b="b"/>
            <a:pathLst>
              <a:path w="75551" h="75551">
                <a:moveTo>
                  <a:pt x="37775" y="0"/>
                </a:moveTo>
                <a:lnTo>
                  <a:pt x="37775" y="0"/>
                </a:lnTo>
                <a:cubicBezTo>
                  <a:pt x="58638" y="0"/>
                  <a:pt x="75551" y="16913"/>
                  <a:pt x="75551" y="37775"/>
                </a:cubicBezTo>
                <a:lnTo>
                  <a:pt x="75551" y="37775"/>
                </a:lnTo>
                <a:cubicBezTo>
                  <a:pt x="75551" y="58638"/>
                  <a:pt x="58638" y="75551"/>
                  <a:pt x="37775" y="75551"/>
                </a:cubicBezTo>
                <a:lnTo>
                  <a:pt x="37775" y="75551"/>
                </a:lnTo>
                <a:cubicBezTo>
                  <a:pt x="16913" y="75551"/>
                  <a:pt x="0" y="58638"/>
                  <a:pt x="0" y="37775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4" name="Shape 36"/>
          <p:cNvSpPr/>
          <p:nvPr/>
        </p:nvSpPr>
        <p:spPr>
          <a:xfrm>
            <a:off x="663060" y="3729176"/>
            <a:ext cx="10973744" cy="2323185"/>
          </a:xfrm>
          <a:custGeom>
            <a:avLst/>
            <a:gdLst/>
            <a:ahLst/>
            <a:cxnLst/>
            <a:rect l="l" t="t" r="r" b="b"/>
            <a:pathLst>
              <a:path w="10973744" h="2323185">
                <a:moveTo>
                  <a:pt x="113325" y="0"/>
                </a:moveTo>
                <a:lnTo>
                  <a:pt x="10860419" y="0"/>
                </a:lnTo>
                <a:cubicBezTo>
                  <a:pt x="10923007" y="0"/>
                  <a:pt x="10973744" y="50737"/>
                  <a:pt x="10973744" y="113325"/>
                </a:cubicBezTo>
                <a:lnTo>
                  <a:pt x="10973744" y="2209860"/>
                </a:lnTo>
                <a:cubicBezTo>
                  <a:pt x="10973744" y="2272448"/>
                  <a:pt x="10923007" y="2323185"/>
                  <a:pt x="10860419" y="2323185"/>
                </a:cubicBezTo>
                <a:lnTo>
                  <a:pt x="113325" y="2323185"/>
                </a:lnTo>
                <a:cubicBezTo>
                  <a:pt x="50737" y="2323185"/>
                  <a:pt x="0" y="2272448"/>
                  <a:pt x="0" y="2209860"/>
                </a:cubicBezTo>
                <a:lnTo>
                  <a:pt x="0" y="113325"/>
                </a:lnTo>
                <a:cubicBezTo>
                  <a:pt x="0" y="50779"/>
                  <a:pt x="50779" y="0"/>
                  <a:pt x="113325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781108" y="3847224"/>
            <a:ext cx="1116000" cy="264428"/>
          </a:xfrm>
          <a:custGeom>
            <a:avLst/>
            <a:gdLst/>
            <a:ahLst/>
            <a:cxnLst/>
            <a:rect l="l" t="t" r="r" b="b"/>
            <a:pathLst>
              <a:path w="1038823" h="264428">
                <a:moveTo>
                  <a:pt x="132214" y="0"/>
                </a:moveTo>
                <a:lnTo>
                  <a:pt x="906609" y="0"/>
                </a:lnTo>
                <a:cubicBezTo>
                  <a:pt x="979628" y="0"/>
                  <a:pt x="1038823" y="59194"/>
                  <a:pt x="1038823" y="132214"/>
                </a:cubicBezTo>
                <a:lnTo>
                  <a:pt x="1038823" y="132214"/>
                </a:lnTo>
                <a:cubicBezTo>
                  <a:pt x="1038823" y="205233"/>
                  <a:pt x="979628" y="264428"/>
                  <a:pt x="906609" y="264428"/>
                </a:cubicBezTo>
                <a:lnTo>
                  <a:pt x="132214" y="264428"/>
                </a:lnTo>
                <a:cubicBezTo>
                  <a:pt x="59243" y="264428"/>
                  <a:pt x="0" y="205185"/>
                  <a:pt x="0" y="132214"/>
                </a:cubicBezTo>
                <a:lnTo>
                  <a:pt x="0" y="132214"/>
                </a:lnTo>
                <a:cubicBezTo>
                  <a:pt x="0" y="59243"/>
                  <a:pt x="59243" y="0"/>
                  <a:pt x="132214" y="0"/>
                </a:cubicBezTo>
                <a:close/>
              </a:path>
            </a:pathLst>
          </a:custGeom>
          <a:solidFill>
            <a:srgbClr val="D8A252"/>
          </a:solidFill>
        </p:spPr>
      </p:sp>
      <p:sp>
        <p:nvSpPr>
          <p:cNvPr id="46" name="Text 38"/>
          <p:cNvSpPr/>
          <p:nvPr/>
        </p:nvSpPr>
        <p:spPr>
          <a:xfrm>
            <a:off x="709930" y="3857625"/>
            <a:ext cx="1325880" cy="264160"/>
          </a:xfrm>
          <a:prstGeom prst="rect">
            <a:avLst/>
          </a:prstGeom>
          <a:noFill/>
        </p:spPr>
        <p:txBody>
          <a:bodyPr wrap="square" lIns="113326" tIns="37775" rIns="113326" bIns="37775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2018-Present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935480" y="3847465"/>
            <a:ext cx="2425065" cy="264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现代大模型：范式革命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781108" y="4149427"/>
            <a:ext cx="3503665" cy="783839"/>
          </a:xfrm>
          <a:custGeom>
            <a:avLst/>
            <a:gdLst/>
            <a:ahLst/>
            <a:cxnLst/>
            <a:rect l="l" t="t" r="r" b="b"/>
            <a:pathLst>
              <a:path w="3503665" h="783839">
                <a:moveTo>
                  <a:pt x="75554" y="0"/>
                </a:moveTo>
                <a:lnTo>
                  <a:pt x="3428111" y="0"/>
                </a:lnTo>
                <a:cubicBezTo>
                  <a:pt x="3469839" y="0"/>
                  <a:pt x="3503665" y="33827"/>
                  <a:pt x="3503665" y="75554"/>
                </a:cubicBezTo>
                <a:lnTo>
                  <a:pt x="3503665" y="708285"/>
                </a:lnTo>
                <a:cubicBezTo>
                  <a:pt x="3503665" y="750012"/>
                  <a:pt x="3469839" y="783839"/>
                  <a:pt x="3428111" y="783839"/>
                </a:cubicBezTo>
                <a:lnTo>
                  <a:pt x="75554" y="783839"/>
                </a:lnTo>
                <a:cubicBezTo>
                  <a:pt x="33827" y="783839"/>
                  <a:pt x="0" y="750012"/>
                  <a:pt x="0" y="708285"/>
                </a:cubicBezTo>
                <a:lnTo>
                  <a:pt x="0" y="75554"/>
                </a:lnTo>
                <a:cubicBezTo>
                  <a:pt x="0" y="33827"/>
                  <a:pt x="33827" y="0"/>
                  <a:pt x="75554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49" name="Shape 41"/>
          <p:cNvSpPr/>
          <p:nvPr/>
        </p:nvSpPr>
        <p:spPr>
          <a:xfrm>
            <a:off x="875546" y="4232274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35414" y="16527"/>
                </a:moveTo>
                <a:cubicBezTo>
                  <a:pt x="35414" y="7408"/>
                  <a:pt x="42822" y="0"/>
                  <a:pt x="51941" y="0"/>
                </a:cubicBezTo>
                <a:lnTo>
                  <a:pt x="59024" y="0"/>
                </a:lnTo>
                <a:cubicBezTo>
                  <a:pt x="64248" y="0"/>
                  <a:pt x="68468" y="4220"/>
                  <a:pt x="68468" y="9444"/>
                </a:cubicBezTo>
                <a:lnTo>
                  <a:pt x="68468" y="141658"/>
                </a:lnTo>
                <a:cubicBezTo>
                  <a:pt x="68468" y="146881"/>
                  <a:pt x="64248" y="151101"/>
                  <a:pt x="59024" y="151101"/>
                </a:cubicBezTo>
                <a:lnTo>
                  <a:pt x="49580" y="151101"/>
                </a:lnTo>
                <a:cubicBezTo>
                  <a:pt x="40786" y="151101"/>
                  <a:pt x="33378" y="145081"/>
                  <a:pt x="31283" y="136936"/>
                </a:cubicBezTo>
                <a:cubicBezTo>
                  <a:pt x="31076" y="136936"/>
                  <a:pt x="30899" y="136936"/>
                  <a:pt x="30692" y="136936"/>
                </a:cubicBezTo>
                <a:cubicBezTo>
                  <a:pt x="17648" y="136936"/>
                  <a:pt x="7083" y="126370"/>
                  <a:pt x="7083" y="113326"/>
                </a:cubicBezTo>
                <a:cubicBezTo>
                  <a:pt x="7083" y="108014"/>
                  <a:pt x="8854" y="103115"/>
                  <a:pt x="11805" y="99160"/>
                </a:cubicBezTo>
                <a:cubicBezTo>
                  <a:pt x="6079" y="94852"/>
                  <a:pt x="2361" y="88005"/>
                  <a:pt x="2361" y="80273"/>
                </a:cubicBezTo>
                <a:cubicBezTo>
                  <a:pt x="2361" y="71153"/>
                  <a:pt x="7555" y="63215"/>
                  <a:pt x="15110" y="59290"/>
                </a:cubicBezTo>
                <a:cubicBezTo>
                  <a:pt x="13015" y="55748"/>
                  <a:pt x="11805" y="51616"/>
                  <a:pt x="11805" y="47219"/>
                </a:cubicBezTo>
                <a:cubicBezTo>
                  <a:pt x="11805" y="34175"/>
                  <a:pt x="22370" y="23610"/>
                  <a:pt x="35414" y="23610"/>
                </a:cubicBezTo>
                <a:lnTo>
                  <a:pt x="35414" y="16527"/>
                </a:lnTo>
                <a:close/>
                <a:moveTo>
                  <a:pt x="115687" y="16527"/>
                </a:moveTo>
                <a:lnTo>
                  <a:pt x="115687" y="23610"/>
                </a:lnTo>
                <a:cubicBezTo>
                  <a:pt x="128731" y="23610"/>
                  <a:pt x="139297" y="34175"/>
                  <a:pt x="139297" y="47219"/>
                </a:cubicBezTo>
                <a:cubicBezTo>
                  <a:pt x="139297" y="51646"/>
                  <a:pt x="138087" y="55778"/>
                  <a:pt x="135991" y="59290"/>
                </a:cubicBezTo>
                <a:cubicBezTo>
                  <a:pt x="143576" y="63215"/>
                  <a:pt x="148741" y="71124"/>
                  <a:pt x="148741" y="80273"/>
                </a:cubicBezTo>
                <a:cubicBezTo>
                  <a:pt x="148741" y="88005"/>
                  <a:pt x="145022" y="94852"/>
                  <a:pt x="139297" y="99160"/>
                </a:cubicBezTo>
                <a:cubicBezTo>
                  <a:pt x="142248" y="103115"/>
                  <a:pt x="144019" y="108014"/>
                  <a:pt x="144019" y="113326"/>
                </a:cubicBezTo>
                <a:cubicBezTo>
                  <a:pt x="144019" y="126370"/>
                  <a:pt x="133453" y="136936"/>
                  <a:pt x="120409" y="136936"/>
                </a:cubicBezTo>
                <a:cubicBezTo>
                  <a:pt x="120202" y="136936"/>
                  <a:pt x="120025" y="136936"/>
                  <a:pt x="119819" y="136936"/>
                </a:cubicBezTo>
                <a:cubicBezTo>
                  <a:pt x="117723" y="145081"/>
                  <a:pt x="110316" y="151101"/>
                  <a:pt x="101521" y="151101"/>
                </a:cubicBezTo>
                <a:lnTo>
                  <a:pt x="92077" y="151101"/>
                </a:lnTo>
                <a:cubicBezTo>
                  <a:pt x="86854" y="151101"/>
                  <a:pt x="82634" y="146881"/>
                  <a:pt x="82634" y="141658"/>
                </a:cubicBezTo>
                <a:lnTo>
                  <a:pt x="82634" y="9444"/>
                </a:lnTo>
                <a:cubicBezTo>
                  <a:pt x="82634" y="4220"/>
                  <a:pt x="86854" y="0"/>
                  <a:pt x="92077" y="0"/>
                </a:cubicBezTo>
                <a:lnTo>
                  <a:pt x="99160" y="0"/>
                </a:lnTo>
                <a:cubicBezTo>
                  <a:pt x="108280" y="0"/>
                  <a:pt x="115687" y="7408"/>
                  <a:pt x="115687" y="16527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50" name="Text 42"/>
          <p:cNvSpPr/>
          <p:nvPr/>
        </p:nvSpPr>
        <p:spPr>
          <a:xfrm>
            <a:off x="1101716" y="4194498"/>
            <a:ext cx="3183058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强大理解能力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856659" y="4591006"/>
            <a:ext cx="3418671" cy="1794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深度理解自然语言复杂意图，精准转化为可执行代码。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4396919" y="4149427"/>
            <a:ext cx="3503665" cy="783839"/>
          </a:xfrm>
          <a:custGeom>
            <a:avLst/>
            <a:gdLst/>
            <a:ahLst/>
            <a:cxnLst/>
            <a:rect l="l" t="t" r="r" b="b"/>
            <a:pathLst>
              <a:path w="3503665" h="783839">
                <a:moveTo>
                  <a:pt x="75554" y="0"/>
                </a:moveTo>
                <a:lnTo>
                  <a:pt x="3428111" y="0"/>
                </a:lnTo>
                <a:cubicBezTo>
                  <a:pt x="3469839" y="0"/>
                  <a:pt x="3503665" y="33827"/>
                  <a:pt x="3503665" y="75554"/>
                </a:cubicBezTo>
                <a:lnTo>
                  <a:pt x="3503665" y="708285"/>
                </a:lnTo>
                <a:cubicBezTo>
                  <a:pt x="3503665" y="750012"/>
                  <a:pt x="3469839" y="783839"/>
                  <a:pt x="3428111" y="783839"/>
                </a:cubicBezTo>
                <a:lnTo>
                  <a:pt x="75554" y="783839"/>
                </a:lnTo>
                <a:cubicBezTo>
                  <a:pt x="33827" y="783839"/>
                  <a:pt x="0" y="750012"/>
                  <a:pt x="0" y="708285"/>
                </a:cubicBezTo>
                <a:lnTo>
                  <a:pt x="0" y="75554"/>
                </a:lnTo>
                <a:cubicBezTo>
                  <a:pt x="0" y="33827"/>
                  <a:pt x="33827" y="0"/>
                  <a:pt x="75554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53" name="Shape 45"/>
          <p:cNvSpPr/>
          <p:nvPr/>
        </p:nvSpPr>
        <p:spPr>
          <a:xfrm>
            <a:off x="4491357" y="4232274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117605" y="3600"/>
                </a:moveTo>
                <a:lnTo>
                  <a:pt x="91576" y="29630"/>
                </a:lnTo>
                <a:lnTo>
                  <a:pt x="121471" y="59526"/>
                </a:lnTo>
                <a:lnTo>
                  <a:pt x="147501" y="33496"/>
                </a:lnTo>
                <a:cubicBezTo>
                  <a:pt x="149803" y="31165"/>
                  <a:pt x="151101" y="28036"/>
                  <a:pt x="151101" y="24790"/>
                </a:cubicBezTo>
                <a:cubicBezTo>
                  <a:pt x="151101" y="21544"/>
                  <a:pt x="149803" y="18415"/>
                  <a:pt x="147501" y="16084"/>
                </a:cubicBezTo>
                <a:lnTo>
                  <a:pt x="135017" y="3600"/>
                </a:lnTo>
                <a:cubicBezTo>
                  <a:pt x="132686" y="1299"/>
                  <a:pt x="129558" y="0"/>
                  <a:pt x="126311" y="0"/>
                </a:cubicBezTo>
                <a:cubicBezTo>
                  <a:pt x="123065" y="0"/>
                  <a:pt x="119937" y="1299"/>
                  <a:pt x="117605" y="3600"/>
                </a:cubicBezTo>
                <a:close/>
                <a:moveTo>
                  <a:pt x="81571" y="39635"/>
                </a:moveTo>
                <a:lnTo>
                  <a:pt x="3600" y="117605"/>
                </a:lnTo>
                <a:cubicBezTo>
                  <a:pt x="1299" y="119937"/>
                  <a:pt x="0" y="123065"/>
                  <a:pt x="0" y="126311"/>
                </a:cubicBezTo>
                <a:cubicBezTo>
                  <a:pt x="0" y="129558"/>
                  <a:pt x="1299" y="132686"/>
                  <a:pt x="3600" y="135017"/>
                </a:cubicBezTo>
                <a:lnTo>
                  <a:pt x="16084" y="147501"/>
                </a:lnTo>
                <a:cubicBezTo>
                  <a:pt x="18415" y="149803"/>
                  <a:pt x="21544" y="151101"/>
                  <a:pt x="24790" y="151101"/>
                </a:cubicBezTo>
                <a:cubicBezTo>
                  <a:pt x="28036" y="151101"/>
                  <a:pt x="31165" y="149803"/>
                  <a:pt x="33496" y="147501"/>
                </a:cubicBezTo>
                <a:lnTo>
                  <a:pt x="111467" y="69530"/>
                </a:lnTo>
                <a:lnTo>
                  <a:pt x="81571" y="39635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54" name="Text 46"/>
          <p:cNvSpPr/>
          <p:nvPr/>
        </p:nvSpPr>
        <p:spPr>
          <a:xfrm>
            <a:off x="4717527" y="4194498"/>
            <a:ext cx="3183058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端到端生成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5" name="Text 47"/>
          <p:cNvSpPr/>
          <p:nvPr/>
        </p:nvSpPr>
        <p:spPr>
          <a:xfrm>
            <a:off x="4472470" y="4489406"/>
            <a:ext cx="3418671" cy="36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基于Codex，通过海量代码微调，实现高质量端到端生成。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8012878" y="4149427"/>
            <a:ext cx="3503665" cy="783839"/>
          </a:xfrm>
          <a:custGeom>
            <a:avLst/>
            <a:gdLst/>
            <a:ahLst/>
            <a:cxnLst/>
            <a:rect l="l" t="t" r="r" b="b"/>
            <a:pathLst>
              <a:path w="3503665" h="783839">
                <a:moveTo>
                  <a:pt x="75554" y="0"/>
                </a:moveTo>
                <a:lnTo>
                  <a:pt x="3428111" y="0"/>
                </a:lnTo>
                <a:cubicBezTo>
                  <a:pt x="3469839" y="0"/>
                  <a:pt x="3503665" y="33827"/>
                  <a:pt x="3503665" y="75554"/>
                </a:cubicBezTo>
                <a:lnTo>
                  <a:pt x="3503665" y="708285"/>
                </a:lnTo>
                <a:cubicBezTo>
                  <a:pt x="3503665" y="750012"/>
                  <a:pt x="3469839" y="783839"/>
                  <a:pt x="3428111" y="783839"/>
                </a:cubicBezTo>
                <a:lnTo>
                  <a:pt x="75554" y="783839"/>
                </a:lnTo>
                <a:cubicBezTo>
                  <a:pt x="33827" y="783839"/>
                  <a:pt x="0" y="750012"/>
                  <a:pt x="0" y="708285"/>
                </a:cubicBezTo>
                <a:lnTo>
                  <a:pt x="0" y="75554"/>
                </a:lnTo>
                <a:cubicBezTo>
                  <a:pt x="0" y="33827"/>
                  <a:pt x="33827" y="0"/>
                  <a:pt x="75554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57" name="Shape 49"/>
          <p:cNvSpPr/>
          <p:nvPr/>
        </p:nvSpPr>
        <p:spPr>
          <a:xfrm>
            <a:off x="8107316" y="4232274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37775" y="94438"/>
                </a:moveTo>
                <a:lnTo>
                  <a:pt x="7230" y="94438"/>
                </a:lnTo>
                <a:cubicBezTo>
                  <a:pt x="-118" y="94438"/>
                  <a:pt x="-4633" y="86441"/>
                  <a:pt x="-856" y="80125"/>
                </a:cubicBezTo>
                <a:lnTo>
                  <a:pt x="14756" y="54096"/>
                </a:lnTo>
                <a:cubicBezTo>
                  <a:pt x="17324" y="49816"/>
                  <a:pt x="21927" y="47219"/>
                  <a:pt x="26915" y="47219"/>
                </a:cubicBezTo>
                <a:lnTo>
                  <a:pt x="54951" y="47219"/>
                </a:lnTo>
                <a:cubicBezTo>
                  <a:pt x="77410" y="9178"/>
                  <a:pt x="110906" y="7260"/>
                  <a:pt x="133306" y="10536"/>
                </a:cubicBezTo>
                <a:cubicBezTo>
                  <a:pt x="137083" y="11097"/>
                  <a:pt x="140034" y="14048"/>
                  <a:pt x="140566" y="17796"/>
                </a:cubicBezTo>
                <a:cubicBezTo>
                  <a:pt x="143842" y="40195"/>
                  <a:pt x="141923" y="73691"/>
                  <a:pt x="103882" y="96150"/>
                </a:cubicBezTo>
                <a:lnTo>
                  <a:pt x="103882" y="124187"/>
                </a:lnTo>
                <a:cubicBezTo>
                  <a:pt x="103882" y="129174"/>
                  <a:pt x="101285" y="133778"/>
                  <a:pt x="97006" y="136345"/>
                </a:cubicBezTo>
                <a:lnTo>
                  <a:pt x="70976" y="151957"/>
                </a:lnTo>
                <a:cubicBezTo>
                  <a:pt x="64690" y="155735"/>
                  <a:pt x="56663" y="151190"/>
                  <a:pt x="56663" y="143871"/>
                </a:cubicBezTo>
                <a:lnTo>
                  <a:pt x="56663" y="113326"/>
                </a:lnTo>
                <a:cubicBezTo>
                  <a:pt x="56663" y="102908"/>
                  <a:pt x="48193" y="94438"/>
                  <a:pt x="37775" y="94438"/>
                </a:cubicBezTo>
                <a:lnTo>
                  <a:pt x="37746" y="94438"/>
                </a:lnTo>
                <a:close/>
                <a:moveTo>
                  <a:pt x="118048" y="47219"/>
                </a:moveTo>
                <a:cubicBezTo>
                  <a:pt x="118048" y="39401"/>
                  <a:pt x="111701" y="33053"/>
                  <a:pt x="103882" y="33053"/>
                </a:cubicBezTo>
                <a:cubicBezTo>
                  <a:pt x="96064" y="33053"/>
                  <a:pt x="89716" y="39401"/>
                  <a:pt x="89716" y="47219"/>
                </a:cubicBezTo>
                <a:cubicBezTo>
                  <a:pt x="89716" y="55038"/>
                  <a:pt x="96064" y="61385"/>
                  <a:pt x="103882" y="61385"/>
                </a:cubicBezTo>
                <a:cubicBezTo>
                  <a:pt x="111701" y="61385"/>
                  <a:pt x="118048" y="55038"/>
                  <a:pt x="118048" y="47219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58" name="Text 50"/>
          <p:cNvSpPr/>
          <p:nvPr/>
        </p:nvSpPr>
        <p:spPr>
          <a:xfrm>
            <a:off x="8333485" y="4194498"/>
            <a:ext cx="3183058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编程范式革新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9" name="Text 51"/>
          <p:cNvSpPr/>
          <p:nvPr/>
        </p:nvSpPr>
        <p:spPr>
          <a:xfrm>
            <a:off x="8088630" y="4489450"/>
            <a:ext cx="3427730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开发者从"编写"转向"描述"功能，借助Copilot等工具极大提升效率。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Shape 52"/>
          <p:cNvSpPr/>
          <p:nvPr/>
        </p:nvSpPr>
        <p:spPr>
          <a:xfrm>
            <a:off x="785830" y="5008817"/>
            <a:ext cx="10728204" cy="916053"/>
          </a:xfrm>
          <a:custGeom>
            <a:avLst/>
            <a:gdLst/>
            <a:ahLst/>
            <a:cxnLst/>
            <a:rect l="l" t="t" r="r" b="b"/>
            <a:pathLst>
              <a:path w="10728204" h="916053">
                <a:moveTo>
                  <a:pt x="75547" y="0"/>
                </a:moveTo>
                <a:lnTo>
                  <a:pt x="10652658" y="0"/>
                </a:lnTo>
                <a:cubicBezTo>
                  <a:pt x="10694381" y="0"/>
                  <a:pt x="10728204" y="33823"/>
                  <a:pt x="10728204" y="75547"/>
                </a:cubicBezTo>
                <a:lnTo>
                  <a:pt x="10728204" y="840506"/>
                </a:lnTo>
                <a:cubicBezTo>
                  <a:pt x="10728204" y="882229"/>
                  <a:pt x="10694381" y="916053"/>
                  <a:pt x="10652658" y="916053"/>
                </a:cubicBezTo>
                <a:lnTo>
                  <a:pt x="75547" y="916053"/>
                </a:lnTo>
                <a:cubicBezTo>
                  <a:pt x="33823" y="916053"/>
                  <a:pt x="0" y="882229"/>
                  <a:pt x="0" y="840506"/>
                </a:cubicBezTo>
                <a:lnTo>
                  <a:pt x="0" y="75547"/>
                </a:lnTo>
                <a:cubicBezTo>
                  <a:pt x="0" y="33851"/>
                  <a:pt x="33851" y="0"/>
                  <a:pt x="75547" y="0"/>
                </a:cubicBezTo>
                <a:close/>
              </a:path>
            </a:pathLst>
          </a:custGeom>
          <a:solidFill>
            <a:srgbClr val="C00000">
              <a:alpha val="10000"/>
            </a:srgbClr>
          </a:solidFill>
          <a:ln w="12700">
            <a:solidFill>
              <a:srgbClr val="D8A252">
                <a:alpha val="30196"/>
              </a:srgbClr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884990" y="5126865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18888" y="18888"/>
                </a:moveTo>
                <a:cubicBezTo>
                  <a:pt x="18888" y="13664"/>
                  <a:pt x="14667" y="9444"/>
                  <a:pt x="9444" y="9444"/>
                </a:cubicBezTo>
                <a:cubicBezTo>
                  <a:pt x="4220" y="9444"/>
                  <a:pt x="0" y="13664"/>
                  <a:pt x="0" y="18888"/>
                </a:cubicBezTo>
                <a:lnTo>
                  <a:pt x="0" y="118048"/>
                </a:lnTo>
                <a:cubicBezTo>
                  <a:pt x="0" y="131092"/>
                  <a:pt x="10565" y="141658"/>
                  <a:pt x="23610" y="141658"/>
                </a:cubicBezTo>
                <a:lnTo>
                  <a:pt x="141658" y="141658"/>
                </a:lnTo>
                <a:cubicBezTo>
                  <a:pt x="146881" y="141658"/>
                  <a:pt x="151101" y="137437"/>
                  <a:pt x="151101" y="132214"/>
                </a:cubicBezTo>
                <a:cubicBezTo>
                  <a:pt x="151101" y="126990"/>
                  <a:pt x="146881" y="122770"/>
                  <a:pt x="141658" y="122770"/>
                </a:cubicBezTo>
                <a:lnTo>
                  <a:pt x="23610" y="122770"/>
                </a:lnTo>
                <a:cubicBezTo>
                  <a:pt x="21013" y="122770"/>
                  <a:pt x="18888" y="120645"/>
                  <a:pt x="18888" y="118048"/>
                </a:cubicBezTo>
                <a:lnTo>
                  <a:pt x="18888" y="18888"/>
                </a:lnTo>
                <a:close/>
                <a:moveTo>
                  <a:pt x="138884" y="44445"/>
                </a:moveTo>
                <a:cubicBezTo>
                  <a:pt x="142573" y="40756"/>
                  <a:pt x="142573" y="34765"/>
                  <a:pt x="138884" y="31076"/>
                </a:cubicBezTo>
                <a:cubicBezTo>
                  <a:pt x="135195" y="27387"/>
                  <a:pt x="129204" y="27387"/>
                  <a:pt x="125515" y="31076"/>
                </a:cubicBezTo>
                <a:lnTo>
                  <a:pt x="94438" y="62182"/>
                </a:lnTo>
                <a:lnTo>
                  <a:pt x="77499" y="45271"/>
                </a:lnTo>
                <a:cubicBezTo>
                  <a:pt x="73810" y="41582"/>
                  <a:pt x="67819" y="41582"/>
                  <a:pt x="64130" y="45271"/>
                </a:cubicBezTo>
                <a:lnTo>
                  <a:pt x="35798" y="73603"/>
                </a:lnTo>
                <a:cubicBezTo>
                  <a:pt x="32109" y="77292"/>
                  <a:pt x="32109" y="83283"/>
                  <a:pt x="35798" y="86972"/>
                </a:cubicBezTo>
                <a:cubicBezTo>
                  <a:pt x="39487" y="90661"/>
                  <a:pt x="45478" y="90661"/>
                  <a:pt x="49167" y="86972"/>
                </a:cubicBezTo>
                <a:lnTo>
                  <a:pt x="70829" y="65310"/>
                </a:lnTo>
                <a:lnTo>
                  <a:pt x="87769" y="82250"/>
                </a:lnTo>
                <a:cubicBezTo>
                  <a:pt x="91458" y="85939"/>
                  <a:pt x="97449" y="85939"/>
                  <a:pt x="101138" y="82250"/>
                </a:cubicBezTo>
                <a:lnTo>
                  <a:pt x="138913" y="44475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62" name="Text 54"/>
          <p:cNvSpPr/>
          <p:nvPr/>
        </p:nvSpPr>
        <p:spPr>
          <a:xfrm>
            <a:off x="1111160" y="5068770"/>
            <a:ext cx="10398153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性能飞跃数据</a:t>
            </a:r>
            <a:endParaRPr lang="en-US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3" name="Text 55"/>
          <p:cNvSpPr/>
          <p:nvPr/>
        </p:nvSpPr>
        <p:spPr>
          <a:xfrm>
            <a:off x="818883" y="5391293"/>
            <a:ext cx="2682051" cy="2644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86.6%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4" name="Text 56"/>
          <p:cNvSpPr/>
          <p:nvPr/>
        </p:nvSpPr>
        <p:spPr>
          <a:xfrm>
            <a:off x="833049" y="5655720"/>
            <a:ext cx="2653720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GPT-4 pass@1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5" name="Text 57"/>
          <p:cNvSpPr/>
          <p:nvPr/>
        </p:nvSpPr>
        <p:spPr>
          <a:xfrm>
            <a:off x="3478801" y="5391293"/>
            <a:ext cx="2682051" cy="2644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92.1%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6" name="Text 58"/>
          <p:cNvSpPr/>
          <p:nvPr/>
        </p:nvSpPr>
        <p:spPr>
          <a:xfrm>
            <a:off x="3492966" y="5655720"/>
            <a:ext cx="2653720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Claude 3.5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7" name="Text 59"/>
          <p:cNvSpPr/>
          <p:nvPr/>
        </p:nvSpPr>
        <p:spPr>
          <a:xfrm>
            <a:off x="6138865" y="5391293"/>
            <a:ext cx="2682051" cy="2644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80.9%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8" name="Text 60"/>
          <p:cNvSpPr/>
          <p:nvPr/>
        </p:nvSpPr>
        <p:spPr>
          <a:xfrm>
            <a:off x="6153031" y="5655720"/>
            <a:ext cx="2653720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Claude Opus SWE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9" name="Text 61"/>
          <p:cNvSpPr/>
          <p:nvPr/>
        </p:nvSpPr>
        <p:spPr>
          <a:xfrm>
            <a:off x="8798782" y="5391293"/>
            <a:ext cx="2682051" cy="2644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30%+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0" name="Text 62"/>
          <p:cNvSpPr/>
          <p:nvPr/>
        </p:nvSpPr>
        <p:spPr>
          <a:xfrm>
            <a:off x="8812948" y="5655720"/>
            <a:ext cx="2653720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效率提升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1" name="Shape 63"/>
          <p:cNvSpPr/>
          <p:nvPr/>
        </p:nvSpPr>
        <p:spPr>
          <a:xfrm>
            <a:off x="209756" y="6132634"/>
            <a:ext cx="11427049" cy="387198"/>
          </a:xfrm>
          <a:custGeom>
            <a:avLst/>
            <a:gdLst/>
            <a:ahLst/>
            <a:cxnLst/>
            <a:rect l="l" t="t" r="r" b="b"/>
            <a:pathLst>
              <a:path w="11427049" h="387198">
                <a:moveTo>
                  <a:pt x="75550" y="0"/>
                </a:moveTo>
                <a:lnTo>
                  <a:pt x="11351499" y="0"/>
                </a:lnTo>
                <a:cubicBezTo>
                  <a:pt x="11393224" y="0"/>
                  <a:pt x="11427049" y="33825"/>
                  <a:pt x="11427049" y="75550"/>
                </a:cubicBezTo>
                <a:lnTo>
                  <a:pt x="11427049" y="311648"/>
                </a:lnTo>
                <a:cubicBezTo>
                  <a:pt x="11427049" y="353373"/>
                  <a:pt x="11393224" y="387198"/>
                  <a:pt x="11351499" y="387198"/>
                </a:cubicBezTo>
                <a:lnTo>
                  <a:pt x="75550" y="387198"/>
                </a:lnTo>
                <a:cubicBezTo>
                  <a:pt x="33853" y="387198"/>
                  <a:pt x="0" y="353345"/>
                  <a:pt x="0" y="311648"/>
                </a:cubicBezTo>
                <a:lnTo>
                  <a:pt x="0" y="75550"/>
                </a:lnTo>
                <a:cubicBezTo>
                  <a:pt x="0" y="33825"/>
                  <a:pt x="33825" y="0"/>
                  <a:pt x="75550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313638" y="6241238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42497" y="106243"/>
                </a:moveTo>
                <a:lnTo>
                  <a:pt x="8134" y="106243"/>
                </a:lnTo>
                <a:cubicBezTo>
                  <a:pt x="-133" y="106243"/>
                  <a:pt x="-5213" y="97246"/>
                  <a:pt x="-963" y="90141"/>
                </a:cubicBezTo>
                <a:lnTo>
                  <a:pt x="16601" y="60857"/>
                </a:lnTo>
                <a:cubicBezTo>
                  <a:pt x="19489" y="56043"/>
                  <a:pt x="24668" y="53122"/>
                  <a:pt x="30279" y="53122"/>
                </a:cubicBezTo>
                <a:lnTo>
                  <a:pt x="61820" y="53122"/>
                </a:lnTo>
                <a:cubicBezTo>
                  <a:pt x="87086" y="10326"/>
                  <a:pt x="124769" y="8167"/>
                  <a:pt x="149969" y="11853"/>
                </a:cubicBezTo>
                <a:cubicBezTo>
                  <a:pt x="154219" y="12484"/>
                  <a:pt x="157539" y="15804"/>
                  <a:pt x="158136" y="20020"/>
                </a:cubicBezTo>
                <a:cubicBezTo>
                  <a:pt x="161822" y="45220"/>
                  <a:pt x="159664" y="82903"/>
                  <a:pt x="116868" y="108169"/>
                </a:cubicBezTo>
                <a:lnTo>
                  <a:pt x="116868" y="139710"/>
                </a:lnTo>
                <a:cubicBezTo>
                  <a:pt x="116868" y="145321"/>
                  <a:pt x="113946" y="150500"/>
                  <a:pt x="109132" y="153389"/>
                </a:cubicBezTo>
                <a:lnTo>
                  <a:pt x="79848" y="170952"/>
                </a:lnTo>
                <a:cubicBezTo>
                  <a:pt x="72777" y="175202"/>
                  <a:pt x="63746" y="170089"/>
                  <a:pt x="63746" y="161855"/>
                </a:cubicBezTo>
                <a:lnTo>
                  <a:pt x="63746" y="127492"/>
                </a:lnTo>
                <a:cubicBezTo>
                  <a:pt x="63746" y="115772"/>
                  <a:pt x="54217" y="106243"/>
                  <a:pt x="42497" y="106243"/>
                </a:cubicBezTo>
                <a:lnTo>
                  <a:pt x="42464" y="106243"/>
                </a:lnTo>
                <a:close/>
                <a:moveTo>
                  <a:pt x="132804" y="53122"/>
                </a:moveTo>
                <a:cubicBezTo>
                  <a:pt x="132804" y="44326"/>
                  <a:pt x="125663" y="37185"/>
                  <a:pt x="116868" y="37185"/>
                </a:cubicBezTo>
                <a:cubicBezTo>
                  <a:pt x="108072" y="37185"/>
                  <a:pt x="100931" y="44326"/>
                  <a:pt x="100931" y="53122"/>
                </a:cubicBezTo>
                <a:cubicBezTo>
                  <a:pt x="100931" y="61917"/>
                  <a:pt x="108072" y="69058"/>
                  <a:pt x="116868" y="69058"/>
                </a:cubicBezTo>
                <a:cubicBezTo>
                  <a:pt x="125663" y="69058"/>
                  <a:pt x="132804" y="61917"/>
                  <a:pt x="132804" y="53122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3" name="Text 65"/>
          <p:cNvSpPr/>
          <p:nvPr/>
        </p:nvSpPr>
        <p:spPr>
          <a:xfrm>
            <a:off x="615950" y="6212840"/>
            <a:ext cx="4590415" cy="2266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革命性转变：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从"告诉计算机如何做"到"告诉计算机做什么"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 66"/>
          <p:cNvSpPr/>
          <p:nvPr/>
        </p:nvSpPr>
        <p:spPr>
          <a:xfrm>
            <a:off x="10372725" y="6212840"/>
            <a:ext cx="1256030" cy="2266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How → What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23" name="图片 22" descr="Lychee定稿_画板 1"/>
          <p:cNvPicPr>
            <a:picLocks noChangeAspect="1"/>
          </p:cNvPicPr>
          <p:nvPr userDrawn="1"/>
        </p:nvPicPr>
        <p:blipFill>
          <a:blip r:embed="rId3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311"/>
            <a:ext cx="9044357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核心架构设计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266700" y="462280"/>
            <a:ext cx="1160145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US" sz="3200" b="1" dirty="0" err="1">
                <a:latin typeface="Noto Sans SC" panose="020B0200000000000000" charset="-122"/>
                <a:ea typeface="Noto Sans SC" panose="020B0200000000000000" charset="-122"/>
              </a:rPr>
              <a:t>核心技术方法：预训练、微调与提示工程</a:t>
            </a:r>
            <a:endParaRPr lang="en-US" sz="3200" b="1" dirty="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385763" y="1325563"/>
            <a:ext cx="3724275" cy="3524250"/>
          </a:xfrm>
          <a:custGeom>
            <a:avLst/>
            <a:gdLst/>
            <a:ahLst/>
            <a:cxnLst/>
            <a:rect l="l" t="t" r="r" b="b"/>
            <a:pathLst>
              <a:path w="3724275" h="3524250">
                <a:moveTo>
                  <a:pt x="114291" y="0"/>
                </a:moveTo>
                <a:lnTo>
                  <a:pt x="3609984" y="0"/>
                </a:lnTo>
                <a:cubicBezTo>
                  <a:pt x="3673105" y="0"/>
                  <a:pt x="3724275" y="51170"/>
                  <a:pt x="3724275" y="114291"/>
                </a:cubicBezTo>
                <a:lnTo>
                  <a:pt x="3724275" y="3409959"/>
                </a:lnTo>
                <a:cubicBezTo>
                  <a:pt x="3724275" y="3473080"/>
                  <a:pt x="3673105" y="3524250"/>
                  <a:pt x="3609984" y="3524250"/>
                </a:cubicBezTo>
                <a:lnTo>
                  <a:pt x="114291" y="3524250"/>
                </a:lnTo>
                <a:cubicBezTo>
                  <a:pt x="51170" y="3524250"/>
                  <a:pt x="0" y="3473080"/>
                  <a:pt x="0" y="34099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8" name="Shape 4"/>
          <p:cNvSpPr/>
          <p:nvPr/>
        </p:nvSpPr>
        <p:spPr>
          <a:xfrm>
            <a:off x="504825" y="1444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9" name="Shape 5"/>
          <p:cNvSpPr/>
          <p:nvPr/>
        </p:nvSpPr>
        <p:spPr>
          <a:xfrm>
            <a:off x="650081" y="15779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20" name="Text 6"/>
          <p:cNvSpPr/>
          <p:nvPr/>
        </p:nvSpPr>
        <p:spPr>
          <a:xfrm>
            <a:off x="1076325" y="1444625"/>
            <a:ext cx="828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预训练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21" name="Text 7"/>
          <p:cNvSpPr/>
          <p:nvPr/>
        </p:nvSpPr>
        <p:spPr>
          <a:xfrm>
            <a:off x="1076325" y="1711325"/>
            <a:ext cx="97091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Pre-training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504825" y="1978025"/>
            <a:ext cx="3486150" cy="790575"/>
          </a:xfrm>
          <a:custGeom>
            <a:avLst/>
            <a:gdLst/>
            <a:ahLst/>
            <a:cxnLst/>
            <a:rect l="l" t="t" r="r" b="b"/>
            <a:pathLst>
              <a:path w="3486150" h="790575">
                <a:moveTo>
                  <a:pt x="76204" y="0"/>
                </a:moveTo>
                <a:lnTo>
                  <a:pt x="3409946" y="0"/>
                </a:lnTo>
                <a:cubicBezTo>
                  <a:pt x="3452033" y="0"/>
                  <a:pt x="3486150" y="34117"/>
                  <a:pt x="3486150" y="76204"/>
                </a:cubicBezTo>
                <a:lnTo>
                  <a:pt x="3486150" y="714371"/>
                </a:lnTo>
                <a:cubicBezTo>
                  <a:pt x="3486150" y="756458"/>
                  <a:pt x="3452033" y="790575"/>
                  <a:pt x="3409946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23" name="Shape 9"/>
          <p:cNvSpPr/>
          <p:nvPr/>
        </p:nvSpPr>
        <p:spPr>
          <a:xfrm>
            <a:off x="609600" y="20923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C00000">
              <a:alpha val="60000"/>
            </a:srgbClr>
          </a:solidFill>
        </p:spPr>
      </p:sp>
      <p:sp>
        <p:nvSpPr>
          <p:cNvPr id="24" name="Text 10"/>
          <p:cNvSpPr/>
          <p:nvPr/>
        </p:nvSpPr>
        <p:spPr>
          <a:xfrm>
            <a:off x="828675" y="2054225"/>
            <a:ext cx="3162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海量代码语料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581025" y="2320925"/>
            <a:ext cx="3400425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</a:t>
            </a:r>
            <a:r>
              <a:rPr lang="en-US" sz="1200" dirty="0">
                <a:solidFill>
                  <a:schemeClr val="tx1"/>
                </a:solidFill>
                <a:highlight>
                  <a:srgbClr val="D8A252">
                    <a:alpha val="2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数以TB计 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的开源代码库（如GitHub）上进行自监督学习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504825" y="2840038"/>
            <a:ext cx="3486150" cy="790575"/>
          </a:xfrm>
          <a:custGeom>
            <a:avLst/>
            <a:gdLst/>
            <a:ahLst/>
            <a:cxnLst/>
            <a:rect l="l" t="t" r="r" b="b"/>
            <a:pathLst>
              <a:path w="3486150" h="790575">
                <a:moveTo>
                  <a:pt x="76204" y="0"/>
                </a:moveTo>
                <a:lnTo>
                  <a:pt x="3409946" y="0"/>
                </a:lnTo>
                <a:cubicBezTo>
                  <a:pt x="3452033" y="0"/>
                  <a:pt x="3486150" y="34117"/>
                  <a:pt x="3486150" y="76204"/>
                </a:cubicBezTo>
                <a:lnTo>
                  <a:pt x="3486150" y="714371"/>
                </a:lnTo>
                <a:cubicBezTo>
                  <a:pt x="3486150" y="756458"/>
                  <a:pt x="3452033" y="790575"/>
                  <a:pt x="3409946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27" name="Shape 13"/>
          <p:cNvSpPr/>
          <p:nvPr/>
        </p:nvSpPr>
        <p:spPr>
          <a:xfrm>
            <a:off x="590550" y="295433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C00000">
              <a:alpha val="60000"/>
            </a:srgbClr>
          </a:solidFill>
        </p:spPr>
      </p:sp>
      <p:sp>
        <p:nvSpPr>
          <p:cNvPr id="28" name="Text 14"/>
          <p:cNvSpPr/>
          <p:nvPr/>
        </p:nvSpPr>
        <p:spPr>
          <a:xfrm>
            <a:off x="828675" y="2916238"/>
            <a:ext cx="3162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多维学习目标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581025" y="3182938"/>
            <a:ext cx="3400425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掌握编程语言语法结构、常见模式、API使用方法及深层语义关联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504825" y="3702050"/>
            <a:ext cx="3486150" cy="1028700"/>
          </a:xfrm>
          <a:custGeom>
            <a:avLst/>
            <a:gdLst/>
            <a:ahLst/>
            <a:cxnLst/>
            <a:rect l="l" t="t" r="r" b="b"/>
            <a:pathLst>
              <a:path w="3486150" h="1028700">
                <a:moveTo>
                  <a:pt x="76196" y="0"/>
                </a:moveTo>
                <a:lnTo>
                  <a:pt x="3409954" y="0"/>
                </a:lnTo>
                <a:cubicBezTo>
                  <a:pt x="3452036" y="0"/>
                  <a:pt x="3486150" y="34114"/>
                  <a:pt x="3486150" y="76196"/>
                </a:cubicBezTo>
                <a:lnTo>
                  <a:pt x="3486150" y="952504"/>
                </a:lnTo>
                <a:cubicBezTo>
                  <a:pt x="3486150" y="994586"/>
                  <a:pt x="3452036" y="1028700"/>
                  <a:pt x="340995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31" name="Shape 17"/>
          <p:cNvSpPr/>
          <p:nvPr/>
        </p:nvSpPr>
        <p:spPr>
          <a:xfrm>
            <a:off x="600075" y="3816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C00000">
              <a:alpha val="60000"/>
            </a:srgbClr>
          </a:solidFill>
        </p:spPr>
      </p:sp>
      <p:sp>
        <p:nvSpPr>
          <p:cNvPr id="32" name="Text 18"/>
          <p:cNvSpPr/>
          <p:nvPr/>
        </p:nvSpPr>
        <p:spPr>
          <a:xfrm>
            <a:off x="828675" y="3778250"/>
            <a:ext cx="3162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关键优化技巧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3" name="Shape 19"/>
          <p:cNvSpPr/>
          <p:nvPr/>
        </p:nvSpPr>
        <p:spPr>
          <a:xfrm>
            <a:off x="608409" y="40735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00000">
              <a:alpha val="60000"/>
            </a:srgbClr>
          </a:solidFill>
        </p:spPr>
      </p:sp>
      <p:sp>
        <p:nvSpPr>
          <p:cNvPr id="95" name="Text 20"/>
          <p:cNvSpPr/>
          <p:nvPr/>
        </p:nvSpPr>
        <p:spPr>
          <a:xfrm>
            <a:off x="781050" y="4044950"/>
            <a:ext cx="3200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文本-代码混合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Shape 21"/>
          <p:cNvSpPr/>
          <p:nvPr/>
        </p:nvSpPr>
        <p:spPr>
          <a:xfrm>
            <a:off x="608409" y="4283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00000">
              <a:alpha val="60000"/>
            </a:srgbClr>
          </a:solidFill>
        </p:spPr>
      </p:sp>
      <p:sp>
        <p:nvSpPr>
          <p:cNvPr id="97" name="Text 22"/>
          <p:cNvSpPr/>
          <p:nvPr/>
        </p:nvSpPr>
        <p:spPr>
          <a:xfrm>
            <a:off x="781050" y="4254500"/>
            <a:ext cx="3200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跨语言预训练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8" name="Shape 23"/>
          <p:cNvSpPr/>
          <p:nvPr/>
        </p:nvSpPr>
        <p:spPr>
          <a:xfrm>
            <a:off x="608409" y="44926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00000">
              <a:alpha val="60000"/>
            </a:srgbClr>
          </a:solidFill>
        </p:spPr>
      </p:sp>
      <p:sp>
        <p:nvSpPr>
          <p:cNvPr id="99" name="Text 24"/>
          <p:cNvSpPr/>
          <p:nvPr/>
        </p:nvSpPr>
        <p:spPr>
          <a:xfrm>
            <a:off x="781050" y="4464050"/>
            <a:ext cx="3200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保留代码注释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0" name="Shape 25"/>
          <p:cNvSpPr/>
          <p:nvPr/>
        </p:nvSpPr>
        <p:spPr>
          <a:xfrm>
            <a:off x="4233863" y="1325563"/>
            <a:ext cx="3724275" cy="3524250"/>
          </a:xfrm>
          <a:custGeom>
            <a:avLst/>
            <a:gdLst/>
            <a:ahLst/>
            <a:cxnLst/>
            <a:rect l="l" t="t" r="r" b="b"/>
            <a:pathLst>
              <a:path w="3724275" h="3524250">
                <a:moveTo>
                  <a:pt x="114291" y="0"/>
                </a:moveTo>
                <a:lnTo>
                  <a:pt x="3609984" y="0"/>
                </a:lnTo>
                <a:cubicBezTo>
                  <a:pt x="3673105" y="0"/>
                  <a:pt x="3724275" y="51170"/>
                  <a:pt x="3724275" y="114291"/>
                </a:cubicBezTo>
                <a:lnTo>
                  <a:pt x="3724275" y="3409959"/>
                </a:lnTo>
                <a:cubicBezTo>
                  <a:pt x="3724275" y="3473080"/>
                  <a:pt x="3673105" y="3524250"/>
                  <a:pt x="3609984" y="3524250"/>
                </a:cubicBezTo>
                <a:lnTo>
                  <a:pt x="114291" y="3524250"/>
                </a:lnTo>
                <a:cubicBezTo>
                  <a:pt x="51170" y="3524250"/>
                  <a:pt x="0" y="3473080"/>
                  <a:pt x="0" y="34099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01" name="Shape 26"/>
          <p:cNvSpPr/>
          <p:nvPr/>
        </p:nvSpPr>
        <p:spPr>
          <a:xfrm>
            <a:off x="4352925" y="1444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02" name="Shape 27"/>
          <p:cNvSpPr/>
          <p:nvPr/>
        </p:nvSpPr>
        <p:spPr>
          <a:xfrm>
            <a:off x="4486275" y="1577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5321" y="23812"/>
                  <a:pt x="0" y="29133"/>
                  <a:pt x="0" y="35719"/>
                </a:cubicBezTo>
                <a:cubicBezTo>
                  <a:pt x="0" y="42304"/>
                  <a:pt x="5321" y="47625"/>
                  <a:pt x="11906" y="47625"/>
                </a:cubicBezTo>
                <a:lnTo>
                  <a:pt x="44165" y="47625"/>
                </a:lnTo>
                <a:cubicBezTo>
                  <a:pt x="48741" y="58155"/>
                  <a:pt x="59234" y="65484"/>
                  <a:pt x="71438" y="65484"/>
                </a:cubicBezTo>
                <a:cubicBezTo>
                  <a:pt x="83641" y="65484"/>
                  <a:pt x="94134" y="58155"/>
                  <a:pt x="98710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98710" y="23812"/>
                </a:lnTo>
                <a:cubicBezTo>
                  <a:pt x="94134" y="13283"/>
                  <a:pt x="83641" y="5953"/>
                  <a:pt x="71438" y="5953"/>
                </a:cubicBezTo>
                <a:cubicBezTo>
                  <a:pt x="59234" y="5953"/>
                  <a:pt x="48741" y="13283"/>
                  <a:pt x="44165" y="23812"/>
                </a:cubicBezTo>
                <a:lnTo>
                  <a:pt x="11906" y="23812"/>
                </a:lnTo>
                <a:close/>
                <a:moveTo>
                  <a:pt x="11906" y="83344"/>
                </a:move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03696" y="107156"/>
                </a:lnTo>
                <a:cubicBezTo>
                  <a:pt x="108272" y="117686"/>
                  <a:pt x="118765" y="125016"/>
                  <a:pt x="130969" y="125016"/>
                </a:cubicBezTo>
                <a:cubicBezTo>
                  <a:pt x="143173" y="125016"/>
                  <a:pt x="153665" y="117686"/>
                  <a:pt x="158242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158242" y="83344"/>
                </a:lnTo>
                <a:cubicBezTo>
                  <a:pt x="153665" y="72814"/>
                  <a:pt x="143173" y="65484"/>
                  <a:pt x="130969" y="65484"/>
                </a:cubicBezTo>
                <a:cubicBezTo>
                  <a:pt x="118765" y="65484"/>
                  <a:pt x="108272" y="72814"/>
                  <a:pt x="103696" y="83344"/>
                </a:cubicBezTo>
                <a:lnTo>
                  <a:pt x="11906" y="83344"/>
                </a:lnTo>
                <a:close/>
                <a:moveTo>
                  <a:pt x="11906" y="142875"/>
                </a:moveTo>
                <a:cubicBezTo>
                  <a:pt x="5321" y="142875"/>
                  <a:pt x="0" y="148196"/>
                  <a:pt x="0" y="154781"/>
                </a:cubicBezTo>
                <a:cubicBezTo>
                  <a:pt x="0" y="161367"/>
                  <a:pt x="5321" y="166688"/>
                  <a:pt x="11906" y="166688"/>
                </a:cubicBezTo>
                <a:lnTo>
                  <a:pt x="32258" y="166688"/>
                </a:lnTo>
                <a:cubicBezTo>
                  <a:pt x="36835" y="177217"/>
                  <a:pt x="47327" y="184547"/>
                  <a:pt x="59531" y="184547"/>
                </a:cubicBezTo>
                <a:cubicBezTo>
                  <a:pt x="71735" y="184547"/>
                  <a:pt x="82228" y="177217"/>
                  <a:pt x="86804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86804" y="142875"/>
                </a:lnTo>
                <a:cubicBezTo>
                  <a:pt x="82228" y="132345"/>
                  <a:pt x="71735" y="125016"/>
                  <a:pt x="59531" y="125016"/>
                </a:cubicBezTo>
                <a:cubicBezTo>
                  <a:pt x="47327" y="125016"/>
                  <a:pt x="36835" y="132345"/>
                  <a:pt x="32258" y="142875"/>
                </a:cubicBezTo>
                <a:lnTo>
                  <a:pt x="11906" y="142875"/>
                </a:lnTo>
                <a:close/>
              </a:path>
            </a:pathLst>
          </a:custGeom>
          <a:solidFill>
            <a:srgbClr val="E8E8E8"/>
          </a:solidFill>
        </p:spPr>
      </p:sp>
      <p:sp>
        <p:nvSpPr>
          <p:cNvPr id="103" name="Text 28"/>
          <p:cNvSpPr/>
          <p:nvPr/>
        </p:nvSpPr>
        <p:spPr>
          <a:xfrm>
            <a:off x="4924425" y="1444625"/>
            <a:ext cx="800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微调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104" name="Text 29"/>
          <p:cNvSpPr/>
          <p:nvPr/>
        </p:nvSpPr>
        <p:spPr>
          <a:xfrm>
            <a:off x="4924425" y="1711325"/>
            <a:ext cx="111950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Fine-tuning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5" name="Shape 30"/>
          <p:cNvSpPr/>
          <p:nvPr/>
        </p:nvSpPr>
        <p:spPr>
          <a:xfrm>
            <a:off x="4352925" y="1955165"/>
            <a:ext cx="3486150" cy="622935"/>
          </a:xfrm>
          <a:custGeom>
            <a:avLst/>
            <a:gdLst/>
            <a:ahLst/>
            <a:cxnLst/>
            <a:rect l="l" t="t" r="r" b="b"/>
            <a:pathLst>
              <a:path w="3486150" h="600075">
                <a:moveTo>
                  <a:pt x="76198" y="0"/>
                </a:moveTo>
                <a:lnTo>
                  <a:pt x="3409952" y="0"/>
                </a:lnTo>
                <a:cubicBezTo>
                  <a:pt x="3452035" y="0"/>
                  <a:pt x="3486150" y="34115"/>
                  <a:pt x="3486150" y="76198"/>
                </a:cubicBezTo>
                <a:lnTo>
                  <a:pt x="3486150" y="523877"/>
                </a:lnTo>
                <a:cubicBezTo>
                  <a:pt x="3486150" y="565960"/>
                  <a:pt x="3452035" y="600075"/>
                  <a:pt x="3409952" y="600075"/>
                </a:cubicBezTo>
                <a:lnTo>
                  <a:pt x="76198" y="600075"/>
                </a:lnTo>
                <a:cubicBezTo>
                  <a:pt x="34115" y="600075"/>
                  <a:pt x="0" y="565960"/>
                  <a:pt x="0" y="5238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06" name="Shape 31"/>
          <p:cNvSpPr/>
          <p:nvPr/>
        </p:nvSpPr>
        <p:spPr>
          <a:xfrm>
            <a:off x="4448175" y="199326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C00000">
              <a:alpha val="60000"/>
            </a:srgbClr>
          </a:solidFill>
        </p:spPr>
      </p:sp>
      <p:sp>
        <p:nvSpPr>
          <p:cNvPr id="107" name="Text 32"/>
          <p:cNvSpPr/>
          <p:nvPr/>
        </p:nvSpPr>
        <p:spPr>
          <a:xfrm>
            <a:off x="4676775" y="1955165"/>
            <a:ext cx="3162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有监督微调 (SFT)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 33"/>
          <p:cNvSpPr/>
          <p:nvPr/>
        </p:nvSpPr>
        <p:spPr>
          <a:xfrm>
            <a:off x="4429125" y="2275205"/>
            <a:ext cx="3400425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使用高质量的 </a:t>
            </a:r>
            <a:r>
              <a:rPr lang="en-US" sz="1200" dirty="0">
                <a:solidFill>
                  <a:schemeClr val="tx1"/>
                </a:solidFill>
                <a:highlight>
                  <a:srgbClr val="4A6D8C">
                    <a:alpha val="2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"自然语言描述-代码" 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配对数据进行训练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Shape 34"/>
          <p:cNvSpPr/>
          <p:nvPr/>
        </p:nvSpPr>
        <p:spPr>
          <a:xfrm>
            <a:off x="4352925" y="2656681"/>
            <a:ext cx="3486150" cy="790575"/>
          </a:xfrm>
          <a:custGeom>
            <a:avLst/>
            <a:gdLst/>
            <a:ahLst/>
            <a:cxnLst/>
            <a:rect l="l" t="t" r="r" b="b"/>
            <a:pathLst>
              <a:path w="3486150" h="790575">
                <a:moveTo>
                  <a:pt x="76204" y="0"/>
                </a:moveTo>
                <a:lnTo>
                  <a:pt x="3409946" y="0"/>
                </a:lnTo>
                <a:cubicBezTo>
                  <a:pt x="3452033" y="0"/>
                  <a:pt x="3486150" y="34117"/>
                  <a:pt x="3486150" y="76204"/>
                </a:cubicBezTo>
                <a:lnTo>
                  <a:pt x="3486150" y="714371"/>
                </a:lnTo>
                <a:cubicBezTo>
                  <a:pt x="3486150" y="756458"/>
                  <a:pt x="3452033" y="790575"/>
                  <a:pt x="3409946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10" name="Shape 35"/>
          <p:cNvSpPr/>
          <p:nvPr/>
        </p:nvSpPr>
        <p:spPr>
          <a:xfrm>
            <a:off x="4448175" y="27506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C00000">
              <a:alpha val="60000"/>
            </a:srgbClr>
          </a:solidFill>
        </p:spPr>
      </p:sp>
      <p:sp>
        <p:nvSpPr>
          <p:cNvPr id="111" name="Text 36"/>
          <p:cNvSpPr/>
          <p:nvPr/>
        </p:nvSpPr>
        <p:spPr>
          <a:xfrm>
            <a:off x="4676775" y="2712561"/>
            <a:ext cx="3162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适配特定任务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2" name="Text 37"/>
          <p:cNvSpPr/>
          <p:nvPr/>
        </p:nvSpPr>
        <p:spPr>
          <a:xfrm>
            <a:off x="4429125" y="2999581"/>
            <a:ext cx="3400425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使模型更擅长根据指令生成代码，是适应具体任务的关键步骤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3" name="Shape 38"/>
          <p:cNvSpPr/>
          <p:nvPr/>
        </p:nvSpPr>
        <p:spPr>
          <a:xfrm>
            <a:off x="4352925" y="3518694"/>
            <a:ext cx="3486150" cy="790575"/>
          </a:xfrm>
          <a:custGeom>
            <a:avLst/>
            <a:gdLst/>
            <a:ahLst/>
            <a:cxnLst/>
            <a:rect l="l" t="t" r="r" b="b"/>
            <a:pathLst>
              <a:path w="3486150" h="790575">
                <a:moveTo>
                  <a:pt x="76204" y="0"/>
                </a:moveTo>
                <a:lnTo>
                  <a:pt x="3409946" y="0"/>
                </a:lnTo>
                <a:cubicBezTo>
                  <a:pt x="3452033" y="0"/>
                  <a:pt x="3486150" y="34117"/>
                  <a:pt x="3486150" y="76204"/>
                </a:cubicBezTo>
                <a:lnTo>
                  <a:pt x="3486150" y="714371"/>
                </a:lnTo>
                <a:cubicBezTo>
                  <a:pt x="3486150" y="756458"/>
                  <a:pt x="3452033" y="790575"/>
                  <a:pt x="3409946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14" name="Shape 39"/>
          <p:cNvSpPr/>
          <p:nvPr/>
        </p:nvSpPr>
        <p:spPr>
          <a:xfrm>
            <a:off x="4448175" y="363299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C00000">
              <a:alpha val="60000"/>
            </a:srgbClr>
          </a:solidFill>
        </p:spPr>
      </p:sp>
      <p:sp>
        <p:nvSpPr>
          <p:cNvPr id="115" name="Text 40"/>
          <p:cNvSpPr/>
          <p:nvPr/>
        </p:nvSpPr>
        <p:spPr>
          <a:xfrm>
            <a:off x="4676775" y="3594894"/>
            <a:ext cx="3162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性能提升显著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6" name="Text 41"/>
          <p:cNvSpPr/>
          <p:nvPr/>
        </p:nvSpPr>
        <p:spPr>
          <a:xfrm>
            <a:off x="4429125" y="3861594"/>
            <a:ext cx="3400425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Codex在179GB Python代码上微调，pass@1从0%提升至28.8%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Shape 42"/>
          <p:cNvSpPr/>
          <p:nvPr/>
        </p:nvSpPr>
        <p:spPr>
          <a:xfrm>
            <a:off x="8081962" y="1325563"/>
            <a:ext cx="3724275" cy="3524250"/>
          </a:xfrm>
          <a:custGeom>
            <a:avLst/>
            <a:gdLst/>
            <a:ahLst/>
            <a:cxnLst/>
            <a:rect l="l" t="t" r="r" b="b"/>
            <a:pathLst>
              <a:path w="3724275" h="3524250">
                <a:moveTo>
                  <a:pt x="114291" y="0"/>
                </a:moveTo>
                <a:lnTo>
                  <a:pt x="3609984" y="0"/>
                </a:lnTo>
                <a:cubicBezTo>
                  <a:pt x="3673105" y="0"/>
                  <a:pt x="3724275" y="51170"/>
                  <a:pt x="3724275" y="114291"/>
                </a:cubicBezTo>
                <a:lnTo>
                  <a:pt x="3724275" y="3409959"/>
                </a:lnTo>
                <a:cubicBezTo>
                  <a:pt x="3724275" y="3473080"/>
                  <a:pt x="3673105" y="3524250"/>
                  <a:pt x="3609984" y="3524250"/>
                </a:cubicBezTo>
                <a:lnTo>
                  <a:pt x="114291" y="3524250"/>
                </a:lnTo>
                <a:cubicBezTo>
                  <a:pt x="51170" y="3524250"/>
                  <a:pt x="0" y="3473080"/>
                  <a:pt x="0" y="34099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18" name="Shape 43"/>
          <p:cNvSpPr/>
          <p:nvPr/>
        </p:nvSpPr>
        <p:spPr>
          <a:xfrm>
            <a:off x="8201025" y="1444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9" name="Shape 44"/>
          <p:cNvSpPr/>
          <p:nvPr/>
        </p:nvSpPr>
        <p:spPr>
          <a:xfrm>
            <a:off x="8334375" y="1577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78594"/>
                </a:moveTo>
                <a:cubicBezTo>
                  <a:pt x="147861" y="178594"/>
                  <a:pt x="190500" y="138596"/>
                  <a:pt x="190500" y="89297"/>
                </a:cubicBezTo>
                <a:cubicBezTo>
                  <a:pt x="190500" y="39998"/>
                  <a:pt x="147861" y="0"/>
                  <a:pt x="95250" y="0"/>
                </a:cubicBezTo>
                <a:cubicBezTo>
                  <a:pt x="42639" y="0"/>
                  <a:pt x="0" y="39998"/>
                  <a:pt x="0" y="89297"/>
                </a:cubicBezTo>
                <a:cubicBezTo>
                  <a:pt x="0" y="109500"/>
                  <a:pt x="7144" y="128104"/>
                  <a:pt x="19199" y="143061"/>
                </a:cubicBezTo>
                <a:lnTo>
                  <a:pt x="1042" y="177403"/>
                </a:lnTo>
                <a:cubicBezTo>
                  <a:pt x="-744" y="180752"/>
                  <a:pt x="-186" y="184845"/>
                  <a:pt x="2381" y="187635"/>
                </a:cubicBezTo>
                <a:cubicBezTo>
                  <a:pt x="4949" y="190426"/>
                  <a:pt x="9004" y="191281"/>
                  <a:pt x="12464" y="189793"/>
                </a:cubicBezTo>
                <a:lnTo>
                  <a:pt x="56517" y="170929"/>
                </a:lnTo>
                <a:cubicBezTo>
                  <a:pt x="68349" y="175840"/>
                  <a:pt x="81446" y="178594"/>
                  <a:pt x="95250" y="178594"/>
                </a:cubicBezTo>
                <a:close/>
                <a:moveTo>
                  <a:pt x="47625" y="77391"/>
                </a:moveTo>
                <a:cubicBezTo>
                  <a:pt x="54196" y="77391"/>
                  <a:pt x="59531" y="82726"/>
                  <a:pt x="59531" y="89297"/>
                </a:cubicBezTo>
                <a:cubicBezTo>
                  <a:pt x="59531" y="95868"/>
                  <a:pt x="54196" y="101203"/>
                  <a:pt x="47625" y="101203"/>
                </a:cubicBezTo>
                <a:cubicBezTo>
                  <a:pt x="41054" y="101203"/>
                  <a:pt x="35719" y="95868"/>
                  <a:pt x="35719" y="89297"/>
                </a:cubicBezTo>
                <a:cubicBezTo>
                  <a:pt x="35719" y="82726"/>
                  <a:pt x="41054" y="77391"/>
                  <a:pt x="47625" y="77391"/>
                </a:cubicBezTo>
                <a:close/>
                <a:moveTo>
                  <a:pt x="95250" y="77391"/>
                </a:moveTo>
                <a:cubicBezTo>
                  <a:pt x="101821" y="77391"/>
                  <a:pt x="107156" y="82726"/>
                  <a:pt x="107156" y="89297"/>
                </a:cubicBezTo>
                <a:cubicBezTo>
                  <a:pt x="107156" y="95868"/>
                  <a:pt x="101821" y="101203"/>
                  <a:pt x="95250" y="101203"/>
                </a:cubicBezTo>
                <a:cubicBezTo>
                  <a:pt x="88679" y="101203"/>
                  <a:pt x="83344" y="95868"/>
                  <a:pt x="83344" y="89297"/>
                </a:cubicBezTo>
                <a:cubicBezTo>
                  <a:pt x="83344" y="82726"/>
                  <a:pt x="88679" y="77391"/>
                  <a:pt x="95250" y="77391"/>
                </a:cubicBezTo>
                <a:close/>
                <a:moveTo>
                  <a:pt x="130969" y="89297"/>
                </a:moveTo>
                <a:cubicBezTo>
                  <a:pt x="130969" y="82726"/>
                  <a:pt x="136304" y="77391"/>
                  <a:pt x="142875" y="77391"/>
                </a:cubicBezTo>
                <a:cubicBezTo>
                  <a:pt x="149446" y="77391"/>
                  <a:pt x="154781" y="82726"/>
                  <a:pt x="154781" y="89297"/>
                </a:cubicBezTo>
                <a:cubicBezTo>
                  <a:pt x="154781" y="95868"/>
                  <a:pt x="149446" y="101203"/>
                  <a:pt x="142875" y="101203"/>
                </a:cubicBezTo>
                <a:cubicBezTo>
                  <a:pt x="136304" y="101203"/>
                  <a:pt x="130969" y="95868"/>
                  <a:pt x="130969" y="89297"/>
                </a:cubicBezTo>
                <a:close/>
              </a:path>
            </a:pathLst>
          </a:custGeom>
          <a:solidFill>
            <a:srgbClr val="E8E8E8"/>
          </a:solidFill>
        </p:spPr>
      </p:sp>
      <p:sp>
        <p:nvSpPr>
          <p:cNvPr id="120" name="Text 45"/>
          <p:cNvSpPr/>
          <p:nvPr/>
        </p:nvSpPr>
        <p:spPr>
          <a:xfrm>
            <a:off x="8772525" y="1444625"/>
            <a:ext cx="1314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提示工程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121" name="Text 46"/>
          <p:cNvSpPr/>
          <p:nvPr/>
        </p:nvSpPr>
        <p:spPr>
          <a:xfrm>
            <a:off x="8772525" y="1711325"/>
            <a:ext cx="168148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Prompt Engineering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2" name="Shape 47"/>
          <p:cNvSpPr/>
          <p:nvPr/>
        </p:nvSpPr>
        <p:spPr>
          <a:xfrm>
            <a:off x="8201025" y="1955165"/>
            <a:ext cx="3486150" cy="622935"/>
          </a:xfrm>
          <a:custGeom>
            <a:avLst/>
            <a:gdLst/>
            <a:ahLst/>
            <a:cxnLst/>
            <a:rect l="l" t="t" r="r" b="b"/>
            <a:pathLst>
              <a:path w="3486150" h="600075">
                <a:moveTo>
                  <a:pt x="76198" y="0"/>
                </a:moveTo>
                <a:lnTo>
                  <a:pt x="3409952" y="0"/>
                </a:lnTo>
                <a:cubicBezTo>
                  <a:pt x="3452035" y="0"/>
                  <a:pt x="3486150" y="34115"/>
                  <a:pt x="3486150" y="76198"/>
                </a:cubicBezTo>
                <a:lnTo>
                  <a:pt x="3486150" y="523877"/>
                </a:lnTo>
                <a:cubicBezTo>
                  <a:pt x="3486150" y="565960"/>
                  <a:pt x="3452035" y="600075"/>
                  <a:pt x="3409952" y="600075"/>
                </a:cubicBezTo>
                <a:lnTo>
                  <a:pt x="76198" y="600075"/>
                </a:lnTo>
                <a:cubicBezTo>
                  <a:pt x="34115" y="600075"/>
                  <a:pt x="0" y="565960"/>
                  <a:pt x="0" y="5238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23" name="Shape 48"/>
          <p:cNvSpPr/>
          <p:nvPr/>
        </p:nvSpPr>
        <p:spPr>
          <a:xfrm>
            <a:off x="8315325" y="198310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00000">
              <a:alpha val="60000"/>
            </a:srgbClr>
          </a:solidFill>
        </p:spPr>
      </p:sp>
      <p:sp>
        <p:nvSpPr>
          <p:cNvPr id="124" name="Text 49"/>
          <p:cNvSpPr/>
          <p:nvPr/>
        </p:nvSpPr>
        <p:spPr>
          <a:xfrm>
            <a:off x="8524875" y="1945005"/>
            <a:ext cx="3162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Few-shot提示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Text 50"/>
          <p:cNvSpPr/>
          <p:nvPr/>
        </p:nvSpPr>
        <p:spPr>
          <a:xfrm>
            <a:off x="8277225" y="2267585"/>
            <a:ext cx="3400425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 </a:t>
            </a:r>
            <a:r>
              <a:rPr lang="en-US" sz="1200" dirty="0">
                <a:solidFill>
                  <a:schemeClr val="tx1"/>
                </a:solidFill>
                <a:highlight>
                  <a:srgbClr val="5F6B7A">
                    <a:alpha val="2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少量示例 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引导模型模仿生成，显著提升输出质量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Shape 51"/>
          <p:cNvSpPr/>
          <p:nvPr/>
        </p:nvSpPr>
        <p:spPr>
          <a:xfrm>
            <a:off x="8201025" y="2656681"/>
            <a:ext cx="3486150" cy="790575"/>
          </a:xfrm>
          <a:custGeom>
            <a:avLst/>
            <a:gdLst/>
            <a:ahLst/>
            <a:cxnLst/>
            <a:rect l="l" t="t" r="r" b="b"/>
            <a:pathLst>
              <a:path w="3486150" h="790575">
                <a:moveTo>
                  <a:pt x="76204" y="0"/>
                </a:moveTo>
                <a:lnTo>
                  <a:pt x="3409946" y="0"/>
                </a:lnTo>
                <a:cubicBezTo>
                  <a:pt x="3452033" y="0"/>
                  <a:pt x="3486150" y="34117"/>
                  <a:pt x="3486150" y="76204"/>
                </a:cubicBezTo>
                <a:lnTo>
                  <a:pt x="3486150" y="714371"/>
                </a:lnTo>
                <a:cubicBezTo>
                  <a:pt x="3486150" y="756458"/>
                  <a:pt x="3452033" y="790575"/>
                  <a:pt x="3409946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27" name="Shape 52"/>
          <p:cNvSpPr/>
          <p:nvPr/>
        </p:nvSpPr>
        <p:spPr>
          <a:xfrm>
            <a:off x="8296275" y="27709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C00000">
              <a:alpha val="60000"/>
            </a:srgbClr>
          </a:solidFill>
        </p:spPr>
      </p:sp>
      <p:sp>
        <p:nvSpPr>
          <p:cNvPr id="128" name="Text 53"/>
          <p:cNvSpPr/>
          <p:nvPr/>
        </p:nvSpPr>
        <p:spPr>
          <a:xfrm>
            <a:off x="8524875" y="2732881"/>
            <a:ext cx="3162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指令微调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9" name="Text 54"/>
          <p:cNvSpPr/>
          <p:nvPr/>
        </p:nvSpPr>
        <p:spPr>
          <a:xfrm>
            <a:off x="8277225" y="2999581"/>
            <a:ext cx="3400425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基于大量多样指令微调，增强对自然语言指令的理解和执行能力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0" name="Shape 55"/>
          <p:cNvSpPr/>
          <p:nvPr/>
        </p:nvSpPr>
        <p:spPr>
          <a:xfrm>
            <a:off x="8201025" y="3518694"/>
            <a:ext cx="3486150" cy="790575"/>
          </a:xfrm>
          <a:custGeom>
            <a:avLst/>
            <a:gdLst/>
            <a:ahLst/>
            <a:cxnLst/>
            <a:rect l="l" t="t" r="r" b="b"/>
            <a:pathLst>
              <a:path w="3486150" h="790575">
                <a:moveTo>
                  <a:pt x="76204" y="0"/>
                </a:moveTo>
                <a:lnTo>
                  <a:pt x="3409946" y="0"/>
                </a:lnTo>
                <a:cubicBezTo>
                  <a:pt x="3452033" y="0"/>
                  <a:pt x="3486150" y="34117"/>
                  <a:pt x="3486150" y="76204"/>
                </a:cubicBezTo>
                <a:lnTo>
                  <a:pt x="3486150" y="714371"/>
                </a:lnTo>
                <a:cubicBezTo>
                  <a:pt x="3486150" y="756458"/>
                  <a:pt x="3452033" y="790575"/>
                  <a:pt x="3409946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31" name="Shape 56"/>
          <p:cNvSpPr/>
          <p:nvPr/>
        </p:nvSpPr>
        <p:spPr>
          <a:xfrm>
            <a:off x="8286750" y="362283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C00000">
              <a:alpha val="60000"/>
            </a:srgbClr>
          </a:solidFill>
        </p:spPr>
      </p:sp>
      <p:sp>
        <p:nvSpPr>
          <p:cNvPr id="132" name="Text 57"/>
          <p:cNvSpPr/>
          <p:nvPr/>
        </p:nvSpPr>
        <p:spPr>
          <a:xfrm>
            <a:off x="8524875" y="3584734"/>
            <a:ext cx="3162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思维链 (CoT)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Text 58"/>
          <p:cNvSpPr/>
          <p:nvPr/>
        </p:nvSpPr>
        <p:spPr>
          <a:xfrm>
            <a:off x="8277225" y="3861594"/>
            <a:ext cx="3400425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2022年突破，让模型学会"一步步想问题"，推理能力大幅提升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Shape 59"/>
          <p:cNvSpPr/>
          <p:nvPr/>
        </p:nvSpPr>
        <p:spPr>
          <a:xfrm>
            <a:off x="385763" y="4935538"/>
            <a:ext cx="11420475" cy="1419225"/>
          </a:xfrm>
          <a:custGeom>
            <a:avLst/>
            <a:gdLst/>
            <a:ahLst/>
            <a:cxnLst/>
            <a:rect l="l" t="t" r="r" b="b"/>
            <a:pathLst>
              <a:path w="11420475" h="1419225">
                <a:moveTo>
                  <a:pt x="114304" y="0"/>
                </a:moveTo>
                <a:lnTo>
                  <a:pt x="11306171" y="0"/>
                </a:lnTo>
                <a:cubicBezTo>
                  <a:pt x="11369299" y="0"/>
                  <a:pt x="11420475" y="51176"/>
                  <a:pt x="11420475" y="114304"/>
                </a:cubicBezTo>
                <a:lnTo>
                  <a:pt x="11420475" y="1304921"/>
                </a:lnTo>
                <a:cubicBezTo>
                  <a:pt x="11420475" y="1368049"/>
                  <a:pt x="11369299" y="1419225"/>
                  <a:pt x="1130617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35" name="Shape 60"/>
          <p:cNvSpPr/>
          <p:nvPr/>
        </p:nvSpPr>
        <p:spPr>
          <a:xfrm>
            <a:off x="507206" y="51022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36" name="Text 61"/>
          <p:cNvSpPr/>
          <p:nvPr/>
        </p:nvSpPr>
        <p:spPr>
          <a:xfrm>
            <a:off x="805180" y="5054600"/>
            <a:ext cx="11049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训练数据规模对比</a:t>
            </a:r>
            <a:endParaRPr lang="en-US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137" name="Shape 62"/>
          <p:cNvSpPr/>
          <p:nvPr/>
        </p:nvSpPr>
        <p:spPr>
          <a:xfrm>
            <a:off x="504825" y="5397500"/>
            <a:ext cx="2714625" cy="838200"/>
          </a:xfrm>
          <a:custGeom>
            <a:avLst/>
            <a:gdLst/>
            <a:ahLst/>
            <a:cxnLst/>
            <a:rect l="l" t="t" r="r" b="b"/>
            <a:pathLst>
              <a:path w="2714625" h="838200">
                <a:moveTo>
                  <a:pt x="76201" y="0"/>
                </a:moveTo>
                <a:lnTo>
                  <a:pt x="2638424" y="0"/>
                </a:lnTo>
                <a:cubicBezTo>
                  <a:pt x="2680509" y="0"/>
                  <a:pt x="2714625" y="34116"/>
                  <a:pt x="2714625" y="76201"/>
                </a:cubicBezTo>
                <a:lnTo>
                  <a:pt x="2714625" y="761999"/>
                </a:lnTo>
                <a:cubicBezTo>
                  <a:pt x="2714625" y="804084"/>
                  <a:pt x="2680509" y="838200"/>
                  <a:pt x="26384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38" name="Text 63"/>
          <p:cNvSpPr/>
          <p:nvPr/>
        </p:nvSpPr>
        <p:spPr>
          <a:xfrm>
            <a:off x="533400" y="5473700"/>
            <a:ext cx="2657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179GB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9" name="Text 64"/>
          <p:cNvSpPr/>
          <p:nvPr/>
        </p:nvSpPr>
        <p:spPr>
          <a:xfrm>
            <a:off x="547688" y="5778500"/>
            <a:ext cx="2628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 Python代码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Text 65"/>
          <p:cNvSpPr/>
          <p:nvPr/>
        </p:nvSpPr>
        <p:spPr>
          <a:xfrm>
            <a:off x="552450" y="6007100"/>
            <a:ext cx="2619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5400万个仓库</a:t>
            </a:r>
            <a:endParaRPr lang="en-US" sz="1000" dirty="0">
              <a:solidFill>
                <a:schemeClr val="tx1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Shape 66"/>
          <p:cNvSpPr/>
          <p:nvPr/>
        </p:nvSpPr>
        <p:spPr>
          <a:xfrm>
            <a:off x="3328988" y="5397500"/>
            <a:ext cx="2714625" cy="838200"/>
          </a:xfrm>
          <a:custGeom>
            <a:avLst/>
            <a:gdLst/>
            <a:ahLst/>
            <a:cxnLst/>
            <a:rect l="l" t="t" r="r" b="b"/>
            <a:pathLst>
              <a:path w="2714625" h="838200">
                <a:moveTo>
                  <a:pt x="76201" y="0"/>
                </a:moveTo>
                <a:lnTo>
                  <a:pt x="2638424" y="0"/>
                </a:lnTo>
                <a:cubicBezTo>
                  <a:pt x="2680509" y="0"/>
                  <a:pt x="2714625" y="34116"/>
                  <a:pt x="2714625" y="76201"/>
                </a:cubicBezTo>
                <a:lnTo>
                  <a:pt x="2714625" y="761999"/>
                </a:lnTo>
                <a:cubicBezTo>
                  <a:pt x="2714625" y="804084"/>
                  <a:pt x="2680509" y="838200"/>
                  <a:pt x="26384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42" name="Text 67"/>
          <p:cNvSpPr/>
          <p:nvPr/>
        </p:nvSpPr>
        <p:spPr>
          <a:xfrm>
            <a:off x="3357563" y="5473700"/>
            <a:ext cx="2657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500B+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3" name="Text 68"/>
          <p:cNvSpPr/>
          <p:nvPr/>
        </p:nvSpPr>
        <p:spPr>
          <a:xfrm>
            <a:off x="3371850" y="5778500"/>
            <a:ext cx="2628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CodeLlama token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4" name="Text 69"/>
          <p:cNvSpPr/>
          <p:nvPr/>
        </p:nvSpPr>
        <p:spPr>
          <a:xfrm>
            <a:off x="3376613" y="6007100"/>
            <a:ext cx="2619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多语言混合</a:t>
            </a:r>
            <a:endParaRPr lang="en-US" sz="1000" dirty="0">
              <a:solidFill>
                <a:schemeClr val="tx1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5" name="Shape 70"/>
          <p:cNvSpPr/>
          <p:nvPr/>
        </p:nvSpPr>
        <p:spPr>
          <a:xfrm>
            <a:off x="6153150" y="5397500"/>
            <a:ext cx="2714625" cy="838200"/>
          </a:xfrm>
          <a:custGeom>
            <a:avLst/>
            <a:gdLst/>
            <a:ahLst/>
            <a:cxnLst/>
            <a:rect l="l" t="t" r="r" b="b"/>
            <a:pathLst>
              <a:path w="2714625" h="838200">
                <a:moveTo>
                  <a:pt x="76201" y="0"/>
                </a:moveTo>
                <a:lnTo>
                  <a:pt x="2638424" y="0"/>
                </a:lnTo>
                <a:cubicBezTo>
                  <a:pt x="2680509" y="0"/>
                  <a:pt x="2714625" y="34116"/>
                  <a:pt x="2714625" y="76201"/>
                </a:cubicBezTo>
                <a:lnTo>
                  <a:pt x="2714625" y="761999"/>
                </a:lnTo>
                <a:cubicBezTo>
                  <a:pt x="2714625" y="804084"/>
                  <a:pt x="2680509" y="838200"/>
                  <a:pt x="26384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46" name="Text 71"/>
          <p:cNvSpPr/>
          <p:nvPr/>
        </p:nvSpPr>
        <p:spPr>
          <a:xfrm>
            <a:off x="6181725" y="5473700"/>
            <a:ext cx="26574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3TB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7" name="Text 72"/>
          <p:cNvSpPr/>
          <p:nvPr/>
        </p:nvSpPr>
        <p:spPr>
          <a:xfrm>
            <a:off x="6196013" y="5778500"/>
            <a:ext cx="2628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StarCoder数据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8" name="Text 73"/>
          <p:cNvSpPr/>
          <p:nvPr/>
        </p:nvSpPr>
        <p:spPr>
          <a:xfrm>
            <a:off x="6200775" y="6007100"/>
            <a:ext cx="2619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80+编程语言</a:t>
            </a:r>
            <a:endParaRPr lang="en-US" sz="1000" dirty="0">
              <a:solidFill>
                <a:schemeClr val="tx1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" name="Shape 74"/>
          <p:cNvSpPr/>
          <p:nvPr/>
        </p:nvSpPr>
        <p:spPr>
          <a:xfrm>
            <a:off x="8977313" y="5397500"/>
            <a:ext cx="2714625" cy="838200"/>
          </a:xfrm>
          <a:custGeom>
            <a:avLst/>
            <a:gdLst/>
            <a:ahLst/>
            <a:cxnLst/>
            <a:rect l="l" t="t" r="r" b="b"/>
            <a:pathLst>
              <a:path w="2714625" h="838200">
                <a:moveTo>
                  <a:pt x="76201" y="0"/>
                </a:moveTo>
                <a:lnTo>
                  <a:pt x="2638424" y="0"/>
                </a:lnTo>
                <a:cubicBezTo>
                  <a:pt x="2680509" y="0"/>
                  <a:pt x="2714625" y="34116"/>
                  <a:pt x="2714625" y="76201"/>
                </a:cubicBezTo>
                <a:lnTo>
                  <a:pt x="2714625" y="761999"/>
                </a:lnTo>
                <a:cubicBezTo>
                  <a:pt x="2714625" y="804084"/>
                  <a:pt x="2680509" y="838200"/>
                  <a:pt x="26384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50" name="Text 75"/>
          <p:cNvSpPr/>
          <p:nvPr/>
        </p:nvSpPr>
        <p:spPr>
          <a:xfrm>
            <a:off x="9005888" y="5473700"/>
            <a:ext cx="2657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2.6T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1" name="Text 76"/>
          <p:cNvSpPr/>
          <p:nvPr/>
        </p:nvSpPr>
        <p:spPr>
          <a:xfrm>
            <a:off x="9020175" y="5778500"/>
            <a:ext cx="2628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Baichuan 2 token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2" name="Text 77"/>
          <p:cNvSpPr/>
          <p:nvPr/>
        </p:nvSpPr>
        <p:spPr>
          <a:xfrm>
            <a:off x="9024938" y="6007100"/>
            <a:ext cx="2619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通用+代码混合</a:t>
            </a:r>
            <a:endParaRPr lang="en-US" sz="1000" dirty="0">
              <a:solidFill>
                <a:schemeClr val="tx1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 userDrawn="1"/>
        </p:nvPicPr>
        <p:blipFill>
          <a:blip r:embed="rId3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/>
          <p:nvPr/>
        </p:nvSpPr>
        <p:spPr>
          <a:xfrm>
            <a:off x="223520" y="33528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性能对比：主流代码大模型评估数据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5763" y="1518603"/>
            <a:ext cx="5648325" cy="2524125"/>
          </a:xfrm>
          <a:custGeom>
            <a:avLst/>
            <a:gdLst/>
            <a:ahLst/>
            <a:cxnLst/>
            <a:rect l="l" t="t" r="r" b="b"/>
            <a:pathLst>
              <a:path w="5648325" h="2524125">
                <a:moveTo>
                  <a:pt x="114292" y="0"/>
                </a:moveTo>
                <a:lnTo>
                  <a:pt x="5534033" y="0"/>
                </a:lnTo>
                <a:cubicBezTo>
                  <a:pt x="5597155" y="0"/>
                  <a:pt x="5648325" y="51170"/>
                  <a:pt x="5648325" y="114292"/>
                </a:cubicBezTo>
                <a:lnTo>
                  <a:pt x="5648325" y="2409833"/>
                </a:lnTo>
                <a:cubicBezTo>
                  <a:pt x="5648325" y="2472955"/>
                  <a:pt x="5597155" y="2524125"/>
                  <a:pt x="5534033" y="2524125"/>
                </a:cubicBezTo>
                <a:lnTo>
                  <a:pt x="114292" y="2524125"/>
                </a:lnTo>
                <a:cubicBezTo>
                  <a:pt x="51170" y="2524125"/>
                  <a:pt x="0" y="2472955"/>
                  <a:pt x="0" y="2409833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6731" y="167576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6458" y="32445"/>
                </a:moveTo>
                <a:cubicBezTo>
                  <a:pt x="119881" y="29728"/>
                  <a:pt x="122039" y="25524"/>
                  <a:pt x="122039" y="20836"/>
                </a:cubicBezTo>
                <a:cubicBezTo>
                  <a:pt x="122039" y="12613"/>
                  <a:pt x="115379" y="5953"/>
                  <a:pt x="107156" y="5953"/>
                </a:cubicBezTo>
                <a:cubicBezTo>
                  <a:pt x="98933" y="5953"/>
                  <a:pt x="92273" y="12613"/>
                  <a:pt x="92273" y="20836"/>
                </a:cubicBezTo>
                <a:cubicBezTo>
                  <a:pt x="92273" y="25524"/>
                  <a:pt x="94469" y="29728"/>
                  <a:pt x="97854" y="32445"/>
                </a:cubicBezTo>
                <a:lnTo>
                  <a:pt x="72405" y="72479"/>
                </a:lnTo>
                <a:cubicBezTo>
                  <a:pt x="68684" y="78321"/>
                  <a:pt x="60759" y="79772"/>
                  <a:pt x="55215" y="75605"/>
                </a:cubicBezTo>
                <a:lnTo>
                  <a:pt x="33077" y="59048"/>
                </a:lnTo>
                <a:cubicBezTo>
                  <a:pt x="34751" y="56666"/>
                  <a:pt x="35719" y="53727"/>
                  <a:pt x="35719" y="50602"/>
                </a:cubicBezTo>
                <a:cubicBezTo>
                  <a:pt x="35719" y="42379"/>
                  <a:pt x="29059" y="35719"/>
                  <a:pt x="20836" y="35719"/>
                </a:cubicBezTo>
                <a:cubicBezTo>
                  <a:pt x="12613" y="35719"/>
                  <a:pt x="5953" y="42379"/>
                  <a:pt x="5953" y="50602"/>
                </a:cubicBezTo>
                <a:cubicBezTo>
                  <a:pt x="5953" y="58713"/>
                  <a:pt x="12464" y="65336"/>
                  <a:pt x="20538" y="65484"/>
                </a:cubicBezTo>
                <a:lnTo>
                  <a:pt x="32668" y="146410"/>
                </a:lnTo>
                <a:cubicBezTo>
                  <a:pt x="34417" y="158055"/>
                  <a:pt x="44425" y="166688"/>
                  <a:pt x="56220" y="166688"/>
                </a:cubicBezTo>
                <a:lnTo>
                  <a:pt x="158093" y="166688"/>
                </a:lnTo>
                <a:cubicBezTo>
                  <a:pt x="169887" y="166688"/>
                  <a:pt x="179896" y="158055"/>
                  <a:pt x="181645" y="146410"/>
                </a:cubicBezTo>
                <a:lnTo>
                  <a:pt x="193774" y="65484"/>
                </a:lnTo>
                <a:cubicBezTo>
                  <a:pt x="201848" y="65336"/>
                  <a:pt x="208359" y="58713"/>
                  <a:pt x="208359" y="50602"/>
                </a:cubicBezTo>
                <a:cubicBezTo>
                  <a:pt x="208359" y="42379"/>
                  <a:pt x="201699" y="35719"/>
                  <a:pt x="193477" y="35719"/>
                </a:cubicBezTo>
                <a:cubicBezTo>
                  <a:pt x="185254" y="35719"/>
                  <a:pt x="178594" y="42379"/>
                  <a:pt x="178594" y="50602"/>
                </a:cubicBezTo>
                <a:cubicBezTo>
                  <a:pt x="178594" y="53727"/>
                  <a:pt x="179561" y="56666"/>
                  <a:pt x="181235" y="59048"/>
                </a:cubicBezTo>
                <a:lnTo>
                  <a:pt x="159134" y="75642"/>
                </a:lnTo>
                <a:cubicBezTo>
                  <a:pt x="153591" y="79809"/>
                  <a:pt x="145666" y="78358"/>
                  <a:pt x="141945" y="72517"/>
                </a:cubicBezTo>
                <a:lnTo>
                  <a:pt x="116458" y="32445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7" name="Text 5"/>
          <p:cNvSpPr/>
          <p:nvPr/>
        </p:nvSpPr>
        <p:spPr>
          <a:xfrm>
            <a:off x="742950" y="1637665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闭源模型（性能领先）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3875" y="1980565"/>
            <a:ext cx="5391150" cy="609600"/>
          </a:xfrm>
          <a:custGeom>
            <a:avLst/>
            <a:gdLst/>
            <a:ahLst/>
            <a:cxnLst/>
            <a:rect l="l" t="t" r="r" b="b"/>
            <a:pathLst>
              <a:path w="5391150" h="609600">
                <a:moveTo>
                  <a:pt x="38100" y="0"/>
                </a:moveTo>
                <a:lnTo>
                  <a:pt x="5314950" y="0"/>
                </a:lnTo>
                <a:cubicBezTo>
                  <a:pt x="5357006" y="0"/>
                  <a:pt x="5391150" y="34144"/>
                  <a:pt x="5391150" y="76200"/>
                </a:cubicBezTo>
                <a:lnTo>
                  <a:pt x="5391150" y="533400"/>
                </a:lnTo>
                <a:cubicBezTo>
                  <a:pt x="5391150" y="575456"/>
                  <a:pt x="5357006" y="609600"/>
                  <a:pt x="53149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9" name="Shape 7"/>
          <p:cNvSpPr/>
          <p:nvPr/>
        </p:nvSpPr>
        <p:spPr>
          <a:xfrm>
            <a:off x="523875" y="198056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0" name="Text 8"/>
          <p:cNvSpPr/>
          <p:nvPr/>
        </p:nvSpPr>
        <p:spPr>
          <a:xfrm>
            <a:off x="619125" y="2056765"/>
            <a:ext cx="18821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Claude Opus 4.1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84602" y="2075815"/>
            <a:ext cx="457200" cy="190500"/>
          </a:xfrm>
          <a:custGeom>
            <a:avLst/>
            <a:gdLst/>
            <a:ahLst/>
            <a:cxnLst/>
            <a:rect l="l" t="t" r="r" b="b"/>
            <a:pathLst>
              <a:path w="457200" h="190500">
                <a:moveTo>
                  <a:pt x="38100" y="0"/>
                </a:moveTo>
                <a:lnTo>
                  <a:pt x="419100" y="0"/>
                </a:lnTo>
                <a:cubicBezTo>
                  <a:pt x="440128" y="0"/>
                  <a:pt x="457200" y="17072"/>
                  <a:pt x="457200" y="38100"/>
                </a:cubicBezTo>
                <a:lnTo>
                  <a:pt x="457200" y="152400"/>
                </a:lnTo>
                <a:cubicBezTo>
                  <a:pt x="457200" y="173428"/>
                  <a:pt x="440128" y="190500"/>
                  <a:pt x="4191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327650" y="2075815"/>
            <a:ext cx="687070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SOTA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9125" y="2323465"/>
            <a:ext cx="111506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HumanEval: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80005" y="2323465"/>
            <a:ext cx="555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92.1%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67075" y="2323465"/>
            <a:ext cx="115379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SWE-bench: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" name="Text 14"/>
          <p:cNvSpPr/>
          <p:nvPr/>
        </p:nvSpPr>
        <p:spPr>
          <a:xfrm>
            <a:off x="5310505" y="2323465"/>
            <a:ext cx="590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70.3%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" name="Shape 15"/>
          <p:cNvSpPr/>
          <p:nvPr/>
        </p:nvSpPr>
        <p:spPr>
          <a:xfrm>
            <a:off x="523875" y="2647315"/>
            <a:ext cx="5391150" cy="609600"/>
          </a:xfrm>
          <a:custGeom>
            <a:avLst/>
            <a:gdLst/>
            <a:ahLst/>
            <a:cxnLst/>
            <a:rect l="l" t="t" r="r" b="b"/>
            <a:pathLst>
              <a:path w="5391150" h="609600">
                <a:moveTo>
                  <a:pt x="38100" y="0"/>
                </a:moveTo>
                <a:lnTo>
                  <a:pt x="5314950" y="0"/>
                </a:lnTo>
                <a:cubicBezTo>
                  <a:pt x="5357006" y="0"/>
                  <a:pt x="5391150" y="34144"/>
                  <a:pt x="5391150" y="76200"/>
                </a:cubicBezTo>
                <a:lnTo>
                  <a:pt x="5391150" y="533400"/>
                </a:lnTo>
                <a:cubicBezTo>
                  <a:pt x="5391150" y="575456"/>
                  <a:pt x="5357006" y="609600"/>
                  <a:pt x="53149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29" name="Shape 16"/>
          <p:cNvSpPr/>
          <p:nvPr/>
        </p:nvSpPr>
        <p:spPr>
          <a:xfrm>
            <a:off x="523875" y="264731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0" name="Text 17"/>
          <p:cNvSpPr/>
          <p:nvPr/>
        </p:nvSpPr>
        <p:spPr>
          <a:xfrm>
            <a:off x="619125" y="2723515"/>
            <a:ext cx="746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GPT-5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1" name="Shape 18"/>
          <p:cNvSpPr/>
          <p:nvPr/>
        </p:nvSpPr>
        <p:spPr>
          <a:xfrm>
            <a:off x="5457825" y="2742565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152400"/>
                </a:lnTo>
                <a:cubicBezTo>
                  <a:pt x="381000" y="173428"/>
                  <a:pt x="363928" y="190500"/>
                  <a:pt x="3429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</p:spPr>
      </p:sp>
      <p:sp>
        <p:nvSpPr>
          <p:cNvPr id="32" name="Text 19"/>
          <p:cNvSpPr/>
          <p:nvPr/>
        </p:nvSpPr>
        <p:spPr>
          <a:xfrm>
            <a:off x="5412105" y="2742565"/>
            <a:ext cx="503555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高效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3" name="Text 20"/>
          <p:cNvSpPr/>
          <p:nvPr/>
        </p:nvSpPr>
        <p:spPr>
          <a:xfrm>
            <a:off x="619125" y="2990215"/>
            <a:ext cx="124968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HumanEval: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4" name="Text 21"/>
          <p:cNvSpPr/>
          <p:nvPr/>
        </p:nvSpPr>
        <p:spPr>
          <a:xfrm>
            <a:off x="2682875" y="2990215"/>
            <a:ext cx="57023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89.3%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" name="Text 22"/>
          <p:cNvSpPr/>
          <p:nvPr/>
        </p:nvSpPr>
        <p:spPr>
          <a:xfrm>
            <a:off x="3267075" y="2990215"/>
            <a:ext cx="88709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成本节省: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 23"/>
          <p:cNvSpPr/>
          <p:nvPr/>
        </p:nvSpPr>
        <p:spPr>
          <a:xfrm>
            <a:off x="5457190" y="2990215"/>
            <a:ext cx="45212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90%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523875" y="3314065"/>
            <a:ext cx="5391150" cy="609600"/>
          </a:xfrm>
          <a:custGeom>
            <a:avLst/>
            <a:gdLst/>
            <a:ahLst/>
            <a:cxnLst/>
            <a:rect l="l" t="t" r="r" b="b"/>
            <a:pathLst>
              <a:path w="5391150" h="609600">
                <a:moveTo>
                  <a:pt x="38100" y="0"/>
                </a:moveTo>
                <a:lnTo>
                  <a:pt x="5314950" y="0"/>
                </a:lnTo>
                <a:cubicBezTo>
                  <a:pt x="5357006" y="0"/>
                  <a:pt x="5391150" y="34144"/>
                  <a:pt x="5391150" y="76200"/>
                </a:cubicBezTo>
                <a:lnTo>
                  <a:pt x="5391150" y="533400"/>
                </a:lnTo>
                <a:cubicBezTo>
                  <a:pt x="5391150" y="575456"/>
                  <a:pt x="5357006" y="609600"/>
                  <a:pt x="53149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38" name="Shape 25"/>
          <p:cNvSpPr/>
          <p:nvPr/>
        </p:nvSpPr>
        <p:spPr>
          <a:xfrm>
            <a:off x="523875" y="331406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9" name="Text 26"/>
          <p:cNvSpPr/>
          <p:nvPr/>
        </p:nvSpPr>
        <p:spPr>
          <a:xfrm>
            <a:off x="619125" y="3390265"/>
            <a:ext cx="1549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Gemini 2.5 Pro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0" name="Shape 27"/>
          <p:cNvSpPr/>
          <p:nvPr/>
        </p:nvSpPr>
        <p:spPr>
          <a:xfrm>
            <a:off x="5173345" y="3409315"/>
            <a:ext cx="665480" cy="190500"/>
          </a:xfrm>
          <a:custGeom>
            <a:avLst/>
            <a:gdLst/>
            <a:ahLst/>
            <a:cxnLst/>
            <a:rect l="l" t="t" r="r" b="b"/>
            <a:pathLst>
              <a:path w="609600" h="190500">
                <a:moveTo>
                  <a:pt x="38100" y="0"/>
                </a:moveTo>
                <a:lnTo>
                  <a:pt x="571500" y="0"/>
                </a:lnTo>
                <a:cubicBezTo>
                  <a:pt x="592528" y="0"/>
                  <a:pt x="609600" y="17072"/>
                  <a:pt x="609600" y="38100"/>
                </a:cubicBezTo>
                <a:lnTo>
                  <a:pt x="609600" y="152400"/>
                </a:lnTo>
                <a:cubicBezTo>
                  <a:pt x="609600" y="173428"/>
                  <a:pt x="592528" y="190500"/>
                  <a:pt x="5715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</p:spPr>
      </p:sp>
      <p:sp>
        <p:nvSpPr>
          <p:cNvPr id="41" name="Text 28"/>
          <p:cNvSpPr/>
          <p:nvPr/>
        </p:nvSpPr>
        <p:spPr>
          <a:xfrm>
            <a:off x="5129530" y="3404235"/>
            <a:ext cx="847725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长上下文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2" name="Text 29"/>
          <p:cNvSpPr/>
          <p:nvPr/>
        </p:nvSpPr>
        <p:spPr>
          <a:xfrm>
            <a:off x="619125" y="3656965"/>
            <a:ext cx="116459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HumanEval: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3" name="Text 30"/>
          <p:cNvSpPr/>
          <p:nvPr/>
        </p:nvSpPr>
        <p:spPr>
          <a:xfrm>
            <a:off x="2683510" y="3656965"/>
            <a:ext cx="57848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87.6%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4" name="Text 31"/>
          <p:cNvSpPr/>
          <p:nvPr/>
        </p:nvSpPr>
        <p:spPr>
          <a:xfrm>
            <a:off x="3267075" y="3656965"/>
            <a:ext cx="74485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上下文: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 32"/>
          <p:cNvSpPr/>
          <p:nvPr/>
        </p:nvSpPr>
        <p:spPr>
          <a:xfrm>
            <a:off x="4864100" y="3656965"/>
            <a:ext cx="104648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2M tokens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6" name="Shape 33"/>
          <p:cNvSpPr/>
          <p:nvPr/>
        </p:nvSpPr>
        <p:spPr>
          <a:xfrm>
            <a:off x="6157913" y="1518603"/>
            <a:ext cx="5648325" cy="2524125"/>
          </a:xfrm>
          <a:custGeom>
            <a:avLst/>
            <a:gdLst/>
            <a:ahLst/>
            <a:cxnLst/>
            <a:rect l="l" t="t" r="r" b="b"/>
            <a:pathLst>
              <a:path w="5648325" h="2524125">
                <a:moveTo>
                  <a:pt x="114292" y="0"/>
                </a:moveTo>
                <a:lnTo>
                  <a:pt x="5534033" y="0"/>
                </a:lnTo>
                <a:cubicBezTo>
                  <a:pt x="5597155" y="0"/>
                  <a:pt x="5648325" y="51170"/>
                  <a:pt x="5648325" y="114292"/>
                </a:cubicBezTo>
                <a:lnTo>
                  <a:pt x="5648325" y="2409833"/>
                </a:lnTo>
                <a:cubicBezTo>
                  <a:pt x="5648325" y="2472955"/>
                  <a:pt x="5597155" y="2524125"/>
                  <a:pt x="5534033" y="2524125"/>
                </a:cubicBezTo>
                <a:lnTo>
                  <a:pt x="114292" y="2524125"/>
                </a:lnTo>
                <a:cubicBezTo>
                  <a:pt x="51170" y="2524125"/>
                  <a:pt x="0" y="2472955"/>
                  <a:pt x="0" y="2409833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7" name="Shape 34"/>
          <p:cNvSpPr/>
          <p:nvPr/>
        </p:nvSpPr>
        <p:spPr>
          <a:xfrm>
            <a:off x="6312694" y="167576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9766" y="38695"/>
                </a:moveTo>
                <a:cubicBezTo>
                  <a:pt x="34694" y="38695"/>
                  <a:pt x="38695" y="34694"/>
                  <a:pt x="38695" y="29766"/>
                </a:cubicBezTo>
                <a:cubicBezTo>
                  <a:pt x="38695" y="24837"/>
                  <a:pt x="34694" y="20836"/>
                  <a:pt x="29766" y="20836"/>
                </a:cubicBezTo>
                <a:cubicBezTo>
                  <a:pt x="24837" y="20836"/>
                  <a:pt x="20836" y="24837"/>
                  <a:pt x="20836" y="29766"/>
                </a:cubicBezTo>
                <a:cubicBezTo>
                  <a:pt x="20836" y="34694"/>
                  <a:pt x="24837" y="38695"/>
                  <a:pt x="29766" y="38695"/>
                </a:cubicBezTo>
                <a:close/>
                <a:moveTo>
                  <a:pt x="59531" y="29766"/>
                </a:moveTo>
                <a:cubicBezTo>
                  <a:pt x="59531" y="41970"/>
                  <a:pt x="52201" y="52462"/>
                  <a:pt x="41672" y="57038"/>
                </a:cubicBezTo>
                <a:lnTo>
                  <a:pt x="41672" y="83344"/>
                </a:lnTo>
                <a:lnTo>
                  <a:pt x="107156" y="83344"/>
                </a:lnTo>
                <a:cubicBezTo>
                  <a:pt x="117016" y="83344"/>
                  <a:pt x="125016" y="75344"/>
                  <a:pt x="125016" y="65484"/>
                </a:cubicBezTo>
                <a:lnTo>
                  <a:pt x="125016" y="57038"/>
                </a:lnTo>
                <a:cubicBezTo>
                  <a:pt x="114486" y="52462"/>
                  <a:pt x="107156" y="41970"/>
                  <a:pt x="107156" y="29766"/>
                </a:cubicBezTo>
                <a:cubicBezTo>
                  <a:pt x="107156" y="13320"/>
                  <a:pt x="120476" y="0"/>
                  <a:pt x="136922" y="0"/>
                </a:cubicBezTo>
                <a:cubicBezTo>
                  <a:pt x="153367" y="0"/>
                  <a:pt x="166688" y="13320"/>
                  <a:pt x="166688" y="29766"/>
                </a:cubicBezTo>
                <a:cubicBezTo>
                  <a:pt x="166688" y="41970"/>
                  <a:pt x="159358" y="52462"/>
                  <a:pt x="148828" y="57038"/>
                </a:cubicBezTo>
                <a:lnTo>
                  <a:pt x="148828" y="65484"/>
                </a:lnTo>
                <a:cubicBezTo>
                  <a:pt x="148828" y="88516"/>
                  <a:pt x="130187" y="107156"/>
                  <a:pt x="107156" y="107156"/>
                </a:cubicBezTo>
                <a:lnTo>
                  <a:pt x="41672" y="107156"/>
                </a:lnTo>
                <a:lnTo>
                  <a:pt x="41672" y="133462"/>
                </a:lnTo>
                <a:cubicBezTo>
                  <a:pt x="52201" y="138038"/>
                  <a:pt x="59531" y="148530"/>
                  <a:pt x="59531" y="160734"/>
                </a:cubicBezTo>
                <a:cubicBezTo>
                  <a:pt x="59531" y="177180"/>
                  <a:pt x="46211" y="190500"/>
                  <a:pt x="29766" y="190500"/>
                </a:cubicBezTo>
                <a:cubicBezTo>
                  <a:pt x="13320" y="190500"/>
                  <a:pt x="0" y="177180"/>
                  <a:pt x="0" y="160734"/>
                </a:cubicBezTo>
                <a:cubicBezTo>
                  <a:pt x="0" y="148530"/>
                  <a:pt x="7330" y="138038"/>
                  <a:pt x="17859" y="133462"/>
                </a:cubicBezTo>
                <a:lnTo>
                  <a:pt x="17859" y="57076"/>
                </a:lnTo>
                <a:cubicBezTo>
                  <a:pt x="7330" y="52462"/>
                  <a:pt x="0" y="41970"/>
                  <a:pt x="0" y="29766"/>
                </a:cubicBezTo>
                <a:cubicBezTo>
                  <a:pt x="0" y="13320"/>
                  <a:pt x="13320" y="0"/>
                  <a:pt x="29766" y="0"/>
                </a:cubicBezTo>
                <a:cubicBezTo>
                  <a:pt x="46211" y="0"/>
                  <a:pt x="59531" y="13320"/>
                  <a:pt x="59531" y="29766"/>
                </a:cubicBezTo>
                <a:close/>
                <a:moveTo>
                  <a:pt x="145852" y="29766"/>
                </a:moveTo>
                <a:cubicBezTo>
                  <a:pt x="145852" y="24837"/>
                  <a:pt x="141850" y="20836"/>
                  <a:pt x="136922" y="20836"/>
                </a:cubicBezTo>
                <a:cubicBezTo>
                  <a:pt x="131993" y="20836"/>
                  <a:pt x="127992" y="24837"/>
                  <a:pt x="127992" y="29766"/>
                </a:cubicBezTo>
                <a:cubicBezTo>
                  <a:pt x="127992" y="34694"/>
                  <a:pt x="131993" y="38695"/>
                  <a:pt x="136922" y="38695"/>
                </a:cubicBezTo>
                <a:cubicBezTo>
                  <a:pt x="141850" y="38695"/>
                  <a:pt x="145852" y="34694"/>
                  <a:pt x="145852" y="29766"/>
                </a:cubicBezTo>
                <a:close/>
                <a:moveTo>
                  <a:pt x="29766" y="169664"/>
                </a:moveTo>
                <a:cubicBezTo>
                  <a:pt x="34694" y="169664"/>
                  <a:pt x="38695" y="165663"/>
                  <a:pt x="38695" y="160734"/>
                </a:cubicBezTo>
                <a:cubicBezTo>
                  <a:pt x="38695" y="155806"/>
                  <a:pt x="34694" y="151805"/>
                  <a:pt x="29766" y="151805"/>
                </a:cubicBezTo>
                <a:cubicBezTo>
                  <a:pt x="24837" y="151805"/>
                  <a:pt x="20836" y="155806"/>
                  <a:pt x="20836" y="160734"/>
                </a:cubicBezTo>
                <a:cubicBezTo>
                  <a:pt x="20836" y="165663"/>
                  <a:pt x="24837" y="169664"/>
                  <a:pt x="29766" y="169664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8" name="Text 35"/>
          <p:cNvSpPr/>
          <p:nvPr/>
        </p:nvSpPr>
        <p:spPr>
          <a:xfrm>
            <a:off x="6515100" y="1637665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开源模型（快速追赶）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9" name="Shape 36"/>
          <p:cNvSpPr/>
          <p:nvPr/>
        </p:nvSpPr>
        <p:spPr>
          <a:xfrm>
            <a:off x="6296025" y="1980565"/>
            <a:ext cx="5391150" cy="609600"/>
          </a:xfrm>
          <a:custGeom>
            <a:avLst/>
            <a:gdLst/>
            <a:ahLst/>
            <a:cxnLst/>
            <a:rect l="l" t="t" r="r" b="b"/>
            <a:pathLst>
              <a:path w="5391150" h="609600">
                <a:moveTo>
                  <a:pt x="38100" y="0"/>
                </a:moveTo>
                <a:lnTo>
                  <a:pt x="5314950" y="0"/>
                </a:lnTo>
                <a:cubicBezTo>
                  <a:pt x="5357006" y="0"/>
                  <a:pt x="5391150" y="34144"/>
                  <a:pt x="5391150" y="76200"/>
                </a:cubicBezTo>
                <a:lnTo>
                  <a:pt x="5391150" y="533400"/>
                </a:lnTo>
                <a:cubicBezTo>
                  <a:pt x="5391150" y="575456"/>
                  <a:pt x="5357006" y="609600"/>
                  <a:pt x="53149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50" name="Shape 37"/>
          <p:cNvSpPr/>
          <p:nvPr/>
        </p:nvSpPr>
        <p:spPr>
          <a:xfrm>
            <a:off x="6296025" y="198056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51" name="Text 38"/>
          <p:cNvSpPr/>
          <p:nvPr/>
        </p:nvSpPr>
        <p:spPr>
          <a:xfrm>
            <a:off x="6391275" y="2056765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DeepSeek R1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2" name="Shape 39"/>
          <p:cNvSpPr/>
          <p:nvPr/>
        </p:nvSpPr>
        <p:spPr>
          <a:xfrm>
            <a:off x="10960735" y="2075815"/>
            <a:ext cx="650240" cy="190500"/>
          </a:xfrm>
          <a:custGeom>
            <a:avLst/>
            <a:gdLst/>
            <a:ahLst/>
            <a:cxnLst/>
            <a:rect l="l" t="t" r="r" b="b"/>
            <a:pathLst>
              <a:path w="609600" h="190500">
                <a:moveTo>
                  <a:pt x="38100" y="0"/>
                </a:moveTo>
                <a:lnTo>
                  <a:pt x="571500" y="0"/>
                </a:lnTo>
                <a:cubicBezTo>
                  <a:pt x="592528" y="0"/>
                  <a:pt x="609600" y="17072"/>
                  <a:pt x="609600" y="38100"/>
                </a:cubicBezTo>
                <a:lnTo>
                  <a:pt x="609600" y="152400"/>
                </a:lnTo>
                <a:cubicBezTo>
                  <a:pt x="609600" y="173428"/>
                  <a:pt x="592528" y="190500"/>
                  <a:pt x="5715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>
              <a:alpha val="20000"/>
            </a:srgbClr>
          </a:solidFill>
        </p:spPr>
      </p:sp>
      <p:sp>
        <p:nvSpPr>
          <p:cNvPr id="53" name="Text 40"/>
          <p:cNvSpPr/>
          <p:nvPr/>
        </p:nvSpPr>
        <p:spPr>
          <a:xfrm>
            <a:off x="10902315" y="2068195"/>
            <a:ext cx="775970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开源最强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4" name="Text 41"/>
          <p:cNvSpPr/>
          <p:nvPr/>
        </p:nvSpPr>
        <p:spPr>
          <a:xfrm>
            <a:off x="6391275" y="2323465"/>
            <a:ext cx="118999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HumanEval: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5" name="Text 42"/>
          <p:cNvSpPr/>
          <p:nvPr/>
        </p:nvSpPr>
        <p:spPr>
          <a:xfrm>
            <a:off x="8406130" y="2323465"/>
            <a:ext cx="61976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84.9%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6" name="Text 43"/>
          <p:cNvSpPr/>
          <p:nvPr/>
        </p:nvSpPr>
        <p:spPr>
          <a:xfrm>
            <a:off x="9039225" y="2323465"/>
            <a:ext cx="49466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特点: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 44"/>
          <p:cNvSpPr/>
          <p:nvPr/>
        </p:nvSpPr>
        <p:spPr>
          <a:xfrm>
            <a:off x="10891520" y="2323465"/>
            <a:ext cx="790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MoE架构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Shape 45"/>
          <p:cNvSpPr/>
          <p:nvPr/>
        </p:nvSpPr>
        <p:spPr>
          <a:xfrm>
            <a:off x="6296025" y="2647315"/>
            <a:ext cx="5391150" cy="609600"/>
          </a:xfrm>
          <a:custGeom>
            <a:avLst/>
            <a:gdLst/>
            <a:ahLst/>
            <a:cxnLst/>
            <a:rect l="l" t="t" r="r" b="b"/>
            <a:pathLst>
              <a:path w="5391150" h="609600">
                <a:moveTo>
                  <a:pt x="38100" y="0"/>
                </a:moveTo>
                <a:lnTo>
                  <a:pt x="5314950" y="0"/>
                </a:lnTo>
                <a:cubicBezTo>
                  <a:pt x="5357006" y="0"/>
                  <a:pt x="5391150" y="34144"/>
                  <a:pt x="5391150" y="76200"/>
                </a:cubicBezTo>
                <a:lnTo>
                  <a:pt x="5391150" y="533400"/>
                </a:lnTo>
                <a:cubicBezTo>
                  <a:pt x="5391150" y="575456"/>
                  <a:pt x="5357006" y="609600"/>
                  <a:pt x="53149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59" name="Shape 46"/>
          <p:cNvSpPr/>
          <p:nvPr/>
        </p:nvSpPr>
        <p:spPr>
          <a:xfrm>
            <a:off x="6296025" y="264731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60" name="Text 47"/>
          <p:cNvSpPr/>
          <p:nvPr/>
        </p:nvSpPr>
        <p:spPr>
          <a:xfrm>
            <a:off x="6391275" y="2723515"/>
            <a:ext cx="143954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Qwen2.5-Max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1" name="Shape 48"/>
          <p:cNvSpPr/>
          <p:nvPr/>
        </p:nvSpPr>
        <p:spPr>
          <a:xfrm>
            <a:off x="10960735" y="2742565"/>
            <a:ext cx="650240" cy="190500"/>
          </a:xfrm>
          <a:custGeom>
            <a:avLst/>
            <a:gdLst/>
            <a:ahLst/>
            <a:cxnLst/>
            <a:rect l="l" t="t" r="r" b="b"/>
            <a:pathLst>
              <a:path w="609600" h="190500">
                <a:moveTo>
                  <a:pt x="38100" y="0"/>
                </a:moveTo>
                <a:lnTo>
                  <a:pt x="571500" y="0"/>
                </a:lnTo>
                <a:cubicBezTo>
                  <a:pt x="592528" y="0"/>
                  <a:pt x="609600" y="17072"/>
                  <a:pt x="609600" y="38100"/>
                </a:cubicBezTo>
                <a:lnTo>
                  <a:pt x="609600" y="152400"/>
                </a:lnTo>
                <a:cubicBezTo>
                  <a:pt x="609600" y="173428"/>
                  <a:pt x="592528" y="190500"/>
                  <a:pt x="5715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</p:spPr>
      </p:sp>
      <p:sp>
        <p:nvSpPr>
          <p:cNvPr id="62" name="Text 49"/>
          <p:cNvSpPr/>
          <p:nvPr/>
        </p:nvSpPr>
        <p:spPr>
          <a:xfrm>
            <a:off x="10907395" y="2734945"/>
            <a:ext cx="775970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国产领先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3" name="Text 50"/>
          <p:cNvSpPr/>
          <p:nvPr/>
        </p:nvSpPr>
        <p:spPr>
          <a:xfrm>
            <a:off x="6391275" y="2990215"/>
            <a:ext cx="1190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HumanEval: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4" name="Text 51"/>
          <p:cNvSpPr/>
          <p:nvPr/>
        </p:nvSpPr>
        <p:spPr>
          <a:xfrm>
            <a:off x="8406130" y="2990215"/>
            <a:ext cx="619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85.4%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5" name="Text 52"/>
          <p:cNvSpPr/>
          <p:nvPr/>
        </p:nvSpPr>
        <p:spPr>
          <a:xfrm>
            <a:off x="9039225" y="2990215"/>
            <a:ext cx="708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上下文: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 53"/>
          <p:cNvSpPr/>
          <p:nvPr/>
        </p:nvSpPr>
        <p:spPr>
          <a:xfrm>
            <a:off x="11193145" y="2990215"/>
            <a:ext cx="48387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128K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7" name="Shape 54"/>
          <p:cNvSpPr/>
          <p:nvPr/>
        </p:nvSpPr>
        <p:spPr>
          <a:xfrm>
            <a:off x="6296025" y="3314065"/>
            <a:ext cx="5391150" cy="609600"/>
          </a:xfrm>
          <a:custGeom>
            <a:avLst/>
            <a:gdLst/>
            <a:ahLst/>
            <a:cxnLst/>
            <a:rect l="l" t="t" r="r" b="b"/>
            <a:pathLst>
              <a:path w="5391150" h="609600">
                <a:moveTo>
                  <a:pt x="38100" y="0"/>
                </a:moveTo>
                <a:lnTo>
                  <a:pt x="5314950" y="0"/>
                </a:lnTo>
                <a:cubicBezTo>
                  <a:pt x="5357006" y="0"/>
                  <a:pt x="5391150" y="34144"/>
                  <a:pt x="5391150" y="76200"/>
                </a:cubicBezTo>
                <a:lnTo>
                  <a:pt x="5391150" y="533400"/>
                </a:lnTo>
                <a:cubicBezTo>
                  <a:pt x="5391150" y="575456"/>
                  <a:pt x="5357006" y="609600"/>
                  <a:pt x="53149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68" name="Shape 55"/>
          <p:cNvSpPr/>
          <p:nvPr/>
        </p:nvSpPr>
        <p:spPr>
          <a:xfrm>
            <a:off x="6296025" y="331406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69" name="Text 56"/>
          <p:cNvSpPr/>
          <p:nvPr/>
        </p:nvSpPr>
        <p:spPr>
          <a:xfrm>
            <a:off x="6391275" y="3390265"/>
            <a:ext cx="18180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CodeLlama 34B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0" name="Shape 57"/>
          <p:cNvSpPr/>
          <p:nvPr/>
        </p:nvSpPr>
        <p:spPr>
          <a:xfrm>
            <a:off x="11193959" y="3409315"/>
            <a:ext cx="419100" cy="190500"/>
          </a:xfrm>
          <a:custGeom>
            <a:avLst/>
            <a:gdLst/>
            <a:ahLst/>
            <a:cxnLst/>
            <a:rect l="l" t="t" r="r" b="b"/>
            <a:pathLst>
              <a:path w="419100" h="190500">
                <a:moveTo>
                  <a:pt x="38100" y="0"/>
                </a:moveTo>
                <a:lnTo>
                  <a:pt x="381000" y="0"/>
                </a:lnTo>
                <a:cubicBezTo>
                  <a:pt x="402028" y="0"/>
                  <a:pt x="419100" y="17072"/>
                  <a:pt x="419100" y="38100"/>
                </a:cubicBezTo>
                <a:lnTo>
                  <a:pt x="419100" y="152400"/>
                </a:lnTo>
                <a:cubicBezTo>
                  <a:pt x="419100" y="173428"/>
                  <a:pt x="402028" y="190500"/>
                  <a:pt x="3810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</p:spPr>
      </p:sp>
      <p:sp>
        <p:nvSpPr>
          <p:cNvPr id="71" name="Text 58"/>
          <p:cNvSpPr/>
          <p:nvPr/>
        </p:nvSpPr>
        <p:spPr>
          <a:xfrm>
            <a:off x="11125200" y="3409315"/>
            <a:ext cx="579120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Meta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2" name="Text 59"/>
          <p:cNvSpPr/>
          <p:nvPr/>
        </p:nvSpPr>
        <p:spPr>
          <a:xfrm>
            <a:off x="6391275" y="3656965"/>
            <a:ext cx="124333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HumanEval: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3" name="Text 60"/>
          <p:cNvSpPr/>
          <p:nvPr/>
        </p:nvSpPr>
        <p:spPr>
          <a:xfrm>
            <a:off x="8406130" y="3656965"/>
            <a:ext cx="62357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53.7%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4" name="Text 61"/>
          <p:cNvSpPr/>
          <p:nvPr/>
        </p:nvSpPr>
        <p:spPr>
          <a:xfrm>
            <a:off x="9039225" y="3656965"/>
            <a:ext cx="64897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MBPP: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5" name="Text 62"/>
          <p:cNvSpPr/>
          <p:nvPr/>
        </p:nvSpPr>
        <p:spPr>
          <a:xfrm>
            <a:off x="11100435" y="3656965"/>
            <a:ext cx="57912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56.2%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6" name="Shape 63"/>
          <p:cNvSpPr/>
          <p:nvPr/>
        </p:nvSpPr>
        <p:spPr>
          <a:xfrm>
            <a:off x="385763" y="4128452"/>
            <a:ext cx="11420475" cy="2200275"/>
          </a:xfrm>
          <a:custGeom>
            <a:avLst/>
            <a:gdLst/>
            <a:ahLst/>
            <a:cxnLst/>
            <a:rect l="l" t="t" r="r" b="b"/>
            <a:pathLst>
              <a:path w="11420475" h="2200275">
                <a:moveTo>
                  <a:pt x="114304" y="0"/>
                </a:moveTo>
                <a:lnTo>
                  <a:pt x="11306171" y="0"/>
                </a:lnTo>
                <a:cubicBezTo>
                  <a:pt x="11369299" y="0"/>
                  <a:pt x="11420475" y="51176"/>
                  <a:pt x="11420475" y="114304"/>
                </a:cubicBezTo>
                <a:lnTo>
                  <a:pt x="11420475" y="2085971"/>
                </a:lnTo>
                <a:cubicBezTo>
                  <a:pt x="11420475" y="2149099"/>
                  <a:pt x="11369299" y="2200275"/>
                  <a:pt x="11306171" y="2200275"/>
                </a:cubicBezTo>
                <a:lnTo>
                  <a:pt x="114304" y="2200275"/>
                </a:lnTo>
                <a:cubicBezTo>
                  <a:pt x="51176" y="2200275"/>
                  <a:pt x="0" y="2149099"/>
                  <a:pt x="0" y="208597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7" name="Shape 64"/>
          <p:cNvSpPr/>
          <p:nvPr/>
        </p:nvSpPr>
        <p:spPr>
          <a:xfrm>
            <a:off x="528638" y="429514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8" name="Text 65"/>
          <p:cNvSpPr/>
          <p:nvPr/>
        </p:nvSpPr>
        <p:spPr>
          <a:xfrm>
            <a:off x="723900" y="4247515"/>
            <a:ext cx="11049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HumanEval Pass@1 性能对比图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9" name="Image 0" descr="https://kimi-img.moonshot.cn/pub/slides/26-02-04-23:18:10-d61m6ch40tj7m3il8egg.png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504825" y="4590415"/>
            <a:ext cx="11182350" cy="1619250"/>
          </a:xfrm>
          <a:prstGeom prst="roundRect">
            <a:avLst>
              <a:gd name="adj" fmla="val 0"/>
            </a:avLst>
          </a:prstGeom>
        </p:spPr>
      </p:pic>
      <p:pic>
        <p:nvPicPr>
          <p:cNvPr id="16" name="图片 1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7" name="图片 16" descr="Lychee定稿_画板 1"/>
          <p:cNvPicPr>
            <a:picLocks noChangeAspect="1"/>
          </p:cNvPicPr>
          <p:nvPr userDrawn="1"/>
        </p:nvPicPr>
        <p:blipFill>
          <a:blip r:embed="rId4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能力扩展与评估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2"/>
          <p:cNvSpPr/>
          <p:nvPr/>
        </p:nvSpPr>
        <p:spPr>
          <a:xfrm>
            <a:off x="355600" y="330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 err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评估体系：</a:t>
            </a:r>
            <a:r>
              <a:rPr lang="en-US" altLang="zh-CN" sz="3200" b="1" i="0" u="none" strike="noStrike" dirty="0" err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HumanEval</a:t>
            </a:r>
            <a:r>
              <a:rPr lang="zh-CN" altLang="en-US" sz="3200" b="1" i="0" u="none" strike="noStrike" dirty="0" err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altLang="zh-CN" sz="3200" b="1" i="0" u="none" strike="noStrike" dirty="0" err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pass@k</a:t>
            </a:r>
            <a:r>
              <a:rPr lang="zh-CN" altLang="en-US" sz="3200" b="1" i="0" u="none" strike="noStrike" dirty="0" err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3664" y="1217305"/>
            <a:ext cx="5655497" cy="3542974"/>
          </a:xfrm>
          <a:custGeom>
            <a:avLst/>
            <a:gdLst/>
            <a:ahLst/>
            <a:cxnLst/>
            <a:rect l="l" t="t" r="r" b="b"/>
            <a:pathLst>
              <a:path w="5655497" h="3542974">
                <a:moveTo>
                  <a:pt x="113694" y="0"/>
                </a:moveTo>
                <a:lnTo>
                  <a:pt x="5541802" y="0"/>
                </a:lnTo>
                <a:cubicBezTo>
                  <a:pt x="5604594" y="0"/>
                  <a:pt x="5655497" y="50903"/>
                  <a:pt x="5655497" y="113694"/>
                </a:cubicBezTo>
                <a:lnTo>
                  <a:pt x="5655497" y="3429280"/>
                </a:lnTo>
                <a:cubicBezTo>
                  <a:pt x="5655497" y="3492072"/>
                  <a:pt x="5604594" y="3542974"/>
                  <a:pt x="5541802" y="3542974"/>
                </a:cubicBezTo>
                <a:lnTo>
                  <a:pt x="113694" y="3542974"/>
                </a:lnTo>
                <a:cubicBezTo>
                  <a:pt x="50903" y="3542974"/>
                  <a:pt x="0" y="3492072"/>
                  <a:pt x="0" y="3429280"/>
                </a:cubicBezTo>
                <a:lnTo>
                  <a:pt x="0" y="113694"/>
                </a:lnTo>
                <a:cubicBezTo>
                  <a:pt x="0" y="50945"/>
                  <a:pt x="50945" y="0"/>
                  <a:pt x="113694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04" y="1373613"/>
            <a:ext cx="165781" cy="189464"/>
          </a:xfrm>
          <a:custGeom>
            <a:avLst/>
            <a:gdLst/>
            <a:ahLst/>
            <a:cxnLst/>
            <a:rect l="l" t="t" r="r" b="b"/>
            <a:pathLst>
              <a:path w="165781" h="189464">
                <a:moveTo>
                  <a:pt x="165781" y="76156"/>
                </a:moveTo>
                <a:cubicBezTo>
                  <a:pt x="160304" y="79782"/>
                  <a:pt x="154013" y="82705"/>
                  <a:pt x="147464" y="85037"/>
                </a:cubicBezTo>
                <a:cubicBezTo>
                  <a:pt x="130071" y="91253"/>
                  <a:pt x="107240" y="94732"/>
                  <a:pt x="82890" y="94732"/>
                </a:cubicBezTo>
                <a:cubicBezTo>
                  <a:pt x="58541" y="94732"/>
                  <a:pt x="35672" y="91216"/>
                  <a:pt x="18317" y="85037"/>
                </a:cubicBezTo>
                <a:cubicBezTo>
                  <a:pt x="11804" y="82705"/>
                  <a:pt x="5477" y="79782"/>
                  <a:pt x="0" y="76156"/>
                </a:cubicBezTo>
                <a:lnTo>
                  <a:pt x="0" y="106573"/>
                </a:lnTo>
                <a:cubicBezTo>
                  <a:pt x="0" y="122929"/>
                  <a:pt x="37116" y="136177"/>
                  <a:pt x="82890" y="136177"/>
                </a:cubicBezTo>
                <a:cubicBezTo>
                  <a:pt x="128665" y="136177"/>
                  <a:pt x="165781" y="122929"/>
                  <a:pt x="165781" y="106573"/>
                </a:cubicBezTo>
                <a:lnTo>
                  <a:pt x="165781" y="76156"/>
                </a:lnTo>
                <a:close/>
                <a:moveTo>
                  <a:pt x="165781" y="47366"/>
                </a:moveTo>
                <a:lnTo>
                  <a:pt x="165781" y="29604"/>
                </a:lnTo>
                <a:cubicBezTo>
                  <a:pt x="165781" y="13248"/>
                  <a:pt x="128665" y="0"/>
                  <a:pt x="82890" y="0"/>
                </a:cubicBezTo>
                <a:cubicBezTo>
                  <a:pt x="37116" y="0"/>
                  <a:pt x="0" y="13248"/>
                  <a:pt x="0" y="29604"/>
                </a:cubicBezTo>
                <a:lnTo>
                  <a:pt x="0" y="47366"/>
                </a:lnTo>
                <a:cubicBezTo>
                  <a:pt x="0" y="63722"/>
                  <a:pt x="37116" y="76970"/>
                  <a:pt x="82890" y="76970"/>
                </a:cubicBezTo>
                <a:cubicBezTo>
                  <a:pt x="128665" y="76970"/>
                  <a:pt x="165781" y="63722"/>
                  <a:pt x="165781" y="47366"/>
                </a:cubicBezTo>
                <a:close/>
                <a:moveTo>
                  <a:pt x="147464" y="144244"/>
                </a:moveTo>
                <a:cubicBezTo>
                  <a:pt x="130108" y="150424"/>
                  <a:pt x="107277" y="153939"/>
                  <a:pt x="82890" y="153939"/>
                </a:cubicBezTo>
                <a:cubicBezTo>
                  <a:pt x="58504" y="153939"/>
                  <a:pt x="35672" y="150424"/>
                  <a:pt x="18317" y="144244"/>
                </a:cubicBezTo>
                <a:cubicBezTo>
                  <a:pt x="11804" y="141913"/>
                  <a:pt x="5477" y="138990"/>
                  <a:pt x="0" y="135363"/>
                </a:cubicBezTo>
                <a:lnTo>
                  <a:pt x="0" y="159860"/>
                </a:lnTo>
                <a:cubicBezTo>
                  <a:pt x="0" y="176216"/>
                  <a:pt x="37116" y="189464"/>
                  <a:pt x="82890" y="189464"/>
                </a:cubicBezTo>
                <a:cubicBezTo>
                  <a:pt x="128665" y="189464"/>
                  <a:pt x="165781" y="176216"/>
                  <a:pt x="165781" y="159860"/>
                </a:cubicBezTo>
                <a:lnTo>
                  <a:pt x="165781" y="135363"/>
                </a:lnTo>
                <a:cubicBezTo>
                  <a:pt x="160304" y="138990"/>
                  <a:pt x="154013" y="141913"/>
                  <a:pt x="147464" y="144244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" name="Text 5"/>
          <p:cNvSpPr/>
          <p:nvPr/>
        </p:nvSpPr>
        <p:spPr>
          <a:xfrm>
            <a:off x="769389" y="1335720"/>
            <a:ext cx="5276569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HumanEval数据集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079" y="1676755"/>
            <a:ext cx="5418667" cy="596811"/>
          </a:xfrm>
          <a:custGeom>
            <a:avLst/>
            <a:gdLst/>
            <a:ahLst/>
            <a:cxnLst/>
            <a:rect l="l" t="t" r="r" b="b"/>
            <a:pathLst>
              <a:path w="5418667" h="596811">
                <a:moveTo>
                  <a:pt x="75783" y="0"/>
                </a:moveTo>
                <a:lnTo>
                  <a:pt x="5342884" y="0"/>
                </a:lnTo>
                <a:cubicBezTo>
                  <a:pt x="5384737" y="0"/>
                  <a:pt x="5418667" y="33929"/>
                  <a:pt x="5418667" y="75783"/>
                </a:cubicBezTo>
                <a:lnTo>
                  <a:pt x="5418667" y="521028"/>
                </a:lnTo>
                <a:cubicBezTo>
                  <a:pt x="5418667" y="562882"/>
                  <a:pt x="5384737" y="596811"/>
                  <a:pt x="5342884" y="596811"/>
                </a:cubicBezTo>
                <a:lnTo>
                  <a:pt x="75783" y="596811"/>
                </a:lnTo>
                <a:cubicBezTo>
                  <a:pt x="33929" y="596811"/>
                  <a:pt x="0" y="562882"/>
                  <a:pt x="0" y="521028"/>
                </a:cubicBezTo>
                <a:lnTo>
                  <a:pt x="0" y="75783"/>
                </a:lnTo>
                <a:cubicBezTo>
                  <a:pt x="0" y="33929"/>
                  <a:pt x="33929" y="0"/>
                  <a:pt x="75783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9" name="Shape 7"/>
          <p:cNvSpPr/>
          <p:nvPr/>
        </p:nvSpPr>
        <p:spPr>
          <a:xfrm>
            <a:off x="615758" y="1790434"/>
            <a:ext cx="113678" cy="151571"/>
          </a:xfrm>
          <a:custGeom>
            <a:avLst/>
            <a:gdLst/>
            <a:ahLst/>
            <a:cxnLst/>
            <a:rect l="l" t="t" r="r" b="b"/>
            <a:pathLst>
              <a:path w="113678" h="151571">
                <a:moveTo>
                  <a:pt x="0" y="18946"/>
                </a:moveTo>
                <a:cubicBezTo>
                  <a:pt x="0" y="8496"/>
                  <a:pt x="8496" y="0"/>
                  <a:pt x="18946" y="0"/>
                </a:cubicBezTo>
                <a:lnTo>
                  <a:pt x="63204" y="0"/>
                </a:lnTo>
                <a:cubicBezTo>
                  <a:pt x="68237" y="0"/>
                  <a:pt x="73062" y="1983"/>
                  <a:pt x="76614" y="5536"/>
                </a:cubicBezTo>
                <a:lnTo>
                  <a:pt x="108142" y="37093"/>
                </a:lnTo>
                <a:cubicBezTo>
                  <a:pt x="111695" y="40646"/>
                  <a:pt x="113678" y="45471"/>
                  <a:pt x="113678" y="50504"/>
                </a:cubicBezTo>
                <a:lnTo>
                  <a:pt x="113678" y="132625"/>
                </a:lnTo>
                <a:cubicBezTo>
                  <a:pt x="113678" y="143075"/>
                  <a:pt x="105182" y="151571"/>
                  <a:pt x="94732" y="151571"/>
                </a:cubicBezTo>
                <a:lnTo>
                  <a:pt x="18946" y="151571"/>
                </a:lnTo>
                <a:cubicBezTo>
                  <a:pt x="8496" y="151571"/>
                  <a:pt x="0" y="143075"/>
                  <a:pt x="0" y="132625"/>
                </a:cubicBezTo>
                <a:lnTo>
                  <a:pt x="0" y="18946"/>
                </a:lnTo>
                <a:close/>
                <a:moveTo>
                  <a:pt x="61576" y="17318"/>
                </a:moveTo>
                <a:lnTo>
                  <a:pt x="61576" y="44998"/>
                </a:lnTo>
                <a:cubicBezTo>
                  <a:pt x="61576" y="48935"/>
                  <a:pt x="64743" y="52103"/>
                  <a:pt x="68681" y="52103"/>
                </a:cubicBezTo>
                <a:lnTo>
                  <a:pt x="96360" y="52103"/>
                </a:lnTo>
                <a:lnTo>
                  <a:pt x="61576" y="17318"/>
                </a:lnTo>
                <a:close/>
                <a:moveTo>
                  <a:pt x="45649" y="87509"/>
                </a:moveTo>
                <a:cubicBezTo>
                  <a:pt x="48195" y="84519"/>
                  <a:pt x="47869" y="80048"/>
                  <a:pt x="44879" y="77503"/>
                </a:cubicBezTo>
                <a:cubicBezTo>
                  <a:pt x="41889" y="74957"/>
                  <a:pt x="37419" y="75282"/>
                  <a:pt x="34873" y="78272"/>
                </a:cubicBezTo>
                <a:lnTo>
                  <a:pt x="20663" y="94850"/>
                </a:lnTo>
                <a:cubicBezTo>
                  <a:pt x="18384" y="97515"/>
                  <a:pt x="18384" y="101422"/>
                  <a:pt x="20663" y="104087"/>
                </a:cubicBezTo>
                <a:lnTo>
                  <a:pt x="34873" y="120665"/>
                </a:lnTo>
                <a:cubicBezTo>
                  <a:pt x="37419" y="123655"/>
                  <a:pt x="41919" y="123980"/>
                  <a:pt x="44879" y="121434"/>
                </a:cubicBezTo>
                <a:cubicBezTo>
                  <a:pt x="47840" y="118889"/>
                  <a:pt x="48195" y="114389"/>
                  <a:pt x="45649" y="111428"/>
                </a:cubicBezTo>
                <a:lnTo>
                  <a:pt x="35406" y="99469"/>
                </a:lnTo>
                <a:lnTo>
                  <a:pt x="45649" y="87509"/>
                </a:lnTo>
                <a:close/>
                <a:moveTo>
                  <a:pt x="78805" y="78272"/>
                </a:moveTo>
                <a:cubicBezTo>
                  <a:pt x="76259" y="75282"/>
                  <a:pt x="71759" y="74957"/>
                  <a:pt x="68799" y="77503"/>
                </a:cubicBezTo>
                <a:cubicBezTo>
                  <a:pt x="65839" y="80048"/>
                  <a:pt x="65483" y="84548"/>
                  <a:pt x="68029" y="87509"/>
                </a:cubicBezTo>
                <a:lnTo>
                  <a:pt x="78272" y="99469"/>
                </a:lnTo>
                <a:lnTo>
                  <a:pt x="68029" y="111428"/>
                </a:lnTo>
                <a:cubicBezTo>
                  <a:pt x="65483" y="114418"/>
                  <a:pt x="65809" y="118889"/>
                  <a:pt x="68799" y="121434"/>
                </a:cubicBezTo>
                <a:cubicBezTo>
                  <a:pt x="71789" y="123980"/>
                  <a:pt x="76259" y="123655"/>
                  <a:pt x="78805" y="120665"/>
                </a:cubicBezTo>
                <a:lnTo>
                  <a:pt x="93015" y="104087"/>
                </a:lnTo>
                <a:cubicBezTo>
                  <a:pt x="95294" y="101422"/>
                  <a:pt x="95294" y="97515"/>
                  <a:pt x="93015" y="94850"/>
                </a:cubicBezTo>
                <a:lnTo>
                  <a:pt x="78805" y="78272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10" name="Text 8"/>
          <p:cNvSpPr/>
          <p:nvPr/>
        </p:nvSpPr>
        <p:spPr>
          <a:xfrm>
            <a:off x="823859" y="1752541"/>
            <a:ext cx="5096887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数据集构成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7865" y="2017790"/>
            <a:ext cx="5333408" cy="1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highlight>
                  <a:srgbClr val="D8A252">
                    <a:alpha val="2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164个 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手写编程问题，专注于衡量从文档字符串合成程序的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功能正确性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079" y="2351720"/>
            <a:ext cx="5418667" cy="1231515"/>
          </a:xfrm>
          <a:custGeom>
            <a:avLst/>
            <a:gdLst/>
            <a:ahLst/>
            <a:cxnLst/>
            <a:rect l="l" t="t" r="r" b="b"/>
            <a:pathLst>
              <a:path w="5418667" h="1231515">
                <a:moveTo>
                  <a:pt x="75787" y="0"/>
                </a:moveTo>
                <a:lnTo>
                  <a:pt x="5342879" y="0"/>
                </a:lnTo>
                <a:cubicBezTo>
                  <a:pt x="5384735" y="0"/>
                  <a:pt x="5418667" y="33931"/>
                  <a:pt x="5418667" y="75787"/>
                </a:cubicBezTo>
                <a:lnTo>
                  <a:pt x="5418667" y="1155728"/>
                </a:lnTo>
                <a:cubicBezTo>
                  <a:pt x="5418667" y="1197584"/>
                  <a:pt x="5384735" y="1231515"/>
                  <a:pt x="5342879" y="1231515"/>
                </a:cubicBezTo>
                <a:lnTo>
                  <a:pt x="75787" y="1231515"/>
                </a:lnTo>
                <a:cubicBezTo>
                  <a:pt x="33931" y="1231515"/>
                  <a:pt x="0" y="1197584"/>
                  <a:pt x="0" y="1155728"/>
                </a:cubicBezTo>
                <a:lnTo>
                  <a:pt x="0" y="75787"/>
                </a:lnTo>
                <a:cubicBezTo>
                  <a:pt x="0" y="33931"/>
                  <a:pt x="33931" y="0"/>
                  <a:pt x="75787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3" name="Shape 11"/>
          <p:cNvSpPr/>
          <p:nvPr/>
        </p:nvSpPr>
        <p:spPr>
          <a:xfrm>
            <a:off x="596811" y="2465399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39610" y="10746"/>
                </a:moveTo>
                <a:cubicBezTo>
                  <a:pt x="42837" y="12996"/>
                  <a:pt x="43606" y="17437"/>
                  <a:pt x="41356" y="20634"/>
                </a:cubicBezTo>
                <a:lnTo>
                  <a:pt x="24778" y="44317"/>
                </a:lnTo>
                <a:cubicBezTo>
                  <a:pt x="23565" y="46034"/>
                  <a:pt x="21670" y="47129"/>
                  <a:pt x="19568" y="47307"/>
                </a:cubicBezTo>
                <a:cubicBezTo>
                  <a:pt x="17466" y="47484"/>
                  <a:pt x="15394" y="46774"/>
                  <a:pt x="13914" y="45294"/>
                </a:cubicBezTo>
                <a:lnTo>
                  <a:pt x="2072" y="33452"/>
                </a:lnTo>
                <a:cubicBezTo>
                  <a:pt x="-681" y="30669"/>
                  <a:pt x="-681" y="26170"/>
                  <a:pt x="2072" y="23387"/>
                </a:cubicBezTo>
                <a:cubicBezTo>
                  <a:pt x="4825" y="20604"/>
                  <a:pt x="9355" y="20634"/>
                  <a:pt x="12138" y="23387"/>
                </a:cubicBezTo>
                <a:lnTo>
                  <a:pt x="17999" y="29248"/>
                </a:lnTo>
                <a:lnTo>
                  <a:pt x="29722" y="12493"/>
                </a:lnTo>
                <a:cubicBezTo>
                  <a:pt x="31972" y="9266"/>
                  <a:pt x="36413" y="8496"/>
                  <a:pt x="39610" y="10746"/>
                </a:cubicBezTo>
                <a:close/>
                <a:moveTo>
                  <a:pt x="39610" y="58112"/>
                </a:moveTo>
                <a:cubicBezTo>
                  <a:pt x="42837" y="60362"/>
                  <a:pt x="43606" y="64803"/>
                  <a:pt x="41356" y="68000"/>
                </a:cubicBezTo>
                <a:lnTo>
                  <a:pt x="24778" y="91683"/>
                </a:lnTo>
                <a:cubicBezTo>
                  <a:pt x="23565" y="93400"/>
                  <a:pt x="21670" y="94495"/>
                  <a:pt x="19568" y="94673"/>
                </a:cubicBezTo>
                <a:cubicBezTo>
                  <a:pt x="17466" y="94850"/>
                  <a:pt x="15394" y="94140"/>
                  <a:pt x="13914" y="92660"/>
                </a:cubicBezTo>
                <a:lnTo>
                  <a:pt x="2072" y="80818"/>
                </a:lnTo>
                <a:cubicBezTo>
                  <a:pt x="-710" y="78035"/>
                  <a:pt x="-710" y="73536"/>
                  <a:pt x="2072" y="70783"/>
                </a:cubicBezTo>
                <a:cubicBezTo>
                  <a:pt x="4855" y="68029"/>
                  <a:pt x="9355" y="68000"/>
                  <a:pt x="12108" y="70783"/>
                </a:cubicBezTo>
                <a:lnTo>
                  <a:pt x="17969" y="76644"/>
                </a:lnTo>
                <a:lnTo>
                  <a:pt x="29693" y="59888"/>
                </a:lnTo>
                <a:cubicBezTo>
                  <a:pt x="31942" y="56662"/>
                  <a:pt x="36383" y="55892"/>
                  <a:pt x="39580" y="58142"/>
                </a:cubicBezTo>
                <a:close/>
                <a:moveTo>
                  <a:pt x="66312" y="28420"/>
                </a:moveTo>
                <a:cubicBezTo>
                  <a:pt x="66312" y="23180"/>
                  <a:pt x="70546" y="18946"/>
                  <a:pt x="75786" y="18946"/>
                </a:cubicBezTo>
                <a:lnTo>
                  <a:pt x="142098" y="18946"/>
                </a:lnTo>
                <a:cubicBezTo>
                  <a:pt x="147338" y="18946"/>
                  <a:pt x="151571" y="23180"/>
                  <a:pt x="151571" y="28420"/>
                </a:cubicBezTo>
                <a:cubicBezTo>
                  <a:pt x="151571" y="33659"/>
                  <a:pt x="147338" y="37893"/>
                  <a:pt x="142098" y="37893"/>
                </a:cubicBezTo>
                <a:lnTo>
                  <a:pt x="75786" y="37893"/>
                </a:lnTo>
                <a:cubicBezTo>
                  <a:pt x="70546" y="37893"/>
                  <a:pt x="66312" y="33659"/>
                  <a:pt x="66312" y="28420"/>
                </a:cubicBezTo>
                <a:close/>
                <a:moveTo>
                  <a:pt x="66312" y="75786"/>
                </a:moveTo>
                <a:cubicBezTo>
                  <a:pt x="66312" y="70546"/>
                  <a:pt x="70546" y="66312"/>
                  <a:pt x="75786" y="66312"/>
                </a:cubicBezTo>
                <a:lnTo>
                  <a:pt x="142098" y="66312"/>
                </a:lnTo>
                <a:cubicBezTo>
                  <a:pt x="147338" y="66312"/>
                  <a:pt x="151571" y="70546"/>
                  <a:pt x="151571" y="75786"/>
                </a:cubicBezTo>
                <a:cubicBezTo>
                  <a:pt x="151571" y="81025"/>
                  <a:pt x="147338" y="85259"/>
                  <a:pt x="142098" y="85259"/>
                </a:cubicBezTo>
                <a:lnTo>
                  <a:pt x="75786" y="85259"/>
                </a:lnTo>
                <a:cubicBezTo>
                  <a:pt x="70546" y="85259"/>
                  <a:pt x="66312" y="81025"/>
                  <a:pt x="66312" y="75786"/>
                </a:cubicBezTo>
                <a:close/>
                <a:moveTo>
                  <a:pt x="47366" y="123152"/>
                </a:moveTo>
                <a:cubicBezTo>
                  <a:pt x="47366" y="117912"/>
                  <a:pt x="51599" y="113678"/>
                  <a:pt x="56839" y="113678"/>
                </a:cubicBezTo>
                <a:lnTo>
                  <a:pt x="142098" y="113678"/>
                </a:lnTo>
                <a:cubicBezTo>
                  <a:pt x="147338" y="113678"/>
                  <a:pt x="151571" y="117912"/>
                  <a:pt x="151571" y="123152"/>
                </a:cubicBezTo>
                <a:cubicBezTo>
                  <a:pt x="151571" y="128391"/>
                  <a:pt x="147338" y="132625"/>
                  <a:pt x="142098" y="132625"/>
                </a:cubicBezTo>
                <a:lnTo>
                  <a:pt x="56839" y="132625"/>
                </a:lnTo>
                <a:cubicBezTo>
                  <a:pt x="51599" y="132625"/>
                  <a:pt x="47366" y="128391"/>
                  <a:pt x="47366" y="123152"/>
                </a:cubicBezTo>
                <a:close/>
                <a:moveTo>
                  <a:pt x="18946" y="111310"/>
                </a:moveTo>
                <a:cubicBezTo>
                  <a:pt x="25482" y="111310"/>
                  <a:pt x="30788" y="116616"/>
                  <a:pt x="30788" y="123152"/>
                </a:cubicBezTo>
                <a:cubicBezTo>
                  <a:pt x="30788" y="129687"/>
                  <a:pt x="25482" y="134993"/>
                  <a:pt x="18946" y="134993"/>
                </a:cubicBezTo>
                <a:cubicBezTo>
                  <a:pt x="12411" y="134993"/>
                  <a:pt x="7105" y="129687"/>
                  <a:pt x="7105" y="123152"/>
                </a:cubicBezTo>
                <a:cubicBezTo>
                  <a:pt x="7105" y="116616"/>
                  <a:pt x="12411" y="111310"/>
                  <a:pt x="18946" y="11131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" name="Text 12"/>
          <p:cNvSpPr/>
          <p:nvPr/>
        </p:nvSpPr>
        <p:spPr>
          <a:xfrm>
            <a:off x="823859" y="2427506"/>
            <a:ext cx="5096887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每个问题包含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5100" y="2721175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112627" y="18158"/>
                </a:moveTo>
                <a:cubicBezTo>
                  <a:pt x="116332" y="20852"/>
                  <a:pt x="117160" y="26033"/>
                  <a:pt x="114467" y="29737"/>
                </a:cubicBezTo>
                <a:lnTo>
                  <a:pt x="48154" y="120916"/>
                </a:lnTo>
                <a:cubicBezTo>
                  <a:pt x="46729" y="122885"/>
                  <a:pt x="44528" y="124103"/>
                  <a:pt x="42093" y="124310"/>
                </a:cubicBezTo>
                <a:cubicBezTo>
                  <a:pt x="39658" y="124517"/>
                  <a:pt x="37301" y="123610"/>
                  <a:pt x="35591" y="121901"/>
                </a:cubicBezTo>
                <a:lnTo>
                  <a:pt x="2435" y="88745"/>
                </a:lnTo>
                <a:cubicBezTo>
                  <a:pt x="-803" y="85507"/>
                  <a:pt x="-803" y="80248"/>
                  <a:pt x="2435" y="77010"/>
                </a:cubicBezTo>
                <a:cubicBezTo>
                  <a:pt x="5673" y="73772"/>
                  <a:pt x="10931" y="73772"/>
                  <a:pt x="14169" y="77010"/>
                </a:cubicBezTo>
                <a:lnTo>
                  <a:pt x="40461" y="103302"/>
                </a:lnTo>
                <a:lnTo>
                  <a:pt x="101075" y="19971"/>
                </a:lnTo>
                <a:cubicBezTo>
                  <a:pt x="103768" y="16267"/>
                  <a:pt x="108949" y="15438"/>
                  <a:pt x="112653" y="18132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" name="Text 14"/>
          <p:cNvSpPr/>
          <p:nvPr/>
        </p:nvSpPr>
        <p:spPr>
          <a:xfrm>
            <a:off x="776647" y="2692755"/>
            <a:ext cx="5134625" cy="189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明确的函数签名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" name="Shape 15"/>
          <p:cNvSpPr/>
          <p:nvPr/>
        </p:nvSpPr>
        <p:spPr>
          <a:xfrm>
            <a:off x="605100" y="2929585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112627" y="18158"/>
                </a:moveTo>
                <a:cubicBezTo>
                  <a:pt x="116332" y="20852"/>
                  <a:pt x="117160" y="26033"/>
                  <a:pt x="114467" y="29737"/>
                </a:cubicBezTo>
                <a:lnTo>
                  <a:pt x="48154" y="120916"/>
                </a:lnTo>
                <a:cubicBezTo>
                  <a:pt x="46729" y="122885"/>
                  <a:pt x="44528" y="124103"/>
                  <a:pt x="42093" y="124310"/>
                </a:cubicBezTo>
                <a:cubicBezTo>
                  <a:pt x="39658" y="124517"/>
                  <a:pt x="37301" y="123610"/>
                  <a:pt x="35591" y="121901"/>
                </a:cubicBezTo>
                <a:lnTo>
                  <a:pt x="2435" y="88745"/>
                </a:lnTo>
                <a:cubicBezTo>
                  <a:pt x="-803" y="85507"/>
                  <a:pt x="-803" y="80248"/>
                  <a:pt x="2435" y="77010"/>
                </a:cubicBezTo>
                <a:cubicBezTo>
                  <a:pt x="5673" y="73772"/>
                  <a:pt x="10931" y="73772"/>
                  <a:pt x="14169" y="77010"/>
                </a:cubicBezTo>
                <a:lnTo>
                  <a:pt x="40461" y="103302"/>
                </a:lnTo>
                <a:lnTo>
                  <a:pt x="101075" y="19971"/>
                </a:lnTo>
                <a:cubicBezTo>
                  <a:pt x="103768" y="16267"/>
                  <a:pt x="108949" y="15438"/>
                  <a:pt x="112653" y="18132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2" name="Text 16"/>
          <p:cNvSpPr/>
          <p:nvPr/>
        </p:nvSpPr>
        <p:spPr>
          <a:xfrm>
            <a:off x="776647" y="2901166"/>
            <a:ext cx="5134625" cy="189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详尽的文档字符串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605100" y="3137995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112627" y="18158"/>
                </a:moveTo>
                <a:cubicBezTo>
                  <a:pt x="116332" y="20852"/>
                  <a:pt x="117160" y="26033"/>
                  <a:pt x="114467" y="29737"/>
                </a:cubicBezTo>
                <a:lnTo>
                  <a:pt x="48154" y="120916"/>
                </a:lnTo>
                <a:cubicBezTo>
                  <a:pt x="46729" y="122885"/>
                  <a:pt x="44528" y="124103"/>
                  <a:pt x="42093" y="124310"/>
                </a:cubicBezTo>
                <a:cubicBezTo>
                  <a:pt x="39658" y="124517"/>
                  <a:pt x="37301" y="123610"/>
                  <a:pt x="35591" y="121901"/>
                </a:cubicBezTo>
                <a:lnTo>
                  <a:pt x="2435" y="88745"/>
                </a:lnTo>
                <a:cubicBezTo>
                  <a:pt x="-803" y="85507"/>
                  <a:pt x="-803" y="80248"/>
                  <a:pt x="2435" y="77010"/>
                </a:cubicBezTo>
                <a:cubicBezTo>
                  <a:pt x="5673" y="73772"/>
                  <a:pt x="10931" y="73772"/>
                  <a:pt x="14169" y="77010"/>
                </a:cubicBezTo>
                <a:lnTo>
                  <a:pt x="40461" y="103302"/>
                </a:lnTo>
                <a:lnTo>
                  <a:pt x="101075" y="19971"/>
                </a:lnTo>
                <a:cubicBezTo>
                  <a:pt x="103768" y="16267"/>
                  <a:pt x="108949" y="15438"/>
                  <a:pt x="112653" y="18132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0" name="Text 18"/>
          <p:cNvSpPr/>
          <p:nvPr/>
        </p:nvSpPr>
        <p:spPr>
          <a:xfrm>
            <a:off x="776647" y="3109576"/>
            <a:ext cx="5134625" cy="189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完整的函数体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1" name="Shape 19"/>
          <p:cNvSpPr/>
          <p:nvPr/>
        </p:nvSpPr>
        <p:spPr>
          <a:xfrm>
            <a:off x="605100" y="3346406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112627" y="18158"/>
                </a:moveTo>
                <a:cubicBezTo>
                  <a:pt x="116332" y="20852"/>
                  <a:pt x="117160" y="26033"/>
                  <a:pt x="114467" y="29737"/>
                </a:cubicBezTo>
                <a:lnTo>
                  <a:pt x="48154" y="120916"/>
                </a:lnTo>
                <a:cubicBezTo>
                  <a:pt x="46729" y="122885"/>
                  <a:pt x="44528" y="124103"/>
                  <a:pt x="42093" y="124310"/>
                </a:cubicBezTo>
                <a:cubicBezTo>
                  <a:pt x="39658" y="124517"/>
                  <a:pt x="37301" y="123610"/>
                  <a:pt x="35591" y="121901"/>
                </a:cubicBezTo>
                <a:lnTo>
                  <a:pt x="2435" y="88745"/>
                </a:lnTo>
                <a:cubicBezTo>
                  <a:pt x="-803" y="85507"/>
                  <a:pt x="-803" y="80248"/>
                  <a:pt x="2435" y="77010"/>
                </a:cubicBezTo>
                <a:cubicBezTo>
                  <a:pt x="5673" y="73772"/>
                  <a:pt x="10931" y="73772"/>
                  <a:pt x="14169" y="77010"/>
                </a:cubicBezTo>
                <a:lnTo>
                  <a:pt x="40461" y="103302"/>
                </a:lnTo>
                <a:lnTo>
                  <a:pt x="101075" y="19971"/>
                </a:lnTo>
                <a:cubicBezTo>
                  <a:pt x="103768" y="16267"/>
                  <a:pt x="108949" y="15438"/>
                  <a:pt x="112653" y="18132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2" name="Text 20"/>
          <p:cNvSpPr/>
          <p:nvPr/>
        </p:nvSpPr>
        <p:spPr>
          <a:xfrm>
            <a:off x="776647" y="3317986"/>
            <a:ext cx="5134625" cy="189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7.7个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单元测试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hape 21"/>
          <p:cNvSpPr/>
          <p:nvPr/>
        </p:nvSpPr>
        <p:spPr>
          <a:xfrm>
            <a:off x="502079" y="3659021"/>
            <a:ext cx="5418667" cy="596811"/>
          </a:xfrm>
          <a:custGeom>
            <a:avLst/>
            <a:gdLst/>
            <a:ahLst/>
            <a:cxnLst/>
            <a:rect l="l" t="t" r="r" b="b"/>
            <a:pathLst>
              <a:path w="5418667" h="596811">
                <a:moveTo>
                  <a:pt x="75783" y="0"/>
                </a:moveTo>
                <a:lnTo>
                  <a:pt x="5342884" y="0"/>
                </a:lnTo>
                <a:cubicBezTo>
                  <a:pt x="5384737" y="0"/>
                  <a:pt x="5418667" y="33929"/>
                  <a:pt x="5418667" y="75783"/>
                </a:cubicBezTo>
                <a:lnTo>
                  <a:pt x="5418667" y="521028"/>
                </a:lnTo>
                <a:cubicBezTo>
                  <a:pt x="5418667" y="562882"/>
                  <a:pt x="5384737" y="596811"/>
                  <a:pt x="5342884" y="596811"/>
                </a:cubicBezTo>
                <a:lnTo>
                  <a:pt x="75783" y="596811"/>
                </a:lnTo>
                <a:cubicBezTo>
                  <a:pt x="33929" y="596811"/>
                  <a:pt x="0" y="562882"/>
                  <a:pt x="0" y="521028"/>
                </a:cubicBezTo>
                <a:lnTo>
                  <a:pt x="0" y="75783"/>
                </a:lnTo>
                <a:cubicBezTo>
                  <a:pt x="0" y="33929"/>
                  <a:pt x="33929" y="0"/>
                  <a:pt x="75783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34" name="Shape 22"/>
          <p:cNvSpPr/>
          <p:nvPr/>
        </p:nvSpPr>
        <p:spPr>
          <a:xfrm>
            <a:off x="596811" y="3772699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35524" y="16578"/>
                </a:moveTo>
                <a:cubicBezTo>
                  <a:pt x="35524" y="7431"/>
                  <a:pt x="42955" y="0"/>
                  <a:pt x="52103" y="0"/>
                </a:cubicBezTo>
                <a:lnTo>
                  <a:pt x="59207" y="0"/>
                </a:lnTo>
                <a:cubicBezTo>
                  <a:pt x="64447" y="0"/>
                  <a:pt x="68681" y="4233"/>
                  <a:pt x="68681" y="9473"/>
                </a:cubicBezTo>
                <a:lnTo>
                  <a:pt x="68681" y="142098"/>
                </a:lnTo>
                <a:cubicBezTo>
                  <a:pt x="68681" y="147338"/>
                  <a:pt x="64447" y="151571"/>
                  <a:pt x="59207" y="151571"/>
                </a:cubicBezTo>
                <a:lnTo>
                  <a:pt x="49734" y="151571"/>
                </a:lnTo>
                <a:cubicBezTo>
                  <a:pt x="40912" y="151571"/>
                  <a:pt x="33482" y="145532"/>
                  <a:pt x="31380" y="137361"/>
                </a:cubicBezTo>
                <a:cubicBezTo>
                  <a:pt x="31173" y="137361"/>
                  <a:pt x="30995" y="137361"/>
                  <a:pt x="30788" y="137361"/>
                </a:cubicBezTo>
                <a:cubicBezTo>
                  <a:pt x="17703" y="137361"/>
                  <a:pt x="7105" y="126763"/>
                  <a:pt x="7105" y="113678"/>
                </a:cubicBezTo>
                <a:cubicBezTo>
                  <a:pt x="7105" y="108350"/>
                  <a:pt x="8881" y="103435"/>
                  <a:pt x="11841" y="99469"/>
                </a:cubicBezTo>
                <a:cubicBezTo>
                  <a:pt x="6098" y="95146"/>
                  <a:pt x="2368" y="88278"/>
                  <a:pt x="2368" y="80522"/>
                </a:cubicBezTo>
                <a:cubicBezTo>
                  <a:pt x="2368" y="71375"/>
                  <a:pt x="7579" y="63411"/>
                  <a:pt x="15157" y="59474"/>
                </a:cubicBezTo>
                <a:cubicBezTo>
                  <a:pt x="13055" y="55921"/>
                  <a:pt x="11841" y="51777"/>
                  <a:pt x="11841" y="47366"/>
                </a:cubicBezTo>
                <a:cubicBezTo>
                  <a:pt x="11841" y="34281"/>
                  <a:pt x="22440" y="23683"/>
                  <a:pt x="35524" y="23683"/>
                </a:cubicBezTo>
                <a:lnTo>
                  <a:pt x="35524" y="16578"/>
                </a:lnTo>
                <a:close/>
                <a:moveTo>
                  <a:pt x="116047" y="16578"/>
                </a:moveTo>
                <a:lnTo>
                  <a:pt x="116047" y="23683"/>
                </a:lnTo>
                <a:cubicBezTo>
                  <a:pt x="129131" y="23683"/>
                  <a:pt x="139730" y="34281"/>
                  <a:pt x="139730" y="47366"/>
                </a:cubicBezTo>
                <a:cubicBezTo>
                  <a:pt x="139730" y="51807"/>
                  <a:pt x="138516" y="55951"/>
                  <a:pt x="136414" y="59474"/>
                </a:cubicBezTo>
                <a:cubicBezTo>
                  <a:pt x="144022" y="63411"/>
                  <a:pt x="149203" y="71345"/>
                  <a:pt x="149203" y="80522"/>
                </a:cubicBezTo>
                <a:cubicBezTo>
                  <a:pt x="149203" y="88278"/>
                  <a:pt x="145473" y="95146"/>
                  <a:pt x="139730" y="99469"/>
                </a:cubicBezTo>
                <a:cubicBezTo>
                  <a:pt x="142690" y="103435"/>
                  <a:pt x="144466" y="108350"/>
                  <a:pt x="144466" y="113678"/>
                </a:cubicBezTo>
                <a:cubicBezTo>
                  <a:pt x="144466" y="126763"/>
                  <a:pt x="133868" y="137361"/>
                  <a:pt x="120783" y="137361"/>
                </a:cubicBezTo>
                <a:cubicBezTo>
                  <a:pt x="120576" y="137361"/>
                  <a:pt x="120398" y="137361"/>
                  <a:pt x="120191" y="137361"/>
                </a:cubicBezTo>
                <a:cubicBezTo>
                  <a:pt x="118089" y="145532"/>
                  <a:pt x="110659" y="151571"/>
                  <a:pt x="101837" y="151571"/>
                </a:cubicBezTo>
                <a:lnTo>
                  <a:pt x="92364" y="151571"/>
                </a:lnTo>
                <a:cubicBezTo>
                  <a:pt x="87124" y="151571"/>
                  <a:pt x="82890" y="147338"/>
                  <a:pt x="82890" y="142098"/>
                </a:cubicBezTo>
                <a:lnTo>
                  <a:pt x="82890" y="9473"/>
                </a:lnTo>
                <a:cubicBezTo>
                  <a:pt x="82890" y="4233"/>
                  <a:pt x="87124" y="0"/>
                  <a:pt x="92364" y="0"/>
                </a:cubicBezTo>
                <a:lnTo>
                  <a:pt x="99469" y="0"/>
                </a:lnTo>
                <a:cubicBezTo>
                  <a:pt x="108616" y="0"/>
                  <a:pt x="116047" y="7431"/>
                  <a:pt x="116047" y="16578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5" name="Text 23"/>
          <p:cNvSpPr/>
          <p:nvPr/>
        </p:nvSpPr>
        <p:spPr>
          <a:xfrm>
            <a:off x="823859" y="3734807"/>
            <a:ext cx="5096887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评估能力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6" name="Text 24"/>
          <p:cNvSpPr/>
          <p:nvPr/>
        </p:nvSpPr>
        <p:spPr>
          <a:xfrm>
            <a:off x="577865" y="4000056"/>
            <a:ext cx="5333408" cy="1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语言理解、算法实现、简单数学推理等编程核心能力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7" name="Shape 25"/>
          <p:cNvSpPr/>
          <p:nvPr/>
        </p:nvSpPr>
        <p:spPr>
          <a:xfrm>
            <a:off x="6158020" y="1217305"/>
            <a:ext cx="5655497" cy="3542974"/>
          </a:xfrm>
          <a:custGeom>
            <a:avLst/>
            <a:gdLst/>
            <a:ahLst/>
            <a:cxnLst/>
            <a:rect l="l" t="t" r="r" b="b"/>
            <a:pathLst>
              <a:path w="5655497" h="3542974">
                <a:moveTo>
                  <a:pt x="113694" y="0"/>
                </a:moveTo>
                <a:lnTo>
                  <a:pt x="5541802" y="0"/>
                </a:lnTo>
                <a:cubicBezTo>
                  <a:pt x="5604594" y="0"/>
                  <a:pt x="5655497" y="50903"/>
                  <a:pt x="5655497" y="113694"/>
                </a:cubicBezTo>
                <a:lnTo>
                  <a:pt x="5655497" y="3429280"/>
                </a:lnTo>
                <a:cubicBezTo>
                  <a:pt x="5655497" y="3492072"/>
                  <a:pt x="5604594" y="3542974"/>
                  <a:pt x="5541802" y="3542974"/>
                </a:cubicBezTo>
                <a:lnTo>
                  <a:pt x="113694" y="3542974"/>
                </a:lnTo>
                <a:cubicBezTo>
                  <a:pt x="50903" y="3542974"/>
                  <a:pt x="0" y="3492072"/>
                  <a:pt x="0" y="3429280"/>
                </a:cubicBezTo>
                <a:lnTo>
                  <a:pt x="0" y="113694"/>
                </a:lnTo>
                <a:cubicBezTo>
                  <a:pt x="0" y="50945"/>
                  <a:pt x="50945" y="0"/>
                  <a:pt x="113694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6323801" y="1373613"/>
            <a:ext cx="142098" cy="189464"/>
          </a:xfrm>
          <a:custGeom>
            <a:avLst/>
            <a:gdLst/>
            <a:ahLst/>
            <a:cxnLst/>
            <a:rect l="l" t="t" r="r" b="b"/>
            <a:pathLst>
              <a:path w="142098" h="189464">
                <a:moveTo>
                  <a:pt x="23683" y="0"/>
                </a:moveTo>
                <a:cubicBezTo>
                  <a:pt x="10620" y="0"/>
                  <a:pt x="0" y="10620"/>
                  <a:pt x="0" y="23683"/>
                </a:cubicBezTo>
                <a:lnTo>
                  <a:pt x="0" y="165781"/>
                </a:lnTo>
                <a:cubicBezTo>
                  <a:pt x="0" y="178844"/>
                  <a:pt x="10620" y="189464"/>
                  <a:pt x="23683" y="189464"/>
                </a:cubicBezTo>
                <a:lnTo>
                  <a:pt x="118415" y="189464"/>
                </a:lnTo>
                <a:cubicBezTo>
                  <a:pt x="131478" y="189464"/>
                  <a:pt x="142098" y="178844"/>
                  <a:pt x="142098" y="165781"/>
                </a:cubicBezTo>
                <a:lnTo>
                  <a:pt x="142098" y="23683"/>
                </a:lnTo>
                <a:cubicBezTo>
                  <a:pt x="142098" y="10620"/>
                  <a:pt x="131478" y="0"/>
                  <a:pt x="118415" y="0"/>
                </a:cubicBezTo>
                <a:lnTo>
                  <a:pt x="23683" y="0"/>
                </a:lnTo>
                <a:close/>
                <a:moveTo>
                  <a:pt x="35524" y="23683"/>
                </a:moveTo>
                <a:lnTo>
                  <a:pt x="106573" y="23683"/>
                </a:lnTo>
                <a:cubicBezTo>
                  <a:pt x="113123" y="23683"/>
                  <a:pt x="118415" y="28975"/>
                  <a:pt x="118415" y="35524"/>
                </a:cubicBezTo>
                <a:lnTo>
                  <a:pt x="118415" y="47366"/>
                </a:lnTo>
                <a:cubicBezTo>
                  <a:pt x="118415" y="53916"/>
                  <a:pt x="113123" y="59207"/>
                  <a:pt x="106573" y="59207"/>
                </a:cubicBezTo>
                <a:lnTo>
                  <a:pt x="35524" y="59207"/>
                </a:lnTo>
                <a:cubicBezTo>
                  <a:pt x="28975" y="59207"/>
                  <a:pt x="23683" y="53916"/>
                  <a:pt x="23683" y="47366"/>
                </a:cubicBezTo>
                <a:lnTo>
                  <a:pt x="23683" y="35524"/>
                </a:lnTo>
                <a:cubicBezTo>
                  <a:pt x="23683" y="28975"/>
                  <a:pt x="28975" y="23683"/>
                  <a:pt x="35524" y="23683"/>
                </a:cubicBezTo>
                <a:close/>
                <a:moveTo>
                  <a:pt x="41445" y="85851"/>
                </a:moveTo>
                <a:cubicBezTo>
                  <a:pt x="41445" y="90752"/>
                  <a:pt x="37466" y="94732"/>
                  <a:pt x="32564" y="94732"/>
                </a:cubicBezTo>
                <a:cubicBezTo>
                  <a:pt x="27662" y="94732"/>
                  <a:pt x="23683" y="90752"/>
                  <a:pt x="23683" y="85851"/>
                </a:cubicBezTo>
                <a:cubicBezTo>
                  <a:pt x="23683" y="80949"/>
                  <a:pt x="27662" y="76970"/>
                  <a:pt x="32564" y="76970"/>
                </a:cubicBezTo>
                <a:cubicBezTo>
                  <a:pt x="37466" y="76970"/>
                  <a:pt x="41445" y="80949"/>
                  <a:pt x="41445" y="85851"/>
                </a:cubicBezTo>
                <a:close/>
                <a:moveTo>
                  <a:pt x="71049" y="94732"/>
                </a:moveTo>
                <a:cubicBezTo>
                  <a:pt x="66147" y="94732"/>
                  <a:pt x="62168" y="90752"/>
                  <a:pt x="62168" y="85851"/>
                </a:cubicBezTo>
                <a:cubicBezTo>
                  <a:pt x="62168" y="80949"/>
                  <a:pt x="66147" y="76970"/>
                  <a:pt x="71049" y="76970"/>
                </a:cubicBezTo>
                <a:cubicBezTo>
                  <a:pt x="75951" y="76970"/>
                  <a:pt x="79930" y="80949"/>
                  <a:pt x="79930" y="85851"/>
                </a:cubicBezTo>
                <a:cubicBezTo>
                  <a:pt x="79930" y="90752"/>
                  <a:pt x="75951" y="94732"/>
                  <a:pt x="71049" y="94732"/>
                </a:cubicBezTo>
                <a:close/>
                <a:moveTo>
                  <a:pt x="118415" y="85851"/>
                </a:moveTo>
                <a:cubicBezTo>
                  <a:pt x="118415" y="90752"/>
                  <a:pt x="114435" y="94732"/>
                  <a:pt x="109534" y="94732"/>
                </a:cubicBezTo>
                <a:cubicBezTo>
                  <a:pt x="104632" y="94732"/>
                  <a:pt x="100653" y="90752"/>
                  <a:pt x="100653" y="85851"/>
                </a:cubicBezTo>
                <a:cubicBezTo>
                  <a:pt x="100653" y="80949"/>
                  <a:pt x="104632" y="76970"/>
                  <a:pt x="109534" y="76970"/>
                </a:cubicBezTo>
                <a:cubicBezTo>
                  <a:pt x="114435" y="76970"/>
                  <a:pt x="118415" y="80949"/>
                  <a:pt x="118415" y="85851"/>
                </a:cubicBezTo>
                <a:close/>
                <a:moveTo>
                  <a:pt x="32564" y="130256"/>
                </a:moveTo>
                <a:cubicBezTo>
                  <a:pt x="27662" y="130256"/>
                  <a:pt x="23683" y="126277"/>
                  <a:pt x="23683" y="121375"/>
                </a:cubicBezTo>
                <a:cubicBezTo>
                  <a:pt x="23683" y="116474"/>
                  <a:pt x="27662" y="112494"/>
                  <a:pt x="32564" y="112494"/>
                </a:cubicBezTo>
                <a:cubicBezTo>
                  <a:pt x="37466" y="112494"/>
                  <a:pt x="41445" y="116474"/>
                  <a:pt x="41445" y="121375"/>
                </a:cubicBezTo>
                <a:cubicBezTo>
                  <a:pt x="41445" y="126277"/>
                  <a:pt x="37466" y="130256"/>
                  <a:pt x="32564" y="130256"/>
                </a:cubicBezTo>
                <a:close/>
                <a:moveTo>
                  <a:pt x="79930" y="121375"/>
                </a:moveTo>
                <a:cubicBezTo>
                  <a:pt x="79930" y="126277"/>
                  <a:pt x="75951" y="130256"/>
                  <a:pt x="71049" y="130256"/>
                </a:cubicBezTo>
                <a:cubicBezTo>
                  <a:pt x="66147" y="130256"/>
                  <a:pt x="62168" y="126277"/>
                  <a:pt x="62168" y="121375"/>
                </a:cubicBezTo>
                <a:cubicBezTo>
                  <a:pt x="62168" y="116474"/>
                  <a:pt x="66147" y="112494"/>
                  <a:pt x="71049" y="112494"/>
                </a:cubicBezTo>
                <a:cubicBezTo>
                  <a:pt x="75951" y="112494"/>
                  <a:pt x="79930" y="116474"/>
                  <a:pt x="79930" y="121375"/>
                </a:cubicBezTo>
                <a:close/>
                <a:moveTo>
                  <a:pt x="109534" y="130256"/>
                </a:moveTo>
                <a:cubicBezTo>
                  <a:pt x="104632" y="130256"/>
                  <a:pt x="100653" y="126277"/>
                  <a:pt x="100653" y="121375"/>
                </a:cubicBezTo>
                <a:cubicBezTo>
                  <a:pt x="100653" y="116474"/>
                  <a:pt x="104632" y="112494"/>
                  <a:pt x="109534" y="112494"/>
                </a:cubicBezTo>
                <a:cubicBezTo>
                  <a:pt x="114435" y="112494"/>
                  <a:pt x="118415" y="116474"/>
                  <a:pt x="118415" y="121375"/>
                </a:cubicBezTo>
                <a:cubicBezTo>
                  <a:pt x="118415" y="126277"/>
                  <a:pt x="114435" y="130256"/>
                  <a:pt x="109534" y="130256"/>
                </a:cubicBezTo>
                <a:close/>
                <a:moveTo>
                  <a:pt x="23683" y="156900"/>
                </a:moveTo>
                <a:cubicBezTo>
                  <a:pt x="23683" y="151978"/>
                  <a:pt x="27642" y="148019"/>
                  <a:pt x="32564" y="148019"/>
                </a:cubicBezTo>
                <a:lnTo>
                  <a:pt x="74009" y="148019"/>
                </a:lnTo>
                <a:cubicBezTo>
                  <a:pt x="78931" y="148019"/>
                  <a:pt x="82890" y="151978"/>
                  <a:pt x="82890" y="156900"/>
                </a:cubicBezTo>
                <a:cubicBezTo>
                  <a:pt x="82890" y="161821"/>
                  <a:pt x="78931" y="165781"/>
                  <a:pt x="74009" y="165781"/>
                </a:cubicBezTo>
                <a:lnTo>
                  <a:pt x="32564" y="165781"/>
                </a:lnTo>
                <a:cubicBezTo>
                  <a:pt x="27642" y="165781"/>
                  <a:pt x="23683" y="161821"/>
                  <a:pt x="23683" y="156900"/>
                </a:cubicBezTo>
                <a:close/>
                <a:moveTo>
                  <a:pt x="109534" y="148019"/>
                </a:moveTo>
                <a:cubicBezTo>
                  <a:pt x="114455" y="148019"/>
                  <a:pt x="118415" y="151978"/>
                  <a:pt x="118415" y="156900"/>
                </a:cubicBezTo>
                <a:cubicBezTo>
                  <a:pt x="118415" y="161821"/>
                  <a:pt x="114455" y="165781"/>
                  <a:pt x="109534" y="165781"/>
                </a:cubicBezTo>
                <a:cubicBezTo>
                  <a:pt x="104612" y="165781"/>
                  <a:pt x="100653" y="161821"/>
                  <a:pt x="100653" y="156900"/>
                </a:cubicBezTo>
                <a:cubicBezTo>
                  <a:pt x="100653" y="151978"/>
                  <a:pt x="104612" y="148019"/>
                  <a:pt x="109534" y="148019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9" name="Text 27"/>
          <p:cNvSpPr/>
          <p:nvPr/>
        </p:nvSpPr>
        <p:spPr>
          <a:xfrm>
            <a:off x="6543745" y="1335720"/>
            <a:ext cx="5276569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pass@k指标详解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Shape 28"/>
          <p:cNvSpPr/>
          <p:nvPr/>
        </p:nvSpPr>
        <p:spPr>
          <a:xfrm>
            <a:off x="6276435" y="1676755"/>
            <a:ext cx="5418667" cy="596811"/>
          </a:xfrm>
          <a:custGeom>
            <a:avLst/>
            <a:gdLst/>
            <a:ahLst/>
            <a:cxnLst/>
            <a:rect l="l" t="t" r="r" b="b"/>
            <a:pathLst>
              <a:path w="5418667" h="596811">
                <a:moveTo>
                  <a:pt x="75783" y="0"/>
                </a:moveTo>
                <a:lnTo>
                  <a:pt x="5342884" y="0"/>
                </a:lnTo>
                <a:cubicBezTo>
                  <a:pt x="5384737" y="0"/>
                  <a:pt x="5418667" y="33929"/>
                  <a:pt x="5418667" y="75783"/>
                </a:cubicBezTo>
                <a:lnTo>
                  <a:pt x="5418667" y="521028"/>
                </a:lnTo>
                <a:cubicBezTo>
                  <a:pt x="5418667" y="562882"/>
                  <a:pt x="5384737" y="596811"/>
                  <a:pt x="5342884" y="596811"/>
                </a:cubicBezTo>
                <a:lnTo>
                  <a:pt x="75783" y="596811"/>
                </a:lnTo>
                <a:cubicBezTo>
                  <a:pt x="33929" y="596811"/>
                  <a:pt x="0" y="562882"/>
                  <a:pt x="0" y="521028"/>
                </a:cubicBezTo>
                <a:lnTo>
                  <a:pt x="0" y="75783"/>
                </a:lnTo>
                <a:cubicBezTo>
                  <a:pt x="0" y="33929"/>
                  <a:pt x="33929" y="0"/>
                  <a:pt x="75783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41" name="Shape 29"/>
          <p:cNvSpPr/>
          <p:nvPr/>
        </p:nvSpPr>
        <p:spPr>
          <a:xfrm>
            <a:off x="6371167" y="1790434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132625" y="75786"/>
                </a:moveTo>
                <a:cubicBezTo>
                  <a:pt x="132625" y="44415"/>
                  <a:pt x="107156" y="18946"/>
                  <a:pt x="75786" y="18946"/>
                </a:cubicBezTo>
                <a:cubicBezTo>
                  <a:pt x="44415" y="18946"/>
                  <a:pt x="18946" y="44415"/>
                  <a:pt x="18946" y="75786"/>
                </a:cubicBezTo>
                <a:cubicBezTo>
                  <a:pt x="18946" y="107156"/>
                  <a:pt x="44415" y="132625"/>
                  <a:pt x="75786" y="132625"/>
                </a:cubicBezTo>
                <a:cubicBezTo>
                  <a:pt x="107156" y="132625"/>
                  <a:pt x="132625" y="107156"/>
                  <a:pt x="132625" y="75786"/>
                </a:cubicBezTo>
                <a:close/>
                <a:moveTo>
                  <a:pt x="0" y="75786"/>
                </a:moveTo>
                <a:cubicBezTo>
                  <a:pt x="0" y="33958"/>
                  <a:pt x="33958" y="0"/>
                  <a:pt x="75786" y="0"/>
                </a:cubicBezTo>
                <a:cubicBezTo>
                  <a:pt x="117613" y="0"/>
                  <a:pt x="151571" y="33958"/>
                  <a:pt x="151571" y="75786"/>
                </a:cubicBezTo>
                <a:cubicBezTo>
                  <a:pt x="151571" y="117613"/>
                  <a:pt x="117613" y="151571"/>
                  <a:pt x="75786" y="151571"/>
                </a:cubicBezTo>
                <a:cubicBezTo>
                  <a:pt x="33958" y="151571"/>
                  <a:pt x="0" y="117613"/>
                  <a:pt x="0" y="75786"/>
                </a:cubicBezTo>
                <a:close/>
                <a:moveTo>
                  <a:pt x="75786" y="99469"/>
                </a:moveTo>
                <a:cubicBezTo>
                  <a:pt x="88857" y="99469"/>
                  <a:pt x="99469" y="88857"/>
                  <a:pt x="99469" y="75786"/>
                </a:cubicBezTo>
                <a:cubicBezTo>
                  <a:pt x="99469" y="62715"/>
                  <a:pt x="88857" y="52103"/>
                  <a:pt x="75786" y="52103"/>
                </a:cubicBezTo>
                <a:cubicBezTo>
                  <a:pt x="62715" y="52103"/>
                  <a:pt x="52103" y="62715"/>
                  <a:pt x="52103" y="75786"/>
                </a:cubicBezTo>
                <a:cubicBezTo>
                  <a:pt x="52103" y="88857"/>
                  <a:pt x="62715" y="99469"/>
                  <a:pt x="75786" y="99469"/>
                </a:cubicBezTo>
                <a:close/>
                <a:moveTo>
                  <a:pt x="75786" y="33156"/>
                </a:moveTo>
                <a:cubicBezTo>
                  <a:pt x="99313" y="33156"/>
                  <a:pt x="118415" y="52258"/>
                  <a:pt x="118415" y="75786"/>
                </a:cubicBezTo>
                <a:cubicBezTo>
                  <a:pt x="118415" y="99313"/>
                  <a:pt x="99313" y="118415"/>
                  <a:pt x="75786" y="118415"/>
                </a:cubicBezTo>
                <a:cubicBezTo>
                  <a:pt x="52258" y="118415"/>
                  <a:pt x="33156" y="99313"/>
                  <a:pt x="33156" y="75786"/>
                </a:cubicBezTo>
                <a:cubicBezTo>
                  <a:pt x="33156" y="52258"/>
                  <a:pt x="52258" y="33156"/>
                  <a:pt x="75786" y="33156"/>
                </a:cubicBezTo>
                <a:close/>
                <a:moveTo>
                  <a:pt x="66312" y="75786"/>
                </a:moveTo>
                <a:cubicBezTo>
                  <a:pt x="66312" y="70557"/>
                  <a:pt x="70557" y="66312"/>
                  <a:pt x="75786" y="66312"/>
                </a:cubicBezTo>
                <a:cubicBezTo>
                  <a:pt x="81014" y="66312"/>
                  <a:pt x="85259" y="70557"/>
                  <a:pt x="85259" y="75786"/>
                </a:cubicBezTo>
                <a:cubicBezTo>
                  <a:pt x="85259" y="81014"/>
                  <a:pt x="81014" y="85259"/>
                  <a:pt x="75786" y="85259"/>
                </a:cubicBezTo>
                <a:cubicBezTo>
                  <a:pt x="70557" y="85259"/>
                  <a:pt x="66312" y="81014"/>
                  <a:pt x="66312" y="7578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2" name="Text 30"/>
          <p:cNvSpPr/>
          <p:nvPr/>
        </p:nvSpPr>
        <p:spPr>
          <a:xfrm>
            <a:off x="6598214" y="1752541"/>
            <a:ext cx="5096887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指标定义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3" name="Text 31"/>
          <p:cNvSpPr/>
          <p:nvPr/>
        </p:nvSpPr>
        <p:spPr>
          <a:xfrm>
            <a:off x="6352220" y="2017790"/>
            <a:ext cx="5333408" cy="179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衡量模型生成</a:t>
            </a:r>
            <a:r>
              <a:rPr lang="en-US" sz="1200" dirty="0">
                <a:solidFill>
                  <a:schemeClr val="tx1"/>
                </a:solidFill>
                <a:highlight>
                  <a:srgbClr val="4A6D8C">
                    <a:alpha val="2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k个代码样本 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至少有一个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通过测试的概率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Shape 32"/>
          <p:cNvSpPr/>
          <p:nvPr/>
        </p:nvSpPr>
        <p:spPr>
          <a:xfrm>
            <a:off x="6276435" y="2351720"/>
            <a:ext cx="5418667" cy="985212"/>
          </a:xfrm>
          <a:custGeom>
            <a:avLst/>
            <a:gdLst/>
            <a:ahLst/>
            <a:cxnLst/>
            <a:rect l="l" t="t" r="r" b="b"/>
            <a:pathLst>
              <a:path w="5418667" h="985212">
                <a:moveTo>
                  <a:pt x="75783" y="0"/>
                </a:moveTo>
                <a:lnTo>
                  <a:pt x="5342884" y="0"/>
                </a:lnTo>
                <a:cubicBezTo>
                  <a:pt x="5384738" y="0"/>
                  <a:pt x="5418667" y="33929"/>
                  <a:pt x="5418667" y="75783"/>
                </a:cubicBezTo>
                <a:lnTo>
                  <a:pt x="5418667" y="909430"/>
                </a:lnTo>
                <a:cubicBezTo>
                  <a:pt x="5418667" y="951283"/>
                  <a:pt x="5384738" y="985212"/>
                  <a:pt x="5342884" y="985212"/>
                </a:cubicBezTo>
                <a:lnTo>
                  <a:pt x="75783" y="985212"/>
                </a:lnTo>
                <a:cubicBezTo>
                  <a:pt x="33929" y="985212"/>
                  <a:pt x="0" y="951283"/>
                  <a:pt x="0" y="909430"/>
                </a:cubicBezTo>
                <a:lnTo>
                  <a:pt x="0" y="75783"/>
                </a:lnTo>
                <a:cubicBezTo>
                  <a:pt x="0" y="33957"/>
                  <a:pt x="33957" y="0"/>
                  <a:pt x="75783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45" name="Shape 33"/>
          <p:cNvSpPr/>
          <p:nvPr/>
        </p:nvSpPr>
        <p:spPr>
          <a:xfrm>
            <a:off x="6371167" y="2465399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19509" y="67645"/>
                </a:moveTo>
                <a:cubicBezTo>
                  <a:pt x="23446" y="40113"/>
                  <a:pt x="47159" y="18946"/>
                  <a:pt x="75786" y="18946"/>
                </a:cubicBezTo>
                <a:cubicBezTo>
                  <a:pt x="91476" y="18946"/>
                  <a:pt x="105685" y="25311"/>
                  <a:pt x="115987" y="35584"/>
                </a:cubicBezTo>
                <a:cubicBezTo>
                  <a:pt x="116047" y="35643"/>
                  <a:pt x="116106" y="35702"/>
                  <a:pt x="116165" y="35761"/>
                </a:cubicBezTo>
                <a:lnTo>
                  <a:pt x="118415" y="37893"/>
                </a:lnTo>
                <a:lnTo>
                  <a:pt x="104235" y="37893"/>
                </a:lnTo>
                <a:cubicBezTo>
                  <a:pt x="98995" y="37893"/>
                  <a:pt x="94762" y="42126"/>
                  <a:pt x="94762" y="47366"/>
                </a:cubicBezTo>
                <a:cubicBezTo>
                  <a:pt x="94762" y="52606"/>
                  <a:pt x="98995" y="56839"/>
                  <a:pt x="104235" y="56839"/>
                </a:cubicBezTo>
                <a:lnTo>
                  <a:pt x="142128" y="56839"/>
                </a:lnTo>
                <a:cubicBezTo>
                  <a:pt x="147367" y="56839"/>
                  <a:pt x="151601" y="52606"/>
                  <a:pt x="151601" y="47366"/>
                </a:cubicBezTo>
                <a:lnTo>
                  <a:pt x="151601" y="9473"/>
                </a:lnTo>
                <a:cubicBezTo>
                  <a:pt x="151601" y="4233"/>
                  <a:pt x="147367" y="0"/>
                  <a:pt x="142128" y="0"/>
                </a:cubicBezTo>
                <a:cubicBezTo>
                  <a:pt x="136888" y="0"/>
                  <a:pt x="132654" y="4233"/>
                  <a:pt x="132654" y="9473"/>
                </a:cubicBezTo>
                <a:lnTo>
                  <a:pt x="132654" y="25282"/>
                </a:lnTo>
                <a:lnTo>
                  <a:pt x="129309" y="22114"/>
                </a:lnTo>
                <a:cubicBezTo>
                  <a:pt x="115603" y="8467"/>
                  <a:pt x="96656" y="0"/>
                  <a:pt x="75786" y="0"/>
                </a:cubicBezTo>
                <a:cubicBezTo>
                  <a:pt x="37597" y="0"/>
                  <a:pt x="6010" y="28242"/>
                  <a:pt x="770" y="64980"/>
                </a:cubicBezTo>
                <a:cubicBezTo>
                  <a:pt x="30" y="70161"/>
                  <a:pt x="3612" y="74957"/>
                  <a:pt x="8792" y="75697"/>
                </a:cubicBezTo>
                <a:cubicBezTo>
                  <a:pt x="13973" y="76437"/>
                  <a:pt x="18769" y="72825"/>
                  <a:pt x="19509" y="67674"/>
                </a:cubicBezTo>
                <a:close/>
                <a:moveTo>
                  <a:pt x="150801" y="86591"/>
                </a:moveTo>
                <a:cubicBezTo>
                  <a:pt x="151541" y="81410"/>
                  <a:pt x="147930" y="76614"/>
                  <a:pt x="142779" y="75874"/>
                </a:cubicBezTo>
                <a:cubicBezTo>
                  <a:pt x="137628" y="75134"/>
                  <a:pt x="132802" y="78746"/>
                  <a:pt x="132062" y="83897"/>
                </a:cubicBezTo>
                <a:cubicBezTo>
                  <a:pt x="128125" y="111428"/>
                  <a:pt x="104412" y="132595"/>
                  <a:pt x="75786" y="132595"/>
                </a:cubicBezTo>
                <a:cubicBezTo>
                  <a:pt x="60096" y="132595"/>
                  <a:pt x="45886" y="126230"/>
                  <a:pt x="35584" y="115958"/>
                </a:cubicBezTo>
                <a:cubicBezTo>
                  <a:pt x="35524" y="115899"/>
                  <a:pt x="35465" y="115839"/>
                  <a:pt x="35406" y="115780"/>
                </a:cubicBezTo>
                <a:lnTo>
                  <a:pt x="33156" y="113649"/>
                </a:lnTo>
                <a:lnTo>
                  <a:pt x="47336" y="113649"/>
                </a:lnTo>
                <a:cubicBezTo>
                  <a:pt x="52576" y="113649"/>
                  <a:pt x="56810" y="109415"/>
                  <a:pt x="56810" y="104176"/>
                </a:cubicBezTo>
                <a:cubicBezTo>
                  <a:pt x="56810" y="98936"/>
                  <a:pt x="52576" y="94702"/>
                  <a:pt x="47336" y="94702"/>
                </a:cubicBezTo>
                <a:lnTo>
                  <a:pt x="9473" y="94732"/>
                </a:lnTo>
                <a:cubicBezTo>
                  <a:pt x="6957" y="94732"/>
                  <a:pt x="4529" y="95738"/>
                  <a:pt x="2753" y="97544"/>
                </a:cubicBezTo>
                <a:cubicBezTo>
                  <a:pt x="977" y="99350"/>
                  <a:pt x="-30" y="101748"/>
                  <a:pt x="0" y="104294"/>
                </a:cubicBezTo>
                <a:lnTo>
                  <a:pt x="296" y="141891"/>
                </a:lnTo>
                <a:cubicBezTo>
                  <a:pt x="326" y="147131"/>
                  <a:pt x="4618" y="151334"/>
                  <a:pt x="9858" y="151275"/>
                </a:cubicBezTo>
                <a:cubicBezTo>
                  <a:pt x="15098" y="151216"/>
                  <a:pt x="19302" y="146953"/>
                  <a:pt x="19242" y="141713"/>
                </a:cubicBezTo>
                <a:lnTo>
                  <a:pt x="19124" y="126467"/>
                </a:lnTo>
                <a:lnTo>
                  <a:pt x="22292" y="129457"/>
                </a:lnTo>
                <a:cubicBezTo>
                  <a:pt x="35998" y="143104"/>
                  <a:pt x="54915" y="151571"/>
                  <a:pt x="75786" y="151571"/>
                </a:cubicBezTo>
                <a:cubicBezTo>
                  <a:pt x="113974" y="151571"/>
                  <a:pt x="145562" y="123329"/>
                  <a:pt x="150801" y="86591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6" name="Text 34"/>
          <p:cNvSpPr/>
          <p:nvPr/>
        </p:nvSpPr>
        <p:spPr>
          <a:xfrm>
            <a:off x="6598214" y="2427506"/>
            <a:ext cx="5096887" cy="2273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计算公式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7" name="Shape 35"/>
          <p:cNvSpPr/>
          <p:nvPr/>
        </p:nvSpPr>
        <p:spPr>
          <a:xfrm>
            <a:off x="6352220" y="2692755"/>
            <a:ext cx="5267096" cy="378928"/>
          </a:xfrm>
          <a:custGeom>
            <a:avLst/>
            <a:gdLst/>
            <a:ahLst/>
            <a:cxnLst/>
            <a:rect l="l" t="t" r="r" b="b"/>
            <a:pathLst>
              <a:path w="5267096" h="378928">
                <a:moveTo>
                  <a:pt x="75786" y="0"/>
                </a:moveTo>
                <a:lnTo>
                  <a:pt x="5191310" y="0"/>
                </a:lnTo>
                <a:cubicBezTo>
                  <a:pt x="5233165" y="0"/>
                  <a:pt x="5267096" y="33930"/>
                  <a:pt x="5267096" y="75786"/>
                </a:cubicBezTo>
                <a:lnTo>
                  <a:pt x="5267096" y="303142"/>
                </a:lnTo>
                <a:cubicBezTo>
                  <a:pt x="5267096" y="344997"/>
                  <a:pt x="5233165" y="378928"/>
                  <a:pt x="5191310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C00000">
              <a:alpha val="10000"/>
            </a:srgbClr>
          </a:solidFill>
        </p:spPr>
      </p:sp>
      <p:sp>
        <p:nvSpPr>
          <p:cNvPr id="48" name="Text 36"/>
          <p:cNvSpPr/>
          <p:nvPr/>
        </p:nvSpPr>
        <p:spPr>
          <a:xfrm>
            <a:off x="6390113" y="2768541"/>
            <a:ext cx="5191310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pass@k = E[1 - C(n-c,k) / C(n,k)]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9" name="Text 37"/>
          <p:cNvSpPr/>
          <p:nvPr/>
        </p:nvSpPr>
        <p:spPr>
          <a:xfrm>
            <a:off x="6352220" y="3109576"/>
            <a:ext cx="5323935" cy="1515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n: 生成样本总数 | c: 正确样本数 | k: 评估样本数</a:t>
            </a:r>
            <a:endParaRPr lang="en-US" sz="1000" dirty="0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Shape 38"/>
          <p:cNvSpPr/>
          <p:nvPr/>
        </p:nvSpPr>
        <p:spPr>
          <a:xfrm>
            <a:off x="6276435" y="3412718"/>
            <a:ext cx="5418667" cy="1231515"/>
          </a:xfrm>
          <a:custGeom>
            <a:avLst/>
            <a:gdLst/>
            <a:ahLst/>
            <a:cxnLst/>
            <a:rect l="l" t="t" r="r" b="b"/>
            <a:pathLst>
              <a:path w="5418667" h="1231515">
                <a:moveTo>
                  <a:pt x="75787" y="0"/>
                </a:moveTo>
                <a:lnTo>
                  <a:pt x="5342879" y="0"/>
                </a:lnTo>
                <a:cubicBezTo>
                  <a:pt x="5384735" y="0"/>
                  <a:pt x="5418667" y="33931"/>
                  <a:pt x="5418667" y="75787"/>
                </a:cubicBezTo>
                <a:lnTo>
                  <a:pt x="5418667" y="1155728"/>
                </a:lnTo>
                <a:cubicBezTo>
                  <a:pt x="5418667" y="1197584"/>
                  <a:pt x="5384735" y="1231515"/>
                  <a:pt x="5342879" y="1231515"/>
                </a:cubicBezTo>
                <a:lnTo>
                  <a:pt x="75787" y="1231515"/>
                </a:lnTo>
                <a:cubicBezTo>
                  <a:pt x="33931" y="1231515"/>
                  <a:pt x="0" y="1197584"/>
                  <a:pt x="0" y="1155728"/>
                </a:cubicBezTo>
                <a:lnTo>
                  <a:pt x="0" y="75787"/>
                </a:lnTo>
                <a:cubicBezTo>
                  <a:pt x="0" y="33931"/>
                  <a:pt x="33931" y="0"/>
                  <a:pt x="75787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51" name="Shape 39"/>
          <p:cNvSpPr/>
          <p:nvPr/>
        </p:nvSpPr>
        <p:spPr>
          <a:xfrm>
            <a:off x="6352220" y="3526396"/>
            <a:ext cx="189464" cy="151571"/>
          </a:xfrm>
          <a:custGeom>
            <a:avLst/>
            <a:gdLst/>
            <a:ahLst/>
            <a:cxnLst/>
            <a:rect l="l" t="t" r="r" b="b"/>
            <a:pathLst>
              <a:path w="189464" h="151571">
                <a:moveTo>
                  <a:pt x="123122" y="62316"/>
                </a:moveTo>
                <a:cubicBezTo>
                  <a:pt x="126734" y="61339"/>
                  <a:pt x="130523" y="63056"/>
                  <a:pt x="132151" y="66401"/>
                </a:cubicBezTo>
                <a:lnTo>
                  <a:pt x="137657" y="77532"/>
                </a:lnTo>
                <a:cubicBezTo>
                  <a:pt x="140707" y="77947"/>
                  <a:pt x="143697" y="78776"/>
                  <a:pt x="146509" y="79930"/>
                </a:cubicBezTo>
                <a:lnTo>
                  <a:pt x="156870" y="73032"/>
                </a:lnTo>
                <a:cubicBezTo>
                  <a:pt x="159979" y="70960"/>
                  <a:pt x="164093" y="71375"/>
                  <a:pt x="166728" y="74009"/>
                </a:cubicBezTo>
                <a:lnTo>
                  <a:pt x="172412" y="79693"/>
                </a:lnTo>
                <a:cubicBezTo>
                  <a:pt x="175047" y="82328"/>
                  <a:pt x="175461" y="86472"/>
                  <a:pt x="173389" y="89551"/>
                </a:cubicBezTo>
                <a:lnTo>
                  <a:pt x="166491" y="99883"/>
                </a:lnTo>
                <a:cubicBezTo>
                  <a:pt x="167054" y="101274"/>
                  <a:pt x="167557" y="102725"/>
                  <a:pt x="167972" y="104235"/>
                </a:cubicBezTo>
                <a:cubicBezTo>
                  <a:pt x="168386" y="105745"/>
                  <a:pt x="168652" y="107225"/>
                  <a:pt x="168860" y="108734"/>
                </a:cubicBezTo>
                <a:lnTo>
                  <a:pt x="180020" y="114241"/>
                </a:lnTo>
                <a:cubicBezTo>
                  <a:pt x="183366" y="115899"/>
                  <a:pt x="185083" y="119688"/>
                  <a:pt x="184106" y="123270"/>
                </a:cubicBezTo>
                <a:lnTo>
                  <a:pt x="182033" y="131026"/>
                </a:lnTo>
                <a:cubicBezTo>
                  <a:pt x="181056" y="134608"/>
                  <a:pt x="177711" y="137036"/>
                  <a:pt x="173981" y="136799"/>
                </a:cubicBezTo>
                <a:lnTo>
                  <a:pt x="161548" y="136000"/>
                </a:lnTo>
                <a:cubicBezTo>
                  <a:pt x="159683" y="138397"/>
                  <a:pt x="157521" y="140618"/>
                  <a:pt x="155064" y="142512"/>
                </a:cubicBezTo>
                <a:lnTo>
                  <a:pt x="155864" y="154916"/>
                </a:lnTo>
                <a:cubicBezTo>
                  <a:pt x="156100" y="158646"/>
                  <a:pt x="153673" y="162021"/>
                  <a:pt x="150091" y="162969"/>
                </a:cubicBezTo>
                <a:lnTo>
                  <a:pt x="142335" y="165041"/>
                </a:lnTo>
                <a:cubicBezTo>
                  <a:pt x="138723" y="166018"/>
                  <a:pt x="134963" y="164301"/>
                  <a:pt x="133306" y="160955"/>
                </a:cubicBezTo>
                <a:lnTo>
                  <a:pt x="127799" y="149824"/>
                </a:lnTo>
                <a:cubicBezTo>
                  <a:pt x="124750" y="149410"/>
                  <a:pt x="121760" y="148581"/>
                  <a:pt x="118948" y="147427"/>
                </a:cubicBezTo>
                <a:lnTo>
                  <a:pt x="108586" y="154324"/>
                </a:lnTo>
                <a:cubicBezTo>
                  <a:pt x="105478" y="156397"/>
                  <a:pt x="101363" y="155982"/>
                  <a:pt x="98728" y="153347"/>
                </a:cubicBezTo>
                <a:lnTo>
                  <a:pt x="93045" y="147663"/>
                </a:lnTo>
                <a:cubicBezTo>
                  <a:pt x="90410" y="145029"/>
                  <a:pt x="89995" y="140914"/>
                  <a:pt x="92068" y="137805"/>
                </a:cubicBezTo>
                <a:lnTo>
                  <a:pt x="98965" y="127444"/>
                </a:lnTo>
                <a:cubicBezTo>
                  <a:pt x="98403" y="126053"/>
                  <a:pt x="97900" y="124602"/>
                  <a:pt x="97485" y="123092"/>
                </a:cubicBezTo>
                <a:cubicBezTo>
                  <a:pt x="97071" y="121583"/>
                  <a:pt x="96804" y="120073"/>
                  <a:pt x="96597" y="118593"/>
                </a:cubicBezTo>
                <a:lnTo>
                  <a:pt x="85436" y="113086"/>
                </a:lnTo>
                <a:cubicBezTo>
                  <a:pt x="82091" y="111428"/>
                  <a:pt x="80404" y="107639"/>
                  <a:pt x="81351" y="104057"/>
                </a:cubicBezTo>
                <a:lnTo>
                  <a:pt x="83423" y="96301"/>
                </a:lnTo>
                <a:cubicBezTo>
                  <a:pt x="84400" y="92719"/>
                  <a:pt x="87745" y="90291"/>
                  <a:pt x="91476" y="90528"/>
                </a:cubicBezTo>
                <a:lnTo>
                  <a:pt x="103879" y="91328"/>
                </a:lnTo>
                <a:cubicBezTo>
                  <a:pt x="105745" y="88930"/>
                  <a:pt x="107906" y="86709"/>
                  <a:pt x="110363" y="84815"/>
                </a:cubicBezTo>
                <a:lnTo>
                  <a:pt x="109563" y="72440"/>
                </a:lnTo>
                <a:cubicBezTo>
                  <a:pt x="109327" y="68710"/>
                  <a:pt x="111754" y="65335"/>
                  <a:pt x="115336" y="64388"/>
                </a:cubicBezTo>
                <a:lnTo>
                  <a:pt x="123092" y="62316"/>
                </a:lnTo>
                <a:close/>
                <a:moveTo>
                  <a:pt x="132743" y="100653"/>
                </a:moveTo>
                <a:cubicBezTo>
                  <a:pt x="125554" y="100661"/>
                  <a:pt x="119724" y="106504"/>
                  <a:pt x="119732" y="113693"/>
                </a:cubicBezTo>
                <a:cubicBezTo>
                  <a:pt x="119740" y="120882"/>
                  <a:pt x="125584" y="126712"/>
                  <a:pt x="132773" y="126704"/>
                </a:cubicBezTo>
                <a:cubicBezTo>
                  <a:pt x="139962" y="126696"/>
                  <a:pt x="145792" y="120853"/>
                  <a:pt x="145784" y="113664"/>
                </a:cubicBezTo>
                <a:cubicBezTo>
                  <a:pt x="145775" y="106474"/>
                  <a:pt x="139932" y="100645"/>
                  <a:pt x="132743" y="100653"/>
                </a:cubicBezTo>
                <a:close/>
                <a:moveTo>
                  <a:pt x="66579" y="-13470"/>
                </a:moveTo>
                <a:lnTo>
                  <a:pt x="74335" y="-11397"/>
                </a:lnTo>
                <a:cubicBezTo>
                  <a:pt x="77917" y="-10421"/>
                  <a:pt x="80345" y="-7046"/>
                  <a:pt x="80108" y="-3345"/>
                </a:cubicBezTo>
                <a:lnTo>
                  <a:pt x="79308" y="9029"/>
                </a:lnTo>
                <a:cubicBezTo>
                  <a:pt x="81766" y="10924"/>
                  <a:pt x="83927" y="13114"/>
                  <a:pt x="85792" y="15542"/>
                </a:cubicBezTo>
                <a:lnTo>
                  <a:pt x="98225" y="14743"/>
                </a:lnTo>
                <a:cubicBezTo>
                  <a:pt x="101926" y="14506"/>
                  <a:pt x="105300" y="16933"/>
                  <a:pt x="106277" y="20515"/>
                </a:cubicBezTo>
                <a:lnTo>
                  <a:pt x="108350" y="28272"/>
                </a:lnTo>
                <a:cubicBezTo>
                  <a:pt x="109297" y="31854"/>
                  <a:pt x="107610" y="35643"/>
                  <a:pt x="104264" y="37301"/>
                </a:cubicBezTo>
                <a:lnTo>
                  <a:pt x="93104" y="42807"/>
                </a:lnTo>
                <a:cubicBezTo>
                  <a:pt x="92897" y="44317"/>
                  <a:pt x="92600" y="45827"/>
                  <a:pt x="92216" y="47307"/>
                </a:cubicBezTo>
                <a:cubicBezTo>
                  <a:pt x="91831" y="48787"/>
                  <a:pt x="91298" y="50267"/>
                  <a:pt x="90735" y="51659"/>
                </a:cubicBezTo>
                <a:lnTo>
                  <a:pt x="97633" y="62020"/>
                </a:lnTo>
                <a:cubicBezTo>
                  <a:pt x="99705" y="65128"/>
                  <a:pt x="99291" y="69243"/>
                  <a:pt x="96656" y="71878"/>
                </a:cubicBezTo>
                <a:lnTo>
                  <a:pt x="90972" y="77562"/>
                </a:lnTo>
                <a:cubicBezTo>
                  <a:pt x="88338" y="80197"/>
                  <a:pt x="84223" y="80611"/>
                  <a:pt x="81114" y="78539"/>
                </a:cubicBezTo>
                <a:lnTo>
                  <a:pt x="70753" y="71641"/>
                </a:lnTo>
                <a:cubicBezTo>
                  <a:pt x="67941" y="72796"/>
                  <a:pt x="64951" y="73624"/>
                  <a:pt x="61901" y="74039"/>
                </a:cubicBezTo>
                <a:lnTo>
                  <a:pt x="56395" y="85170"/>
                </a:lnTo>
                <a:cubicBezTo>
                  <a:pt x="54737" y="88515"/>
                  <a:pt x="50948" y="90203"/>
                  <a:pt x="47366" y="89255"/>
                </a:cubicBezTo>
                <a:lnTo>
                  <a:pt x="39610" y="87183"/>
                </a:lnTo>
                <a:cubicBezTo>
                  <a:pt x="35998" y="86206"/>
                  <a:pt x="33600" y="82831"/>
                  <a:pt x="33837" y="79131"/>
                </a:cubicBezTo>
                <a:lnTo>
                  <a:pt x="34636" y="66727"/>
                </a:lnTo>
                <a:cubicBezTo>
                  <a:pt x="32179" y="64832"/>
                  <a:pt x="30018" y="62641"/>
                  <a:pt x="28153" y="60214"/>
                </a:cubicBezTo>
                <a:lnTo>
                  <a:pt x="15720" y="61013"/>
                </a:lnTo>
                <a:cubicBezTo>
                  <a:pt x="12019" y="61250"/>
                  <a:pt x="8644" y="58823"/>
                  <a:pt x="7667" y="55241"/>
                </a:cubicBezTo>
                <a:lnTo>
                  <a:pt x="5595" y="47484"/>
                </a:lnTo>
                <a:cubicBezTo>
                  <a:pt x="4648" y="43902"/>
                  <a:pt x="6335" y="40113"/>
                  <a:pt x="9680" y="38455"/>
                </a:cubicBezTo>
                <a:lnTo>
                  <a:pt x="20841" y="32949"/>
                </a:lnTo>
                <a:cubicBezTo>
                  <a:pt x="21048" y="31439"/>
                  <a:pt x="21344" y="29959"/>
                  <a:pt x="21729" y="28449"/>
                </a:cubicBezTo>
                <a:cubicBezTo>
                  <a:pt x="22144" y="26939"/>
                  <a:pt x="22617" y="25489"/>
                  <a:pt x="23209" y="24097"/>
                </a:cubicBezTo>
                <a:lnTo>
                  <a:pt x="16312" y="13766"/>
                </a:lnTo>
                <a:cubicBezTo>
                  <a:pt x="14239" y="10657"/>
                  <a:pt x="14654" y="6542"/>
                  <a:pt x="17289" y="3908"/>
                </a:cubicBezTo>
                <a:lnTo>
                  <a:pt x="22972" y="-1776"/>
                </a:lnTo>
                <a:cubicBezTo>
                  <a:pt x="25607" y="-4411"/>
                  <a:pt x="29722" y="-4825"/>
                  <a:pt x="32831" y="-2753"/>
                </a:cubicBezTo>
                <a:lnTo>
                  <a:pt x="43192" y="4145"/>
                </a:lnTo>
                <a:cubicBezTo>
                  <a:pt x="46004" y="2990"/>
                  <a:pt x="48994" y="2161"/>
                  <a:pt x="52043" y="1747"/>
                </a:cubicBezTo>
                <a:lnTo>
                  <a:pt x="57550" y="-9384"/>
                </a:lnTo>
                <a:cubicBezTo>
                  <a:pt x="59207" y="-12730"/>
                  <a:pt x="62967" y="-14417"/>
                  <a:pt x="66579" y="-13470"/>
                </a:cubicBezTo>
                <a:close/>
                <a:moveTo>
                  <a:pt x="56958" y="24867"/>
                </a:moveTo>
                <a:cubicBezTo>
                  <a:pt x="49769" y="24867"/>
                  <a:pt x="43932" y="30704"/>
                  <a:pt x="43932" y="37893"/>
                </a:cubicBezTo>
                <a:cubicBezTo>
                  <a:pt x="43932" y="45082"/>
                  <a:pt x="49769" y="50918"/>
                  <a:pt x="56958" y="50918"/>
                </a:cubicBezTo>
                <a:cubicBezTo>
                  <a:pt x="64147" y="50918"/>
                  <a:pt x="69983" y="45082"/>
                  <a:pt x="69983" y="37893"/>
                </a:cubicBezTo>
                <a:cubicBezTo>
                  <a:pt x="69983" y="30704"/>
                  <a:pt x="64147" y="24867"/>
                  <a:pt x="56958" y="24867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52" name="Text 40"/>
          <p:cNvSpPr/>
          <p:nvPr/>
        </p:nvSpPr>
        <p:spPr>
          <a:xfrm>
            <a:off x="6598214" y="3488503"/>
            <a:ext cx="5096887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评估流程</a:t>
            </a:r>
            <a:endParaRPr lang="en-US" sz="14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3" name="Text 41"/>
          <p:cNvSpPr/>
          <p:nvPr/>
        </p:nvSpPr>
        <p:spPr>
          <a:xfrm>
            <a:off x="6352220" y="3753753"/>
            <a:ext cx="5333408" cy="189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为每个问题生成n个样本（通常n=200）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 42"/>
          <p:cNvSpPr/>
          <p:nvPr/>
        </p:nvSpPr>
        <p:spPr>
          <a:xfrm>
            <a:off x="6352220" y="3962163"/>
            <a:ext cx="5333408" cy="189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统计通过测试的正确样本数c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 43"/>
          <p:cNvSpPr/>
          <p:nvPr/>
        </p:nvSpPr>
        <p:spPr>
          <a:xfrm>
            <a:off x="6352220" y="4170573"/>
            <a:ext cx="5333408" cy="189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计算无偏估计pass@k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 44"/>
          <p:cNvSpPr/>
          <p:nvPr/>
        </p:nvSpPr>
        <p:spPr>
          <a:xfrm>
            <a:off x="6352220" y="4378984"/>
            <a:ext cx="5333408" cy="189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取所有问题的平均值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Shape 45"/>
          <p:cNvSpPr/>
          <p:nvPr/>
        </p:nvSpPr>
        <p:spPr>
          <a:xfrm>
            <a:off x="383664" y="4847907"/>
            <a:ext cx="11424671" cy="1629389"/>
          </a:xfrm>
          <a:custGeom>
            <a:avLst/>
            <a:gdLst/>
            <a:ahLst/>
            <a:cxnLst/>
            <a:rect l="l" t="t" r="r" b="b"/>
            <a:pathLst>
              <a:path w="11424671" h="1629389">
                <a:moveTo>
                  <a:pt x="113682" y="0"/>
                </a:moveTo>
                <a:lnTo>
                  <a:pt x="11310989" y="0"/>
                </a:lnTo>
                <a:cubicBezTo>
                  <a:pt x="11373774" y="0"/>
                  <a:pt x="11424671" y="50897"/>
                  <a:pt x="11424671" y="113682"/>
                </a:cubicBezTo>
                <a:lnTo>
                  <a:pt x="11424671" y="1515707"/>
                </a:lnTo>
                <a:cubicBezTo>
                  <a:pt x="11424671" y="1578492"/>
                  <a:pt x="11373774" y="1629389"/>
                  <a:pt x="11310989" y="1629389"/>
                </a:cubicBezTo>
                <a:lnTo>
                  <a:pt x="113682" y="1629389"/>
                </a:lnTo>
                <a:cubicBezTo>
                  <a:pt x="50897" y="1629389"/>
                  <a:pt x="0" y="1578492"/>
                  <a:pt x="0" y="1515707"/>
                </a:cubicBezTo>
                <a:lnTo>
                  <a:pt x="0" y="113682"/>
                </a:lnTo>
                <a:cubicBezTo>
                  <a:pt x="0" y="50939"/>
                  <a:pt x="50939" y="0"/>
                  <a:pt x="113682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8" name="Shape 46"/>
          <p:cNvSpPr/>
          <p:nvPr/>
        </p:nvSpPr>
        <p:spPr>
          <a:xfrm>
            <a:off x="525762" y="5004214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86036" y="1924"/>
                </a:moveTo>
                <a:cubicBezTo>
                  <a:pt x="91550" y="-629"/>
                  <a:pt x="97914" y="-629"/>
                  <a:pt x="103428" y="1924"/>
                </a:cubicBezTo>
                <a:lnTo>
                  <a:pt x="184320" y="39299"/>
                </a:lnTo>
                <a:cubicBezTo>
                  <a:pt x="187466" y="40742"/>
                  <a:pt x="189464" y="43888"/>
                  <a:pt x="189464" y="47366"/>
                </a:cubicBezTo>
                <a:cubicBezTo>
                  <a:pt x="189464" y="50844"/>
                  <a:pt x="187466" y="53990"/>
                  <a:pt x="184320" y="55433"/>
                </a:cubicBezTo>
                <a:lnTo>
                  <a:pt x="103428" y="92808"/>
                </a:lnTo>
                <a:cubicBezTo>
                  <a:pt x="97914" y="95361"/>
                  <a:pt x="91550" y="95361"/>
                  <a:pt x="86036" y="92808"/>
                </a:cubicBezTo>
                <a:lnTo>
                  <a:pt x="5144" y="55433"/>
                </a:lnTo>
                <a:cubicBezTo>
                  <a:pt x="1998" y="53953"/>
                  <a:pt x="0" y="50807"/>
                  <a:pt x="0" y="47366"/>
                </a:cubicBezTo>
                <a:cubicBezTo>
                  <a:pt x="0" y="43925"/>
                  <a:pt x="1998" y="40742"/>
                  <a:pt x="5144" y="39299"/>
                </a:cubicBezTo>
                <a:lnTo>
                  <a:pt x="86036" y="1924"/>
                </a:lnTo>
                <a:close/>
                <a:moveTo>
                  <a:pt x="17799" y="80818"/>
                </a:moveTo>
                <a:lnTo>
                  <a:pt x="78598" y="108905"/>
                </a:lnTo>
                <a:cubicBezTo>
                  <a:pt x="88848" y="113641"/>
                  <a:pt x="100653" y="113641"/>
                  <a:pt x="110903" y="108905"/>
                </a:cubicBezTo>
                <a:lnTo>
                  <a:pt x="171702" y="80818"/>
                </a:lnTo>
                <a:lnTo>
                  <a:pt x="184320" y="86665"/>
                </a:lnTo>
                <a:cubicBezTo>
                  <a:pt x="187466" y="88108"/>
                  <a:pt x="189464" y="91253"/>
                  <a:pt x="189464" y="94732"/>
                </a:cubicBezTo>
                <a:cubicBezTo>
                  <a:pt x="189464" y="98210"/>
                  <a:pt x="187466" y="101356"/>
                  <a:pt x="184320" y="102799"/>
                </a:cubicBezTo>
                <a:lnTo>
                  <a:pt x="103428" y="140174"/>
                </a:lnTo>
                <a:cubicBezTo>
                  <a:pt x="97914" y="142727"/>
                  <a:pt x="91550" y="142727"/>
                  <a:pt x="86036" y="140174"/>
                </a:cubicBezTo>
                <a:lnTo>
                  <a:pt x="5144" y="102799"/>
                </a:lnTo>
                <a:cubicBezTo>
                  <a:pt x="1998" y="101319"/>
                  <a:pt x="0" y="98173"/>
                  <a:pt x="0" y="94732"/>
                </a:cubicBezTo>
                <a:cubicBezTo>
                  <a:pt x="0" y="91291"/>
                  <a:pt x="1998" y="88108"/>
                  <a:pt x="5144" y="86665"/>
                </a:cubicBezTo>
                <a:lnTo>
                  <a:pt x="17762" y="80818"/>
                </a:lnTo>
                <a:close/>
                <a:moveTo>
                  <a:pt x="5144" y="134031"/>
                </a:moveTo>
                <a:lnTo>
                  <a:pt x="17762" y="128184"/>
                </a:lnTo>
                <a:lnTo>
                  <a:pt x="78561" y="156271"/>
                </a:lnTo>
                <a:cubicBezTo>
                  <a:pt x="88811" y="161007"/>
                  <a:pt x="100616" y="161007"/>
                  <a:pt x="110866" y="156271"/>
                </a:cubicBezTo>
                <a:lnTo>
                  <a:pt x="171665" y="128184"/>
                </a:lnTo>
                <a:lnTo>
                  <a:pt x="184283" y="134031"/>
                </a:lnTo>
                <a:cubicBezTo>
                  <a:pt x="187429" y="135474"/>
                  <a:pt x="189427" y="138619"/>
                  <a:pt x="189427" y="142098"/>
                </a:cubicBezTo>
                <a:cubicBezTo>
                  <a:pt x="189427" y="145576"/>
                  <a:pt x="187429" y="148722"/>
                  <a:pt x="184283" y="150165"/>
                </a:cubicBezTo>
                <a:lnTo>
                  <a:pt x="103391" y="187540"/>
                </a:lnTo>
                <a:cubicBezTo>
                  <a:pt x="97877" y="190093"/>
                  <a:pt x="91513" y="190093"/>
                  <a:pt x="85999" y="187540"/>
                </a:cubicBezTo>
                <a:lnTo>
                  <a:pt x="5144" y="150165"/>
                </a:lnTo>
                <a:cubicBezTo>
                  <a:pt x="1998" y="148685"/>
                  <a:pt x="0" y="145539"/>
                  <a:pt x="0" y="142098"/>
                </a:cubicBezTo>
                <a:cubicBezTo>
                  <a:pt x="0" y="138656"/>
                  <a:pt x="1998" y="135474"/>
                  <a:pt x="5144" y="134031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59" name="Text 47"/>
          <p:cNvSpPr/>
          <p:nvPr/>
        </p:nvSpPr>
        <p:spPr>
          <a:xfrm>
            <a:off x="769389" y="4966322"/>
            <a:ext cx="11045744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其他重要评估基准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0" name="Shape 48"/>
          <p:cNvSpPr/>
          <p:nvPr/>
        </p:nvSpPr>
        <p:spPr>
          <a:xfrm>
            <a:off x="502079" y="5307357"/>
            <a:ext cx="3656653" cy="1051524"/>
          </a:xfrm>
          <a:custGeom>
            <a:avLst/>
            <a:gdLst/>
            <a:ahLst/>
            <a:cxnLst/>
            <a:rect l="l" t="t" r="r" b="b"/>
            <a:pathLst>
              <a:path w="3656653" h="1051524">
                <a:moveTo>
                  <a:pt x="75783" y="0"/>
                </a:moveTo>
                <a:lnTo>
                  <a:pt x="3580869" y="0"/>
                </a:lnTo>
                <a:cubicBezTo>
                  <a:pt x="3622723" y="0"/>
                  <a:pt x="3656653" y="33929"/>
                  <a:pt x="3656653" y="75783"/>
                </a:cubicBezTo>
                <a:lnTo>
                  <a:pt x="3656653" y="975741"/>
                </a:lnTo>
                <a:cubicBezTo>
                  <a:pt x="3656653" y="1017595"/>
                  <a:pt x="3622723" y="1051524"/>
                  <a:pt x="3580869" y="1051524"/>
                </a:cubicBezTo>
                <a:lnTo>
                  <a:pt x="75783" y="1051524"/>
                </a:lnTo>
                <a:cubicBezTo>
                  <a:pt x="33929" y="1051524"/>
                  <a:pt x="0" y="1017595"/>
                  <a:pt x="0" y="975741"/>
                </a:cubicBezTo>
                <a:lnTo>
                  <a:pt x="0" y="75783"/>
                </a:lnTo>
                <a:cubicBezTo>
                  <a:pt x="0" y="33929"/>
                  <a:pt x="33929" y="0"/>
                  <a:pt x="75783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61" name="Shape 49"/>
          <p:cNvSpPr/>
          <p:nvPr/>
        </p:nvSpPr>
        <p:spPr>
          <a:xfrm>
            <a:off x="577865" y="5383142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151571" y="0"/>
                </a:moveTo>
                <a:lnTo>
                  <a:pt x="151571" y="0"/>
                </a:lnTo>
                <a:cubicBezTo>
                  <a:pt x="235282" y="0"/>
                  <a:pt x="303142" y="67861"/>
                  <a:pt x="303142" y="151571"/>
                </a:cubicBezTo>
                <a:lnTo>
                  <a:pt x="303142" y="151571"/>
                </a:lnTo>
                <a:cubicBezTo>
                  <a:pt x="303142" y="235282"/>
                  <a:pt x="235282" y="303142"/>
                  <a:pt x="151571" y="303142"/>
                </a:cubicBezTo>
                <a:lnTo>
                  <a:pt x="151571" y="303142"/>
                </a:lnTo>
                <a:cubicBezTo>
                  <a:pt x="67861" y="303142"/>
                  <a:pt x="0" y="235282"/>
                  <a:pt x="0" y="151571"/>
                </a:cubicBezTo>
                <a:lnTo>
                  <a:pt x="0" y="151571"/>
                </a:lnTo>
                <a:cubicBezTo>
                  <a:pt x="0" y="67861"/>
                  <a:pt x="67861" y="0"/>
                  <a:pt x="151571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62" name="Shape 50"/>
          <p:cNvSpPr/>
          <p:nvPr/>
        </p:nvSpPr>
        <p:spPr>
          <a:xfrm>
            <a:off x="665492" y="5468401"/>
            <a:ext cx="132625" cy="132625"/>
          </a:xfrm>
          <a:custGeom>
            <a:avLst/>
            <a:gdLst/>
            <a:ahLst/>
            <a:cxnLst/>
            <a:rect l="l" t="t" r="r" b="b"/>
            <a:pathLst>
              <a:path w="132625" h="132625">
                <a:moveTo>
                  <a:pt x="34659" y="9403"/>
                </a:moveTo>
                <a:cubicBezTo>
                  <a:pt x="37482" y="11372"/>
                  <a:pt x="38156" y="15257"/>
                  <a:pt x="36187" y="18055"/>
                </a:cubicBezTo>
                <a:lnTo>
                  <a:pt x="21681" y="38777"/>
                </a:lnTo>
                <a:cubicBezTo>
                  <a:pt x="20619" y="40280"/>
                  <a:pt x="18961" y="41238"/>
                  <a:pt x="17122" y="41393"/>
                </a:cubicBezTo>
                <a:cubicBezTo>
                  <a:pt x="15283" y="41549"/>
                  <a:pt x="13470" y="40927"/>
                  <a:pt x="12175" y="39632"/>
                </a:cubicBezTo>
                <a:lnTo>
                  <a:pt x="1813" y="29271"/>
                </a:lnTo>
                <a:cubicBezTo>
                  <a:pt x="-596" y="26836"/>
                  <a:pt x="-596" y="22898"/>
                  <a:pt x="1813" y="20464"/>
                </a:cubicBezTo>
                <a:cubicBezTo>
                  <a:pt x="4222" y="18029"/>
                  <a:pt x="8185" y="18055"/>
                  <a:pt x="10620" y="20464"/>
                </a:cubicBezTo>
                <a:lnTo>
                  <a:pt x="15749" y="25592"/>
                </a:lnTo>
                <a:lnTo>
                  <a:pt x="26007" y="10931"/>
                </a:lnTo>
                <a:cubicBezTo>
                  <a:pt x="27976" y="8108"/>
                  <a:pt x="31861" y="7434"/>
                  <a:pt x="34659" y="9403"/>
                </a:cubicBezTo>
                <a:close/>
                <a:moveTo>
                  <a:pt x="34659" y="50848"/>
                </a:moveTo>
                <a:cubicBezTo>
                  <a:pt x="37482" y="52817"/>
                  <a:pt x="38156" y="56702"/>
                  <a:pt x="36187" y="59500"/>
                </a:cubicBezTo>
                <a:lnTo>
                  <a:pt x="21681" y="80222"/>
                </a:lnTo>
                <a:cubicBezTo>
                  <a:pt x="20619" y="81725"/>
                  <a:pt x="18961" y="82683"/>
                  <a:pt x="17122" y="82839"/>
                </a:cubicBezTo>
                <a:cubicBezTo>
                  <a:pt x="15283" y="82994"/>
                  <a:pt x="13470" y="82372"/>
                  <a:pt x="12175" y="81077"/>
                </a:cubicBezTo>
                <a:lnTo>
                  <a:pt x="1813" y="70716"/>
                </a:lnTo>
                <a:cubicBezTo>
                  <a:pt x="-622" y="68281"/>
                  <a:pt x="-622" y="64344"/>
                  <a:pt x="1813" y="61935"/>
                </a:cubicBezTo>
                <a:cubicBezTo>
                  <a:pt x="4248" y="59526"/>
                  <a:pt x="8185" y="59500"/>
                  <a:pt x="10594" y="61935"/>
                </a:cubicBezTo>
                <a:lnTo>
                  <a:pt x="15723" y="67064"/>
                </a:lnTo>
                <a:lnTo>
                  <a:pt x="25981" y="52402"/>
                </a:lnTo>
                <a:cubicBezTo>
                  <a:pt x="27950" y="49579"/>
                  <a:pt x="31835" y="48905"/>
                  <a:pt x="34633" y="50874"/>
                </a:cubicBezTo>
                <a:close/>
                <a:moveTo>
                  <a:pt x="58023" y="24867"/>
                </a:moveTo>
                <a:cubicBezTo>
                  <a:pt x="58023" y="20282"/>
                  <a:pt x="61727" y="16578"/>
                  <a:pt x="66312" y="16578"/>
                </a:cubicBezTo>
                <a:lnTo>
                  <a:pt x="124336" y="16578"/>
                </a:lnTo>
                <a:cubicBezTo>
                  <a:pt x="128921" y="16578"/>
                  <a:pt x="132625" y="20282"/>
                  <a:pt x="132625" y="24867"/>
                </a:cubicBezTo>
                <a:cubicBezTo>
                  <a:pt x="132625" y="29452"/>
                  <a:pt x="128921" y="33156"/>
                  <a:pt x="124336" y="33156"/>
                </a:cubicBezTo>
                <a:lnTo>
                  <a:pt x="66312" y="33156"/>
                </a:lnTo>
                <a:cubicBezTo>
                  <a:pt x="61727" y="33156"/>
                  <a:pt x="58023" y="29452"/>
                  <a:pt x="58023" y="24867"/>
                </a:cubicBezTo>
                <a:close/>
                <a:moveTo>
                  <a:pt x="58023" y="66312"/>
                </a:moveTo>
                <a:cubicBezTo>
                  <a:pt x="58023" y="61727"/>
                  <a:pt x="61727" y="58023"/>
                  <a:pt x="66312" y="58023"/>
                </a:cubicBezTo>
                <a:lnTo>
                  <a:pt x="124336" y="58023"/>
                </a:lnTo>
                <a:cubicBezTo>
                  <a:pt x="128921" y="58023"/>
                  <a:pt x="132625" y="61727"/>
                  <a:pt x="132625" y="66312"/>
                </a:cubicBezTo>
                <a:cubicBezTo>
                  <a:pt x="132625" y="70897"/>
                  <a:pt x="128921" y="74601"/>
                  <a:pt x="124336" y="74601"/>
                </a:cubicBezTo>
                <a:lnTo>
                  <a:pt x="66312" y="74601"/>
                </a:lnTo>
                <a:cubicBezTo>
                  <a:pt x="61727" y="74601"/>
                  <a:pt x="58023" y="70897"/>
                  <a:pt x="58023" y="66312"/>
                </a:cubicBezTo>
                <a:close/>
                <a:moveTo>
                  <a:pt x="41445" y="107758"/>
                </a:moveTo>
                <a:cubicBezTo>
                  <a:pt x="41445" y="103173"/>
                  <a:pt x="45149" y="99469"/>
                  <a:pt x="49734" y="99469"/>
                </a:cubicBezTo>
                <a:lnTo>
                  <a:pt x="124336" y="99469"/>
                </a:lnTo>
                <a:cubicBezTo>
                  <a:pt x="128921" y="99469"/>
                  <a:pt x="132625" y="103173"/>
                  <a:pt x="132625" y="107758"/>
                </a:cubicBezTo>
                <a:cubicBezTo>
                  <a:pt x="132625" y="112342"/>
                  <a:pt x="128921" y="116047"/>
                  <a:pt x="124336" y="116047"/>
                </a:cubicBezTo>
                <a:lnTo>
                  <a:pt x="49734" y="116047"/>
                </a:lnTo>
                <a:cubicBezTo>
                  <a:pt x="45149" y="116047"/>
                  <a:pt x="41445" y="112342"/>
                  <a:pt x="41445" y="107758"/>
                </a:cubicBezTo>
                <a:close/>
                <a:moveTo>
                  <a:pt x="16578" y="97396"/>
                </a:moveTo>
                <a:cubicBezTo>
                  <a:pt x="22297" y="97396"/>
                  <a:pt x="26939" y="102039"/>
                  <a:pt x="26939" y="107758"/>
                </a:cubicBezTo>
                <a:cubicBezTo>
                  <a:pt x="26939" y="113476"/>
                  <a:pt x="22297" y="118119"/>
                  <a:pt x="16578" y="118119"/>
                </a:cubicBezTo>
                <a:cubicBezTo>
                  <a:pt x="10860" y="118119"/>
                  <a:pt x="6217" y="113476"/>
                  <a:pt x="6217" y="107758"/>
                </a:cubicBezTo>
                <a:cubicBezTo>
                  <a:pt x="6217" y="102039"/>
                  <a:pt x="10860" y="97396"/>
                  <a:pt x="16578" y="9739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63" name="Text 51"/>
          <p:cNvSpPr/>
          <p:nvPr/>
        </p:nvSpPr>
        <p:spPr>
          <a:xfrm>
            <a:off x="956945" y="5420995"/>
            <a:ext cx="91821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MBPP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4" name="Text 52"/>
          <p:cNvSpPr/>
          <p:nvPr/>
        </p:nvSpPr>
        <p:spPr>
          <a:xfrm>
            <a:off x="577865" y="5724177"/>
            <a:ext cx="3571394" cy="36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Mostly Basic Python Programming，包含约1000个Python编程问题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Shape 53"/>
          <p:cNvSpPr/>
          <p:nvPr/>
        </p:nvSpPr>
        <p:spPr>
          <a:xfrm>
            <a:off x="592075" y="6145734"/>
            <a:ext cx="113678" cy="113678"/>
          </a:xfrm>
          <a:custGeom>
            <a:avLst/>
            <a:gdLst/>
            <a:ahLst/>
            <a:cxnLst/>
            <a:rect l="l" t="t" r="r" b="b"/>
            <a:pathLst>
              <a:path w="113678" h="113678">
                <a:moveTo>
                  <a:pt x="56839" y="113678"/>
                </a:moveTo>
                <a:cubicBezTo>
                  <a:pt x="88210" y="113678"/>
                  <a:pt x="113678" y="88210"/>
                  <a:pt x="113678" y="56839"/>
                </a:cubicBezTo>
                <a:cubicBezTo>
                  <a:pt x="113678" y="25469"/>
                  <a:pt x="88210" y="0"/>
                  <a:pt x="56839" y="0"/>
                </a:cubicBezTo>
                <a:cubicBezTo>
                  <a:pt x="25469" y="0"/>
                  <a:pt x="0" y="25469"/>
                  <a:pt x="0" y="56839"/>
                </a:cubicBezTo>
                <a:cubicBezTo>
                  <a:pt x="0" y="88210"/>
                  <a:pt x="25469" y="113678"/>
                  <a:pt x="56839" y="113678"/>
                </a:cubicBezTo>
                <a:close/>
                <a:moveTo>
                  <a:pt x="75578" y="47225"/>
                </a:moveTo>
                <a:lnTo>
                  <a:pt x="57816" y="75645"/>
                </a:lnTo>
                <a:cubicBezTo>
                  <a:pt x="56884" y="77133"/>
                  <a:pt x="55285" y="78065"/>
                  <a:pt x="53531" y="78154"/>
                </a:cubicBezTo>
                <a:cubicBezTo>
                  <a:pt x="51777" y="78243"/>
                  <a:pt x="50090" y="77443"/>
                  <a:pt x="49046" y="76022"/>
                </a:cubicBezTo>
                <a:lnTo>
                  <a:pt x="38389" y="61813"/>
                </a:lnTo>
                <a:cubicBezTo>
                  <a:pt x="36612" y="59459"/>
                  <a:pt x="37101" y="56129"/>
                  <a:pt x="39454" y="54352"/>
                </a:cubicBezTo>
                <a:cubicBezTo>
                  <a:pt x="41808" y="52576"/>
                  <a:pt x="45138" y="53065"/>
                  <a:pt x="46915" y="55418"/>
                </a:cubicBezTo>
                <a:lnTo>
                  <a:pt x="52909" y="63411"/>
                </a:lnTo>
                <a:lnTo>
                  <a:pt x="66542" y="41586"/>
                </a:lnTo>
                <a:cubicBezTo>
                  <a:pt x="68096" y="39099"/>
                  <a:pt x="71382" y="38322"/>
                  <a:pt x="73891" y="39898"/>
                </a:cubicBezTo>
                <a:cubicBezTo>
                  <a:pt x="76400" y="41475"/>
                  <a:pt x="77155" y="44739"/>
                  <a:pt x="75578" y="47248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66" name="Text 54"/>
          <p:cNvSpPr/>
          <p:nvPr/>
        </p:nvSpPr>
        <p:spPr>
          <a:xfrm>
            <a:off x="748228" y="6126788"/>
            <a:ext cx="3391558" cy="1515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入门级编程任务</a:t>
            </a:r>
            <a:endParaRPr lang="en-US" sz="1000" dirty="0">
              <a:solidFill>
                <a:schemeClr val="tx1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7" name="Shape 55"/>
          <p:cNvSpPr/>
          <p:nvPr/>
        </p:nvSpPr>
        <p:spPr>
          <a:xfrm>
            <a:off x="4269598" y="5307357"/>
            <a:ext cx="3656653" cy="1051524"/>
          </a:xfrm>
          <a:custGeom>
            <a:avLst/>
            <a:gdLst/>
            <a:ahLst/>
            <a:cxnLst/>
            <a:rect l="l" t="t" r="r" b="b"/>
            <a:pathLst>
              <a:path w="3656653" h="1051524">
                <a:moveTo>
                  <a:pt x="75783" y="0"/>
                </a:moveTo>
                <a:lnTo>
                  <a:pt x="3580869" y="0"/>
                </a:lnTo>
                <a:cubicBezTo>
                  <a:pt x="3622723" y="0"/>
                  <a:pt x="3656653" y="33929"/>
                  <a:pt x="3656653" y="75783"/>
                </a:cubicBezTo>
                <a:lnTo>
                  <a:pt x="3656653" y="975741"/>
                </a:lnTo>
                <a:cubicBezTo>
                  <a:pt x="3656653" y="1017595"/>
                  <a:pt x="3622723" y="1051524"/>
                  <a:pt x="3580869" y="1051524"/>
                </a:cubicBezTo>
                <a:lnTo>
                  <a:pt x="75783" y="1051524"/>
                </a:lnTo>
                <a:cubicBezTo>
                  <a:pt x="33929" y="1051524"/>
                  <a:pt x="0" y="1017595"/>
                  <a:pt x="0" y="975741"/>
                </a:cubicBezTo>
                <a:lnTo>
                  <a:pt x="0" y="75783"/>
                </a:lnTo>
                <a:cubicBezTo>
                  <a:pt x="0" y="33929"/>
                  <a:pt x="33929" y="0"/>
                  <a:pt x="75783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68" name="Shape 56"/>
          <p:cNvSpPr/>
          <p:nvPr/>
        </p:nvSpPr>
        <p:spPr>
          <a:xfrm>
            <a:off x="4345383" y="5383142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151571" y="0"/>
                </a:moveTo>
                <a:lnTo>
                  <a:pt x="151571" y="0"/>
                </a:lnTo>
                <a:cubicBezTo>
                  <a:pt x="235282" y="0"/>
                  <a:pt x="303142" y="67861"/>
                  <a:pt x="303142" y="151571"/>
                </a:cubicBezTo>
                <a:lnTo>
                  <a:pt x="303142" y="151571"/>
                </a:lnTo>
                <a:cubicBezTo>
                  <a:pt x="303142" y="235282"/>
                  <a:pt x="235282" y="303142"/>
                  <a:pt x="151571" y="303142"/>
                </a:cubicBezTo>
                <a:lnTo>
                  <a:pt x="151571" y="303142"/>
                </a:lnTo>
                <a:cubicBezTo>
                  <a:pt x="67861" y="303142"/>
                  <a:pt x="0" y="235282"/>
                  <a:pt x="0" y="151571"/>
                </a:cubicBezTo>
                <a:lnTo>
                  <a:pt x="0" y="151571"/>
                </a:lnTo>
                <a:cubicBezTo>
                  <a:pt x="0" y="67861"/>
                  <a:pt x="67861" y="0"/>
                  <a:pt x="151571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69" name="Shape 57"/>
          <p:cNvSpPr/>
          <p:nvPr/>
        </p:nvSpPr>
        <p:spPr>
          <a:xfrm>
            <a:off x="4424721" y="5468401"/>
            <a:ext cx="149203" cy="132625"/>
          </a:xfrm>
          <a:custGeom>
            <a:avLst/>
            <a:gdLst/>
            <a:ahLst/>
            <a:cxnLst/>
            <a:rect l="l" t="t" r="r" b="b"/>
            <a:pathLst>
              <a:path w="149203" h="132625">
                <a:moveTo>
                  <a:pt x="49734" y="24867"/>
                </a:moveTo>
                <a:cubicBezTo>
                  <a:pt x="49734" y="11138"/>
                  <a:pt x="60873" y="0"/>
                  <a:pt x="74601" y="0"/>
                </a:cubicBezTo>
                <a:cubicBezTo>
                  <a:pt x="88330" y="0"/>
                  <a:pt x="99469" y="11138"/>
                  <a:pt x="99469" y="24867"/>
                </a:cubicBezTo>
                <a:lnTo>
                  <a:pt x="99469" y="25800"/>
                </a:lnTo>
                <a:cubicBezTo>
                  <a:pt x="99469" y="29866"/>
                  <a:pt x="96179" y="33156"/>
                  <a:pt x="92112" y="33156"/>
                </a:cubicBezTo>
                <a:lnTo>
                  <a:pt x="57117" y="33156"/>
                </a:lnTo>
                <a:cubicBezTo>
                  <a:pt x="53050" y="33156"/>
                  <a:pt x="49760" y="29866"/>
                  <a:pt x="49760" y="25800"/>
                </a:cubicBezTo>
                <a:lnTo>
                  <a:pt x="49760" y="24867"/>
                </a:lnTo>
                <a:close/>
                <a:moveTo>
                  <a:pt x="139256" y="28183"/>
                </a:moveTo>
                <a:cubicBezTo>
                  <a:pt x="142002" y="31835"/>
                  <a:pt x="141250" y="37042"/>
                  <a:pt x="137598" y="39787"/>
                </a:cubicBezTo>
                <a:lnTo>
                  <a:pt x="112265" y="58775"/>
                </a:lnTo>
                <a:cubicBezTo>
                  <a:pt x="113638" y="61080"/>
                  <a:pt x="114674" y="63618"/>
                  <a:pt x="115321" y="66312"/>
                </a:cubicBezTo>
                <a:lnTo>
                  <a:pt x="140914" y="66312"/>
                </a:lnTo>
                <a:cubicBezTo>
                  <a:pt x="145499" y="66312"/>
                  <a:pt x="149203" y="70017"/>
                  <a:pt x="149203" y="74601"/>
                </a:cubicBezTo>
                <a:cubicBezTo>
                  <a:pt x="149203" y="79186"/>
                  <a:pt x="145499" y="82890"/>
                  <a:pt x="140914" y="82890"/>
                </a:cubicBezTo>
                <a:lnTo>
                  <a:pt x="116047" y="82890"/>
                </a:lnTo>
                <a:lnTo>
                  <a:pt x="116047" y="91179"/>
                </a:lnTo>
                <a:cubicBezTo>
                  <a:pt x="116047" y="91853"/>
                  <a:pt x="116021" y="92552"/>
                  <a:pt x="115995" y="93226"/>
                </a:cubicBezTo>
                <a:lnTo>
                  <a:pt x="137598" y="109415"/>
                </a:lnTo>
                <a:cubicBezTo>
                  <a:pt x="141250" y="112161"/>
                  <a:pt x="142002" y="117368"/>
                  <a:pt x="139256" y="121020"/>
                </a:cubicBezTo>
                <a:cubicBezTo>
                  <a:pt x="136510" y="124672"/>
                  <a:pt x="131304" y="125424"/>
                  <a:pt x="127651" y="122678"/>
                </a:cubicBezTo>
                <a:lnTo>
                  <a:pt x="111306" y="110426"/>
                </a:lnTo>
                <a:cubicBezTo>
                  <a:pt x="105297" y="121875"/>
                  <a:pt x="94081" y="130164"/>
                  <a:pt x="80818" y="132158"/>
                </a:cubicBezTo>
                <a:lnTo>
                  <a:pt x="80818" y="72529"/>
                </a:lnTo>
                <a:cubicBezTo>
                  <a:pt x="80818" y="69084"/>
                  <a:pt x="78047" y="66312"/>
                  <a:pt x="74601" y="66312"/>
                </a:cubicBezTo>
                <a:cubicBezTo>
                  <a:pt x="71156" y="66312"/>
                  <a:pt x="68385" y="69084"/>
                  <a:pt x="68385" y="72529"/>
                </a:cubicBezTo>
                <a:lnTo>
                  <a:pt x="68385" y="132158"/>
                </a:lnTo>
                <a:cubicBezTo>
                  <a:pt x="55122" y="130164"/>
                  <a:pt x="43906" y="121875"/>
                  <a:pt x="37896" y="110426"/>
                </a:cubicBezTo>
                <a:lnTo>
                  <a:pt x="21552" y="122678"/>
                </a:lnTo>
                <a:cubicBezTo>
                  <a:pt x="17899" y="125424"/>
                  <a:pt x="12693" y="124672"/>
                  <a:pt x="9947" y="121020"/>
                </a:cubicBezTo>
                <a:cubicBezTo>
                  <a:pt x="7201" y="117368"/>
                  <a:pt x="7952" y="112161"/>
                  <a:pt x="11605" y="109415"/>
                </a:cubicBezTo>
                <a:lnTo>
                  <a:pt x="33208" y="93226"/>
                </a:lnTo>
                <a:cubicBezTo>
                  <a:pt x="33182" y="92552"/>
                  <a:pt x="33156" y="91879"/>
                  <a:pt x="33156" y="91179"/>
                </a:cubicBezTo>
                <a:lnTo>
                  <a:pt x="33156" y="82890"/>
                </a:lnTo>
                <a:lnTo>
                  <a:pt x="8289" y="82890"/>
                </a:lnTo>
                <a:cubicBezTo>
                  <a:pt x="3704" y="82890"/>
                  <a:pt x="0" y="79186"/>
                  <a:pt x="0" y="74601"/>
                </a:cubicBezTo>
                <a:cubicBezTo>
                  <a:pt x="0" y="70017"/>
                  <a:pt x="3704" y="66312"/>
                  <a:pt x="8289" y="66312"/>
                </a:cubicBezTo>
                <a:lnTo>
                  <a:pt x="33881" y="66312"/>
                </a:lnTo>
                <a:cubicBezTo>
                  <a:pt x="34529" y="63618"/>
                  <a:pt x="35565" y="61080"/>
                  <a:pt x="36938" y="58775"/>
                </a:cubicBezTo>
                <a:lnTo>
                  <a:pt x="11605" y="39787"/>
                </a:lnTo>
                <a:cubicBezTo>
                  <a:pt x="7952" y="37042"/>
                  <a:pt x="7201" y="31835"/>
                  <a:pt x="9947" y="28183"/>
                </a:cubicBezTo>
                <a:cubicBezTo>
                  <a:pt x="12693" y="24530"/>
                  <a:pt x="17899" y="23779"/>
                  <a:pt x="21552" y="26525"/>
                </a:cubicBezTo>
                <a:lnTo>
                  <a:pt x="49734" y="47662"/>
                </a:lnTo>
                <a:cubicBezTo>
                  <a:pt x="52920" y="46341"/>
                  <a:pt x="56417" y="45590"/>
                  <a:pt x="60096" y="45590"/>
                </a:cubicBezTo>
                <a:lnTo>
                  <a:pt x="89107" y="45590"/>
                </a:lnTo>
                <a:cubicBezTo>
                  <a:pt x="92785" y="45590"/>
                  <a:pt x="96282" y="46315"/>
                  <a:pt x="99469" y="47662"/>
                </a:cubicBezTo>
                <a:lnTo>
                  <a:pt x="127651" y="26525"/>
                </a:lnTo>
                <a:cubicBezTo>
                  <a:pt x="131304" y="23779"/>
                  <a:pt x="136510" y="24530"/>
                  <a:pt x="139256" y="28183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0" name="Text 58"/>
          <p:cNvSpPr/>
          <p:nvPr/>
        </p:nvSpPr>
        <p:spPr>
          <a:xfrm>
            <a:off x="4724400" y="5420995"/>
            <a:ext cx="129032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SWE-bench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71" name="Text 59"/>
          <p:cNvSpPr/>
          <p:nvPr/>
        </p:nvSpPr>
        <p:spPr>
          <a:xfrm>
            <a:off x="4345383" y="5724177"/>
            <a:ext cx="3571394" cy="36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使用真实GitHub问题，评估模型解决实际软件工程挑战的能力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Shape 60"/>
          <p:cNvSpPr/>
          <p:nvPr/>
        </p:nvSpPr>
        <p:spPr>
          <a:xfrm>
            <a:off x="4359593" y="6145734"/>
            <a:ext cx="113678" cy="113678"/>
          </a:xfrm>
          <a:custGeom>
            <a:avLst/>
            <a:gdLst/>
            <a:ahLst/>
            <a:cxnLst/>
            <a:rect l="l" t="t" r="r" b="b"/>
            <a:pathLst>
              <a:path w="113678" h="113678">
                <a:moveTo>
                  <a:pt x="56839" y="113678"/>
                </a:moveTo>
                <a:cubicBezTo>
                  <a:pt x="88210" y="113678"/>
                  <a:pt x="113678" y="88210"/>
                  <a:pt x="113678" y="56839"/>
                </a:cubicBezTo>
                <a:cubicBezTo>
                  <a:pt x="113678" y="25469"/>
                  <a:pt x="88210" y="0"/>
                  <a:pt x="56839" y="0"/>
                </a:cubicBezTo>
                <a:cubicBezTo>
                  <a:pt x="25469" y="0"/>
                  <a:pt x="0" y="25469"/>
                  <a:pt x="0" y="56839"/>
                </a:cubicBezTo>
                <a:cubicBezTo>
                  <a:pt x="0" y="88210"/>
                  <a:pt x="25469" y="113678"/>
                  <a:pt x="56839" y="113678"/>
                </a:cubicBezTo>
                <a:close/>
                <a:moveTo>
                  <a:pt x="75578" y="47225"/>
                </a:moveTo>
                <a:lnTo>
                  <a:pt x="57816" y="75645"/>
                </a:lnTo>
                <a:cubicBezTo>
                  <a:pt x="56884" y="77133"/>
                  <a:pt x="55285" y="78065"/>
                  <a:pt x="53531" y="78154"/>
                </a:cubicBezTo>
                <a:cubicBezTo>
                  <a:pt x="51777" y="78243"/>
                  <a:pt x="50090" y="77443"/>
                  <a:pt x="49046" y="76022"/>
                </a:cubicBezTo>
                <a:lnTo>
                  <a:pt x="38389" y="61813"/>
                </a:lnTo>
                <a:cubicBezTo>
                  <a:pt x="36612" y="59459"/>
                  <a:pt x="37101" y="56129"/>
                  <a:pt x="39454" y="54352"/>
                </a:cubicBezTo>
                <a:cubicBezTo>
                  <a:pt x="41808" y="52576"/>
                  <a:pt x="45138" y="53065"/>
                  <a:pt x="46915" y="55418"/>
                </a:cubicBezTo>
                <a:lnTo>
                  <a:pt x="52909" y="63411"/>
                </a:lnTo>
                <a:lnTo>
                  <a:pt x="66542" y="41586"/>
                </a:lnTo>
                <a:cubicBezTo>
                  <a:pt x="68096" y="39099"/>
                  <a:pt x="71382" y="38322"/>
                  <a:pt x="73891" y="39898"/>
                </a:cubicBezTo>
                <a:cubicBezTo>
                  <a:pt x="76400" y="41475"/>
                  <a:pt x="77155" y="44739"/>
                  <a:pt x="75578" y="47248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3" name="Text 61"/>
          <p:cNvSpPr/>
          <p:nvPr/>
        </p:nvSpPr>
        <p:spPr>
          <a:xfrm>
            <a:off x="4515746" y="6126788"/>
            <a:ext cx="3391558" cy="1515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真实世界场景</a:t>
            </a:r>
            <a:endParaRPr lang="en-US" sz="1000" dirty="0">
              <a:solidFill>
                <a:schemeClr val="tx1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4" name="Shape 62"/>
          <p:cNvSpPr/>
          <p:nvPr/>
        </p:nvSpPr>
        <p:spPr>
          <a:xfrm>
            <a:off x="8037117" y="5307357"/>
            <a:ext cx="3656653" cy="1051524"/>
          </a:xfrm>
          <a:custGeom>
            <a:avLst/>
            <a:gdLst/>
            <a:ahLst/>
            <a:cxnLst/>
            <a:rect l="l" t="t" r="r" b="b"/>
            <a:pathLst>
              <a:path w="3656653" h="1051524">
                <a:moveTo>
                  <a:pt x="75783" y="0"/>
                </a:moveTo>
                <a:lnTo>
                  <a:pt x="3580869" y="0"/>
                </a:lnTo>
                <a:cubicBezTo>
                  <a:pt x="3622723" y="0"/>
                  <a:pt x="3656653" y="33929"/>
                  <a:pt x="3656653" y="75783"/>
                </a:cubicBezTo>
                <a:lnTo>
                  <a:pt x="3656653" y="975741"/>
                </a:lnTo>
                <a:cubicBezTo>
                  <a:pt x="3656653" y="1017595"/>
                  <a:pt x="3622723" y="1051524"/>
                  <a:pt x="3580869" y="1051524"/>
                </a:cubicBezTo>
                <a:lnTo>
                  <a:pt x="75783" y="1051524"/>
                </a:lnTo>
                <a:cubicBezTo>
                  <a:pt x="33929" y="1051524"/>
                  <a:pt x="0" y="1017595"/>
                  <a:pt x="0" y="975741"/>
                </a:cubicBezTo>
                <a:lnTo>
                  <a:pt x="0" y="75783"/>
                </a:lnTo>
                <a:cubicBezTo>
                  <a:pt x="0" y="33929"/>
                  <a:pt x="33929" y="0"/>
                  <a:pt x="75783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75" name="Shape 63"/>
          <p:cNvSpPr/>
          <p:nvPr/>
        </p:nvSpPr>
        <p:spPr>
          <a:xfrm>
            <a:off x="8112902" y="5383142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151571" y="0"/>
                </a:moveTo>
                <a:lnTo>
                  <a:pt x="151571" y="0"/>
                </a:lnTo>
                <a:cubicBezTo>
                  <a:pt x="235282" y="0"/>
                  <a:pt x="303142" y="67861"/>
                  <a:pt x="303142" y="151571"/>
                </a:cubicBezTo>
                <a:lnTo>
                  <a:pt x="303142" y="151571"/>
                </a:lnTo>
                <a:cubicBezTo>
                  <a:pt x="303142" y="235282"/>
                  <a:pt x="235282" y="303142"/>
                  <a:pt x="151571" y="303142"/>
                </a:cubicBezTo>
                <a:lnTo>
                  <a:pt x="151571" y="303142"/>
                </a:lnTo>
                <a:cubicBezTo>
                  <a:pt x="67861" y="303142"/>
                  <a:pt x="0" y="235282"/>
                  <a:pt x="0" y="151571"/>
                </a:cubicBezTo>
                <a:lnTo>
                  <a:pt x="0" y="151571"/>
                </a:lnTo>
                <a:cubicBezTo>
                  <a:pt x="0" y="67861"/>
                  <a:pt x="67861" y="0"/>
                  <a:pt x="151571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76" name="Shape 64"/>
          <p:cNvSpPr/>
          <p:nvPr/>
        </p:nvSpPr>
        <p:spPr>
          <a:xfrm>
            <a:off x="8208818" y="5468401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74601" y="0"/>
                </a:moveTo>
                <a:lnTo>
                  <a:pt x="33156" y="0"/>
                </a:lnTo>
                <a:cubicBezTo>
                  <a:pt x="28571" y="0"/>
                  <a:pt x="24867" y="3704"/>
                  <a:pt x="24867" y="8289"/>
                </a:cubicBezTo>
                <a:cubicBezTo>
                  <a:pt x="24867" y="12874"/>
                  <a:pt x="28571" y="16578"/>
                  <a:pt x="33156" y="16578"/>
                </a:cubicBezTo>
                <a:lnTo>
                  <a:pt x="33156" y="55822"/>
                </a:lnTo>
                <a:lnTo>
                  <a:pt x="1943" y="110426"/>
                </a:lnTo>
                <a:cubicBezTo>
                  <a:pt x="673" y="112679"/>
                  <a:pt x="0" y="115192"/>
                  <a:pt x="0" y="117782"/>
                </a:cubicBezTo>
                <a:cubicBezTo>
                  <a:pt x="0" y="125993"/>
                  <a:pt x="6631" y="132625"/>
                  <a:pt x="14843" y="132625"/>
                </a:cubicBezTo>
                <a:lnTo>
                  <a:pt x="101204" y="132625"/>
                </a:lnTo>
                <a:cubicBezTo>
                  <a:pt x="109389" y="132625"/>
                  <a:pt x="116047" y="125993"/>
                  <a:pt x="116047" y="117782"/>
                </a:cubicBezTo>
                <a:cubicBezTo>
                  <a:pt x="116047" y="115192"/>
                  <a:pt x="115373" y="112653"/>
                  <a:pt x="114104" y="110426"/>
                </a:cubicBezTo>
                <a:lnTo>
                  <a:pt x="82890" y="55822"/>
                </a:lnTo>
                <a:lnTo>
                  <a:pt x="82890" y="16578"/>
                </a:lnTo>
                <a:cubicBezTo>
                  <a:pt x="87475" y="16578"/>
                  <a:pt x="91179" y="12874"/>
                  <a:pt x="91179" y="8289"/>
                </a:cubicBezTo>
                <a:cubicBezTo>
                  <a:pt x="91179" y="3704"/>
                  <a:pt x="87475" y="0"/>
                  <a:pt x="82890" y="0"/>
                </a:cubicBezTo>
                <a:lnTo>
                  <a:pt x="74601" y="0"/>
                </a:lnTo>
                <a:close/>
                <a:moveTo>
                  <a:pt x="49734" y="55822"/>
                </a:moveTo>
                <a:lnTo>
                  <a:pt x="49734" y="16578"/>
                </a:lnTo>
                <a:lnTo>
                  <a:pt x="66312" y="16578"/>
                </a:lnTo>
                <a:lnTo>
                  <a:pt x="66312" y="55822"/>
                </a:lnTo>
                <a:cubicBezTo>
                  <a:pt x="66312" y="58697"/>
                  <a:pt x="67064" y="61546"/>
                  <a:pt x="68488" y="64059"/>
                </a:cubicBezTo>
                <a:lnTo>
                  <a:pt x="79264" y="82890"/>
                </a:lnTo>
                <a:lnTo>
                  <a:pt x="36783" y="82890"/>
                </a:lnTo>
                <a:lnTo>
                  <a:pt x="47558" y="64059"/>
                </a:lnTo>
                <a:cubicBezTo>
                  <a:pt x="48983" y="61546"/>
                  <a:pt x="49734" y="58723"/>
                  <a:pt x="49734" y="55822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7" name="Text 65"/>
          <p:cNvSpPr/>
          <p:nvPr/>
        </p:nvSpPr>
        <p:spPr>
          <a:xfrm>
            <a:off x="8491855" y="5420995"/>
            <a:ext cx="114808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DS-1000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78" name="Text 66"/>
          <p:cNvSpPr/>
          <p:nvPr/>
        </p:nvSpPr>
        <p:spPr>
          <a:xfrm>
            <a:off x="8112760" y="5723890"/>
            <a:ext cx="3571240" cy="369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数据科学场景，涵盖7个Python库（NumPy、Pandas等）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Shape 67"/>
          <p:cNvSpPr/>
          <p:nvPr/>
        </p:nvSpPr>
        <p:spPr>
          <a:xfrm>
            <a:off x="8127112" y="6146255"/>
            <a:ext cx="113678" cy="113678"/>
          </a:xfrm>
          <a:custGeom>
            <a:avLst/>
            <a:gdLst/>
            <a:ahLst/>
            <a:cxnLst/>
            <a:rect l="l" t="t" r="r" b="b"/>
            <a:pathLst>
              <a:path w="113678" h="113678">
                <a:moveTo>
                  <a:pt x="56839" y="113678"/>
                </a:moveTo>
                <a:cubicBezTo>
                  <a:pt x="88210" y="113678"/>
                  <a:pt x="113678" y="88210"/>
                  <a:pt x="113678" y="56839"/>
                </a:cubicBezTo>
                <a:cubicBezTo>
                  <a:pt x="113678" y="25469"/>
                  <a:pt x="88210" y="0"/>
                  <a:pt x="56839" y="0"/>
                </a:cubicBezTo>
                <a:cubicBezTo>
                  <a:pt x="25469" y="0"/>
                  <a:pt x="0" y="25469"/>
                  <a:pt x="0" y="56839"/>
                </a:cubicBezTo>
                <a:cubicBezTo>
                  <a:pt x="0" y="88210"/>
                  <a:pt x="25469" y="113678"/>
                  <a:pt x="56839" y="113678"/>
                </a:cubicBezTo>
                <a:close/>
                <a:moveTo>
                  <a:pt x="75578" y="47225"/>
                </a:moveTo>
                <a:lnTo>
                  <a:pt x="57816" y="75645"/>
                </a:lnTo>
                <a:cubicBezTo>
                  <a:pt x="56884" y="77133"/>
                  <a:pt x="55285" y="78065"/>
                  <a:pt x="53531" y="78154"/>
                </a:cubicBezTo>
                <a:cubicBezTo>
                  <a:pt x="51777" y="78243"/>
                  <a:pt x="50090" y="77443"/>
                  <a:pt x="49046" y="76022"/>
                </a:cubicBezTo>
                <a:lnTo>
                  <a:pt x="38389" y="61813"/>
                </a:lnTo>
                <a:cubicBezTo>
                  <a:pt x="36612" y="59459"/>
                  <a:pt x="37101" y="56129"/>
                  <a:pt x="39454" y="54352"/>
                </a:cubicBezTo>
                <a:cubicBezTo>
                  <a:pt x="41808" y="52576"/>
                  <a:pt x="45138" y="53065"/>
                  <a:pt x="46915" y="55418"/>
                </a:cubicBezTo>
                <a:lnTo>
                  <a:pt x="52909" y="63411"/>
                </a:lnTo>
                <a:lnTo>
                  <a:pt x="66542" y="41586"/>
                </a:lnTo>
                <a:cubicBezTo>
                  <a:pt x="68096" y="39099"/>
                  <a:pt x="71382" y="38322"/>
                  <a:pt x="73891" y="39898"/>
                </a:cubicBezTo>
                <a:cubicBezTo>
                  <a:pt x="76400" y="41475"/>
                  <a:pt x="77155" y="44739"/>
                  <a:pt x="75578" y="47248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80" name="Text 68"/>
          <p:cNvSpPr/>
          <p:nvPr/>
        </p:nvSpPr>
        <p:spPr>
          <a:xfrm>
            <a:off x="8283265" y="6127309"/>
            <a:ext cx="3391558" cy="1515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数据科学专用</a:t>
            </a:r>
            <a:endParaRPr lang="en-US" sz="1000" dirty="0">
              <a:solidFill>
                <a:schemeClr val="tx1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7" name="图片 16" descr="Lychee定稿_画板 1"/>
          <p:cNvPicPr>
            <a:picLocks noChangeAspect="1"/>
          </p:cNvPicPr>
          <p:nvPr userDrawn="1"/>
        </p:nvPicPr>
        <p:blipFill>
          <a:blip r:embed="rId3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挑战、前沿与总结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Lychee定稿_画板 1"/>
          <p:cNvPicPr>
            <a:picLocks noChangeAspect="1"/>
          </p:cNvPicPr>
          <p:nvPr userDrawn="1"/>
        </p:nvPicPr>
        <p:blipFill>
          <a:blip r:embed="rId1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  <p:sp>
        <p:nvSpPr>
          <p:cNvPr id="16" name="AutoShape 2"/>
          <p:cNvSpPr/>
          <p:nvPr/>
        </p:nvSpPr>
        <p:spPr>
          <a:xfrm>
            <a:off x="254000" y="3556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 err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四大核心挑战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72943" y="1183287"/>
            <a:ext cx="5663202" cy="2615202"/>
          </a:xfrm>
          <a:custGeom>
            <a:avLst/>
            <a:gdLst/>
            <a:ahLst/>
            <a:cxnLst/>
            <a:rect l="l" t="t" r="r" b="b"/>
            <a:pathLst>
              <a:path w="5663202" h="2615202">
                <a:moveTo>
                  <a:pt x="110492" y="0"/>
                </a:moveTo>
                <a:lnTo>
                  <a:pt x="5552710" y="0"/>
                </a:lnTo>
                <a:cubicBezTo>
                  <a:pt x="5613733" y="0"/>
                  <a:pt x="5663202" y="49469"/>
                  <a:pt x="5663202" y="110492"/>
                </a:cubicBezTo>
                <a:lnTo>
                  <a:pt x="5663202" y="2504710"/>
                </a:lnTo>
                <a:cubicBezTo>
                  <a:pt x="5663202" y="2565733"/>
                  <a:pt x="5613733" y="2615202"/>
                  <a:pt x="5552710" y="2615202"/>
                </a:cubicBezTo>
                <a:lnTo>
                  <a:pt x="110492" y="2615202"/>
                </a:lnTo>
                <a:cubicBezTo>
                  <a:pt x="49510" y="2615202"/>
                  <a:pt x="0" y="2565692"/>
                  <a:pt x="0" y="2504710"/>
                </a:cubicBezTo>
                <a:lnTo>
                  <a:pt x="0" y="110492"/>
                </a:lnTo>
                <a:cubicBezTo>
                  <a:pt x="0" y="49510"/>
                  <a:pt x="49510" y="0"/>
                  <a:pt x="110492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8048" y="1298393"/>
            <a:ext cx="442006" cy="442006"/>
          </a:xfrm>
          <a:custGeom>
            <a:avLst/>
            <a:gdLst/>
            <a:ahLst/>
            <a:cxnLst/>
            <a:rect l="l" t="t" r="r" b="b"/>
            <a:pathLst>
              <a:path w="442006" h="442006">
                <a:moveTo>
                  <a:pt x="221003" y="0"/>
                </a:moveTo>
                <a:lnTo>
                  <a:pt x="221003" y="0"/>
                </a:lnTo>
                <a:cubicBezTo>
                  <a:pt x="343060" y="0"/>
                  <a:pt x="442006" y="98946"/>
                  <a:pt x="442006" y="221003"/>
                </a:cubicBezTo>
                <a:lnTo>
                  <a:pt x="442006" y="221003"/>
                </a:lnTo>
                <a:cubicBezTo>
                  <a:pt x="442006" y="343060"/>
                  <a:pt x="343060" y="442006"/>
                  <a:pt x="221003" y="442006"/>
                </a:cubicBezTo>
                <a:lnTo>
                  <a:pt x="221003" y="442006"/>
                </a:lnTo>
                <a:cubicBezTo>
                  <a:pt x="98946" y="442006"/>
                  <a:pt x="0" y="343060"/>
                  <a:pt x="0" y="221003"/>
                </a:cubicBezTo>
                <a:lnTo>
                  <a:pt x="0" y="221003"/>
                </a:lnTo>
                <a:cubicBezTo>
                  <a:pt x="0" y="98946"/>
                  <a:pt x="98946" y="0"/>
                  <a:pt x="221003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" name="Shape 5"/>
          <p:cNvSpPr/>
          <p:nvPr/>
        </p:nvSpPr>
        <p:spPr>
          <a:xfrm>
            <a:off x="616967" y="1427311"/>
            <a:ext cx="184169" cy="184169"/>
          </a:xfrm>
          <a:custGeom>
            <a:avLst/>
            <a:gdLst/>
            <a:ahLst/>
            <a:cxnLst/>
            <a:rect l="l" t="t" r="r" b="b"/>
            <a:pathLst>
              <a:path w="184169" h="184169">
                <a:moveTo>
                  <a:pt x="92085" y="184169"/>
                </a:moveTo>
                <a:cubicBezTo>
                  <a:pt x="142907" y="184169"/>
                  <a:pt x="184169" y="142907"/>
                  <a:pt x="184169" y="92085"/>
                </a:cubicBezTo>
                <a:cubicBezTo>
                  <a:pt x="184169" y="41262"/>
                  <a:pt x="142907" y="0"/>
                  <a:pt x="92085" y="0"/>
                </a:cubicBezTo>
                <a:cubicBezTo>
                  <a:pt x="41262" y="0"/>
                  <a:pt x="0" y="41262"/>
                  <a:pt x="0" y="92085"/>
                </a:cubicBezTo>
                <a:cubicBezTo>
                  <a:pt x="0" y="142907"/>
                  <a:pt x="41262" y="184169"/>
                  <a:pt x="92085" y="184169"/>
                </a:cubicBezTo>
                <a:close/>
                <a:moveTo>
                  <a:pt x="122444" y="76509"/>
                </a:moveTo>
                <a:lnTo>
                  <a:pt x="93667" y="122552"/>
                </a:lnTo>
                <a:cubicBezTo>
                  <a:pt x="92157" y="124962"/>
                  <a:pt x="89567" y="126472"/>
                  <a:pt x="86725" y="126616"/>
                </a:cubicBezTo>
                <a:cubicBezTo>
                  <a:pt x="83883" y="126760"/>
                  <a:pt x="81150" y="125465"/>
                  <a:pt x="79459" y="123163"/>
                </a:cubicBezTo>
                <a:lnTo>
                  <a:pt x="62193" y="100142"/>
                </a:lnTo>
                <a:cubicBezTo>
                  <a:pt x="59315" y="96329"/>
                  <a:pt x="60107" y="90934"/>
                  <a:pt x="63920" y="88056"/>
                </a:cubicBezTo>
                <a:cubicBezTo>
                  <a:pt x="67733" y="85178"/>
                  <a:pt x="73128" y="85970"/>
                  <a:pt x="76006" y="89782"/>
                </a:cubicBezTo>
                <a:lnTo>
                  <a:pt x="85718" y="102732"/>
                </a:lnTo>
                <a:lnTo>
                  <a:pt x="107804" y="67373"/>
                </a:lnTo>
                <a:cubicBezTo>
                  <a:pt x="110322" y="63344"/>
                  <a:pt x="115645" y="62085"/>
                  <a:pt x="119710" y="64639"/>
                </a:cubicBezTo>
                <a:cubicBezTo>
                  <a:pt x="123775" y="67193"/>
                  <a:pt x="124998" y="72481"/>
                  <a:pt x="122444" y="76545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8" name="Text 6"/>
          <p:cNvSpPr/>
          <p:nvPr/>
        </p:nvSpPr>
        <p:spPr>
          <a:xfrm>
            <a:off x="1040556" y="1298393"/>
            <a:ext cx="801136" cy="257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正确性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40765" y="1556385"/>
            <a:ext cx="1177290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Correctness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8048" y="1814066"/>
            <a:ext cx="5432991" cy="580133"/>
          </a:xfrm>
          <a:custGeom>
            <a:avLst/>
            <a:gdLst/>
            <a:ahLst/>
            <a:cxnLst/>
            <a:rect l="l" t="t" r="r" b="b"/>
            <a:pathLst>
              <a:path w="5432991" h="580133">
                <a:moveTo>
                  <a:pt x="73665" y="0"/>
                </a:moveTo>
                <a:lnTo>
                  <a:pt x="5359326" y="0"/>
                </a:lnTo>
                <a:cubicBezTo>
                  <a:pt x="5400010" y="0"/>
                  <a:pt x="5432991" y="32981"/>
                  <a:pt x="5432991" y="73665"/>
                </a:cubicBezTo>
                <a:lnTo>
                  <a:pt x="5432991" y="506468"/>
                </a:lnTo>
                <a:cubicBezTo>
                  <a:pt x="5432991" y="547152"/>
                  <a:pt x="5400010" y="580133"/>
                  <a:pt x="5359326" y="580133"/>
                </a:cubicBezTo>
                <a:lnTo>
                  <a:pt x="73665" y="580133"/>
                </a:lnTo>
                <a:cubicBezTo>
                  <a:pt x="32981" y="580133"/>
                  <a:pt x="0" y="547152"/>
                  <a:pt x="0" y="506468"/>
                </a:cubicBezTo>
                <a:lnTo>
                  <a:pt x="0" y="73665"/>
                </a:lnTo>
                <a:cubicBezTo>
                  <a:pt x="0" y="33008"/>
                  <a:pt x="33008" y="0"/>
                  <a:pt x="73665" y="0"/>
                </a:cubicBezTo>
                <a:close/>
              </a:path>
            </a:pathLst>
          </a:custGeom>
          <a:solidFill>
            <a:srgbClr val="C00000">
              <a:alpha val="1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80133" y="1924568"/>
            <a:ext cx="147335" cy="147335"/>
          </a:xfrm>
          <a:custGeom>
            <a:avLst/>
            <a:gdLst/>
            <a:ahLst/>
            <a:cxnLst/>
            <a:rect l="l" t="t" r="r" b="b"/>
            <a:pathLst>
              <a:path w="147335" h="147335">
                <a:moveTo>
                  <a:pt x="73668" y="0"/>
                </a:moveTo>
                <a:cubicBezTo>
                  <a:pt x="77898" y="0"/>
                  <a:pt x="81783" y="2331"/>
                  <a:pt x="83797" y="6043"/>
                </a:cubicBezTo>
                <a:lnTo>
                  <a:pt x="145954" y="121149"/>
                </a:lnTo>
                <a:cubicBezTo>
                  <a:pt x="147882" y="124717"/>
                  <a:pt x="147796" y="129034"/>
                  <a:pt x="145724" y="132515"/>
                </a:cubicBezTo>
                <a:cubicBezTo>
                  <a:pt x="143652" y="135997"/>
                  <a:pt x="139882" y="138127"/>
                  <a:pt x="135825" y="138127"/>
                </a:cubicBezTo>
                <a:lnTo>
                  <a:pt x="11511" y="138127"/>
                </a:lnTo>
                <a:cubicBezTo>
                  <a:pt x="7453" y="138127"/>
                  <a:pt x="3712" y="135997"/>
                  <a:pt x="1611" y="132515"/>
                </a:cubicBezTo>
                <a:cubicBezTo>
                  <a:pt x="-489" y="129034"/>
                  <a:pt x="-547" y="124717"/>
                  <a:pt x="1381" y="121149"/>
                </a:cubicBezTo>
                <a:lnTo>
                  <a:pt x="63538" y="6043"/>
                </a:lnTo>
                <a:cubicBezTo>
                  <a:pt x="65553" y="2331"/>
                  <a:pt x="69438" y="0"/>
                  <a:pt x="73668" y="0"/>
                </a:cubicBezTo>
                <a:close/>
                <a:moveTo>
                  <a:pt x="73668" y="48344"/>
                </a:moveTo>
                <a:cubicBezTo>
                  <a:pt x="69840" y="48344"/>
                  <a:pt x="66761" y="51423"/>
                  <a:pt x="66761" y="55251"/>
                </a:cubicBezTo>
                <a:lnTo>
                  <a:pt x="66761" y="87480"/>
                </a:lnTo>
                <a:cubicBezTo>
                  <a:pt x="66761" y="91308"/>
                  <a:pt x="69840" y="94387"/>
                  <a:pt x="73668" y="94387"/>
                </a:cubicBezTo>
                <a:cubicBezTo>
                  <a:pt x="77495" y="94387"/>
                  <a:pt x="80574" y="91308"/>
                  <a:pt x="80574" y="87480"/>
                </a:cubicBezTo>
                <a:lnTo>
                  <a:pt x="80574" y="55251"/>
                </a:lnTo>
                <a:cubicBezTo>
                  <a:pt x="80574" y="51423"/>
                  <a:pt x="77495" y="48344"/>
                  <a:pt x="73668" y="48344"/>
                </a:cubicBezTo>
                <a:close/>
                <a:moveTo>
                  <a:pt x="81351" y="110502"/>
                </a:moveTo>
                <a:cubicBezTo>
                  <a:pt x="81526" y="107650"/>
                  <a:pt x="80104" y="104936"/>
                  <a:pt x="77659" y="103457"/>
                </a:cubicBezTo>
                <a:cubicBezTo>
                  <a:pt x="75214" y="101979"/>
                  <a:pt x="72150" y="101979"/>
                  <a:pt x="69705" y="103457"/>
                </a:cubicBezTo>
                <a:cubicBezTo>
                  <a:pt x="67261" y="104936"/>
                  <a:pt x="65838" y="107650"/>
                  <a:pt x="66013" y="110502"/>
                </a:cubicBezTo>
                <a:cubicBezTo>
                  <a:pt x="65838" y="113353"/>
                  <a:pt x="67261" y="116067"/>
                  <a:pt x="69705" y="117546"/>
                </a:cubicBezTo>
                <a:cubicBezTo>
                  <a:pt x="72150" y="119025"/>
                  <a:pt x="75214" y="119025"/>
                  <a:pt x="77659" y="117546"/>
                </a:cubicBezTo>
                <a:cubicBezTo>
                  <a:pt x="80104" y="116067"/>
                  <a:pt x="81526" y="113353"/>
                  <a:pt x="81351" y="110502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2" name="Text 10"/>
          <p:cNvSpPr/>
          <p:nvPr/>
        </p:nvSpPr>
        <p:spPr>
          <a:xfrm>
            <a:off x="799300" y="1887734"/>
            <a:ext cx="512173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语法错误</a:t>
            </a:r>
            <a:endParaRPr lang="en-US" sz="12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1716" y="2145571"/>
            <a:ext cx="5350115" cy="174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复杂代码中仍可能出现拼写错误或格式不规范，导致编译失败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8048" y="2451752"/>
            <a:ext cx="5432991" cy="580133"/>
          </a:xfrm>
          <a:custGeom>
            <a:avLst/>
            <a:gdLst/>
            <a:ahLst/>
            <a:cxnLst/>
            <a:rect l="l" t="t" r="r" b="b"/>
            <a:pathLst>
              <a:path w="5432991" h="580133">
                <a:moveTo>
                  <a:pt x="73665" y="0"/>
                </a:moveTo>
                <a:lnTo>
                  <a:pt x="5359326" y="0"/>
                </a:lnTo>
                <a:cubicBezTo>
                  <a:pt x="5400010" y="0"/>
                  <a:pt x="5432991" y="32981"/>
                  <a:pt x="5432991" y="73665"/>
                </a:cubicBezTo>
                <a:lnTo>
                  <a:pt x="5432991" y="506468"/>
                </a:lnTo>
                <a:cubicBezTo>
                  <a:pt x="5432991" y="547152"/>
                  <a:pt x="5400010" y="580133"/>
                  <a:pt x="5359326" y="580133"/>
                </a:cubicBezTo>
                <a:lnTo>
                  <a:pt x="73665" y="580133"/>
                </a:lnTo>
                <a:cubicBezTo>
                  <a:pt x="32981" y="580133"/>
                  <a:pt x="0" y="547152"/>
                  <a:pt x="0" y="506468"/>
                </a:cubicBezTo>
                <a:lnTo>
                  <a:pt x="0" y="73665"/>
                </a:lnTo>
                <a:cubicBezTo>
                  <a:pt x="0" y="33008"/>
                  <a:pt x="33008" y="0"/>
                  <a:pt x="73665" y="0"/>
                </a:cubicBezTo>
                <a:close/>
              </a:path>
            </a:pathLst>
          </a:custGeom>
          <a:solidFill>
            <a:srgbClr val="C00000">
              <a:alpha val="1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570924" y="2562254"/>
            <a:ext cx="165752" cy="147335"/>
          </a:xfrm>
          <a:custGeom>
            <a:avLst/>
            <a:gdLst/>
            <a:ahLst/>
            <a:cxnLst/>
            <a:rect l="l" t="t" r="r" b="b"/>
            <a:pathLst>
              <a:path w="165752" h="147335">
                <a:moveTo>
                  <a:pt x="55251" y="27625"/>
                </a:moveTo>
                <a:cubicBezTo>
                  <a:pt x="55251" y="12374"/>
                  <a:pt x="67625" y="0"/>
                  <a:pt x="82876" y="0"/>
                </a:cubicBezTo>
                <a:cubicBezTo>
                  <a:pt x="98128" y="0"/>
                  <a:pt x="110502" y="12374"/>
                  <a:pt x="110502" y="27625"/>
                </a:cubicBezTo>
                <a:lnTo>
                  <a:pt x="110502" y="28661"/>
                </a:lnTo>
                <a:cubicBezTo>
                  <a:pt x="110502" y="33179"/>
                  <a:pt x="106847" y="36834"/>
                  <a:pt x="102329" y="36834"/>
                </a:cubicBezTo>
                <a:lnTo>
                  <a:pt x="63452" y="36834"/>
                </a:lnTo>
                <a:cubicBezTo>
                  <a:pt x="58934" y="36834"/>
                  <a:pt x="55280" y="33179"/>
                  <a:pt x="55280" y="28661"/>
                </a:cubicBezTo>
                <a:lnTo>
                  <a:pt x="55280" y="27625"/>
                </a:lnTo>
                <a:close/>
                <a:moveTo>
                  <a:pt x="154702" y="31309"/>
                </a:moveTo>
                <a:cubicBezTo>
                  <a:pt x="157752" y="35366"/>
                  <a:pt x="156918" y="41150"/>
                  <a:pt x="152860" y="44201"/>
                </a:cubicBezTo>
                <a:lnTo>
                  <a:pt x="124717" y="65294"/>
                </a:lnTo>
                <a:cubicBezTo>
                  <a:pt x="126242" y="67855"/>
                  <a:pt x="127393" y="70675"/>
                  <a:pt x="128113" y="73668"/>
                </a:cubicBezTo>
                <a:lnTo>
                  <a:pt x="156544" y="73668"/>
                </a:lnTo>
                <a:cubicBezTo>
                  <a:pt x="161637" y="73668"/>
                  <a:pt x="165752" y="77783"/>
                  <a:pt x="165752" y="82876"/>
                </a:cubicBezTo>
                <a:cubicBezTo>
                  <a:pt x="165752" y="87970"/>
                  <a:pt x="161637" y="92085"/>
                  <a:pt x="156544" y="92085"/>
                </a:cubicBezTo>
                <a:lnTo>
                  <a:pt x="128918" y="92085"/>
                </a:lnTo>
                <a:lnTo>
                  <a:pt x="128918" y="101293"/>
                </a:lnTo>
                <a:cubicBezTo>
                  <a:pt x="128918" y="102041"/>
                  <a:pt x="128890" y="102818"/>
                  <a:pt x="128861" y="103566"/>
                </a:cubicBezTo>
                <a:lnTo>
                  <a:pt x="152860" y="121552"/>
                </a:lnTo>
                <a:cubicBezTo>
                  <a:pt x="156918" y="124602"/>
                  <a:pt x="157752" y="130386"/>
                  <a:pt x="154702" y="134444"/>
                </a:cubicBezTo>
                <a:cubicBezTo>
                  <a:pt x="151652" y="138501"/>
                  <a:pt x="145868" y="139335"/>
                  <a:pt x="141810" y="136285"/>
                </a:cubicBezTo>
                <a:lnTo>
                  <a:pt x="123652" y="122674"/>
                </a:lnTo>
                <a:cubicBezTo>
                  <a:pt x="116976" y="135393"/>
                  <a:pt x="104516" y="144602"/>
                  <a:pt x="89782" y="146817"/>
                </a:cubicBezTo>
                <a:lnTo>
                  <a:pt x="89782" y="80574"/>
                </a:lnTo>
                <a:cubicBezTo>
                  <a:pt x="89782" y="76747"/>
                  <a:pt x="86703" y="73668"/>
                  <a:pt x="82876" y="73668"/>
                </a:cubicBezTo>
                <a:cubicBezTo>
                  <a:pt x="79049" y="73668"/>
                  <a:pt x="75970" y="76747"/>
                  <a:pt x="75970" y="80574"/>
                </a:cubicBezTo>
                <a:lnTo>
                  <a:pt x="75970" y="146817"/>
                </a:lnTo>
                <a:cubicBezTo>
                  <a:pt x="61236" y="144602"/>
                  <a:pt x="48776" y="135393"/>
                  <a:pt x="42100" y="122674"/>
                </a:cubicBezTo>
                <a:lnTo>
                  <a:pt x="23942" y="136285"/>
                </a:lnTo>
                <a:cubicBezTo>
                  <a:pt x="19885" y="139335"/>
                  <a:pt x="14100" y="138501"/>
                  <a:pt x="11050" y="134444"/>
                </a:cubicBezTo>
                <a:cubicBezTo>
                  <a:pt x="8000" y="130386"/>
                  <a:pt x="8834" y="124602"/>
                  <a:pt x="12892" y="121552"/>
                </a:cubicBezTo>
                <a:lnTo>
                  <a:pt x="36891" y="103566"/>
                </a:lnTo>
                <a:cubicBezTo>
                  <a:pt x="36863" y="102818"/>
                  <a:pt x="36834" y="102070"/>
                  <a:pt x="36834" y="101293"/>
                </a:cubicBezTo>
                <a:lnTo>
                  <a:pt x="36834" y="92085"/>
                </a:lnTo>
                <a:lnTo>
                  <a:pt x="9208" y="92085"/>
                </a:lnTo>
                <a:cubicBezTo>
                  <a:pt x="4115" y="92085"/>
                  <a:pt x="0" y="87970"/>
                  <a:pt x="0" y="82876"/>
                </a:cubicBezTo>
                <a:cubicBezTo>
                  <a:pt x="0" y="77783"/>
                  <a:pt x="4115" y="73668"/>
                  <a:pt x="9208" y="73668"/>
                </a:cubicBezTo>
                <a:lnTo>
                  <a:pt x="37640" y="73668"/>
                </a:lnTo>
                <a:cubicBezTo>
                  <a:pt x="38359" y="70675"/>
                  <a:pt x="39510" y="67855"/>
                  <a:pt x="41035" y="65294"/>
                </a:cubicBezTo>
                <a:lnTo>
                  <a:pt x="12892" y="44201"/>
                </a:lnTo>
                <a:cubicBezTo>
                  <a:pt x="8834" y="41150"/>
                  <a:pt x="8000" y="35366"/>
                  <a:pt x="11050" y="31309"/>
                </a:cubicBezTo>
                <a:cubicBezTo>
                  <a:pt x="14100" y="27251"/>
                  <a:pt x="19885" y="26417"/>
                  <a:pt x="23942" y="29467"/>
                </a:cubicBezTo>
                <a:lnTo>
                  <a:pt x="55251" y="52949"/>
                </a:lnTo>
                <a:cubicBezTo>
                  <a:pt x="58790" y="51481"/>
                  <a:pt x="62675" y="50647"/>
                  <a:pt x="66761" y="50647"/>
                </a:cubicBezTo>
                <a:lnTo>
                  <a:pt x="98991" y="50647"/>
                </a:lnTo>
                <a:cubicBezTo>
                  <a:pt x="103077" y="50647"/>
                  <a:pt x="106962" y="51452"/>
                  <a:pt x="110502" y="52949"/>
                </a:cubicBezTo>
                <a:lnTo>
                  <a:pt x="141810" y="29467"/>
                </a:lnTo>
                <a:cubicBezTo>
                  <a:pt x="145868" y="26417"/>
                  <a:pt x="151652" y="27251"/>
                  <a:pt x="154702" y="31309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" name="Text 14"/>
          <p:cNvSpPr/>
          <p:nvPr/>
        </p:nvSpPr>
        <p:spPr>
          <a:xfrm>
            <a:off x="799300" y="2525420"/>
            <a:ext cx="512173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逻辑错误</a:t>
            </a:r>
            <a:endParaRPr lang="en-US" sz="12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" name="Text 15"/>
          <p:cNvSpPr/>
          <p:nvPr/>
        </p:nvSpPr>
        <p:spPr>
          <a:xfrm>
            <a:off x="561716" y="2783257"/>
            <a:ext cx="5350115" cy="174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更隐蔽且致命，代码能运行但无法实现预期功能，需测试用例发现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" name="Shape 16"/>
          <p:cNvSpPr/>
          <p:nvPr/>
        </p:nvSpPr>
        <p:spPr>
          <a:xfrm>
            <a:off x="488048" y="3089438"/>
            <a:ext cx="5432991" cy="589341"/>
          </a:xfrm>
          <a:custGeom>
            <a:avLst/>
            <a:gdLst/>
            <a:ahLst/>
            <a:cxnLst/>
            <a:rect l="l" t="t" r="r" b="b"/>
            <a:pathLst>
              <a:path w="5432991" h="589341">
                <a:moveTo>
                  <a:pt x="73668" y="0"/>
                </a:moveTo>
                <a:lnTo>
                  <a:pt x="5359323" y="0"/>
                </a:lnTo>
                <a:cubicBezTo>
                  <a:pt x="5400009" y="0"/>
                  <a:pt x="5432991" y="32982"/>
                  <a:pt x="5432991" y="73668"/>
                </a:cubicBezTo>
                <a:lnTo>
                  <a:pt x="5432991" y="515674"/>
                </a:lnTo>
                <a:cubicBezTo>
                  <a:pt x="5432991" y="556359"/>
                  <a:pt x="5400009" y="589341"/>
                  <a:pt x="5359323" y="589341"/>
                </a:cubicBezTo>
                <a:lnTo>
                  <a:pt x="73668" y="589341"/>
                </a:lnTo>
                <a:cubicBezTo>
                  <a:pt x="32982" y="589341"/>
                  <a:pt x="0" y="556359"/>
                  <a:pt x="0" y="515674"/>
                </a:cubicBezTo>
                <a:lnTo>
                  <a:pt x="0" y="73668"/>
                </a:lnTo>
                <a:cubicBezTo>
                  <a:pt x="0" y="33009"/>
                  <a:pt x="33009" y="0"/>
                  <a:pt x="73668" y="0"/>
                </a:cubicBezTo>
                <a:close/>
              </a:path>
            </a:pathLst>
          </a:custGeom>
          <a:solidFill>
            <a:srgbClr val="C00000">
              <a:alpha val="1000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561716" y="3181523"/>
            <a:ext cx="1105015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安全扫描通过率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386705" y="3162935"/>
            <a:ext cx="551815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55%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2" name="Text 19"/>
          <p:cNvSpPr/>
          <p:nvPr/>
        </p:nvSpPr>
        <p:spPr>
          <a:xfrm>
            <a:off x="561716" y="3457776"/>
            <a:ext cx="5340906" cy="147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70" dirty="0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仅55%代码通过安全扫描（Veracode研究）</a:t>
            </a:r>
            <a:endParaRPr lang="en-US" sz="970" dirty="0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hape 20"/>
          <p:cNvSpPr/>
          <p:nvPr/>
        </p:nvSpPr>
        <p:spPr>
          <a:xfrm>
            <a:off x="6157869" y="1183287"/>
            <a:ext cx="5663202" cy="2615202"/>
          </a:xfrm>
          <a:custGeom>
            <a:avLst/>
            <a:gdLst/>
            <a:ahLst/>
            <a:cxnLst/>
            <a:rect l="l" t="t" r="r" b="b"/>
            <a:pathLst>
              <a:path w="5663202" h="2615202">
                <a:moveTo>
                  <a:pt x="110492" y="0"/>
                </a:moveTo>
                <a:lnTo>
                  <a:pt x="5552710" y="0"/>
                </a:lnTo>
                <a:cubicBezTo>
                  <a:pt x="5613733" y="0"/>
                  <a:pt x="5663202" y="49469"/>
                  <a:pt x="5663202" y="110492"/>
                </a:cubicBezTo>
                <a:lnTo>
                  <a:pt x="5663202" y="2504710"/>
                </a:lnTo>
                <a:cubicBezTo>
                  <a:pt x="5663202" y="2565733"/>
                  <a:pt x="5613733" y="2615202"/>
                  <a:pt x="5552710" y="2615202"/>
                </a:cubicBezTo>
                <a:lnTo>
                  <a:pt x="110492" y="2615202"/>
                </a:lnTo>
                <a:cubicBezTo>
                  <a:pt x="49510" y="2615202"/>
                  <a:pt x="0" y="2565692"/>
                  <a:pt x="0" y="2504710"/>
                </a:cubicBezTo>
                <a:lnTo>
                  <a:pt x="0" y="110492"/>
                </a:lnTo>
                <a:cubicBezTo>
                  <a:pt x="0" y="49510"/>
                  <a:pt x="49510" y="0"/>
                  <a:pt x="110492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4" name="Shape 21"/>
          <p:cNvSpPr/>
          <p:nvPr/>
        </p:nvSpPr>
        <p:spPr>
          <a:xfrm>
            <a:off x="6272975" y="1298393"/>
            <a:ext cx="442006" cy="442006"/>
          </a:xfrm>
          <a:custGeom>
            <a:avLst/>
            <a:gdLst/>
            <a:ahLst/>
            <a:cxnLst/>
            <a:rect l="l" t="t" r="r" b="b"/>
            <a:pathLst>
              <a:path w="442006" h="442006">
                <a:moveTo>
                  <a:pt x="221003" y="0"/>
                </a:moveTo>
                <a:lnTo>
                  <a:pt x="221003" y="0"/>
                </a:lnTo>
                <a:cubicBezTo>
                  <a:pt x="343060" y="0"/>
                  <a:pt x="442006" y="98946"/>
                  <a:pt x="442006" y="221003"/>
                </a:cubicBezTo>
                <a:lnTo>
                  <a:pt x="442006" y="221003"/>
                </a:lnTo>
                <a:cubicBezTo>
                  <a:pt x="442006" y="343060"/>
                  <a:pt x="343060" y="442006"/>
                  <a:pt x="221003" y="442006"/>
                </a:cubicBezTo>
                <a:lnTo>
                  <a:pt x="221003" y="442006"/>
                </a:lnTo>
                <a:cubicBezTo>
                  <a:pt x="98946" y="442006"/>
                  <a:pt x="0" y="343060"/>
                  <a:pt x="0" y="221003"/>
                </a:cubicBezTo>
                <a:lnTo>
                  <a:pt x="0" y="221003"/>
                </a:lnTo>
                <a:cubicBezTo>
                  <a:pt x="0" y="98946"/>
                  <a:pt x="98946" y="0"/>
                  <a:pt x="221003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5" name="Shape 22"/>
          <p:cNvSpPr/>
          <p:nvPr/>
        </p:nvSpPr>
        <p:spPr>
          <a:xfrm>
            <a:off x="6401894" y="1427311"/>
            <a:ext cx="184169" cy="184169"/>
          </a:xfrm>
          <a:custGeom>
            <a:avLst/>
            <a:gdLst/>
            <a:ahLst/>
            <a:cxnLst/>
            <a:rect l="l" t="t" r="r" b="b"/>
            <a:pathLst>
              <a:path w="184169" h="184169">
                <a:moveTo>
                  <a:pt x="92085" y="0"/>
                </a:moveTo>
                <a:cubicBezTo>
                  <a:pt x="93739" y="0"/>
                  <a:pt x="95394" y="360"/>
                  <a:pt x="96905" y="1043"/>
                </a:cubicBezTo>
                <a:lnTo>
                  <a:pt x="164673" y="29784"/>
                </a:lnTo>
                <a:cubicBezTo>
                  <a:pt x="172587" y="33129"/>
                  <a:pt x="178486" y="40934"/>
                  <a:pt x="178450" y="50359"/>
                </a:cubicBezTo>
                <a:cubicBezTo>
                  <a:pt x="178270" y="86042"/>
                  <a:pt x="163594" y="151328"/>
                  <a:pt x="101617" y="181004"/>
                </a:cubicBezTo>
                <a:cubicBezTo>
                  <a:pt x="95610" y="183881"/>
                  <a:pt x="88631" y="183881"/>
                  <a:pt x="82624" y="181004"/>
                </a:cubicBezTo>
                <a:cubicBezTo>
                  <a:pt x="20611" y="151328"/>
                  <a:pt x="5971" y="86042"/>
                  <a:pt x="5791" y="50359"/>
                </a:cubicBezTo>
                <a:cubicBezTo>
                  <a:pt x="5755" y="40934"/>
                  <a:pt x="11654" y="33129"/>
                  <a:pt x="19568" y="29784"/>
                </a:cubicBezTo>
                <a:lnTo>
                  <a:pt x="87301" y="1043"/>
                </a:lnTo>
                <a:cubicBezTo>
                  <a:pt x="88811" y="360"/>
                  <a:pt x="90430" y="0"/>
                  <a:pt x="92085" y="0"/>
                </a:cubicBezTo>
                <a:close/>
                <a:moveTo>
                  <a:pt x="92085" y="24028"/>
                </a:moveTo>
                <a:lnTo>
                  <a:pt x="92085" y="160033"/>
                </a:lnTo>
                <a:cubicBezTo>
                  <a:pt x="141724" y="136005"/>
                  <a:pt x="155069" y="82768"/>
                  <a:pt x="155393" y="50898"/>
                </a:cubicBezTo>
                <a:lnTo>
                  <a:pt x="92085" y="24064"/>
                </a:lnTo>
                <a:lnTo>
                  <a:pt x="92085" y="24064"/>
                </a:lnTo>
                <a:close/>
              </a:path>
            </a:pathLst>
          </a:custGeom>
          <a:solidFill>
            <a:srgbClr val="E8E8E8"/>
          </a:solidFill>
        </p:spPr>
      </p:sp>
      <p:sp>
        <p:nvSpPr>
          <p:cNvPr id="36" name="Text 23"/>
          <p:cNvSpPr/>
          <p:nvPr/>
        </p:nvSpPr>
        <p:spPr>
          <a:xfrm>
            <a:off x="6825483" y="1298393"/>
            <a:ext cx="653801" cy="257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可靠性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37" name="Text 24"/>
          <p:cNvSpPr/>
          <p:nvPr/>
        </p:nvSpPr>
        <p:spPr>
          <a:xfrm>
            <a:off x="6825615" y="1556385"/>
            <a:ext cx="847725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Reliability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8" name="Shape 25"/>
          <p:cNvSpPr/>
          <p:nvPr/>
        </p:nvSpPr>
        <p:spPr>
          <a:xfrm>
            <a:off x="6272975" y="1814066"/>
            <a:ext cx="5432991" cy="580133"/>
          </a:xfrm>
          <a:custGeom>
            <a:avLst/>
            <a:gdLst/>
            <a:ahLst/>
            <a:cxnLst/>
            <a:rect l="l" t="t" r="r" b="b"/>
            <a:pathLst>
              <a:path w="5432991" h="580133">
                <a:moveTo>
                  <a:pt x="73665" y="0"/>
                </a:moveTo>
                <a:lnTo>
                  <a:pt x="5359326" y="0"/>
                </a:lnTo>
                <a:cubicBezTo>
                  <a:pt x="5400010" y="0"/>
                  <a:pt x="5432991" y="32981"/>
                  <a:pt x="5432991" y="73665"/>
                </a:cubicBezTo>
                <a:lnTo>
                  <a:pt x="5432991" y="506468"/>
                </a:lnTo>
                <a:cubicBezTo>
                  <a:pt x="5432991" y="547152"/>
                  <a:pt x="5400010" y="580133"/>
                  <a:pt x="5359326" y="580133"/>
                </a:cubicBezTo>
                <a:lnTo>
                  <a:pt x="73665" y="580133"/>
                </a:lnTo>
                <a:cubicBezTo>
                  <a:pt x="32981" y="580133"/>
                  <a:pt x="0" y="547152"/>
                  <a:pt x="0" y="506468"/>
                </a:cubicBezTo>
                <a:lnTo>
                  <a:pt x="0" y="73665"/>
                </a:lnTo>
                <a:cubicBezTo>
                  <a:pt x="0" y="33008"/>
                  <a:pt x="33008" y="0"/>
                  <a:pt x="73665" y="0"/>
                </a:cubicBezTo>
                <a:close/>
              </a:path>
            </a:pathLst>
          </a:custGeom>
          <a:solidFill>
            <a:srgbClr val="C00000">
              <a:alpha val="10000"/>
            </a:srgbClr>
          </a:solidFill>
        </p:spPr>
      </p:sp>
      <p:sp>
        <p:nvSpPr>
          <p:cNvPr id="39" name="Shape 26"/>
          <p:cNvSpPr/>
          <p:nvPr/>
        </p:nvSpPr>
        <p:spPr>
          <a:xfrm>
            <a:off x="6365060" y="1924568"/>
            <a:ext cx="147335" cy="147335"/>
          </a:xfrm>
          <a:custGeom>
            <a:avLst/>
            <a:gdLst/>
            <a:ahLst/>
            <a:cxnLst/>
            <a:rect l="l" t="t" r="r" b="b"/>
            <a:pathLst>
              <a:path w="147335" h="147335">
                <a:moveTo>
                  <a:pt x="116199" y="9899"/>
                </a:moveTo>
                <a:cubicBezTo>
                  <a:pt x="119652" y="8460"/>
                  <a:pt x="123595" y="9266"/>
                  <a:pt x="126242" y="11885"/>
                </a:cubicBezTo>
                <a:lnTo>
                  <a:pt x="144659" y="30302"/>
                </a:lnTo>
                <a:cubicBezTo>
                  <a:pt x="146386" y="32028"/>
                  <a:pt x="147364" y="34359"/>
                  <a:pt x="147364" y="36805"/>
                </a:cubicBezTo>
                <a:cubicBezTo>
                  <a:pt x="147364" y="39251"/>
                  <a:pt x="146386" y="41582"/>
                  <a:pt x="144659" y="43309"/>
                </a:cubicBezTo>
                <a:lnTo>
                  <a:pt x="126242" y="61725"/>
                </a:lnTo>
                <a:cubicBezTo>
                  <a:pt x="123595" y="64373"/>
                  <a:pt x="119652" y="65150"/>
                  <a:pt x="116199" y="63711"/>
                </a:cubicBezTo>
                <a:cubicBezTo>
                  <a:pt x="112746" y="62272"/>
                  <a:pt x="110502" y="58963"/>
                  <a:pt x="110502" y="55251"/>
                </a:cubicBezTo>
                <a:lnTo>
                  <a:pt x="110502" y="46042"/>
                </a:lnTo>
                <a:lnTo>
                  <a:pt x="101293" y="46042"/>
                </a:lnTo>
                <a:cubicBezTo>
                  <a:pt x="98387" y="46042"/>
                  <a:pt x="95653" y="47395"/>
                  <a:pt x="93926" y="49726"/>
                </a:cubicBezTo>
                <a:lnTo>
                  <a:pt x="84603" y="62157"/>
                </a:lnTo>
                <a:lnTo>
                  <a:pt x="73092" y="46819"/>
                </a:lnTo>
                <a:lnTo>
                  <a:pt x="79193" y="38676"/>
                </a:lnTo>
                <a:cubicBezTo>
                  <a:pt x="84401" y="31712"/>
                  <a:pt x="92603" y="27625"/>
                  <a:pt x="101293" y="27625"/>
                </a:cubicBezTo>
                <a:lnTo>
                  <a:pt x="110502" y="27625"/>
                </a:lnTo>
                <a:lnTo>
                  <a:pt x="110502" y="18417"/>
                </a:lnTo>
                <a:cubicBezTo>
                  <a:pt x="110502" y="14705"/>
                  <a:pt x="112746" y="11338"/>
                  <a:pt x="116199" y="9899"/>
                </a:cubicBezTo>
                <a:close/>
                <a:moveTo>
                  <a:pt x="44316" y="85178"/>
                </a:moveTo>
                <a:lnTo>
                  <a:pt x="55826" y="100516"/>
                </a:lnTo>
                <a:lnTo>
                  <a:pt x="49726" y="108660"/>
                </a:lnTo>
                <a:cubicBezTo>
                  <a:pt x="44517" y="115624"/>
                  <a:pt x="36316" y="119710"/>
                  <a:pt x="27625" y="119710"/>
                </a:cubicBezTo>
                <a:lnTo>
                  <a:pt x="9208" y="119710"/>
                </a:lnTo>
                <a:cubicBezTo>
                  <a:pt x="4115" y="119710"/>
                  <a:pt x="0" y="115595"/>
                  <a:pt x="0" y="110502"/>
                </a:cubicBezTo>
                <a:cubicBezTo>
                  <a:pt x="0" y="105408"/>
                  <a:pt x="4115" y="101293"/>
                  <a:pt x="9208" y="101293"/>
                </a:cubicBezTo>
                <a:lnTo>
                  <a:pt x="27625" y="101293"/>
                </a:lnTo>
                <a:cubicBezTo>
                  <a:pt x="30532" y="101293"/>
                  <a:pt x="33266" y="99941"/>
                  <a:pt x="34992" y="97610"/>
                </a:cubicBezTo>
                <a:lnTo>
                  <a:pt x="44316" y="85178"/>
                </a:lnTo>
                <a:close/>
                <a:moveTo>
                  <a:pt x="126213" y="135422"/>
                </a:moveTo>
                <a:cubicBezTo>
                  <a:pt x="123566" y="138069"/>
                  <a:pt x="119624" y="138846"/>
                  <a:pt x="116170" y="137407"/>
                </a:cubicBezTo>
                <a:cubicBezTo>
                  <a:pt x="112717" y="135969"/>
                  <a:pt x="110502" y="132631"/>
                  <a:pt x="110502" y="128918"/>
                </a:cubicBezTo>
                <a:lnTo>
                  <a:pt x="110502" y="119710"/>
                </a:lnTo>
                <a:lnTo>
                  <a:pt x="101293" y="119710"/>
                </a:lnTo>
                <a:cubicBezTo>
                  <a:pt x="92603" y="119710"/>
                  <a:pt x="84401" y="115624"/>
                  <a:pt x="79193" y="108660"/>
                </a:cubicBezTo>
                <a:lnTo>
                  <a:pt x="34992" y="49726"/>
                </a:lnTo>
                <a:cubicBezTo>
                  <a:pt x="33266" y="47395"/>
                  <a:pt x="30532" y="46042"/>
                  <a:pt x="27625" y="46042"/>
                </a:cubicBezTo>
                <a:lnTo>
                  <a:pt x="9208" y="46042"/>
                </a:lnTo>
                <a:cubicBezTo>
                  <a:pt x="4115" y="46042"/>
                  <a:pt x="0" y="41927"/>
                  <a:pt x="0" y="36834"/>
                </a:cubicBezTo>
                <a:cubicBezTo>
                  <a:pt x="0" y="31740"/>
                  <a:pt x="4115" y="27625"/>
                  <a:pt x="9208" y="27625"/>
                </a:cubicBezTo>
                <a:lnTo>
                  <a:pt x="27625" y="27625"/>
                </a:lnTo>
                <a:cubicBezTo>
                  <a:pt x="36316" y="27625"/>
                  <a:pt x="44517" y="31712"/>
                  <a:pt x="49726" y="38676"/>
                </a:cubicBezTo>
                <a:lnTo>
                  <a:pt x="93926" y="97610"/>
                </a:lnTo>
                <a:cubicBezTo>
                  <a:pt x="95653" y="99941"/>
                  <a:pt x="98387" y="101293"/>
                  <a:pt x="101293" y="101293"/>
                </a:cubicBezTo>
                <a:lnTo>
                  <a:pt x="110502" y="101293"/>
                </a:lnTo>
                <a:lnTo>
                  <a:pt x="110502" y="92085"/>
                </a:lnTo>
                <a:cubicBezTo>
                  <a:pt x="110502" y="88372"/>
                  <a:pt x="112746" y="85006"/>
                  <a:pt x="116199" y="83567"/>
                </a:cubicBezTo>
                <a:cubicBezTo>
                  <a:pt x="119652" y="82128"/>
                  <a:pt x="123595" y="82934"/>
                  <a:pt x="126242" y="85552"/>
                </a:cubicBezTo>
                <a:lnTo>
                  <a:pt x="144659" y="103969"/>
                </a:lnTo>
                <a:cubicBezTo>
                  <a:pt x="146386" y="105696"/>
                  <a:pt x="147364" y="108027"/>
                  <a:pt x="147364" y="110473"/>
                </a:cubicBezTo>
                <a:cubicBezTo>
                  <a:pt x="147364" y="112919"/>
                  <a:pt x="146386" y="115250"/>
                  <a:pt x="144659" y="116976"/>
                </a:cubicBezTo>
                <a:lnTo>
                  <a:pt x="126242" y="135393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40" name="Text 27"/>
          <p:cNvSpPr/>
          <p:nvPr/>
        </p:nvSpPr>
        <p:spPr>
          <a:xfrm>
            <a:off x="6584227" y="1887734"/>
            <a:ext cx="512173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输出不稳定</a:t>
            </a:r>
            <a:endParaRPr lang="en-US" sz="12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1" name="Text 28"/>
          <p:cNvSpPr/>
          <p:nvPr/>
        </p:nvSpPr>
        <p:spPr>
          <a:xfrm>
            <a:off x="6346643" y="2145571"/>
            <a:ext cx="5350115" cy="174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模型输出对输入提示的微小变化非常敏感，导致生成结果不稳定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2" name="Shape 29"/>
          <p:cNvSpPr/>
          <p:nvPr/>
        </p:nvSpPr>
        <p:spPr>
          <a:xfrm>
            <a:off x="6272975" y="2451752"/>
            <a:ext cx="5432991" cy="580133"/>
          </a:xfrm>
          <a:custGeom>
            <a:avLst/>
            <a:gdLst/>
            <a:ahLst/>
            <a:cxnLst/>
            <a:rect l="l" t="t" r="r" b="b"/>
            <a:pathLst>
              <a:path w="5432991" h="580133">
                <a:moveTo>
                  <a:pt x="73665" y="0"/>
                </a:moveTo>
                <a:lnTo>
                  <a:pt x="5359326" y="0"/>
                </a:lnTo>
                <a:cubicBezTo>
                  <a:pt x="5400010" y="0"/>
                  <a:pt x="5432991" y="32981"/>
                  <a:pt x="5432991" y="73665"/>
                </a:cubicBezTo>
                <a:lnTo>
                  <a:pt x="5432991" y="506468"/>
                </a:lnTo>
                <a:cubicBezTo>
                  <a:pt x="5432991" y="547152"/>
                  <a:pt x="5400010" y="580133"/>
                  <a:pt x="5359326" y="580133"/>
                </a:cubicBezTo>
                <a:lnTo>
                  <a:pt x="73665" y="580133"/>
                </a:lnTo>
                <a:cubicBezTo>
                  <a:pt x="32981" y="580133"/>
                  <a:pt x="0" y="547152"/>
                  <a:pt x="0" y="506468"/>
                </a:cubicBezTo>
                <a:lnTo>
                  <a:pt x="0" y="73665"/>
                </a:lnTo>
                <a:cubicBezTo>
                  <a:pt x="0" y="33008"/>
                  <a:pt x="33008" y="0"/>
                  <a:pt x="73665" y="0"/>
                </a:cubicBezTo>
                <a:close/>
              </a:path>
            </a:pathLst>
          </a:custGeom>
          <a:solidFill>
            <a:srgbClr val="C00000">
              <a:alpha val="10000"/>
            </a:srgbClr>
          </a:solidFill>
        </p:spPr>
      </p:sp>
      <p:sp>
        <p:nvSpPr>
          <p:cNvPr id="43" name="Shape 30"/>
          <p:cNvSpPr/>
          <p:nvPr/>
        </p:nvSpPr>
        <p:spPr>
          <a:xfrm>
            <a:off x="6346643" y="2562254"/>
            <a:ext cx="184169" cy="147335"/>
          </a:xfrm>
          <a:custGeom>
            <a:avLst/>
            <a:gdLst/>
            <a:ahLst/>
            <a:cxnLst/>
            <a:rect l="l" t="t" r="r" b="b"/>
            <a:pathLst>
              <a:path w="184169" h="147335">
                <a:moveTo>
                  <a:pt x="110502" y="9208"/>
                </a:moveTo>
                <a:lnTo>
                  <a:pt x="147335" y="9208"/>
                </a:lnTo>
                <a:cubicBezTo>
                  <a:pt x="152429" y="9208"/>
                  <a:pt x="156544" y="13323"/>
                  <a:pt x="156544" y="18417"/>
                </a:cubicBezTo>
                <a:cubicBezTo>
                  <a:pt x="156544" y="23510"/>
                  <a:pt x="152429" y="27625"/>
                  <a:pt x="147335" y="27625"/>
                </a:cubicBezTo>
                <a:lnTo>
                  <a:pt x="114645" y="27625"/>
                </a:lnTo>
                <a:cubicBezTo>
                  <a:pt x="113149" y="35050"/>
                  <a:pt x="108056" y="41179"/>
                  <a:pt x="101293" y="44114"/>
                </a:cubicBezTo>
                <a:lnTo>
                  <a:pt x="101293" y="128918"/>
                </a:lnTo>
                <a:lnTo>
                  <a:pt x="147335" y="128918"/>
                </a:lnTo>
                <a:cubicBezTo>
                  <a:pt x="152429" y="128918"/>
                  <a:pt x="156544" y="133033"/>
                  <a:pt x="156544" y="138127"/>
                </a:cubicBezTo>
                <a:cubicBezTo>
                  <a:pt x="156544" y="143220"/>
                  <a:pt x="152429" y="147335"/>
                  <a:pt x="147335" y="147335"/>
                </a:cubicBezTo>
                <a:lnTo>
                  <a:pt x="36834" y="147335"/>
                </a:lnTo>
                <a:cubicBezTo>
                  <a:pt x="31740" y="147335"/>
                  <a:pt x="27625" y="143220"/>
                  <a:pt x="27625" y="138127"/>
                </a:cubicBezTo>
                <a:cubicBezTo>
                  <a:pt x="27625" y="133033"/>
                  <a:pt x="31740" y="128918"/>
                  <a:pt x="36834" y="128918"/>
                </a:cubicBezTo>
                <a:lnTo>
                  <a:pt x="82876" y="128918"/>
                </a:lnTo>
                <a:lnTo>
                  <a:pt x="82876" y="44114"/>
                </a:lnTo>
                <a:cubicBezTo>
                  <a:pt x="76114" y="41150"/>
                  <a:pt x="71020" y="35021"/>
                  <a:pt x="69524" y="27625"/>
                </a:cubicBezTo>
                <a:lnTo>
                  <a:pt x="36834" y="27625"/>
                </a:lnTo>
                <a:cubicBezTo>
                  <a:pt x="31740" y="27625"/>
                  <a:pt x="27625" y="23510"/>
                  <a:pt x="27625" y="18417"/>
                </a:cubicBezTo>
                <a:cubicBezTo>
                  <a:pt x="27625" y="13323"/>
                  <a:pt x="31740" y="9208"/>
                  <a:pt x="36834" y="9208"/>
                </a:cubicBezTo>
                <a:lnTo>
                  <a:pt x="73668" y="9208"/>
                </a:lnTo>
                <a:cubicBezTo>
                  <a:pt x="77869" y="3626"/>
                  <a:pt x="84545" y="0"/>
                  <a:pt x="92085" y="0"/>
                </a:cubicBezTo>
                <a:cubicBezTo>
                  <a:pt x="99624" y="0"/>
                  <a:pt x="106300" y="3626"/>
                  <a:pt x="110502" y="9208"/>
                </a:cubicBezTo>
                <a:close/>
                <a:moveTo>
                  <a:pt x="126501" y="92085"/>
                </a:moveTo>
                <a:lnTo>
                  <a:pt x="168169" y="92085"/>
                </a:lnTo>
                <a:lnTo>
                  <a:pt x="147335" y="56344"/>
                </a:lnTo>
                <a:lnTo>
                  <a:pt x="126501" y="92085"/>
                </a:lnTo>
                <a:close/>
                <a:moveTo>
                  <a:pt x="147335" y="119710"/>
                </a:moveTo>
                <a:cubicBezTo>
                  <a:pt x="129235" y="119710"/>
                  <a:pt x="114185" y="109926"/>
                  <a:pt x="111077" y="97005"/>
                </a:cubicBezTo>
                <a:cubicBezTo>
                  <a:pt x="110329" y="93840"/>
                  <a:pt x="111365" y="90588"/>
                  <a:pt x="113005" y="87768"/>
                </a:cubicBezTo>
                <a:lnTo>
                  <a:pt x="140400" y="40805"/>
                </a:lnTo>
                <a:cubicBezTo>
                  <a:pt x="141839" y="38330"/>
                  <a:pt x="144486" y="36834"/>
                  <a:pt x="147335" y="36834"/>
                </a:cubicBezTo>
                <a:cubicBezTo>
                  <a:pt x="150184" y="36834"/>
                  <a:pt x="152832" y="38359"/>
                  <a:pt x="154270" y="40805"/>
                </a:cubicBezTo>
                <a:lnTo>
                  <a:pt x="181666" y="87768"/>
                </a:lnTo>
                <a:cubicBezTo>
                  <a:pt x="183306" y="90588"/>
                  <a:pt x="184342" y="93840"/>
                  <a:pt x="183594" y="97005"/>
                </a:cubicBezTo>
                <a:cubicBezTo>
                  <a:pt x="180486" y="109897"/>
                  <a:pt x="165436" y="119710"/>
                  <a:pt x="147335" y="119710"/>
                </a:cubicBezTo>
                <a:close/>
                <a:moveTo>
                  <a:pt x="36489" y="56344"/>
                </a:moveTo>
                <a:lnTo>
                  <a:pt x="15654" y="92085"/>
                </a:lnTo>
                <a:lnTo>
                  <a:pt x="57351" y="92085"/>
                </a:lnTo>
                <a:lnTo>
                  <a:pt x="36489" y="56344"/>
                </a:lnTo>
                <a:close/>
                <a:moveTo>
                  <a:pt x="259" y="97005"/>
                </a:moveTo>
                <a:cubicBezTo>
                  <a:pt x="-489" y="93840"/>
                  <a:pt x="547" y="90588"/>
                  <a:pt x="2187" y="87768"/>
                </a:cubicBezTo>
                <a:lnTo>
                  <a:pt x="29582" y="40805"/>
                </a:lnTo>
                <a:cubicBezTo>
                  <a:pt x="31021" y="38330"/>
                  <a:pt x="33668" y="36834"/>
                  <a:pt x="36517" y="36834"/>
                </a:cubicBezTo>
                <a:cubicBezTo>
                  <a:pt x="39366" y="36834"/>
                  <a:pt x="42014" y="38359"/>
                  <a:pt x="43452" y="40805"/>
                </a:cubicBezTo>
                <a:lnTo>
                  <a:pt x="70848" y="87768"/>
                </a:lnTo>
                <a:cubicBezTo>
                  <a:pt x="72488" y="90588"/>
                  <a:pt x="73524" y="93840"/>
                  <a:pt x="72776" y="97005"/>
                </a:cubicBezTo>
                <a:cubicBezTo>
                  <a:pt x="69668" y="109897"/>
                  <a:pt x="54618" y="119710"/>
                  <a:pt x="36517" y="119710"/>
                </a:cubicBezTo>
                <a:cubicBezTo>
                  <a:pt x="18417" y="119710"/>
                  <a:pt x="3367" y="109926"/>
                  <a:pt x="259" y="97005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4" name="Text 31"/>
          <p:cNvSpPr/>
          <p:nvPr/>
        </p:nvSpPr>
        <p:spPr>
          <a:xfrm>
            <a:off x="6584227" y="2525420"/>
            <a:ext cx="512173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逻辑不一致</a:t>
            </a:r>
            <a:endParaRPr lang="en-US" sz="12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5" name="Text 32"/>
          <p:cNvSpPr/>
          <p:nvPr/>
        </p:nvSpPr>
        <p:spPr>
          <a:xfrm>
            <a:off x="6346643" y="2783257"/>
            <a:ext cx="5350115" cy="174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难以保证生成代码逻辑的一致性，相同需求可能产生不同实现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6" name="Shape 33"/>
          <p:cNvSpPr/>
          <p:nvPr/>
        </p:nvSpPr>
        <p:spPr>
          <a:xfrm>
            <a:off x="6272975" y="3089438"/>
            <a:ext cx="5432991" cy="580133"/>
          </a:xfrm>
          <a:custGeom>
            <a:avLst/>
            <a:gdLst/>
            <a:ahLst/>
            <a:cxnLst/>
            <a:rect l="l" t="t" r="r" b="b"/>
            <a:pathLst>
              <a:path w="5432991" h="580133">
                <a:moveTo>
                  <a:pt x="73665" y="0"/>
                </a:moveTo>
                <a:lnTo>
                  <a:pt x="5359326" y="0"/>
                </a:lnTo>
                <a:cubicBezTo>
                  <a:pt x="5400010" y="0"/>
                  <a:pt x="5432991" y="32981"/>
                  <a:pt x="5432991" y="73665"/>
                </a:cubicBezTo>
                <a:lnTo>
                  <a:pt x="5432991" y="506468"/>
                </a:lnTo>
                <a:cubicBezTo>
                  <a:pt x="5432991" y="547152"/>
                  <a:pt x="5400010" y="580133"/>
                  <a:pt x="5359326" y="580133"/>
                </a:cubicBezTo>
                <a:lnTo>
                  <a:pt x="73665" y="580133"/>
                </a:lnTo>
                <a:cubicBezTo>
                  <a:pt x="32981" y="580133"/>
                  <a:pt x="0" y="547152"/>
                  <a:pt x="0" y="506468"/>
                </a:cubicBezTo>
                <a:lnTo>
                  <a:pt x="0" y="73665"/>
                </a:lnTo>
                <a:cubicBezTo>
                  <a:pt x="0" y="33008"/>
                  <a:pt x="33008" y="0"/>
                  <a:pt x="73665" y="0"/>
                </a:cubicBezTo>
                <a:close/>
              </a:path>
            </a:pathLst>
          </a:custGeom>
          <a:solidFill>
            <a:srgbClr val="C00000">
              <a:alpha val="10000"/>
            </a:srgbClr>
          </a:solidFill>
        </p:spPr>
      </p:sp>
      <p:sp>
        <p:nvSpPr>
          <p:cNvPr id="47" name="Shape 34"/>
          <p:cNvSpPr/>
          <p:nvPr/>
        </p:nvSpPr>
        <p:spPr>
          <a:xfrm>
            <a:off x="6365060" y="3199940"/>
            <a:ext cx="147335" cy="147335"/>
          </a:xfrm>
          <a:custGeom>
            <a:avLst/>
            <a:gdLst/>
            <a:ahLst/>
            <a:cxnLst/>
            <a:rect l="l" t="t" r="r" b="b"/>
            <a:pathLst>
              <a:path w="147335" h="147335">
                <a:moveTo>
                  <a:pt x="18417" y="18417"/>
                </a:moveTo>
                <a:cubicBezTo>
                  <a:pt x="18417" y="13323"/>
                  <a:pt x="14302" y="9208"/>
                  <a:pt x="9208" y="9208"/>
                </a:cubicBezTo>
                <a:cubicBezTo>
                  <a:pt x="4115" y="9208"/>
                  <a:pt x="0" y="13323"/>
                  <a:pt x="0" y="18417"/>
                </a:cubicBezTo>
                <a:lnTo>
                  <a:pt x="0" y="115106"/>
                </a:lnTo>
                <a:cubicBezTo>
                  <a:pt x="0" y="127825"/>
                  <a:pt x="10302" y="138127"/>
                  <a:pt x="23021" y="138127"/>
                </a:cubicBezTo>
                <a:lnTo>
                  <a:pt x="138127" y="138127"/>
                </a:lnTo>
                <a:cubicBezTo>
                  <a:pt x="143220" y="138127"/>
                  <a:pt x="147335" y="134012"/>
                  <a:pt x="147335" y="128918"/>
                </a:cubicBezTo>
                <a:cubicBezTo>
                  <a:pt x="147335" y="123825"/>
                  <a:pt x="143220" y="119710"/>
                  <a:pt x="138127" y="119710"/>
                </a:cubicBezTo>
                <a:lnTo>
                  <a:pt x="23021" y="119710"/>
                </a:lnTo>
                <a:cubicBezTo>
                  <a:pt x="20489" y="119710"/>
                  <a:pt x="18417" y="117638"/>
                  <a:pt x="18417" y="115106"/>
                </a:cubicBezTo>
                <a:lnTo>
                  <a:pt x="18417" y="18417"/>
                </a:lnTo>
                <a:close/>
                <a:moveTo>
                  <a:pt x="135422" y="43337"/>
                </a:moveTo>
                <a:cubicBezTo>
                  <a:pt x="139019" y="39740"/>
                  <a:pt x="139019" y="33899"/>
                  <a:pt x="135422" y="30302"/>
                </a:cubicBezTo>
                <a:cubicBezTo>
                  <a:pt x="131825" y="26705"/>
                  <a:pt x="125983" y="26705"/>
                  <a:pt x="122386" y="30302"/>
                </a:cubicBezTo>
                <a:lnTo>
                  <a:pt x="92085" y="60632"/>
                </a:lnTo>
                <a:lnTo>
                  <a:pt x="75567" y="44143"/>
                </a:lnTo>
                <a:cubicBezTo>
                  <a:pt x="71970" y="40546"/>
                  <a:pt x="66128" y="40546"/>
                  <a:pt x="62531" y="44143"/>
                </a:cubicBezTo>
                <a:lnTo>
                  <a:pt x="34906" y="71768"/>
                </a:lnTo>
                <a:cubicBezTo>
                  <a:pt x="31309" y="75365"/>
                  <a:pt x="31309" y="81207"/>
                  <a:pt x="34906" y="84804"/>
                </a:cubicBezTo>
                <a:cubicBezTo>
                  <a:pt x="38503" y="88401"/>
                  <a:pt x="44344" y="88401"/>
                  <a:pt x="47942" y="84804"/>
                </a:cubicBezTo>
                <a:lnTo>
                  <a:pt x="69063" y="63682"/>
                </a:lnTo>
                <a:lnTo>
                  <a:pt x="85581" y="80200"/>
                </a:lnTo>
                <a:cubicBezTo>
                  <a:pt x="89178" y="83797"/>
                  <a:pt x="95020" y="83797"/>
                  <a:pt x="98617" y="80200"/>
                </a:cubicBezTo>
                <a:lnTo>
                  <a:pt x="135451" y="43366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48" name="Text 35"/>
          <p:cNvSpPr/>
          <p:nvPr/>
        </p:nvSpPr>
        <p:spPr>
          <a:xfrm>
            <a:off x="6584227" y="3163106"/>
            <a:ext cx="512173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性能波动</a:t>
            </a:r>
            <a:endParaRPr lang="en-US" sz="12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9" name="Text 36"/>
          <p:cNvSpPr/>
          <p:nvPr/>
        </p:nvSpPr>
        <p:spPr>
          <a:xfrm>
            <a:off x="6346643" y="3420943"/>
            <a:ext cx="5350115" cy="174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不同运行环境下性能表现差异明显，影响实际应用效果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0" name="Shape 37"/>
          <p:cNvSpPr/>
          <p:nvPr/>
        </p:nvSpPr>
        <p:spPr>
          <a:xfrm>
            <a:off x="372943" y="3876761"/>
            <a:ext cx="5663202" cy="2615202"/>
          </a:xfrm>
          <a:custGeom>
            <a:avLst/>
            <a:gdLst/>
            <a:ahLst/>
            <a:cxnLst/>
            <a:rect l="l" t="t" r="r" b="b"/>
            <a:pathLst>
              <a:path w="5663202" h="2615202">
                <a:moveTo>
                  <a:pt x="110492" y="0"/>
                </a:moveTo>
                <a:lnTo>
                  <a:pt x="5552710" y="0"/>
                </a:lnTo>
                <a:cubicBezTo>
                  <a:pt x="5613733" y="0"/>
                  <a:pt x="5663202" y="49469"/>
                  <a:pt x="5663202" y="110492"/>
                </a:cubicBezTo>
                <a:lnTo>
                  <a:pt x="5663202" y="2504710"/>
                </a:lnTo>
                <a:cubicBezTo>
                  <a:pt x="5663202" y="2565733"/>
                  <a:pt x="5613733" y="2615202"/>
                  <a:pt x="5552710" y="2615202"/>
                </a:cubicBezTo>
                <a:lnTo>
                  <a:pt x="110492" y="2615202"/>
                </a:lnTo>
                <a:cubicBezTo>
                  <a:pt x="49510" y="2615202"/>
                  <a:pt x="0" y="2565692"/>
                  <a:pt x="0" y="2504710"/>
                </a:cubicBezTo>
                <a:lnTo>
                  <a:pt x="0" y="110492"/>
                </a:lnTo>
                <a:cubicBezTo>
                  <a:pt x="0" y="49510"/>
                  <a:pt x="49510" y="0"/>
                  <a:pt x="110492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488048" y="3991867"/>
            <a:ext cx="442006" cy="442006"/>
          </a:xfrm>
          <a:custGeom>
            <a:avLst/>
            <a:gdLst/>
            <a:ahLst/>
            <a:cxnLst/>
            <a:rect l="l" t="t" r="r" b="b"/>
            <a:pathLst>
              <a:path w="442006" h="442006">
                <a:moveTo>
                  <a:pt x="221003" y="0"/>
                </a:moveTo>
                <a:lnTo>
                  <a:pt x="221003" y="0"/>
                </a:lnTo>
                <a:cubicBezTo>
                  <a:pt x="343060" y="0"/>
                  <a:pt x="442006" y="98946"/>
                  <a:pt x="442006" y="221003"/>
                </a:cubicBezTo>
                <a:lnTo>
                  <a:pt x="442006" y="221003"/>
                </a:lnTo>
                <a:cubicBezTo>
                  <a:pt x="442006" y="343060"/>
                  <a:pt x="343060" y="442006"/>
                  <a:pt x="221003" y="442006"/>
                </a:cubicBezTo>
                <a:lnTo>
                  <a:pt x="221003" y="442006"/>
                </a:lnTo>
                <a:cubicBezTo>
                  <a:pt x="98946" y="442006"/>
                  <a:pt x="0" y="343060"/>
                  <a:pt x="0" y="221003"/>
                </a:cubicBezTo>
                <a:lnTo>
                  <a:pt x="0" y="221003"/>
                </a:lnTo>
                <a:cubicBezTo>
                  <a:pt x="0" y="98946"/>
                  <a:pt x="98946" y="0"/>
                  <a:pt x="221003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52" name="Shape 39"/>
          <p:cNvSpPr/>
          <p:nvPr/>
        </p:nvSpPr>
        <p:spPr>
          <a:xfrm>
            <a:off x="639988" y="4120785"/>
            <a:ext cx="138127" cy="184169"/>
          </a:xfrm>
          <a:custGeom>
            <a:avLst/>
            <a:gdLst/>
            <a:ahLst/>
            <a:cxnLst/>
            <a:rect l="l" t="t" r="r" b="b"/>
            <a:pathLst>
              <a:path w="138127" h="184169">
                <a:moveTo>
                  <a:pt x="46042" y="34532"/>
                </a:moveTo>
                <a:lnTo>
                  <a:pt x="46042" y="57553"/>
                </a:lnTo>
                <a:lnTo>
                  <a:pt x="92085" y="57553"/>
                </a:lnTo>
                <a:lnTo>
                  <a:pt x="92085" y="34532"/>
                </a:lnTo>
                <a:cubicBezTo>
                  <a:pt x="92085" y="21834"/>
                  <a:pt x="81761" y="11511"/>
                  <a:pt x="69063" y="11511"/>
                </a:cubicBezTo>
                <a:cubicBezTo>
                  <a:pt x="56366" y="11511"/>
                  <a:pt x="46042" y="21834"/>
                  <a:pt x="46042" y="34532"/>
                </a:cubicBezTo>
                <a:close/>
                <a:moveTo>
                  <a:pt x="23021" y="57553"/>
                </a:moveTo>
                <a:lnTo>
                  <a:pt x="23021" y="34532"/>
                </a:lnTo>
                <a:cubicBezTo>
                  <a:pt x="23021" y="9101"/>
                  <a:pt x="43632" y="-11511"/>
                  <a:pt x="69063" y="-11511"/>
                </a:cubicBezTo>
                <a:cubicBezTo>
                  <a:pt x="94495" y="-11511"/>
                  <a:pt x="115106" y="9101"/>
                  <a:pt x="115106" y="34532"/>
                </a:cubicBezTo>
                <a:lnTo>
                  <a:pt x="115106" y="57553"/>
                </a:lnTo>
                <a:cubicBezTo>
                  <a:pt x="127803" y="57553"/>
                  <a:pt x="138127" y="67876"/>
                  <a:pt x="138127" y="80574"/>
                </a:cubicBezTo>
                <a:lnTo>
                  <a:pt x="138127" y="161148"/>
                </a:lnTo>
                <a:cubicBezTo>
                  <a:pt x="138127" y="173846"/>
                  <a:pt x="127803" y="184169"/>
                  <a:pt x="115106" y="184169"/>
                </a:cubicBezTo>
                <a:lnTo>
                  <a:pt x="23021" y="184169"/>
                </a:lnTo>
                <a:cubicBezTo>
                  <a:pt x="10324" y="184169"/>
                  <a:pt x="0" y="173846"/>
                  <a:pt x="0" y="161148"/>
                </a:cubicBezTo>
                <a:lnTo>
                  <a:pt x="0" y="80574"/>
                </a:lnTo>
                <a:cubicBezTo>
                  <a:pt x="0" y="67876"/>
                  <a:pt x="10324" y="57553"/>
                  <a:pt x="23021" y="57553"/>
                </a:cubicBezTo>
                <a:close/>
              </a:path>
            </a:pathLst>
          </a:custGeom>
          <a:solidFill>
            <a:srgbClr val="E8E8E8"/>
          </a:solidFill>
        </p:spPr>
      </p:sp>
      <p:sp>
        <p:nvSpPr>
          <p:cNvPr id="53" name="Text 40"/>
          <p:cNvSpPr/>
          <p:nvPr/>
        </p:nvSpPr>
        <p:spPr>
          <a:xfrm>
            <a:off x="1040556" y="3991867"/>
            <a:ext cx="644592" cy="257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安全性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54" name="Text 41"/>
          <p:cNvSpPr/>
          <p:nvPr/>
        </p:nvSpPr>
        <p:spPr>
          <a:xfrm>
            <a:off x="1040765" y="4249420"/>
            <a:ext cx="853440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Security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5" name="Shape 42"/>
          <p:cNvSpPr/>
          <p:nvPr/>
        </p:nvSpPr>
        <p:spPr>
          <a:xfrm>
            <a:off x="488048" y="4507541"/>
            <a:ext cx="5432991" cy="580133"/>
          </a:xfrm>
          <a:custGeom>
            <a:avLst/>
            <a:gdLst/>
            <a:ahLst/>
            <a:cxnLst/>
            <a:rect l="l" t="t" r="r" b="b"/>
            <a:pathLst>
              <a:path w="5432991" h="580133">
                <a:moveTo>
                  <a:pt x="73665" y="0"/>
                </a:moveTo>
                <a:lnTo>
                  <a:pt x="5359326" y="0"/>
                </a:lnTo>
                <a:cubicBezTo>
                  <a:pt x="5400010" y="0"/>
                  <a:pt x="5432991" y="32981"/>
                  <a:pt x="5432991" y="73665"/>
                </a:cubicBezTo>
                <a:lnTo>
                  <a:pt x="5432991" y="506468"/>
                </a:lnTo>
                <a:cubicBezTo>
                  <a:pt x="5432991" y="547152"/>
                  <a:pt x="5400010" y="580133"/>
                  <a:pt x="5359326" y="580133"/>
                </a:cubicBezTo>
                <a:lnTo>
                  <a:pt x="73665" y="580133"/>
                </a:lnTo>
                <a:cubicBezTo>
                  <a:pt x="32981" y="580133"/>
                  <a:pt x="0" y="547152"/>
                  <a:pt x="0" y="506468"/>
                </a:cubicBezTo>
                <a:lnTo>
                  <a:pt x="0" y="73665"/>
                </a:lnTo>
                <a:cubicBezTo>
                  <a:pt x="0" y="33008"/>
                  <a:pt x="33008" y="0"/>
                  <a:pt x="73665" y="0"/>
                </a:cubicBezTo>
                <a:close/>
              </a:path>
            </a:pathLst>
          </a:custGeom>
          <a:solidFill>
            <a:srgbClr val="C00000">
              <a:alpha val="10000"/>
            </a:srgbClr>
          </a:solidFill>
        </p:spPr>
      </p:sp>
      <p:sp>
        <p:nvSpPr>
          <p:cNvPr id="56" name="Shape 43"/>
          <p:cNvSpPr/>
          <p:nvPr/>
        </p:nvSpPr>
        <p:spPr>
          <a:xfrm>
            <a:off x="580133" y="4618042"/>
            <a:ext cx="147335" cy="147335"/>
          </a:xfrm>
          <a:custGeom>
            <a:avLst/>
            <a:gdLst/>
            <a:ahLst/>
            <a:cxnLst/>
            <a:rect l="l" t="t" r="r" b="b"/>
            <a:pathLst>
              <a:path w="147335" h="147335">
                <a:moveTo>
                  <a:pt x="85178" y="11511"/>
                </a:moveTo>
                <a:cubicBezTo>
                  <a:pt x="85178" y="5151"/>
                  <a:pt x="80027" y="0"/>
                  <a:pt x="73668" y="0"/>
                </a:cubicBezTo>
                <a:cubicBezTo>
                  <a:pt x="67308" y="0"/>
                  <a:pt x="62157" y="5151"/>
                  <a:pt x="62157" y="11511"/>
                </a:cubicBezTo>
                <a:cubicBezTo>
                  <a:pt x="62157" y="24201"/>
                  <a:pt x="46819" y="30532"/>
                  <a:pt x="37841" y="21582"/>
                </a:cubicBezTo>
                <a:cubicBezTo>
                  <a:pt x="33352" y="17093"/>
                  <a:pt x="26071" y="17093"/>
                  <a:pt x="21554" y="21582"/>
                </a:cubicBezTo>
                <a:cubicBezTo>
                  <a:pt x="17036" y="26071"/>
                  <a:pt x="17064" y="33352"/>
                  <a:pt x="21554" y="37870"/>
                </a:cubicBezTo>
                <a:cubicBezTo>
                  <a:pt x="30532" y="46848"/>
                  <a:pt x="24172" y="62186"/>
                  <a:pt x="11482" y="62186"/>
                </a:cubicBezTo>
                <a:cubicBezTo>
                  <a:pt x="5122" y="62186"/>
                  <a:pt x="-29" y="67337"/>
                  <a:pt x="-29" y="73696"/>
                </a:cubicBezTo>
                <a:cubicBezTo>
                  <a:pt x="-29" y="80056"/>
                  <a:pt x="5122" y="85207"/>
                  <a:pt x="11482" y="85207"/>
                </a:cubicBezTo>
                <a:cubicBezTo>
                  <a:pt x="24172" y="85207"/>
                  <a:pt x="30503" y="100545"/>
                  <a:pt x="21554" y="109523"/>
                </a:cubicBezTo>
                <a:cubicBezTo>
                  <a:pt x="17064" y="114012"/>
                  <a:pt x="17064" y="121293"/>
                  <a:pt x="21554" y="125811"/>
                </a:cubicBezTo>
                <a:cubicBezTo>
                  <a:pt x="26043" y="130328"/>
                  <a:pt x="33323" y="130300"/>
                  <a:pt x="37841" y="125811"/>
                </a:cubicBezTo>
                <a:cubicBezTo>
                  <a:pt x="46819" y="116832"/>
                  <a:pt x="62157" y="123192"/>
                  <a:pt x="62157" y="135882"/>
                </a:cubicBezTo>
                <a:cubicBezTo>
                  <a:pt x="62157" y="142242"/>
                  <a:pt x="67308" y="147393"/>
                  <a:pt x="73668" y="147393"/>
                </a:cubicBezTo>
                <a:cubicBezTo>
                  <a:pt x="80027" y="147393"/>
                  <a:pt x="85178" y="142242"/>
                  <a:pt x="85178" y="135882"/>
                </a:cubicBezTo>
                <a:cubicBezTo>
                  <a:pt x="85178" y="123192"/>
                  <a:pt x="100516" y="116861"/>
                  <a:pt x="109494" y="125811"/>
                </a:cubicBezTo>
                <a:cubicBezTo>
                  <a:pt x="113983" y="130300"/>
                  <a:pt x="121264" y="130300"/>
                  <a:pt x="125782" y="125811"/>
                </a:cubicBezTo>
                <a:cubicBezTo>
                  <a:pt x="130300" y="121321"/>
                  <a:pt x="130271" y="114041"/>
                  <a:pt x="125782" y="109523"/>
                </a:cubicBezTo>
                <a:cubicBezTo>
                  <a:pt x="116804" y="100545"/>
                  <a:pt x="123163" y="85207"/>
                  <a:pt x="135854" y="85207"/>
                </a:cubicBezTo>
                <a:cubicBezTo>
                  <a:pt x="142213" y="85207"/>
                  <a:pt x="147364" y="80056"/>
                  <a:pt x="147364" y="73696"/>
                </a:cubicBezTo>
                <a:cubicBezTo>
                  <a:pt x="147364" y="67337"/>
                  <a:pt x="142213" y="62186"/>
                  <a:pt x="135854" y="62186"/>
                </a:cubicBezTo>
                <a:cubicBezTo>
                  <a:pt x="123163" y="62186"/>
                  <a:pt x="116832" y="46848"/>
                  <a:pt x="125782" y="37870"/>
                </a:cubicBezTo>
                <a:cubicBezTo>
                  <a:pt x="130271" y="33381"/>
                  <a:pt x="130271" y="26100"/>
                  <a:pt x="125782" y="21582"/>
                </a:cubicBezTo>
                <a:cubicBezTo>
                  <a:pt x="121293" y="17064"/>
                  <a:pt x="114012" y="17093"/>
                  <a:pt x="109494" y="21582"/>
                </a:cubicBezTo>
                <a:cubicBezTo>
                  <a:pt x="100516" y="30532"/>
                  <a:pt x="85178" y="24201"/>
                  <a:pt x="85178" y="11511"/>
                </a:cubicBezTo>
                <a:close/>
                <a:moveTo>
                  <a:pt x="46042" y="64459"/>
                </a:moveTo>
                <a:cubicBezTo>
                  <a:pt x="46042" y="59377"/>
                  <a:pt x="50168" y="55251"/>
                  <a:pt x="55251" y="55251"/>
                </a:cubicBezTo>
                <a:cubicBezTo>
                  <a:pt x="60333" y="55251"/>
                  <a:pt x="64459" y="59377"/>
                  <a:pt x="64459" y="64459"/>
                </a:cubicBezTo>
                <a:cubicBezTo>
                  <a:pt x="64459" y="69542"/>
                  <a:pt x="60333" y="73668"/>
                  <a:pt x="55251" y="73668"/>
                </a:cubicBezTo>
                <a:cubicBezTo>
                  <a:pt x="50168" y="73668"/>
                  <a:pt x="46042" y="69542"/>
                  <a:pt x="46042" y="64459"/>
                </a:cubicBezTo>
                <a:close/>
                <a:moveTo>
                  <a:pt x="92085" y="73668"/>
                </a:moveTo>
                <a:cubicBezTo>
                  <a:pt x="97167" y="73668"/>
                  <a:pt x="101293" y="77794"/>
                  <a:pt x="101293" y="82876"/>
                </a:cubicBezTo>
                <a:cubicBezTo>
                  <a:pt x="101293" y="87958"/>
                  <a:pt x="97167" y="92085"/>
                  <a:pt x="92085" y="92085"/>
                </a:cubicBezTo>
                <a:cubicBezTo>
                  <a:pt x="87002" y="92085"/>
                  <a:pt x="82876" y="87958"/>
                  <a:pt x="82876" y="82876"/>
                </a:cubicBezTo>
                <a:cubicBezTo>
                  <a:pt x="82876" y="77794"/>
                  <a:pt x="87002" y="73668"/>
                  <a:pt x="92085" y="73668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57" name="Text 44"/>
          <p:cNvSpPr/>
          <p:nvPr/>
        </p:nvSpPr>
        <p:spPr>
          <a:xfrm>
            <a:off x="799300" y="4581208"/>
            <a:ext cx="512173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生成漏洞代码</a:t>
            </a:r>
            <a:endParaRPr lang="en-US" sz="12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8" name="Text 45"/>
          <p:cNvSpPr/>
          <p:nvPr/>
        </p:nvSpPr>
        <p:spPr>
          <a:xfrm>
            <a:off x="561716" y="4839045"/>
            <a:ext cx="5350115" cy="174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可能生成包含</a:t>
            </a:r>
            <a:r>
              <a:rPr lang="en-US" sz="1200" dirty="0">
                <a:solidFill>
                  <a:schemeClr val="tx1"/>
                </a:solidFill>
                <a:highlight>
                  <a:srgbClr val="5F6B7A">
                    <a:alpha val="2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OWASP十大安全漏洞 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的高风险代码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Shape 46"/>
          <p:cNvSpPr/>
          <p:nvPr/>
        </p:nvSpPr>
        <p:spPr>
          <a:xfrm>
            <a:off x="488048" y="5145227"/>
            <a:ext cx="5432991" cy="580133"/>
          </a:xfrm>
          <a:custGeom>
            <a:avLst/>
            <a:gdLst/>
            <a:ahLst/>
            <a:cxnLst/>
            <a:rect l="l" t="t" r="r" b="b"/>
            <a:pathLst>
              <a:path w="5432991" h="580133">
                <a:moveTo>
                  <a:pt x="73665" y="0"/>
                </a:moveTo>
                <a:lnTo>
                  <a:pt x="5359326" y="0"/>
                </a:lnTo>
                <a:cubicBezTo>
                  <a:pt x="5400010" y="0"/>
                  <a:pt x="5432991" y="32981"/>
                  <a:pt x="5432991" y="73665"/>
                </a:cubicBezTo>
                <a:lnTo>
                  <a:pt x="5432991" y="506468"/>
                </a:lnTo>
                <a:cubicBezTo>
                  <a:pt x="5432991" y="547152"/>
                  <a:pt x="5400010" y="580133"/>
                  <a:pt x="5359326" y="580133"/>
                </a:cubicBezTo>
                <a:lnTo>
                  <a:pt x="73665" y="580133"/>
                </a:lnTo>
                <a:cubicBezTo>
                  <a:pt x="32981" y="580133"/>
                  <a:pt x="0" y="547152"/>
                  <a:pt x="0" y="506468"/>
                </a:cubicBezTo>
                <a:lnTo>
                  <a:pt x="0" y="73665"/>
                </a:lnTo>
                <a:cubicBezTo>
                  <a:pt x="0" y="33008"/>
                  <a:pt x="33008" y="0"/>
                  <a:pt x="73665" y="0"/>
                </a:cubicBezTo>
                <a:close/>
              </a:path>
            </a:pathLst>
          </a:custGeom>
          <a:solidFill>
            <a:srgbClr val="C00000">
              <a:alpha val="10000"/>
            </a:srgbClr>
          </a:solidFill>
        </p:spPr>
      </p:sp>
      <p:sp>
        <p:nvSpPr>
          <p:cNvPr id="60" name="Shape 47"/>
          <p:cNvSpPr/>
          <p:nvPr/>
        </p:nvSpPr>
        <p:spPr>
          <a:xfrm>
            <a:off x="580133" y="5255728"/>
            <a:ext cx="147335" cy="147335"/>
          </a:xfrm>
          <a:custGeom>
            <a:avLst/>
            <a:gdLst/>
            <a:ahLst/>
            <a:cxnLst/>
            <a:rect l="l" t="t" r="r" b="b"/>
            <a:pathLst>
              <a:path w="147335" h="147335">
                <a:moveTo>
                  <a:pt x="96689" y="101293"/>
                </a:moveTo>
                <a:cubicBezTo>
                  <a:pt x="124660" y="101293"/>
                  <a:pt x="147335" y="78617"/>
                  <a:pt x="147335" y="50647"/>
                </a:cubicBezTo>
                <a:cubicBezTo>
                  <a:pt x="147335" y="22676"/>
                  <a:pt x="124660" y="0"/>
                  <a:pt x="96689" y="0"/>
                </a:cubicBezTo>
                <a:cubicBezTo>
                  <a:pt x="68718" y="0"/>
                  <a:pt x="46042" y="22676"/>
                  <a:pt x="46042" y="50647"/>
                </a:cubicBezTo>
                <a:cubicBezTo>
                  <a:pt x="46042" y="56028"/>
                  <a:pt x="46877" y="61236"/>
                  <a:pt x="48431" y="66099"/>
                </a:cubicBezTo>
                <a:lnTo>
                  <a:pt x="2014" y="112516"/>
                </a:lnTo>
                <a:cubicBezTo>
                  <a:pt x="719" y="113811"/>
                  <a:pt x="0" y="115566"/>
                  <a:pt x="0" y="117408"/>
                </a:cubicBezTo>
                <a:lnTo>
                  <a:pt x="0" y="140429"/>
                </a:lnTo>
                <a:cubicBezTo>
                  <a:pt x="0" y="144256"/>
                  <a:pt x="3079" y="147335"/>
                  <a:pt x="6906" y="147335"/>
                </a:cubicBezTo>
                <a:lnTo>
                  <a:pt x="29927" y="147335"/>
                </a:lnTo>
                <a:cubicBezTo>
                  <a:pt x="33755" y="147335"/>
                  <a:pt x="36834" y="144256"/>
                  <a:pt x="36834" y="140429"/>
                </a:cubicBezTo>
                <a:lnTo>
                  <a:pt x="36834" y="128918"/>
                </a:lnTo>
                <a:lnTo>
                  <a:pt x="48344" y="128918"/>
                </a:lnTo>
                <a:cubicBezTo>
                  <a:pt x="52172" y="128918"/>
                  <a:pt x="55251" y="125839"/>
                  <a:pt x="55251" y="122012"/>
                </a:cubicBezTo>
                <a:lnTo>
                  <a:pt x="55251" y="110502"/>
                </a:lnTo>
                <a:lnTo>
                  <a:pt x="66761" y="110502"/>
                </a:lnTo>
                <a:cubicBezTo>
                  <a:pt x="68603" y="110502"/>
                  <a:pt x="70358" y="109782"/>
                  <a:pt x="71653" y="108487"/>
                </a:cubicBezTo>
                <a:lnTo>
                  <a:pt x="81236" y="98905"/>
                </a:lnTo>
                <a:cubicBezTo>
                  <a:pt x="86099" y="100459"/>
                  <a:pt x="91308" y="101293"/>
                  <a:pt x="96689" y="101293"/>
                </a:cubicBezTo>
                <a:close/>
                <a:moveTo>
                  <a:pt x="108199" y="27625"/>
                </a:moveTo>
                <a:cubicBezTo>
                  <a:pt x="114552" y="27625"/>
                  <a:pt x="119710" y="32783"/>
                  <a:pt x="119710" y="39136"/>
                </a:cubicBezTo>
                <a:cubicBezTo>
                  <a:pt x="119710" y="45489"/>
                  <a:pt x="114552" y="50647"/>
                  <a:pt x="108199" y="50647"/>
                </a:cubicBezTo>
                <a:cubicBezTo>
                  <a:pt x="101847" y="50647"/>
                  <a:pt x="96689" y="45489"/>
                  <a:pt x="96689" y="39136"/>
                </a:cubicBezTo>
                <a:cubicBezTo>
                  <a:pt x="96689" y="32783"/>
                  <a:pt x="101847" y="27625"/>
                  <a:pt x="108199" y="27625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61" name="Text 48"/>
          <p:cNvSpPr/>
          <p:nvPr/>
        </p:nvSpPr>
        <p:spPr>
          <a:xfrm>
            <a:off x="799300" y="5218894"/>
            <a:ext cx="512173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泄露敏感信息</a:t>
            </a:r>
            <a:endParaRPr lang="en-US" sz="12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2" name="Text 49"/>
          <p:cNvSpPr/>
          <p:nvPr/>
        </p:nvSpPr>
        <p:spPr>
          <a:xfrm>
            <a:off x="561716" y="5476731"/>
            <a:ext cx="5350115" cy="174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存在泄露训练数据中硬编码密码或API密钥的风险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Shape 50"/>
          <p:cNvSpPr/>
          <p:nvPr/>
        </p:nvSpPr>
        <p:spPr>
          <a:xfrm>
            <a:off x="488048" y="5782912"/>
            <a:ext cx="5432991" cy="589341"/>
          </a:xfrm>
          <a:custGeom>
            <a:avLst/>
            <a:gdLst/>
            <a:ahLst/>
            <a:cxnLst/>
            <a:rect l="l" t="t" r="r" b="b"/>
            <a:pathLst>
              <a:path w="5432991" h="589341">
                <a:moveTo>
                  <a:pt x="73668" y="0"/>
                </a:moveTo>
                <a:lnTo>
                  <a:pt x="5359323" y="0"/>
                </a:lnTo>
                <a:cubicBezTo>
                  <a:pt x="5400009" y="0"/>
                  <a:pt x="5432991" y="32982"/>
                  <a:pt x="5432991" y="73668"/>
                </a:cubicBezTo>
                <a:lnTo>
                  <a:pt x="5432991" y="515674"/>
                </a:lnTo>
                <a:cubicBezTo>
                  <a:pt x="5432991" y="556359"/>
                  <a:pt x="5400009" y="589341"/>
                  <a:pt x="5359323" y="589341"/>
                </a:cubicBezTo>
                <a:lnTo>
                  <a:pt x="73668" y="589341"/>
                </a:lnTo>
                <a:cubicBezTo>
                  <a:pt x="32982" y="589341"/>
                  <a:pt x="0" y="556359"/>
                  <a:pt x="0" y="515674"/>
                </a:cubicBezTo>
                <a:lnTo>
                  <a:pt x="0" y="73668"/>
                </a:lnTo>
                <a:cubicBezTo>
                  <a:pt x="0" y="33009"/>
                  <a:pt x="33009" y="0"/>
                  <a:pt x="73668" y="0"/>
                </a:cubicBezTo>
                <a:close/>
              </a:path>
            </a:pathLst>
          </a:custGeom>
          <a:solidFill>
            <a:srgbClr val="C00000">
              <a:alpha val="10000"/>
            </a:srgbClr>
          </a:solidFill>
        </p:spPr>
      </p:sp>
      <p:sp>
        <p:nvSpPr>
          <p:cNvPr id="64" name="Text 51"/>
          <p:cNvSpPr/>
          <p:nvPr/>
        </p:nvSpPr>
        <p:spPr>
          <a:xfrm>
            <a:off x="561716" y="5874997"/>
            <a:ext cx="1408894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Java代码安全通过率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 52"/>
          <p:cNvSpPr/>
          <p:nvPr/>
        </p:nvSpPr>
        <p:spPr>
          <a:xfrm>
            <a:off x="5387340" y="5856605"/>
            <a:ext cx="558165" cy="257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29%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6" name="Text 53"/>
          <p:cNvSpPr/>
          <p:nvPr/>
        </p:nvSpPr>
        <p:spPr>
          <a:xfrm>
            <a:off x="561716" y="6151251"/>
            <a:ext cx="5340906" cy="147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70" dirty="0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Java表现尤为突出，远低于其他语言</a:t>
            </a:r>
            <a:endParaRPr lang="en-US" sz="970" dirty="0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Shape 54"/>
          <p:cNvSpPr/>
          <p:nvPr/>
        </p:nvSpPr>
        <p:spPr>
          <a:xfrm>
            <a:off x="6157869" y="3876761"/>
            <a:ext cx="5663202" cy="2615202"/>
          </a:xfrm>
          <a:custGeom>
            <a:avLst/>
            <a:gdLst/>
            <a:ahLst/>
            <a:cxnLst/>
            <a:rect l="l" t="t" r="r" b="b"/>
            <a:pathLst>
              <a:path w="5663202" h="2615202">
                <a:moveTo>
                  <a:pt x="110492" y="0"/>
                </a:moveTo>
                <a:lnTo>
                  <a:pt x="5552710" y="0"/>
                </a:lnTo>
                <a:cubicBezTo>
                  <a:pt x="5613733" y="0"/>
                  <a:pt x="5663202" y="49469"/>
                  <a:pt x="5663202" y="110492"/>
                </a:cubicBezTo>
                <a:lnTo>
                  <a:pt x="5663202" y="2504710"/>
                </a:lnTo>
                <a:cubicBezTo>
                  <a:pt x="5663202" y="2565733"/>
                  <a:pt x="5613733" y="2615202"/>
                  <a:pt x="5552710" y="2615202"/>
                </a:cubicBezTo>
                <a:lnTo>
                  <a:pt x="110492" y="2615202"/>
                </a:lnTo>
                <a:cubicBezTo>
                  <a:pt x="49510" y="2615202"/>
                  <a:pt x="0" y="2565692"/>
                  <a:pt x="0" y="2504710"/>
                </a:cubicBezTo>
                <a:lnTo>
                  <a:pt x="0" y="110492"/>
                </a:lnTo>
                <a:cubicBezTo>
                  <a:pt x="0" y="49510"/>
                  <a:pt x="49510" y="0"/>
                  <a:pt x="110492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8" name="Shape 55"/>
          <p:cNvSpPr/>
          <p:nvPr/>
        </p:nvSpPr>
        <p:spPr>
          <a:xfrm>
            <a:off x="6272975" y="3991867"/>
            <a:ext cx="442006" cy="442006"/>
          </a:xfrm>
          <a:custGeom>
            <a:avLst/>
            <a:gdLst/>
            <a:ahLst/>
            <a:cxnLst/>
            <a:rect l="l" t="t" r="r" b="b"/>
            <a:pathLst>
              <a:path w="442006" h="442006">
                <a:moveTo>
                  <a:pt x="221003" y="0"/>
                </a:moveTo>
                <a:lnTo>
                  <a:pt x="221003" y="0"/>
                </a:lnTo>
                <a:cubicBezTo>
                  <a:pt x="343060" y="0"/>
                  <a:pt x="442006" y="98946"/>
                  <a:pt x="442006" y="221003"/>
                </a:cubicBezTo>
                <a:lnTo>
                  <a:pt x="442006" y="221003"/>
                </a:lnTo>
                <a:cubicBezTo>
                  <a:pt x="442006" y="343060"/>
                  <a:pt x="343060" y="442006"/>
                  <a:pt x="221003" y="442006"/>
                </a:cubicBezTo>
                <a:lnTo>
                  <a:pt x="221003" y="442006"/>
                </a:lnTo>
                <a:cubicBezTo>
                  <a:pt x="98946" y="442006"/>
                  <a:pt x="0" y="343060"/>
                  <a:pt x="0" y="221003"/>
                </a:cubicBezTo>
                <a:lnTo>
                  <a:pt x="0" y="221003"/>
                </a:lnTo>
                <a:cubicBezTo>
                  <a:pt x="0" y="98946"/>
                  <a:pt x="98946" y="0"/>
                  <a:pt x="221003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69" name="Shape 56"/>
          <p:cNvSpPr/>
          <p:nvPr/>
        </p:nvSpPr>
        <p:spPr>
          <a:xfrm>
            <a:off x="6413404" y="4120785"/>
            <a:ext cx="161148" cy="184169"/>
          </a:xfrm>
          <a:custGeom>
            <a:avLst/>
            <a:gdLst/>
            <a:ahLst/>
            <a:cxnLst/>
            <a:rect l="l" t="t" r="r" b="b"/>
            <a:pathLst>
              <a:path w="161148" h="184169">
                <a:moveTo>
                  <a:pt x="60431" y="11511"/>
                </a:moveTo>
                <a:lnTo>
                  <a:pt x="8633" y="11511"/>
                </a:lnTo>
                <a:cubicBezTo>
                  <a:pt x="3849" y="11511"/>
                  <a:pt x="0" y="15359"/>
                  <a:pt x="0" y="20144"/>
                </a:cubicBezTo>
                <a:lnTo>
                  <a:pt x="0" y="71941"/>
                </a:lnTo>
                <a:cubicBezTo>
                  <a:pt x="0" y="75430"/>
                  <a:pt x="2086" y="78596"/>
                  <a:pt x="5324" y="79927"/>
                </a:cubicBezTo>
                <a:cubicBezTo>
                  <a:pt x="8561" y="81257"/>
                  <a:pt x="12266" y="80502"/>
                  <a:pt x="14748" y="78056"/>
                </a:cubicBezTo>
                <a:lnTo>
                  <a:pt x="29136" y="63668"/>
                </a:lnTo>
                <a:lnTo>
                  <a:pt x="57553" y="92085"/>
                </a:lnTo>
                <a:lnTo>
                  <a:pt x="29136" y="120501"/>
                </a:lnTo>
                <a:lnTo>
                  <a:pt x="14748" y="106113"/>
                </a:lnTo>
                <a:cubicBezTo>
                  <a:pt x="12266" y="103631"/>
                  <a:pt x="8561" y="102912"/>
                  <a:pt x="5324" y="104243"/>
                </a:cubicBezTo>
                <a:cubicBezTo>
                  <a:pt x="2086" y="105574"/>
                  <a:pt x="0" y="108739"/>
                  <a:pt x="0" y="112228"/>
                </a:cubicBezTo>
                <a:lnTo>
                  <a:pt x="0" y="164026"/>
                </a:lnTo>
                <a:cubicBezTo>
                  <a:pt x="0" y="168810"/>
                  <a:pt x="3849" y="172659"/>
                  <a:pt x="8633" y="172659"/>
                </a:cubicBezTo>
                <a:lnTo>
                  <a:pt x="60431" y="172659"/>
                </a:lnTo>
                <a:cubicBezTo>
                  <a:pt x="63920" y="172659"/>
                  <a:pt x="67085" y="170572"/>
                  <a:pt x="68416" y="167335"/>
                </a:cubicBezTo>
                <a:cubicBezTo>
                  <a:pt x="69747" y="164098"/>
                  <a:pt x="69027" y="160393"/>
                  <a:pt x="66546" y="157911"/>
                </a:cubicBezTo>
                <a:lnTo>
                  <a:pt x="52157" y="143522"/>
                </a:lnTo>
                <a:lnTo>
                  <a:pt x="80574" y="115106"/>
                </a:lnTo>
                <a:lnTo>
                  <a:pt x="108991" y="143522"/>
                </a:lnTo>
                <a:lnTo>
                  <a:pt x="94603" y="157911"/>
                </a:lnTo>
                <a:cubicBezTo>
                  <a:pt x="92121" y="160393"/>
                  <a:pt x="91401" y="164098"/>
                  <a:pt x="92732" y="167335"/>
                </a:cubicBezTo>
                <a:cubicBezTo>
                  <a:pt x="94063" y="170572"/>
                  <a:pt x="97228" y="172659"/>
                  <a:pt x="100718" y="172659"/>
                </a:cubicBezTo>
                <a:lnTo>
                  <a:pt x="152515" y="172659"/>
                </a:lnTo>
                <a:cubicBezTo>
                  <a:pt x="157299" y="172659"/>
                  <a:pt x="161148" y="168810"/>
                  <a:pt x="161148" y="164026"/>
                </a:cubicBezTo>
                <a:lnTo>
                  <a:pt x="161148" y="112228"/>
                </a:lnTo>
                <a:cubicBezTo>
                  <a:pt x="161148" y="108739"/>
                  <a:pt x="159062" y="105574"/>
                  <a:pt x="155824" y="104243"/>
                </a:cubicBezTo>
                <a:cubicBezTo>
                  <a:pt x="152587" y="102912"/>
                  <a:pt x="148882" y="103631"/>
                  <a:pt x="146400" y="106113"/>
                </a:cubicBezTo>
                <a:lnTo>
                  <a:pt x="132012" y="120501"/>
                </a:lnTo>
                <a:lnTo>
                  <a:pt x="103595" y="92085"/>
                </a:lnTo>
                <a:lnTo>
                  <a:pt x="132012" y="63668"/>
                </a:lnTo>
                <a:lnTo>
                  <a:pt x="146400" y="78056"/>
                </a:lnTo>
                <a:cubicBezTo>
                  <a:pt x="148882" y="80538"/>
                  <a:pt x="152587" y="81257"/>
                  <a:pt x="155824" y="79927"/>
                </a:cubicBezTo>
                <a:cubicBezTo>
                  <a:pt x="159062" y="78596"/>
                  <a:pt x="161148" y="75430"/>
                  <a:pt x="161148" y="71941"/>
                </a:cubicBezTo>
                <a:lnTo>
                  <a:pt x="161148" y="20144"/>
                </a:lnTo>
                <a:cubicBezTo>
                  <a:pt x="161148" y="15359"/>
                  <a:pt x="157299" y="11511"/>
                  <a:pt x="152515" y="11511"/>
                </a:cubicBezTo>
                <a:lnTo>
                  <a:pt x="100718" y="11511"/>
                </a:lnTo>
                <a:cubicBezTo>
                  <a:pt x="97228" y="11511"/>
                  <a:pt x="94063" y="13597"/>
                  <a:pt x="92732" y="16834"/>
                </a:cubicBezTo>
                <a:cubicBezTo>
                  <a:pt x="91401" y="20072"/>
                  <a:pt x="92157" y="23777"/>
                  <a:pt x="94603" y="26258"/>
                </a:cubicBezTo>
                <a:lnTo>
                  <a:pt x="108991" y="40647"/>
                </a:lnTo>
                <a:lnTo>
                  <a:pt x="80574" y="69063"/>
                </a:lnTo>
                <a:lnTo>
                  <a:pt x="52157" y="40647"/>
                </a:lnTo>
                <a:lnTo>
                  <a:pt x="66546" y="26258"/>
                </a:lnTo>
                <a:cubicBezTo>
                  <a:pt x="69027" y="23777"/>
                  <a:pt x="69747" y="20072"/>
                  <a:pt x="68416" y="16834"/>
                </a:cubicBezTo>
                <a:cubicBezTo>
                  <a:pt x="67085" y="13597"/>
                  <a:pt x="63920" y="11511"/>
                  <a:pt x="60431" y="11511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70" name="Text 57"/>
          <p:cNvSpPr/>
          <p:nvPr/>
        </p:nvSpPr>
        <p:spPr>
          <a:xfrm>
            <a:off x="6825483" y="3991867"/>
            <a:ext cx="939263" cy="257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泛化能力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71" name="Text 58"/>
          <p:cNvSpPr/>
          <p:nvPr/>
        </p:nvSpPr>
        <p:spPr>
          <a:xfrm>
            <a:off x="6825615" y="4249420"/>
            <a:ext cx="1302385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Generalization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2" name="Shape 59"/>
          <p:cNvSpPr/>
          <p:nvPr/>
        </p:nvSpPr>
        <p:spPr>
          <a:xfrm>
            <a:off x="6272975" y="4507541"/>
            <a:ext cx="5432991" cy="580133"/>
          </a:xfrm>
          <a:custGeom>
            <a:avLst/>
            <a:gdLst/>
            <a:ahLst/>
            <a:cxnLst/>
            <a:rect l="l" t="t" r="r" b="b"/>
            <a:pathLst>
              <a:path w="5432991" h="580133">
                <a:moveTo>
                  <a:pt x="73665" y="0"/>
                </a:moveTo>
                <a:lnTo>
                  <a:pt x="5359326" y="0"/>
                </a:lnTo>
                <a:cubicBezTo>
                  <a:pt x="5400010" y="0"/>
                  <a:pt x="5432991" y="32981"/>
                  <a:pt x="5432991" y="73665"/>
                </a:cubicBezTo>
                <a:lnTo>
                  <a:pt x="5432991" y="506468"/>
                </a:lnTo>
                <a:cubicBezTo>
                  <a:pt x="5432991" y="547152"/>
                  <a:pt x="5400010" y="580133"/>
                  <a:pt x="5359326" y="580133"/>
                </a:cubicBezTo>
                <a:lnTo>
                  <a:pt x="73665" y="580133"/>
                </a:lnTo>
                <a:cubicBezTo>
                  <a:pt x="32981" y="580133"/>
                  <a:pt x="0" y="547152"/>
                  <a:pt x="0" y="506468"/>
                </a:cubicBezTo>
                <a:lnTo>
                  <a:pt x="0" y="73665"/>
                </a:lnTo>
                <a:cubicBezTo>
                  <a:pt x="0" y="33008"/>
                  <a:pt x="33008" y="0"/>
                  <a:pt x="73665" y="0"/>
                </a:cubicBezTo>
                <a:close/>
              </a:path>
            </a:pathLst>
          </a:custGeom>
          <a:solidFill>
            <a:srgbClr val="C00000">
              <a:alpha val="10000"/>
            </a:srgbClr>
          </a:solidFill>
        </p:spPr>
      </p:sp>
      <p:sp>
        <p:nvSpPr>
          <p:cNvPr id="73" name="Shape 60"/>
          <p:cNvSpPr/>
          <p:nvPr/>
        </p:nvSpPr>
        <p:spPr>
          <a:xfrm>
            <a:off x="6365060" y="4618042"/>
            <a:ext cx="147335" cy="147335"/>
          </a:xfrm>
          <a:custGeom>
            <a:avLst/>
            <a:gdLst/>
            <a:ahLst/>
            <a:cxnLst/>
            <a:rect l="l" t="t" r="r" b="b"/>
            <a:pathLst>
              <a:path w="147335" h="147335">
                <a:moveTo>
                  <a:pt x="73668" y="147335"/>
                </a:moveTo>
                <a:cubicBezTo>
                  <a:pt x="114326" y="147335"/>
                  <a:pt x="147335" y="114326"/>
                  <a:pt x="147335" y="73668"/>
                </a:cubicBezTo>
                <a:cubicBezTo>
                  <a:pt x="147335" y="33009"/>
                  <a:pt x="114326" y="0"/>
                  <a:pt x="73668" y="0"/>
                </a:cubicBezTo>
                <a:cubicBezTo>
                  <a:pt x="33009" y="0"/>
                  <a:pt x="0" y="33009"/>
                  <a:pt x="0" y="73668"/>
                </a:cubicBezTo>
                <a:cubicBezTo>
                  <a:pt x="0" y="114326"/>
                  <a:pt x="33009" y="147335"/>
                  <a:pt x="73668" y="147335"/>
                </a:cubicBezTo>
                <a:close/>
                <a:moveTo>
                  <a:pt x="97955" y="61207"/>
                </a:moveTo>
                <a:lnTo>
                  <a:pt x="74934" y="98041"/>
                </a:lnTo>
                <a:cubicBezTo>
                  <a:pt x="73725" y="99969"/>
                  <a:pt x="71653" y="101178"/>
                  <a:pt x="69380" y="101293"/>
                </a:cubicBezTo>
                <a:cubicBezTo>
                  <a:pt x="67107" y="101408"/>
                  <a:pt x="64920" y="100372"/>
                  <a:pt x="63567" y="98531"/>
                </a:cubicBezTo>
                <a:lnTo>
                  <a:pt x="49754" y="80114"/>
                </a:lnTo>
                <a:cubicBezTo>
                  <a:pt x="47452" y="77063"/>
                  <a:pt x="48085" y="72747"/>
                  <a:pt x="51136" y="70445"/>
                </a:cubicBezTo>
                <a:cubicBezTo>
                  <a:pt x="54186" y="68143"/>
                  <a:pt x="58502" y="68776"/>
                  <a:pt x="60805" y="71826"/>
                </a:cubicBezTo>
                <a:lnTo>
                  <a:pt x="68574" y="82185"/>
                </a:lnTo>
                <a:lnTo>
                  <a:pt x="86243" y="53898"/>
                </a:lnTo>
                <a:cubicBezTo>
                  <a:pt x="88257" y="50675"/>
                  <a:pt x="92516" y="49668"/>
                  <a:pt x="95768" y="51711"/>
                </a:cubicBezTo>
                <a:cubicBezTo>
                  <a:pt x="99020" y="53754"/>
                  <a:pt x="99998" y="57985"/>
                  <a:pt x="97955" y="6123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4" name="Text 61"/>
          <p:cNvSpPr/>
          <p:nvPr/>
        </p:nvSpPr>
        <p:spPr>
          <a:xfrm>
            <a:off x="6584227" y="4581208"/>
            <a:ext cx="512173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分布内任务</a:t>
            </a:r>
            <a:endParaRPr lang="en-US" sz="12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5" name="Text 62"/>
          <p:cNvSpPr/>
          <p:nvPr/>
        </p:nvSpPr>
        <p:spPr>
          <a:xfrm>
            <a:off x="6346643" y="4839045"/>
            <a:ext cx="5350115" cy="174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在训练数据频繁出现的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常见编程任务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上表现出色，能快速生成标准代码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6" name="Shape 63"/>
          <p:cNvSpPr/>
          <p:nvPr/>
        </p:nvSpPr>
        <p:spPr>
          <a:xfrm>
            <a:off x="6272975" y="5145227"/>
            <a:ext cx="5432991" cy="580133"/>
          </a:xfrm>
          <a:custGeom>
            <a:avLst/>
            <a:gdLst/>
            <a:ahLst/>
            <a:cxnLst/>
            <a:rect l="l" t="t" r="r" b="b"/>
            <a:pathLst>
              <a:path w="5432991" h="580133">
                <a:moveTo>
                  <a:pt x="73665" y="0"/>
                </a:moveTo>
                <a:lnTo>
                  <a:pt x="5359326" y="0"/>
                </a:lnTo>
                <a:cubicBezTo>
                  <a:pt x="5400010" y="0"/>
                  <a:pt x="5432991" y="32981"/>
                  <a:pt x="5432991" y="73665"/>
                </a:cubicBezTo>
                <a:lnTo>
                  <a:pt x="5432991" y="506468"/>
                </a:lnTo>
                <a:cubicBezTo>
                  <a:pt x="5432991" y="547152"/>
                  <a:pt x="5400010" y="580133"/>
                  <a:pt x="5359326" y="580133"/>
                </a:cubicBezTo>
                <a:lnTo>
                  <a:pt x="73665" y="580133"/>
                </a:lnTo>
                <a:cubicBezTo>
                  <a:pt x="32981" y="580133"/>
                  <a:pt x="0" y="547152"/>
                  <a:pt x="0" y="506468"/>
                </a:cubicBezTo>
                <a:lnTo>
                  <a:pt x="0" y="73665"/>
                </a:lnTo>
                <a:cubicBezTo>
                  <a:pt x="0" y="33008"/>
                  <a:pt x="33008" y="0"/>
                  <a:pt x="73665" y="0"/>
                </a:cubicBezTo>
                <a:close/>
              </a:path>
            </a:pathLst>
          </a:custGeom>
          <a:solidFill>
            <a:srgbClr val="C00000">
              <a:alpha val="10000"/>
            </a:srgbClr>
          </a:solidFill>
        </p:spPr>
      </p:sp>
      <p:sp>
        <p:nvSpPr>
          <p:cNvPr id="77" name="Shape 64"/>
          <p:cNvSpPr/>
          <p:nvPr/>
        </p:nvSpPr>
        <p:spPr>
          <a:xfrm>
            <a:off x="6365060" y="5255728"/>
            <a:ext cx="147335" cy="147335"/>
          </a:xfrm>
          <a:custGeom>
            <a:avLst/>
            <a:gdLst/>
            <a:ahLst/>
            <a:cxnLst/>
            <a:rect l="l" t="t" r="r" b="b"/>
            <a:pathLst>
              <a:path w="147335" h="147335">
                <a:moveTo>
                  <a:pt x="73668" y="147335"/>
                </a:moveTo>
                <a:cubicBezTo>
                  <a:pt x="114326" y="147335"/>
                  <a:pt x="147335" y="114326"/>
                  <a:pt x="147335" y="73668"/>
                </a:cubicBezTo>
                <a:cubicBezTo>
                  <a:pt x="147335" y="33009"/>
                  <a:pt x="114326" y="0"/>
                  <a:pt x="73668" y="0"/>
                </a:cubicBezTo>
                <a:cubicBezTo>
                  <a:pt x="33009" y="0"/>
                  <a:pt x="0" y="33009"/>
                  <a:pt x="0" y="73668"/>
                </a:cubicBezTo>
                <a:cubicBezTo>
                  <a:pt x="0" y="114326"/>
                  <a:pt x="33009" y="147335"/>
                  <a:pt x="73668" y="147335"/>
                </a:cubicBezTo>
                <a:close/>
                <a:moveTo>
                  <a:pt x="48057" y="48057"/>
                </a:moveTo>
                <a:cubicBezTo>
                  <a:pt x="50762" y="45352"/>
                  <a:pt x="55136" y="45352"/>
                  <a:pt x="57812" y="48057"/>
                </a:cubicBezTo>
                <a:lnTo>
                  <a:pt x="73639" y="63884"/>
                </a:lnTo>
                <a:lnTo>
                  <a:pt x="89466" y="48057"/>
                </a:lnTo>
                <a:cubicBezTo>
                  <a:pt x="92171" y="45352"/>
                  <a:pt x="96545" y="45352"/>
                  <a:pt x="99221" y="48057"/>
                </a:cubicBezTo>
                <a:cubicBezTo>
                  <a:pt x="101897" y="50762"/>
                  <a:pt x="101926" y="55136"/>
                  <a:pt x="99221" y="57812"/>
                </a:cubicBezTo>
                <a:lnTo>
                  <a:pt x="83394" y="73639"/>
                </a:lnTo>
                <a:lnTo>
                  <a:pt x="99221" y="89466"/>
                </a:lnTo>
                <a:cubicBezTo>
                  <a:pt x="101926" y="92171"/>
                  <a:pt x="101926" y="96545"/>
                  <a:pt x="99221" y="99221"/>
                </a:cubicBezTo>
                <a:cubicBezTo>
                  <a:pt x="96516" y="101897"/>
                  <a:pt x="92142" y="101926"/>
                  <a:pt x="89466" y="99221"/>
                </a:cubicBezTo>
                <a:lnTo>
                  <a:pt x="73639" y="83394"/>
                </a:lnTo>
                <a:lnTo>
                  <a:pt x="57812" y="99221"/>
                </a:lnTo>
                <a:cubicBezTo>
                  <a:pt x="55107" y="101926"/>
                  <a:pt x="50733" y="101926"/>
                  <a:pt x="48057" y="99221"/>
                </a:cubicBezTo>
                <a:cubicBezTo>
                  <a:pt x="45380" y="96516"/>
                  <a:pt x="45352" y="92142"/>
                  <a:pt x="48057" y="89466"/>
                </a:cubicBezTo>
                <a:lnTo>
                  <a:pt x="63884" y="73639"/>
                </a:lnTo>
                <a:lnTo>
                  <a:pt x="48057" y="57812"/>
                </a:lnTo>
                <a:cubicBezTo>
                  <a:pt x="45352" y="55107"/>
                  <a:pt x="45352" y="50733"/>
                  <a:pt x="48057" y="48057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8" name="Text 65"/>
          <p:cNvSpPr/>
          <p:nvPr/>
        </p:nvSpPr>
        <p:spPr>
          <a:xfrm>
            <a:off x="6584227" y="5218894"/>
            <a:ext cx="512173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分布外任务</a:t>
            </a:r>
            <a:endParaRPr lang="en-US" sz="12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9" name="Text 66"/>
          <p:cNvSpPr/>
          <p:nvPr/>
        </p:nvSpPr>
        <p:spPr>
          <a:xfrm>
            <a:off x="6346643" y="5476731"/>
            <a:ext cx="5350115" cy="174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面对</a:t>
            </a:r>
            <a:r>
              <a:rPr lang="en-US" sz="1200" dirty="0">
                <a:solidFill>
                  <a:schemeClr val="tx1"/>
                </a:solidFill>
                <a:highlight>
                  <a:srgbClr val="4A6D8C">
                    <a:alpha val="2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新颖、少见 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或需要创造性思路的问题，往往束手无策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Shape 67"/>
          <p:cNvSpPr/>
          <p:nvPr/>
        </p:nvSpPr>
        <p:spPr>
          <a:xfrm>
            <a:off x="6272975" y="5782912"/>
            <a:ext cx="5432991" cy="580133"/>
          </a:xfrm>
          <a:custGeom>
            <a:avLst/>
            <a:gdLst/>
            <a:ahLst/>
            <a:cxnLst/>
            <a:rect l="l" t="t" r="r" b="b"/>
            <a:pathLst>
              <a:path w="5432991" h="580133">
                <a:moveTo>
                  <a:pt x="73665" y="0"/>
                </a:moveTo>
                <a:lnTo>
                  <a:pt x="5359326" y="0"/>
                </a:lnTo>
                <a:cubicBezTo>
                  <a:pt x="5400010" y="0"/>
                  <a:pt x="5432991" y="32981"/>
                  <a:pt x="5432991" y="73665"/>
                </a:cubicBezTo>
                <a:lnTo>
                  <a:pt x="5432991" y="506468"/>
                </a:lnTo>
                <a:cubicBezTo>
                  <a:pt x="5432991" y="547152"/>
                  <a:pt x="5400010" y="580133"/>
                  <a:pt x="5359326" y="580133"/>
                </a:cubicBezTo>
                <a:lnTo>
                  <a:pt x="73665" y="580133"/>
                </a:lnTo>
                <a:cubicBezTo>
                  <a:pt x="32981" y="580133"/>
                  <a:pt x="0" y="547152"/>
                  <a:pt x="0" y="506468"/>
                </a:cubicBezTo>
                <a:lnTo>
                  <a:pt x="0" y="73665"/>
                </a:lnTo>
                <a:cubicBezTo>
                  <a:pt x="0" y="33008"/>
                  <a:pt x="33008" y="0"/>
                  <a:pt x="73665" y="0"/>
                </a:cubicBezTo>
                <a:close/>
              </a:path>
            </a:pathLst>
          </a:custGeom>
          <a:solidFill>
            <a:srgbClr val="C00000">
              <a:alpha val="10000"/>
            </a:srgbClr>
          </a:solidFill>
        </p:spPr>
      </p:sp>
      <p:sp>
        <p:nvSpPr>
          <p:cNvPr id="81" name="Shape 68"/>
          <p:cNvSpPr/>
          <p:nvPr/>
        </p:nvSpPr>
        <p:spPr>
          <a:xfrm>
            <a:off x="6365060" y="5893414"/>
            <a:ext cx="147335" cy="147335"/>
          </a:xfrm>
          <a:custGeom>
            <a:avLst/>
            <a:gdLst/>
            <a:ahLst/>
            <a:cxnLst/>
            <a:rect l="l" t="t" r="r" b="b"/>
            <a:pathLst>
              <a:path w="147335" h="147335">
                <a:moveTo>
                  <a:pt x="34532" y="16115"/>
                </a:moveTo>
                <a:cubicBezTo>
                  <a:pt x="34532" y="7223"/>
                  <a:pt x="41755" y="0"/>
                  <a:pt x="50647" y="0"/>
                </a:cubicBezTo>
                <a:lnTo>
                  <a:pt x="57553" y="0"/>
                </a:lnTo>
                <a:cubicBezTo>
                  <a:pt x="62646" y="0"/>
                  <a:pt x="66761" y="4115"/>
                  <a:pt x="66761" y="9208"/>
                </a:cubicBezTo>
                <a:lnTo>
                  <a:pt x="66761" y="138127"/>
                </a:lnTo>
                <a:cubicBezTo>
                  <a:pt x="66761" y="143220"/>
                  <a:pt x="62646" y="147335"/>
                  <a:pt x="57553" y="147335"/>
                </a:cubicBezTo>
                <a:lnTo>
                  <a:pt x="48344" y="147335"/>
                </a:lnTo>
                <a:cubicBezTo>
                  <a:pt x="39769" y="147335"/>
                  <a:pt x="32546" y="141465"/>
                  <a:pt x="30503" y="133523"/>
                </a:cubicBezTo>
                <a:cubicBezTo>
                  <a:pt x="30302" y="133523"/>
                  <a:pt x="30129" y="133523"/>
                  <a:pt x="29927" y="133523"/>
                </a:cubicBezTo>
                <a:cubicBezTo>
                  <a:pt x="17208" y="133523"/>
                  <a:pt x="6906" y="123221"/>
                  <a:pt x="6906" y="110502"/>
                </a:cubicBezTo>
                <a:cubicBezTo>
                  <a:pt x="6906" y="105322"/>
                  <a:pt x="8633" y="100545"/>
                  <a:pt x="11511" y="96689"/>
                </a:cubicBezTo>
                <a:cubicBezTo>
                  <a:pt x="5928" y="92487"/>
                  <a:pt x="2302" y="85811"/>
                  <a:pt x="2302" y="78272"/>
                </a:cubicBezTo>
                <a:cubicBezTo>
                  <a:pt x="2302" y="69380"/>
                  <a:pt x="7367" y="61639"/>
                  <a:pt x="14734" y="57812"/>
                </a:cubicBezTo>
                <a:cubicBezTo>
                  <a:pt x="12690" y="54359"/>
                  <a:pt x="11511" y="50330"/>
                  <a:pt x="11511" y="46042"/>
                </a:cubicBezTo>
                <a:cubicBezTo>
                  <a:pt x="11511" y="33323"/>
                  <a:pt x="21813" y="23021"/>
                  <a:pt x="34532" y="23021"/>
                </a:cubicBezTo>
                <a:lnTo>
                  <a:pt x="34532" y="16115"/>
                </a:lnTo>
                <a:close/>
                <a:moveTo>
                  <a:pt x="112804" y="16115"/>
                </a:moveTo>
                <a:lnTo>
                  <a:pt x="112804" y="23021"/>
                </a:lnTo>
                <a:cubicBezTo>
                  <a:pt x="125523" y="23021"/>
                  <a:pt x="135825" y="33323"/>
                  <a:pt x="135825" y="46042"/>
                </a:cubicBezTo>
                <a:cubicBezTo>
                  <a:pt x="135825" y="50359"/>
                  <a:pt x="134645" y="54387"/>
                  <a:pt x="132602" y="57812"/>
                </a:cubicBezTo>
                <a:cubicBezTo>
                  <a:pt x="139997" y="61639"/>
                  <a:pt x="145033" y="69351"/>
                  <a:pt x="145033" y="78272"/>
                </a:cubicBezTo>
                <a:cubicBezTo>
                  <a:pt x="145033" y="85811"/>
                  <a:pt x="141407" y="92487"/>
                  <a:pt x="135825" y="96689"/>
                </a:cubicBezTo>
                <a:cubicBezTo>
                  <a:pt x="138702" y="100545"/>
                  <a:pt x="140429" y="105322"/>
                  <a:pt x="140429" y="110502"/>
                </a:cubicBezTo>
                <a:cubicBezTo>
                  <a:pt x="140429" y="123221"/>
                  <a:pt x="130127" y="133523"/>
                  <a:pt x="117408" y="133523"/>
                </a:cubicBezTo>
                <a:cubicBezTo>
                  <a:pt x="117206" y="133523"/>
                  <a:pt x="117034" y="133523"/>
                  <a:pt x="116832" y="133523"/>
                </a:cubicBezTo>
                <a:cubicBezTo>
                  <a:pt x="114789" y="141465"/>
                  <a:pt x="107566" y="147335"/>
                  <a:pt x="98991" y="147335"/>
                </a:cubicBezTo>
                <a:lnTo>
                  <a:pt x="89782" y="147335"/>
                </a:lnTo>
                <a:cubicBezTo>
                  <a:pt x="84689" y="147335"/>
                  <a:pt x="80574" y="143220"/>
                  <a:pt x="80574" y="138127"/>
                </a:cubicBezTo>
                <a:lnTo>
                  <a:pt x="80574" y="9208"/>
                </a:lnTo>
                <a:cubicBezTo>
                  <a:pt x="80574" y="4115"/>
                  <a:pt x="84689" y="0"/>
                  <a:pt x="89782" y="0"/>
                </a:cubicBezTo>
                <a:lnTo>
                  <a:pt x="96689" y="0"/>
                </a:lnTo>
                <a:cubicBezTo>
                  <a:pt x="105581" y="0"/>
                  <a:pt x="112804" y="7223"/>
                  <a:pt x="112804" y="16115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82" name="Text 69"/>
          <p:cNvSpPr/>
          <p:nvPr/>
        </p:nvSpPr>
        <p:spPr>
          <a:xfrm>
            <a:off x="6584227" y="5856580"/>
            <a:ext cx="512173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根本原因</a:t>
            </a:r>
            <a:endParaRPr lang="en-US" sz="1200" b="1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3" name="Text 70"/>
          <p:cNvSpPr/>
          <p:nvPr/>
        </p:nvSpPr>
        <p:spPr>
          <a:xfrm>
            <a:off x="6346643" y="6114417"/>
            <a:ext cx="5350115" cy="174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模型本质上学习数据中的统计规律，而非真正理解编程逻辑，缺乏抽象推理能力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挑战：正确性</a:t>
            </a:r>
            <a:endParaRPr lang="en-US" sz="1100" dirty="0"/>
          </a:p>
        </p:txBody>
      </p:sp>
      <p:sp>
        <p:nvSpPr>
          <p:cNvPr id="2" name="Shape 3"/>
          <p:cNvSpPr/>
          <p:nvPr/>
        </p:nvSpPr>
        <p:spPr>
          <a:xfrm>
            <a:off x="385763" y="1508443"/>
            <a:ext cx="11420475" cy="1866900"/>
          </a:xfrm>
          <a:custGeom>
            <a:avLst/>
            <a:gdLst/>
            <a:ahLst/>
            <a:cxnLst/>
            <a:rect l="l" t="t" r="r" b="b"/>
            <a:pathLst>
              <a:path w="11420475" h="1866900">
                <a:moveTo>
                  <a:pt x="114292" y="0"/>
                </a:moveTo>
                <a:lnTo>
                  <a:pt x="11306183" y="0"/>
                </a:lnTo>
                <a:cubicBezTo>
                  <a:pt x="11369305" y="0"/>
                  <a:pt x="11420475" y="51170"/>
                  <a:pt x="11420475" y="114292"/>
                </a:cubicBezTo>
                <a:lnTo>
                  <a:pt x="11420475" y="1752608"/>
                </a:lnTo>
                <a:cubicBezTo>
                  <a:pt x="11420475" y="1815730"/>
                  <a:pt x="11369305" y="1866900"/>
                  <a:pt x="11306183" y="1866900"/>
                </a:cubicBezTo>
                <a:lnTo>
                  <a:pt x="114292" y="1866900"/>
                </a:lnTo>
                <a:cubicBezTo>
                  <a:pt x="51170" y="1866900"/>
                  <a:pt x="0" y="1815730"/>
                  <a:pt x="0" y="175260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516731" y="166560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10" name="Text 5"/>
          <p:cNvSpPr/>
          <p:nvPr/>
        </p:nvSpPr>
        <p:spPr>
          <a:xfrm>
            <a:off x="834390" y="1627505"/>
            <a:ext cx="11039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提升代码生成成功率的辅助工具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504825" y="1970405"/>
            <a:ext cx="3648075" cy="1285875"/>
          </a:xfrm>
          <a:custGeom>
            <a:avLst/>
            <a:gdLst/>
            <a:ahLst/>
            <a:cxnLst/>
            <a:rect l="l" t="t" r="r" b="b"/>
            <a:pathLst>
              <a:path w="3648075" h="1285875">
                <a:moveTo>
                  <a:pt x="76201" y="0"/>
                </a:moveTo>
                <a:lnTo>
                  <a:pt x="3571874" y="0"/>
                </a:lnTo>
                <a:cubicBezTo>
                  <a:pt x="3613959" y="0"/>
                  <a:pt x="3648075" y="34116"/>
                  <a:pt x="3648075" y="76201"/>
                </a:cubicBezTo>
                <a:lnTo>
                  <a:pt x="3648075" y="1209674"/>
                </a:lnTo>
                <a:cubicBezTo>
                  <a:pt x="3648075" y="1251759"/>
                  <a:pt x="3613959" y="1285875"/>
                  <a:pt x="3571874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2" name="Shape 7"/>
          <p:cNvSpPr/>
          <p:nvPr/>
        </p:nvSpPr>
        <p:spPr>
          <a:xfrm>
            <a:off x="619125" y="208470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13" name="Shape 8"/>
          <p:cNvSpPr/>
          <p:nvPr/>
        </p:nvSpPr>
        <p:spPr>
          <a:xfrm>
            <a:off x="726281" y="218948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4724" y="3148"/>
                </a:moveTo>
                <a:cubicBezTo>
                  <a:pt x="110538" y="-1038"/>
                  <a:pt x="103741" y="-1038"/>
                  <a:pt x="99555" y="3148"/>
                </a:cubicBezTo>
                <a:cubicBezTo>
                  <a:pt x="95369" y="7334"/>
                  <a:pt x="95369" y="14131"/>
                  <a:pt x="99555" y="18317"/>
                </a:cubicBezTo>
                <a:lnTo>
                  <a:pt x="102703" y="21431"/>
                </a:lnTo>
                <a:lnTo>
                  <a:pt x="9410" y="114724"/>
                </a:lnTo>
                <a:cubicBezTo>
                  <a:pt x="3382" y="120752"/>
                  <a:pt x="0" y="128922"/>
                  <a:pt x="0" y="137461"/>
                </a:cubicBezTo>
                <a:lnTo>
                  <a:pt x="0" y="139303"/>
                </a:lnTo>
                <a:cubicBezTo>
                  <a:pt x="0" y="157051"/>
                  <a:pt x="14399" y="171450"/>
                  <a:pt x="32147" y="171450"/>
                </a:cubicBezTo>
                <a:lnTo>
                  <a:pt x="33989" y="171450"/>
                </a:lnTo>
                <a:cubicBezTo>
                  <a:pt x="42528" y="171450"/>
                  <a:pt x="50698" y="168068"/>
                  <a:pt x="56726" y="162040"/>
                </a:cubicBezTo>
                <a:lnTo>
                  <a:pt x="150019" y="68747"/>
                </a:lnTo>
                <a:lnTo>
                  <a:pt x="153166" y="71895"/>
                </a:lnTo>
                <a:cubicBezTo>
                  <a:pt x="157352" y="76081"/>
                  <a:pt x="164150" y="76081"/>
                  <a:pt x="168336" y="71895"/>
                </a:cubicBezTo>
                <a:cubicBezTo>
                  <a:pt x="172522" y="67709"/>
                  <a:pt x="172522" y="60912"/>
                  <a:pt x="168336" y="56726"/>
                </a:cubicBezTo>
                <a:lnTo>
                  <a:pt x="114758" y="3148"/>
                </a:lnTo>
                <a:close/>
                <a:moveTo>
                  <a:pt x="68747" y="85725"/>
                </a:moveTo>
                <a:lnTo>
                  <a:pt x="117872" y="36601"/>
                </a:lnTo>
                <a:lnTo>
                  <a:pt x="134849" y="53578"/>
                </a:lnTo>
                <a:lnTo>
                  <a:pt x="102703" y="85725"/>
                </a:lnTo>
                <a:lnTo>
                  <a:pt x="68714" y="85725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14" name="Text 9"/>
          <p:cNvSpPr/>
          <p:nvPr/>
        </p:nvSpPr>
        <p:spPr>
          <a:xfrm>
            <a:off x="1114425" y="2160905"/>
            <a:ext cx="13792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单元测试反馈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19125" y="2541905"/>
            <a:ext cx="348615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自动运行预设测试用例，模型根据失败信息迭代修正，形成闭环验证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33413" y="300386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7" name="Text 12"/>
          <p:cNvSpPr/>
          <p:nvPr/>
        </p:nvSpPr>
        <p:spPr>
          <a:xfrm>
            <a:off x="838200" y="2985135"/>
            <a:ext cx="151257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错误定位 → 自动修复</a:t>
            </a:r>
            <a:endParaRPr lang="en-US" sz="1000" dirty="0">
              <a:solidFill>
                <a:schemeClr val="tx1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270325" y="1970405"/>
            <a:ext cx="3648075" cy="1285875"/>
          </a:xfrm>
          <a:custGeom>
            <a:avLst/>
            <a:gdLst/>
            <a:ahLst/>
            <a:cxnLst/>
            <a:rect l="l" t="t" r="r" b="b"/>
            <a:pathLst>
              <a:path w="3648075" h="1285875">
                <a:moveTo>
                  <a:pt x="76201" y="0"/>
                </a:moveTo>
                <a:lnTo>
                  <a:pt x="3571874" y="0"/>
                </a:lnTo>
                <a:cubicBezTo>
                  <a:pt x="3613959" y="0"/>
                  <a:pt x="3648075" y="34116"/>
                  <a:pt x="3648075" y="76201"/>
                </a:cubicBezTo>
                <a:lnTo>
                  <a:pt x="3648075" y="1209674"/>
                </a:lnTo>
                <a:cubicBezTo>
                  <a:pt x="3648075" y="1251759"/>
                  <a:pt x="3613959" y="1285875"/>
                  <a:pt x="3571874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9" name="Shape 14"/>
          <p:cNvSpPr/>
          <p:nvPr/>
        </p:nvSpPr>
        <p:spPr>
          <a:xfrm>
            <a:off x="4384625" y="208470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20" name="Shape 15"/>
          <p:cNvSpPr/>
          <p:nvPr/>
        </p:nvSpPr>
        <p:spPr>
          <a:xfrm>
            <a:off x="4491782" y="218948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1" name="Text 16"/>
          <p:cNvSpPr/>
          <p:nvPr/>
        </p:nvSpPr>
        <p:spPr>
          <a:xfrm>
            <a:off x="4879975" y="2160905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语法检查与编译反馈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4384625" y="2541905"/>
            <a:ext cx="348615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利用静态分析工具检查语法错误，将编译结果实时反馈给模型进行精准修复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4398913" y="300386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4" name="Text 19"/>
          <p:cNvSpPr/>
          <p:nvPr/>
        </p:nvSpPr>
        <p:spPr>
          <a:xfrm>
            <a:off x="4603750" y="2985135"/>
            <a:ext cx="139255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静态分析 → 实时修复</a:t>
            </a:r>
            <a:endParaRPr lang="en-US" sz="1000" dirty="0">
              <a:solidFill>
                <a:schemeClr val="tx1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8035826" y="1970405"/>
            <a:ext cx="3648075" cy="1285875"/>
          </a:xfrm>
          <a:custGeom>
            <a:avLst/>
            <a:gdLst/>
            <a:ahLst/>
            <a:cxnLst/>
            <a:rect l="l" t="t" r="r" b="b"/>
            <a:pathLst>
              <a:path w="3648075" h="1285875">
                <a:moveTo>
                  <a:pt x="76201" y="0"/>
                </a:moveTo>
                <a:lnTo>
                  <a:pt x="3571874" y="0"/>
                </a:lnTo>
                <a:cubicBezTo>
                  <a:pt x="3613959" y="0"/>
                  <a:pt x="3648075" y="34116"/>
                  <a:pt x="3648075" y="76201"/>
                </a:cubicBezTo>
                <a:lnTo>
                  <a:pt x="3648075" y="1209674"/>
                </a:lnTo>
                <a:cubicBezTo>
                  <a:pt x="3648075" y="1251759"/>
                  <a:pt x="3613959" y="1285875"/>
                  <a:pt x="3571874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26" name="Shape 21"/>
          <p:cNvSpPr/>
          <p:nvPr/>
        </p:nvSpPr>
        <p:spPr>
          <a:xfrm>
            <a:off x="8150126" y="208470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36" name="Shape 22"/>
          <p:cNvSpPr/>
          <p:nvPr/>
        </p:nvSpPr>
        <p:spPr>
          <a:xfrm>
            <a:off x="8246566" y="218948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0045" y="28530"/>
                </a:moveTo>
                <a:lnTo>
                  <a:pt x="51000" y="71929"/>
                </a:lnTo>
                <a:cubicBezTo>
                  <a:pt x="49459" y="73636"/>
                  <a:pt x="49526" y="76282"/>
                  <a:pt x="51167" y="77923"/>
                </a:cubicBezTo>
                <a:cubicBezTo>
                  <a:pt x="61380" y="88136"/>
                  <a:pt x="77956" y="88136"/>
                  <a:pt x="88170" y="77923"/>
                </a:cubicBezTo>
                <a:lnTo>
                  <a:pt x="98818" y="67274"/>
                </a:lnTo>
                <a:cubicBezTo>
                  <a:pt x="100225" y="65868"/>
                  <a:pt x="101999" y="65097"/>
                  <a:pt x="103808" y="64963"/>
                </a:cubicBezTo>
                <a:cubicBezTo>
                  <a:pt x="106085" y="64763"/>
                  <a:pt x="108429" y="65533"/>
                  <a:pt x="110170" y="67274"/>
                </a:cubicBezTo>
                <a:lnTo>
                  <a:pt x="169307" y="125909"/>
                </a:lnTo>
                <a:lnTo>
                  <a:pt x="192881" y="107156"/>
                </a:lnTo>
                <a:lnTo>
                  <a:pt x="192881" y="10716"/>
                </a:lnTo>
                <a:lnTo>
                  <a:pt x="155377" y="32147"/>
                </a:lnTo>
                <a:lnTo>
                  <a:pt x="147407" y="26823"/>
                </a:lnTo>
                <a:cubicBezTo>
                  <a:pt x="142116" y="23306"/>
                  <a:pt x="135921" y="21431"/>
                  <a:pt x="129559" y="21431"/>
                </a:cubicBezTo>
                <a:lnTo>
                  <a:pt x="105984" y="21431"/>
                </a:lnTo>
                <a:cubicBezTo>
                  <a:pt x="105616" y="21431"/>
                  <a:pt x="105214" y="21431"/>
                  <a:pt x="104846" y="21465"/>
                </a:cubicBezTo>
                <a:cubicBezTo>
                  <a:pt x="99187" y="21766"/>
                  <a:pt x="93862" y="24311"/>
                  <a:pt x="90045" y="28530"/>
                </a:cubicBezTo>
                <a:close/>
                <a:moveTo>
                  <a:pt x="39045" y="61180"/>
                </a:moveTo>
                <a:lnTo>
                  <a:pt x="74808" y="21431"/>
                </a:lnTo>
                <a:lnTo>
                  <a:pt x="61548" y="21431"/>
                </a:lnTo>
                <a:cubicBezTo>
                  <a:pt x="53009" y="21431"/>
                  <a:pt x="44838" y="24813"/>
                  <a:pt x="38811" y="30841"/>
                </a:cubicBezTo>
                <a:lnTo>
                  <a:pt x="37505" y="32147"/>
                </a:lnTo>
                <a:lnTo>
                  <a:pt x="0" y="10716"/>
                </a:lnTo>
                <a:lnTo>
                  <a:pt x="0" y="107156"/>
                </a:lnTo>
                <a:lnTo>
                  <a:pt x="52373" y="150789"/>
                </a:lnTo>
                <a:cubicBezTo>
                  <a:pt x="60074" y="157218"/>
                  <a:pt x="69786" y="160734"/>
                  <a:pt x="79798" y="160734"/>
                </a:cubicBezTo>
                <a:lnTo>
                  <a:pt x="85055" y="160734"/>
                </a:lnTo>
                <a:lnTo>
                  <a:pt x="82711" y="158390"/>
                </a:lnTo>
                <a:cubicBezTo>
                  <a:pt x="79564" y="155243"/>
                  <a:pt x="79564" y="150153"/>
                  <a:pt x="82711" y="147038"/>
                </a:cubicBezTo>
                <a:cubicBezTo>
                  <a:pt x="85859" y="143924"/>
                  <a:pt x="90949" y="143891"/>
                  <a:pt x="94063" y="147038"/>
                </a:cubicBezTo>
                <a:lnTo>
                  <a:pt x="107792" y="160768"/>
                </a:lnTo>
                <a:lnTo>
                  <a:pt x="110806" y="160768"/>
                </a:lnTo>
                <a:cubicBezTo>
                  <a:pt x="117202" y="160768"/>
                  <a:pt x="123464" y="159328"/>
                  <a:pt x="129157" y="156649"/>
                </a:cubicBezTo>
                <a:lnTo>
                  <a:pt x="120216" y="147675"/>
                </a:lnTo>
                <a:cubicBezTo>
                  <a:pt x="117068" y="144527"/>
                  <a:pt x="117068" y="139437"/>
                  <a:pt x="120216" y="136323"/>
                </a:cubicBezTo>
                <a:cubicBezTo>
                  <a:pt x="123364" y="133209"/>
                  <a:pt x="128454" y="133175"/>
                  <a:pt x="131568" y="136323"/>
                </a:cubicBezTo>
                <a:lnTo>
                  <a:pt x="142283" y="147038"/>
                </a:lnTo>
                <a:lnTo>
                  <a:pt x="148144" y="141178"/>
                </a:lnTo>
                <a:cubicBezTo>
                  <a:pt x="151124" y="138198"/>
                  <a:pt x="151994" y="133878"/>
                  <a:pt x="150688" y="130094"/>
                </a:cubicBezTo>
                <a:lnTo>
                  <a:pt x="104511" y="84285"/>
                </a:lnTo>
                <a:lnTo>
                  <a:pt x="99521" y="89275"/>
                </a:lnTo>
                <a:cubicBezTo>
                  <a:pt x="83013" y="105783"/>
                  <a:pt x="56291" y="105783"/>
                  <a:pt x="39782" y="89275"/>
                </a:cubicBezTo>
                <a:cubicBezTo>
                  <a:pt x="32080" y="81573"/>
                  <a:pt x="31779" y="69216"/>
                  <a:pt x="39045" y="6114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37" name="Text 23"/>
          <p:cNvSpPr/>
          <p:nvPr/>
        </p:nvSpPr>
        <p:spPr>
          <a:xfrm>
            <a:off x="8645525" y="2160905"/>
            <a:ext cx="15265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交互式编程协作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38" name="Text 24"/>
          <p:cNvSpPr/>
          <p:nvPr/>
        </p:nvSpPr>
        <p:spPr>
          <a:xfrm>
            <a:off x="8150126" y="2541905"/>
            <a:ext cx="348615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在IDE中实现实时交互，根据上下文动态补全，构建高效的"人机协作"模式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Shape 25"/>
          <p:cNvSpPr/>
          <p:nvPr/>
        </p:nvSpPr>
        <p:spPr>
          <a:xfrm>
            <a:off x="8164413" y="300386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0" name="Text 26"/>
          <p:cNvSpPr/>
          <p:nvPr/>
        </p:nvSpPr>
        <p:spPr>
          <a:xfrm>
            <a:off x="8369300" y="2985135"/>
            <a:ext cx="147891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实时交互 → 动态补全</a:t>
            </a:r>
            <a:endParaRPr lang="en-US" sz="1000" dirty="0">
              <a:solidFill>
                <a:schemeClr val="tx1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Shape 27"/>
          <p:cNvSpPr/>
          <p:nvPr/>
        </p:nvSpPr>
        <p:spPr>
          <a:xfrm>
            <a:off x="385763" y="3696335"/>
            <a:ext cx="11420475" cy="1866900"/>
          </a:xfrm>
          <a:custGeom>
            <a:avLst/>
            <a:gdLst/>
            <a:ahLst/>
            <a:cxnLst/>
            <a:rect l="l" t="t" r="r" b="b"/>
            <a:pathLst>
              <a:path w="11420475" h="1866900">
                <a:moveTo>
                  <a:pt x="114292" y="0"/>
                </a:moveTo>
                <a:lnTo>
                  <a:pt x="11306183" y="0"/>
                </a:lnTo>
                <a:cubicBezTo>
                  <a:pt x="11369305" y="0"/>
                  <a:pt x="11420475" y="51170"/>
                  <a:pt x="11420475" y="114292"/>
                </a:cubicBezTo>
                <a:lnTo>
                  <a:pt x="11420475" y="1752608"/>
                </a:lnTo>
                <a:cubicBezTo>
                  <a:pt x="11420475" y="1815730"/>
                  <a:pt x="11369305" y="1866900"/>
                  <a:pt x="11306183" y="1866900"/>
                </a:cubicBezTo>
                <a:lnTo>
                  <a:pt x="114292" y="1866900"/>
                </a:lnTo>
                <a:cubicBezTo>
                  <a:pt x="51170" y="1866900"/>
                  <a:pt x="0" y="1815730"/>
                  <a:pt x="0" y="175260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2" name="Shape 28"/>
          <p:cNvSpPr/>
          <p:nvPr/>
        </p:nvSpPr>
        <p:spPr>
          <a:xfrm>
            <a:off x="528638" y="385349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3" name="Text 29"/>
          <p:cNvSpPr/>
          <p:nvPr/>
        </p:nvSpPr>
        <p:spPr>
          <a:xfrm>
            <a:off x="834390" y="3815398"/>
            <a:ext cx="11039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未来发展方向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4" name="Shape 30"/>
          <p:cNvSpPr/>
          <p:nvPr/>
        </p:nvSpPr>
        <p:spPr>
          <a:xfrm>
            <a:off x="504825" y="4158298"/>
            <a:ext cx="2714625" cy="1285875"/>
          </a:xfrm>
          <a:custGeom>
            <a:avLst/>
            <a:gdLst/>
            <a:ahLst/>
            <a:cxnLst/>
            <a:rect l="l" t="t" r="r" b="b"/>
            <a:pathLst>
              <a:path w="2714625" h="1285875">
                <a:moveTo>
                  <a:pt x="76201" y="0"/>
                </a:moveTo>
                <a:lnTo>
                  <a:pt x="2638424" y="0"/>
                </a:lnTo>
                <a:cubicBezTo>
                  <a:pt x="2680509" y="0"/>
                  <a:pt x="2714625" y="34116"/>
                  <a:pt x="2714625" y="76201"/>
                </a:cubicBezTo>
                <a:lnTo>
                  <a:pt x="2714625" y="1209674"/>
                </a:lnTo>
                <a:cubicBezTo>
                  <a:pt x="2714625" y="1251759"/>
                  <a:pt x="2680509" y="1285875"/>
                  <a:pt x="2638424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45" name="Shape 31"/>
          <p:cNvSpPr/>
          <p:nvPr/>
        </p:nvSpPr>
        <p:spPr>
          <a:xfrm>
            <a:off x="619125" y="427259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46" name="Shape 32"/>
          <p:cNvSpPr/>
          <p:nvPr/>
        </p:nvSpPr>
        <p:spPr>
          <a:xfrm>
            <a:off x="715566" y="437737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32147"/>
                </a:moveTo>
                <a:cubicBezTo>
                  <a:pt x="32147" y="20326"/>
                  <a:pt x="41757" y="10716"/>
                  <a:pt x="53578" y="10716"/>
                </a:cubicBezTo>
                <a:lnTo>
                  <a:pt x="160734" y="10716"/>
                </a:lnTo>
                <a:cubicBezTo>
                  <a:pt x="172555" y="10716"/>
                  <a:pt x="182166" y="20326"/>
                  <a:pt x="182166" y="32147"/>
                </a:cubicBezTo>
                <a:lnTo>
                  <a:pt x="182166" y="117872"/>
                </a:lnTo>
                <a:cubicBezTo>
                  <a:pt x="182166" y="129693"/>
                  <a:pt x="172555" y="139303"/>
                  <a:pt x="160734" y="139303"/>
                </a:cubicBezTo>
                <a:lnTo>
                  <a:pt x="53578" y="139303"/>
                </a:lnTo>
                <a:cubicBezTo>
                  <a:pt x="41757" y="139303"/>
                  <a:pt x="32147" y="129693"/>
                  <a:pt x="32147" y="117872"/>
                </a:cubicBezTo>
                <a:lnTo>
                  <a:pt x="32147" y="32147"/>
                </a:lnTo>
                <a:close/>
                <a:moveTo>
                  <a:pt x="8037" y="42863"/>
                </a:moveTo>
                <a:cubicBezTo>
                  <a:pt x="12490" y="42863"/>
                  <a:pt x="16073" y="46446"/>
                  <a:pt x="16073" y="50899"/>
                </a:cubicBezTo>
                <a:lnTo>
                  <a:pt x="16073" y="150019"/>
                </a:lnTo>
                <a:cubicBezTo>
                  <a:pt x="16073" y="152966"/>
                  <a:pt x="18484" y="155377"/>
                  <a:pt x="21431" y="155377"/>
                </a:cubicBezTo>
                <a:lnTo>
                  <a:pt x="141982" y="155377"/>
                </a:lnTo>
                <a:cubicBezTo>
                  <a:pt x="146436" y="155377"/>
                  <a:pt x="150019" y="158960"/>
                  <a:pt x="150019" y="163413"/>
                </a:cubicBezTo>
                <a:cubicBezTo>
                  <a:pt x="150019" y="167867"/>
                  <a:pt x="146436" y="171450"/>
                  <a:pt x="141982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50899"/>
                </a:lnTo>
                <a:cubicBezTo>
                  <a:pt x="0" y="46446"/>
                  <a:pt x="3583" y="42863"/>
                  <a:pt x="8037" y="42863"/>
                </a:cubicBezTo>
                <a:close/>
                <a:moveTo>
                  <a:pt x="64294" y="53578"/>
                </a:moveTo>
                <a:cubicBezTo>
                  <a:pt x="70208" y="53578"/>
                  <a:pt x="75009" y="48777"/>
                  <a:pt x="75009" y="42863"/>
                </a:cubicBezTo>
                <a:cubicBezTo>
                  <a:pt x="75009" y="36948"/>
                  <a:pt x="70208" y="32147"/>
                  <a:pt x="64294" y="32147"/>
                </a:cubicBezTo>
                <a:cubicBezTo>
                  <a:pt x="58380" y="32147"/>
                  <a:pt x="53578" y="36948"/>
                  <a:pt x="53578" y="42863"/>
                </a:cubicBezTo>
                <a:cubicBezTo>
                  <a:pt x="53578" y="48777"/>
                  <a:pt x="58380" y="53578"/>
                  <a:pt x="64294" y="53578"/>
                </a:cubicBezTo>
                <a:close/>
                <a:moveTo>
                  <a:pt x="130094" y="57429"/>
                </a:moveTo>
                <a:cubicBezTo>
                  <a:pt x="128621" y="55052"/>
                  <a:pt x="126043" y="53578"/>
                  <a:pt x="123230" y="53578"/>
                </a:cubicBezTo>
                <a:cubicBezTo>
                  <a:pt x="120417" y="53578"/>
                  <a:pt x="117838" y="55052"/>
                  <a:pt x="116365" y="57429"/>
                </a:cubicBezTo>
                <a:lnTo>
                  <a:pt x="97512" y="88270"/>
                </a:lnTo>
                <a:lnTo>
                  <a:pt x="89308" y="78023"/>
                </a:lnTo>
                <a:cubicBezTo>
                  <a:pt x="87768" y="76114"/>
                  <a:pt x="85491" y="75009"/>
                  <a:pt x="83046" y="75009"/>
                </a:cubicBezTo>
                <a:cubicBezTo>
                  <a:pt x="80602" y="75009"/>
                  <a:pt x="78291" y="76114"/>
                  <a:pt x="76784" y="78023"/>
                </a:cubicBezTo>
                <a:lnTo>
                  <a:pt x="55353" y="104812"/>
                </a:lnTo>
                <a:cubicBezTo>
                  <a:pt x="53411" y="107223"/>
                  <a:pt x="53042" y="110538"/>
                  <a:pt x="54382" y="113318"/>
                </a:cubicBezTo>
                <a:cubicBezTo>
                  <a:pt x="55721" y="116097"/>
                  <a:pt x="58534" y="117872"/>
                  <a:pt x="61615" y="117872"/>
                </a:cubicBezTo>
                <a:lnTo>
                  <a:pt x="152698" y="117872"/>
                </a:lnTo>
                <a:cubicBezTo>
                  <a:pt x="155611" y="117872"/>
                  <a:pt x="158290" y="116298"/>
                  <a:pt x="159696" y="113753"/>
                </a:cubicBezTo>
                <a:cubicBezTo>
                  <a:pt x="161103" y="111208"/>
                  <a:pt x="161069" y="108127"/>
                  <a:pt x="159529" y="105616"/>
                </a:cubicBezTo>
                <a:lnTo>
                  <a:pt x="130061" y="57396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47" name="Text 33"/>
          <p:cNvSpPr/>
          <p:nvPr/>
        </p:nvSpPr>
        <p:spPr>
          <a:xfrm>
            <a:off x="1114425" y="4349115"/>
            <a:ext cx="115443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多模态能力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8" name="Text 34"/>
          <p:cNvSpPr/>
          <p:nvPr/>
        </p:nvSpPr>
        <p:spPr>
          <a:xfrm>
            <a:off x="619125" y="4729798"/>
            <a:ext cx="25527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结合图像生成前端代码，实现从设计稿到代码的自动转换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9" name="Shape 35"/>
          <p:cNvSpPr/>
          <p:nvPr/>
        </p:nvSpPr>
        <p:spPr>
          <a:xfrm>
            <a:off x="633413" y="519176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50" name="Text 36"/>
          <p:cNvSpPr/>
          <p:nvPr/>
        </p:nvSpPr>
        <p:spPr>
          <a:xfrm>
            <a:off x="838200" y="5172710"/>
            <a:ext cx="136334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UI设计 → 代码生成</a:t>
            </a:r>
            <a:endParaRPr lang="en-US" sz="1000" dirty="0">
              <a:solidFill>
                <a:schemeClr val="tx1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Shape 37"/>
          <p:cNvSpPr/>
          <p:nvPr/>
        </p:nvSpPr>
        <p:spPr>
          <a:xfrm>
            <a:off x="3328988" y="4158298"/>
            <a:ext cx="2714625" cy="1285875"/>
          </a:xfrm>
          <a:custGeom>
            <a:avLst/>
            <a:gdLst/>
            <a:ahLst/>
            <a:cxnLst/>
            <a:rect l="l" t="t" r="r" b="b"/>
            <a:pathLst>
              <a:path w="2714625" h="1285875">
                <a:moveTo>
                  <a:pt x="76201" y="0"/>
                </a:moveTo>
                <a:lnTo>
                  <a:pt x="2638424" y="0"/>
                </a:lnTo>
                <a:cubicBezTo>
                  <a:pt x="2680509" y="0"/>
                  <a:pt x="2714625" y="34116"/>
                  <a:pt x="2714625" y="76201"/>
                </a:cubicBezTo>
                <a:lnTo>
                  <a:pt x="2714625" y="1209674"/>
                </a:lnTo>
                <a:cubicBezTo>
                  <a:pt x="2714625" y="1251759"/>
                  <a:pt x="2680509" y="1285875"/>
                  <a:pt x="2638424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52" name="Shape 38"/>
          <p:cNvSpPr/>
          <p:nvPr/>
        </p:nvSpPr>
        <p:spPr>
          <a:xfrm>
            <a:off x="3443288" y="427259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53" name="Shape 39"/>
          <p:cNvSpPr/>
          <p:nvPr/>
        </p:nvSpPr>
        <p:spPr>
          <a:xfrm>
            <a:off x="3561159" y="437737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53578"/>
                </a:lnTo>
                <a:cubicBezTo>
                  <a:pt x="0" y="59505"/>
                  <a:pt x="4789" y="64294"/>
                  <a:pt x="10716" y="64294"/>
                </a:cubicBezTo>
                <a:cubicBezTo>
                  <a:pt x="16643" y="64294"/>
                  <a:pt x="21431" y="59505"/>
                  <a:pt x="21431" y="53578"/>
                </a:cubicBezTo>
                <a:lnTo>
                  <a:pt x="21431" y="32147"/>
                </a:lnTo>
                <a:lnTo>
                  <a:pt x="42863" y="32147"/>
                </a:lnTo>
                <a:cubicBezTo>
                  <a:pt x="48790" y="32147"/>
                  <a:pt x="53578" y="27358"/>
                  <a:pt x="53578" y="21431"/>
                </a:cubicBezTo>
                <a:cubicBezTo>
                  <a:pt x="53578" y="15504"/>
                  <a:pt x="48790" y="10716"/>
                  <a:pt x="42863" y="10716"/>
                </a:cubicBezTo>
                <a:lnTo>
                  <a:pt x="10716" y="10716"/>
                </a:lnTo>
                <a:close/>
                <a:moveTo>
                  <a:pt x="21431" y="117872"/>
                </a:moveTo>
                <a:cubicBezTo>
                  <a:pt x="21431" y="111945"/>
                  <a:pt x="16643" y="107156"/>
                  <a:pt x="10716" y="107156"/>
                </a:cubicBezTo>
                <a:cubicBezTo>
                  <a:pt x="4789" y="107156"/>
                  <a:pt x="0" y="111945"/>
                  <a:pt x="0" y="117872"/>
                </a:cubicBezTo>
                <a:lnTo>
                  <a:pt x="0" y="150019"/>
                </a:lnTo>
                <a:cubicBezTo>
                  <a:pt x="0" y="155946"/>
                  <a:pt x="4789" y="160734"/>
                  <a:pt x="10716" y="160734"/>
                </a:cubicBezTo>
                <a:lnTo>
                  <a:pt x="42863" y="160734"/>
                </a:lnTo>
                <a:cubicBezTo>
                  <a:pt x="48790" y="160734"/>
                  <a:pt x="53578" y="155946"/>
                  <a:pt x="53578" y="150019"/>
                </a:cubicBezTo>
                <a:cubicBezTo>
                  <a:pt x="53578" y="144092"/>
                  <a:pt x="48790" y="139303"/>
                  <a:pt x="42863" y="139303"/>
                </a:cubicBezTo>
                <a:lnTo>
                  <a:pt x="21431" y="139303"/>
                </a:lnTo>
                <a:lnTo>
                  <a:pt x="21431" y="117872"/>
                </a:lnTo>
                <a:close/>
                <a:moveTo>
                  <a:pt x="107156" y="10716"/>
                </a:moveTo>
                <a:cubicBezTo>
                  <a:pt x="101229" y="10716"/>
                  <a:pt x="96441" y="15504"/>
                  <a:pt x="96441" y="21431"/>
                </a:cubicBezTo>
                <a:cubicBezTo>
                  <a:pt x="96441" y="27358"/>
                  <a:pt x="101229" y="32147"/>
                  <a:pt x="107156" y="32147"/>
                </a:cubicBezTo>
                <a:lnTo>
                  <a:pt x="128588" y="32147"/>
                </a:lnTo>
                <a:lnTo>
                  <a:pt x="128588" y="53578"/>
                </a:lnTo>
                <a:cubicBezTo>
                  <a:pt x="128588" y="59505"/>
                  <a:pt x="133376" y="64294"/>
                  <a:pt x="139303" y="64294"/>
                </a:cubicBezTo>
                <a:cubicBezTo>
                  <a:pt x="145230" y="64294"/>
                  <a:pt x="150019" y="59505"/>
                  <a:pt x="150019" y="53578"/>
                </a:cubicBezTo>
                <a:lnTo>
                  <a:pt x="150019" y="21431"/>
                </a:lnTo>
                <a:cubicBezTo>
                  <a:pt x="150019" y="15504"/>
                  <a:pt x="145230" y="10716"/>
                  <a:pt x="139303" y="10716"/>
                </a:cubicBezTo>
                <a:lnTo>
                  <a:pt x="107156" y="10716"/>
                </a:lnTo>
                <a:close/>
                <a:moveTo>
                  <a:pt x="150019" y="117872"/>
                </a:moveTo>
                <a:cubicBezTo>
                  <a:pt x="150019" y="111945"/>
                  <a:pt x="145230" y="107156"/>
                  <a:pt x="139303" y="107156"/>
                </a:cubicBezTo>
                <a:cubicBezTo>
                  <a:pt x="133376" y="107156"/>
                  <a:pt x="128588" y="111945"/>
                  <a:pt x="128588" y="117872"/>
                </a:cubicBezTo>
                <a:lnTo>
                  <a:pt x="128588" y="139303"/>
                </a:lnTo>
                <a:lnTo>
                  <a:pt x="107156" y="139303"/>
                </a:lnTo>
                <a:cubicBezTo>
                  <a:pt x="101229" y="139303"/>
                  <a:pt x="96441" y="144092"/>
                  <a:pt x="96441" y="150019"/>
                </a:cubicBezTo>
                <a:cubicBezTo>
                  <a:pt x="96441" y="155946"/>
                  <a:pt x="101229" y="160734"/>
                  <a:pt x="107156" y="160734"/>
                </a:cubicBezTo>
                <a:lnTo>
                  <a:pt x="139303" y="160734"/>
                </a:lnTo>
                <a:cubicBezTo>
                  <a:pt x="145230" y="160734"/>
                  <a:pt x="150019" y="155946"/>
                  <a:pt x="150019" y="150019"/>
                </a:cubicBezTo>
                <a:lnTo>
                  <a:pt x="150019" y="117872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54" name="Text 40"/>
          <p:cNvSpPr/>
          <p:nvPr/>
        </p:nvSpPr>
        <p:spPr>
          <a:xfrm>
            <a:off x="3938905" y="4349115"/>
            <a:ext cx="1386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长上下文处理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55" name="Text 41"/>
          <p:cNvSpPr/>
          <p:nvPr/>
        </p:nvSpPr>
        <p:spPr>
          <a:xfrm>
            <a:off x="3443288" y="4729798"/>
            <a:ext cx="25527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支持百万级token上下文，处理大型代码库和复杂项目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Shape 42"/>
          <p:cNvSpPr/>
          <p:nvPr/>
        </p:nvSpPr>
        <p:spPr>
          <a:xfrm>
            <a:off x="3457575" y="519176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57" name="Text 43"/>
          <p:cNvSpPr/>
          <p:nvPr/>
        </p:nvSpPr>
        <p:spPr>
          <a:xfrm>
            <a:off x="3662045" y="5172710"/>
            <a:ext cx="136588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2M → 10M+ tokens</a:t>
            </a:r>
            <a:endParaRPr lang="en-US" sz="1000" dirty="0">
              <a:solidFill>
                <a:schemeClr val="tx1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8" name="Shape 44"/>
          <p:cNvSpPr/>
          <p:nvPr/>
        </p:nvSpPr>
        <p:spPr>
          <a:xfrm>
            <a:off x="6153150" y="4158298"/>
            <a:ext cx="2714625" cy="1285875"/>
          </a:xfrm>
          <a:custGeom>
            <a:avLst/>
            <a:gdLst/>
            <a:ahLst/>
            <a:cxnLst/>
            <a:rect l="l" t="t" r="r" b="b"/>
            <a:pathLst>
              <a:path w="2714625" h="1285875">
                <a:moveTo>
                  <a:pt x="76201" y="0"/>
                </a:moveTo>
                <a:lnTo>
                  <a:pt x="2638424" y="0"/>
                </a:lnTo>
                <a:cubicBezTo>
                  <a:pt x="2680509" y="0"/>
                  <a:pt x="2714625" y="34116"/>
                  <a:pt x="2714625" y="76201"/>
                </a:cubicBezTo>
                <a:lnTo>
                  <a:pt x="2714625" y="1209674"/>
                </a:lnTo>
                <a:cubicBezTo>
                  <a:pt x="2714625" y="1251759"/>
                  <a:pt x="2680509" y="1285875"/>
                  <a:pt x="2638424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59" name="Shape 45"/>
          <p:cNvSpPr/>
          <p:nvPr/>
        </p:nvSpPr>
        <p:spPr>
          <a:xfrm>
            <a:off x="6267450" y="427259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60" name="Shape 46"/>
          <p:cNvSpPr/>
          <p:nvPr/>
        </p:nvSpPr>
        <p:spPr>
          <a:xfrm>
            <a:off x="6374606" y="437737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61" name="Text 47"/>
          <p:cNvSpPr/>
          <p:nvPr/>
        </p:nvSpPr>
        <p:spPr>
          <a:xfrm>
            <a:off x="6762750" y="4349115"/>
            <a:ext cx="1273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安全性增强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2" name="Text 48"/>
          <p:cNvSpPr/>
          <p:nvPr/>
        </p:nvSpPr>
        <p:spPr>
          <a:xfrm>
            <a:off x="6267450" y="4729798"/>
            <a:ext cx="25527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自动漏洞检测与修复，提升生成代码的安全性和可靠性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3" name="Shape 49"/>
          <p:cNvSpPr/>
          <p:nvPr/>
        </p:nvSpPr>
        <p:spPr>
          <a:xfrm>
            <a:off x="6281738" y="519176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64" name="Text 50"/>
          <p:cNvSpPr/>
          <p:nvPr/>
        </p:nvSpPr>
        <p:spPr>
          <a:xfrm>
            <a:off x="6486525" y="5172710"/>
            <a:ext cx="147193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55% → 90%+ 安全率</a:t>
            </a:r>
            <a:endParaRPr lang="en-US" sz="1000" dirty="0">
              <a:solidFill>
                <a:schemeClr val="tx1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Shape 51"/>
          <p:cNvSpPr/>
          <p:nvPr/>
        </p:nvSpPr>
        <p:spPr>
          <a:xfrm>
            <a:off x="8977313" y="4158298"/>
            <a:ext cx="2714625" cy="1285875"/>
          </a:xfrm>
          <a:custGeom>
            <a:avLst/>
            <a:gdLst/>
            <a:ahLst/>
            <a:cxnLst/>
            <a:rect l="l" t="t" r="r" b="b"/>
            <a:pathLst>
              <a:path w="2714625" h="1285875">
                <a:moveTo>
                  <a:pt x="76201" y="0"/>
                </a:moveTo>
                <a:lnTo>
                  <a:pt x="2638424" y="0"/>
                </a:lnTo>
                <a:cubicBezTo>
                  <a:pt x="2680509" y="0"/>
                  <a:pt x="2714625" y="34116"/>
                  <a:pt x="2714625" y="76201"/>
                </a:cubicBezTo>
                <a:lnTo>
                  <a:pt x="2714625" y="1209674"/>
                </a:lnTo>
                <a:cubicBezTo>
                  <a:pt x="2714625" y="1251759"/>
                  <a:pt x="2680509" y="1285875"/>
                  <a:pt x="2638424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66" name="Shape 52"/>
          <p:cNvSpPr/>
          <p:nvPr/>
        </p:nvSpPr>
        <p:spPr>
          <a:xfrm>
            <a:off x="9091613" y="427259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00000">
              <a:alpha val="20000"/>
            </a:srgbClr>
          </a:solidFill>
        </p:spPr>
      </p:sp>
      <p:sp>
        <p:nvSpPr>
          <p:cNvPr id="67" name="Shape 53"/>
          <p:cNvSpPr/>
          <p:nvPr/>
        </p:nvSpPr>
        <p:spPr>
          <a:xfrm>
            <a:off x="9198769" y="437737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68" name="Text 54"/>
          <p:cNvSpPr/>
          <p:nvPr/>
        </p:nvSpPr>
        <p:spPr>
          <a:xfrm>
            <a:off x="9587230" y="4349115"/>
            <a:ext cx="125285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领域专用优化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9" name="Text 55"/>
          <p:cNvSpPr/>
          <p:nvPr/>
        </p:nvSpPr>
        <p:spPr>
          <a:xfrm>
            <a:off x="9091613" y="4729798"/>
            <a:ext cx="25527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针对特定编程语言和框架的深度优化，提升专业领域表现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0" name="Shape 56"/>
          <p:cNvSpPr/>
          <p:nvPr/>
        </p:nvSpPr>
        <p:spPr>
          <a:xfrm>
            <a:off x="9105900" y="519176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71" name="Text 57"/>
          <p:cNvSpPr/>
          <p:nvPr/>
        </p:nvSpPr>
        <p:spPr>
          <a:xfrm>
            <a:off x="9311005" y="5172710"/>
            <a:ext cx="127127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 → 垂直领域</a:t>
            </a:r>
            <a:endParaRPr lang="en-US" sz="1000" dirty="0">
              <a:solidFill>
                <a:schemeClr val="tx1">
                  <a:alpha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Shape 58"/>
          <p:cNvSpPr/>
          <p:nvPr/>
        </p:nvSpPr>
        <p:spPr>
          <a:xfrm>
            <a:off x="385763" y="5781358"/>
            <a:ext cx="3724275" cy="657225"/>
          </a:xfrm>
          <a:custGeom>
            <a:avLst/>
            <a:gdLst/>
            <a:ahLst/>
            <a:cxnLst/>
            <a:rect l="l" t="t" r="r" b="b"/>
            <a:pathLst>
              <a:path w="3724275" h="65722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581026"/>
                </a:lnTo>
                <a:cubicBezTo>
                  <a:pt x="3724275" y="623110"/>
                  <a:pt x="3690160" y="657225"/>
                  <a:pt x="36480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3" name="Text 59"/>
          <p:cNvSpPr/>
          <p:nvPr/>
        </p:nvSpPr>
        <p:spPr>
          <a:xfrm>
            <a:off x="419100" y="5862320"/>
            <a:ext cx="3657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2024-2025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4" name="Text 60"/>
          <p:cNvSpPr/>
          <p:nvPr/>
        </p:nvSpPr>
        <p:spPr>
          <a:xfrm>
            <a:off x="433388" y="6167120"/>
            <a:ext cx="3629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多模态突破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5" name="Shape 61"/>
          <p:cNvSpPr/>
          <p:nvPr/>
        </p:nvSpPr>
        <p:spPr>
          <a:xfrm>
            <a:off x="4233863" y="5781358"/>
            <a:ext cx="3724275" cy="657225"/>
          </a:xfrm>
          <a:custGeom>
            <a:avLst/>
            <a:gdLst/>
            <a:ahLst/>
            <a:cxnLst/>
            <a:rect l="l" t="t" r="r" b="b"/>
            <a:pathLst>
              <a:path w="3724275" h="65722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581026"/>
                </a:lnTo>
                <a:cubicBezTo>
                  <a:pt x="3724275" y="623110"/>
                  <a:pt x="3690160" y="657225"/>
                  <a:pt x="36480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" name="Text 62"/>
          <p:cNvSpPr/>
          <p:nvPr/>
        </p:nvSpPr>
        <p:spPr>
          <a:xfrm>
            <a:off x="4267200" y="5862320"/>
            <a:ext cx="3657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2025-2026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7" name="Text 63"/>
          <p:cNvSpPr/>
          <p:nvPr/>
        </p:nvSpPr>
        <p:spPr>
          <a:xfrm>
            <a:off x="4281488" y="6167120"/>
            <a:ext cx="3629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长上下文普及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8" name="Shape 64"/>
          <p:cNvSpPr/>
          <p:nvPr/>
        </p:nvSpPr>
        <p:spPr>
          <a:xfrm>
            <a:off x="8081962" y="5781358"/>
            <a:ext cx="3724275" cy="657225"/>
          </a:xfrm>
          <a:custGeom>
            <a:avLst/>
            <a:gdLst/>
            <a:ahLst/>
            <a:cxnLst/>
            <a:rect l="l" t="t" r="r" b="b"/>
            <a:pathLst>
              <a:path w="3724275" h="65722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581026"/>
                </a:lnTo>
                <a:cubicBezTo>
                  <a:pt x="3724275" y="623110"/>
                  <a:pt x="3690160" y="657225"/>
                  <a:pt x="36480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9" name="Text 65"/>
          <p:cNvSpPr/>
          <p:nvPr/>
        </p:nvSpPr>
        <p:spPr>
          <a:xfrm>
            <a:off x="8115300" y="586232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2026+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0" name="Text 66"/>
          <p:cNvSpPr/>
          <p:nvPr/>
        </p:nvSpPr>
        <p:spPr>
          <a:xfrm>
            <a:off x="8129588" y="6167120"/>
            <a:ext cx="3629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安全性标准化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4" name="图片 3" descr="Lychee定稿_画板 1"/>
          <p:cNvPicPr>
            <a:picLocks noChangeAspect="1"/>
          </p:cNvPicPr>
          <p:nvPr userDrawn="1"/>
        </p:nvPicPr>
        <p:blipFill>
          <a:blip r:embed="rId3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77343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总结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29493" y="1824641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7" name="矩形: 单圆角 61"/>
          <p:cNvSpPr/>
          <p:nvPr/>
        </p:nvSpPr>
        <p:spPr>
          <a:xfrm>
            <a:off x="1045903" y="205186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5903" y="212875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60912" y="1900399"/>
            <a:ext cx="7919595" cy="152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2pPr marL="0" lvl="1" indent="0" fontAlgn="auto">
              <a:lnSpc>
                <a:spcPct val="150000"/>
              </a:lnSpc>
              <a:buFont typeface="Wingdings" panose="05000000000000000000" charset="0"/>
              <a:buNone/>
              <a:defRPr kumimoji="1" sz="200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</a:lstStyle>
          <a:p>
            <a:pPr lvl="1"/>
            <a:r>
              <a:rPr lang="zh-CN" altLang="en-US" sz="1600" dirty="0"/>
              <a:t>核心定位与任务范畴：代码生成是大模型应用中具有特殊属性的任务，涵盖自然语言转代码、代码补全 </a:t>
            </a:r>
            <a:r>
              <a:rPr lang="en-US" altLang="zh-CN" sz="1600" dirty="0"/>
              <a:t>/ </a:t>
            </a:r>
            <a:r>
              <a:rPr lang="zh-CN" altLang="en-US" sz="1600" dirty="0"/>
              <a:t>翻译 </a:t>
            </a:r>
            <a:r>
              <a:rPr lang="en-US" altLang="zh-CN" sz="1600" dirty="0"/>
              <a:t>/ </a:t>
            </a:r>
            <a:r>
              <a:rPr lang="zh-CN" altLang="en-US" sz="1600" dirty="0"/>
              <a:t>重构等子任务，其对语法严格性和语义精确性的要求远超自然语言处理，而代码大模型是经海量源代码预训练 </a:t>
            </a:r>
            <a:r>
              <a:rPr lang="en-US" altLang="zh-CN" sz="1600" dirty="0"/>
              <a:t>/ </a:t>
            </a:r>
            <a:r>
              <a:rPr lang="zh-CN" altLang="en-US" sz="1600" dirty="0"/>
              <a:t>微调的专用模型（如 </a:t>
            </a:r>
            <a:r>
              <a:rPr lang="en-US" altLang="zh-CN" sz="1600" dirty="0"/>
              <a:t>Codex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AlphaCode</a:t>
            </a:r>
            <a:r>
              <a:rPr lang="en-US" altLang="zh-CN" sz="1600" dirty="0"/>
              <a:t> </a:t>
            </a:r>
            <a:r>
              <a:rPr lang="zh-CN" altLang="en-US" sz="1600" dirty="0"/>
              <a:t>等），专为提升此类任务表现而生。</a:t>
            </a:r>
            <a:endParaRPr lang="zh-CN" altLang="en-US" sz="1600" dirty="0"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29493" y="3534647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1" name="矩形: 单圆角 65"/>
          <p:cNvSpPr/>
          <p:nvPr/>
        </p:nvSpPr>
        <p:spPr>
          <a:xfrm>
            <a:off x="1045903" y="374419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5903" y="382108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48192" y="3593014"/>
            <a:ext cx="7919595" cy="280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2pPr marL="0" lvl="1" indent="0" fontAlgn="auto">
              <a:lnSpc>
                <a:spcPct val="150000"/>
              </a:lnSpc>
              <a:buFont typeface="Wingdings" panose="05000000000000000000" charset="0"/>
              <a:buNone/>
              <a:defRPr kumimoji="1" sz="160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</a:lstStyle>
          <a:p>
            <a:pPr lvl="1"/>
            <a:r>
              <a:rPr lang="zh-CN" altLang="en-US" dirty="0"/>
              <a:t>技术演进与核心方法：代码生成范式历经从早期符号方法、统计模型（</a:t>
            </a:r>
            <a:r>
              <a:rPr lang="en-US" altLang="zh-CN" dirty="0"/>
              <a:t>n-gram</a:t>
            </a:r>
            <a:r>
              <a:rPr lang="zh-CN" altLang="en-US" dirty="0"/>
              <a:t>）到现代大模型的跨越式发展，</a:t>
            </a:r>
            <a:r>
              <a:rPr lang="en-US" altLang="zh-CN" dirty="0"/>
              <a:t>GPT </a:t>
            </a:r>
            <a:r>
              <a:rPr lang="zh-CN" altLang="en-US" dirty="0"/>
              <a:t>系列衍生模型（如 </a:t>
            </a:r>
            <a:r>
              <a:rPr lang="en-US" altLang="zh-CN" dirty="0"/>
              <a:t>Codex</a:t>
            </a:r>
            <a:r>
              <a:rPr lang="zh-CN" altLang="en-US" dirty="0"/>
              <a:t>）推动自然语言驱动编程成为现实；核心技术围绕预训练（文本 </a:t>
            </a:r>
            <a:r>
              <a:rPr lang="en-US" altLang="zh-CN" dirty="0"/>
              <a:t>- </a:t>
            </a:r>
            <a:r>
              <a:rPr lang="zh-CN" altLang="en-US" dirty="0"/>
              <a:t>代码混合、跨语言等）、微调与提示（有监督微调、</a:t>
            </a:r>
            <a:r>
              <a:rPr lang="en-US" altLang="zh-CN" dirty="0"/>
              <a:t>few-shot </a:t>
            </a:r>
            <a:r>
              <a:rPr lang="zh-CN" altLang="en-US" dirty="0"/>
              <a:t>提示、指令微调）展开，且需结合单元测试、语法检查等辅助工具提升生成可靠性。</a:t>
            </a:r>
            <a:endParaRPr lang="en-US" altLang="zh-CN" dirty="0"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45903" y="5197895"/>
            <a:ext cx="10100194" cy="1219200"/>
            <a:chOff x="1045903" y="5197895"/>
            <a:chExt cx="10100194" cy="1219200"/>
          </a:xfrm>
        </p:grpSpPr>
        <p:sp>
          <p:nvSpPr>
            <p:cNvPr id="14" name="矩形 13"/>
            <p:cNvSpPr/>
            <p:nvPr/>
          </p:nvSpPr>
          <p:spPr>
            <a:xfrm>
              <a:off x="1829493" y="5197895"/>
              <a:ext cx="9316604" cy="1219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5" name="矩形: 单圆角 69"/>
            <p:cNvSpPr/>
            <p:nvPr/>
          </p:nvSpPr>
          <p:spPr>
            <a:xfrm>
              <a:off x="1045903" y="5407445"/>
              <a:ext cx="1427700" cy="800100"/>
            </a:xfrm>
            <a:prstGeom prst="round1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45903" y="5484330"/>
              <a:ext cx="1231419" cy="646331"/>
            </a:xfrm>
            <a:prstGeom prst="rect">
              <a:avLst/>
            </a:prstGeom>
            <a:solidFill>
              <a:srgbClr val="9B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442912" y="5345830"/>
            <a:ext cx="79195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2pPr marL="0" lvl="1" indent="0" fontAlgn="auto">
              <a:lnSpc>
                <a:spcPct val="150000"/>
              </a:lnSpc>
              <a:buFont typeface="Wingdings" panose="05000000000000000000" charset="0"/>
              <a:buNone/>
              <a:defRPr kumimoji="1" sz="160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</a:lstStyle>
          <a:p>
            <a:r>
              <a:rPr lang="zh-CN" altLang="en-US" b="1" dirty="0"/>
              <a:t>关键挑战与评估标准：代码生成面临正确性、可靠性、安全性、泛化能力四大核心挑战，生成代码需满足编译通过、功能达标等硬性要求；其评估不依赖常规自然语言指标（如 </a:t>
            </a:r>
            <a:r>
              <a:rPr lang="en-US" altLang="zh-CN" b="1" dirty="0"/>
              <a:t>BLEU</a:t>
            </a:r>
            <a:r>
              <a:rPr lang="zh-CN" altLang="en-US" b="1" dirty="0"/>
              <a:t>），而是以功能正确性为核心，</a:t>
            </a:r>
            <a:r>
              <a:rPr lang="en-US" altLang="zh-CN" b="1" dirty="0" err="1"/>
              <a:t>pass@k</a:t>
            </a:r>
            <a:r>
              <a:rPr lang="en-US" altLang="zh-CN" b="1" dirty="0"/>
              <a:t> </a:t>
            </a:r>
            <a:r>
              <a:rPr lang="zh-CN" altLang="en-US" b="1" dirty="0"/>
              <a:t>指标（</a:t>
            </a:r>
            <a:r>
              <a:rPr lang="en-US" altLang="zh-CN" b="1" dirty="0"/>
              <a:t>k </a:t>
            </a:r>
            <a:r>
              <a:rPr lang="zh-CN" altLang="en-US" b="1" dirty="0"/>
              <a:t>次尝试中获得正确解的概率）成为衡量模型实际编程能力的关键标准。</a:t>
            </a:r>
            <a:endParaRPr lang="zh-CN" altLang="en-US" b="1" dirty="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5" name="图片 4" descr="Lychee定稿_画板 1"/>
          <p:cNvPicPr>
            <a:picLocks noChangeAspect="1"/>
          </p:cNvPicPr>
          <p:nvPr userDrawn="1"/>
        </p:nvPicPr>
        <p:blipFill>
          <a:blip r:embed="rId3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72.xml><?xml version="1.0" encoding="utf-8"?>
<p:tagLst xmlns:p="http://schemas.openxmlformats.org/presentationml/2006/main">
  <p:tag name="KSO_WM_DIAGRAM_VIRTUALLY_FRAME" val="{&quot;height&quot;:372.8,&quot;left&quot;:82.35456692913385,&quot;top&quot;:145.06433070866143,&quot;width&quot;:795.2908661417322}"/>
</p:tagLst>
</file>

<file path=ppt/tags/tag73.xml><?xml version="1.0" encoding="utf-8"?>
<p:tagLst xmlns:p="http://schemas.openxmlformats.org/presentationml/2006/main">
  <p:tag name="KSO_WM_DIAGRAM_VIRTUALLY_FRAME" val="{&quot;height&quot;:372.8,&quot;left&quot;:82.35456692913385,&quot;top&quot;:145.06433070866143,&quot;width&quot;:795.2908661417322}"/>
</p:tagLst>
</file>

<file path=ppt/tags/tag74.xml><?xml version="1.0" encoding="utf-8"?>
<p:tagLst xmlns:p="http://schemas.openxmlformats.org/presentationml/2006/main">
  <p:tag name="KSO_WM_DIAGRAM_VIRTUALLY_FRAME" val="{&quot;height&quot;:372.8,&quot;left&quot;:82.35456692913385,&quot;top&quot;:145.06433070866143,&quot;width&quot;:795.2908661417322}"/>
</p:tagLst>
</file>

<file path=ppt/tags/tag75.xml><?xml version="1.0" encoding="utf-8"?>
<p:tagLst xmlns:p="http://schemas.openxmlformats.org/presentationml/2006/main">
  <p:tag name="KSO_WM_DIAGRAM_VIRTUALLY_FRAME" val="{&quot;height&quot;:372.8,&quot;left&quot;:82.35456692913385,&quot;top&quot;:145.06433070866143,&quot;width&quot;:795.2908661417322}"/>
</p:tagLst>
</file>

<file path=ppt/tags/tag76.xml><?xml version="1.0" encoding="utf-8"?>
<p:tagLst xmlns:p="http://schemas.openxmlformats.org/presentationml/2006/main">
  <p:tag name="KSO_WM_DIAGRAM_VIRTUALLY_FRAME" val="{&quot;height&quot;:372.8,&quot;left&quot;:82.35456692913385,&quot;top&quot;:145.06433070866143,&quot;width&quot;:795.2908661417322}"/>
</p:tagLst>
</file>

<file path=ppt/tags/tag77.xml><?xml version="1.0" encoding="utf-8"?>
<p:tagLst xmlns:p="http://schemas.openxmlformats.org/presentationml/2006/main">
  <p:tag name="KSO_WM_DIAGRAM_VIRTUALLY_FRAME" val="{&quot;height&quot;:372.8,&quot;left&quot;:82.35456692913385,&quot;top&quot;:145.06433070866143,&quot;width&quot;:795.2908661417322}"/>
</p:tagLst>
</file>

<file path=ppt/tags/tag78.xml><?xml version="1.0" encoding="utf-8"?>
<p:tagLst xmlns:p="http://schemas.openxmlformats.org/presentationml/2006/main">
  <p:tag name="KSO_WM_DIAGRAM_VIRTUALLY_FRAME" val="{&quot;height&quot;:372.8,&quot;left&quot;:82.35456692913385,&quot;top&quot;:145.06433070866143,&quot;width&quot;:795.2908661417322}"/>
</p:tagLst>
</file>

<file path=ppt/tags/tag79.xml><?xml version="1.0" encoding="utf-8"?>
<p:tagLst xmlns:p="http://schemas.openxmlformats.org/presentationml/2006/main">
  <p:tag name="KSO_WM_DIAGRAM_VIRTUALLY_FRAME" val="{&quot;height&quot;:372.8,&quot;left&quot;:82.35456692913385,&quot;top&quot;:145.06433070866143,&quot;width&quot;:795.2908661417322}"/>
</p:tagLst>
</file>

<file path=ppt/tags/tag80.xml><?xml version="1.0" encoding="utf-8"?>
<p:tagLst xmlns:p="http://schemas.openxmlformats.org/presentationml/2006/main">
  <p:tag name="KSO_WM_DIAGRAM_VIRTUALLY_FRAME" val="{&quot;height&quot;:372.8,&quot;left&quot;:82.35456692913385,&quot;top&quot;:145.06433070866143,&quot;width&quot;:795.2908661417322}"/>
</p:tagLst>
</file>

<file path=ppt/tags/tag81.xml><?xml version="1.0" encoding="utf-8"?>
<p:tagLst xmlns:p="http://schemas.openxmlformats.org/presentationml/2006/main">
  <p:tag name="KSO_WM_DIAGRAM_VIRTUALLY_FRAME" val="{&quot;height&quot;:372.8,&quot;left&quot;:82.35456692913385,&quot;top&quot;:145.06433070866143,&quot;width&quot;:795.2908661417322}"/>
</p:tagLst>
</file>

<file path=ppt/tags/tag82.xml><?xml version="1.0" encoding="utf-8"?>
<p:tagLst xmlns:p="http://schemas.openxmlformats.org/presentationml/2006/main">
  <p:tag name="KSO_WM_DIAGRAM_VIRTUALLY_FRAME" val="{&quot;height&quot;:372.8,&quot;left&quot;:82.35456692913385,&quot;top&quot;:145.06433070866143,&quot;width&quot;:795.2908661417322}"/>
</p:tagLst>
</file>

<file path=ppt/tags/tag83.xml><?xml version="1.0" encoding="utf-8"?>
<p:tagLst xmlns:p="http://schemas.openxmlformats.org/presentationml/2006/main">
  <p:tag name="KSO_WM_DIAGRAM_VIRTUALLY_FRAME" val="{&quot;height&quot;:372.8,&quot;left&quot;:82.35456692913385,&quot;top&quot;:145.06433070866143,&quot;width&quot;:795.2908661417322}"/>
</p:tagLst>
</file>

<file path=ppt/tags/tag84.xml><?xml version="1.0" encoding="utf-8"?>
<p:tagLst xmlns:p="http://schemas.openxmlformats.org/presentationml/2006/main">
  <p:tag name="KSO_WM_DIAGRAM_VIRTUALLY_FRAME" val="{&quot;height&quot;:372.8,&quot;left&quot;:82.35456692913385,&quot;top&quot;:145.06433070866143,&quot;width&quot;:795.2908661417322}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COMMONDATA" val="eyJoZGlkIjoiMjVhODdiNDM4NzVmNGNiNWI5YjAyNzNmMzg1OGIwZTYifQ=="/>
  <p:tag name="RESOURCE_RECORD_KEY" val="{&quot;13&quot;:[20481688],&quot;8&quot;:[2047082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4331</Words>
  <Application>WPS 演示</Application>
  <PresentationFormat>宽屏</PresentationFormat>
  <Paragraphs>574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Microsoft Sans Serif</vt:lpstr>
      <vt:lpstr>Noto Sans SC</vt:lpstr>
      <vt:lpstr>Alimama ShuHeiTi</vt:lpstr>
      <vt:lpstr>MingLiU-ExtB</vt:lpstr>
      <vt:lpstr>MiSans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Sakura</cp:lastModifiedBy>
  <cp:revision>331</cp:revision>
  <dcterms:created xsi:type="dcterms:W3CDTF">2026-01-27T07:46:00Z</dcterms:created>
  <dcterms:modified xsi:type="dcterms:W3CDTF">2026-02-07T14:52:04Z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10C2683388AD4EE58AA36319B8BEFB02_13</vt:lpwstr>
  </property>
</Properties>
</file>