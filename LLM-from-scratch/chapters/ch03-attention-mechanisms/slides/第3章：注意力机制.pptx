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650" r:id="rId5"/>
    <p:sldId id="651" r:id="rId6"/>
    <p:sldId id="652" r:id="rId7"/>
    <p:sldId id="653" r:id="rId8"/>
    <p:sldId id="654" r:id="rId9"/>
    <p:sldId id="655" r:id="rId10"/>
    <p:sldId id="656" r:id="rId11"/>
    <p:sldId id="657" r:id="rId12"/>
    <p:sldId id="658" r:id="rId13"/>
    <p:sldId id="659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嘉莉 曾" initials="嘉莉" lastIdx="2" clrIdx="0"/>
  <p:cmAuthor id="2" name="作者" initials="A" lastIdx="1" clrIdx="1"/>
  <p:cmAuthor id="3" name="25108" initials="2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0202"/>
    <a:srgbClr val="B10015"/>
    <a:srgbClr val="FFFFFF"/>
    <a:srgbClr val="FFBBCD"/>
    <a:srgbClr val="FFEEF2"/>
    <a:srgbClr val="FFEFF2"/>
    <a:srgbClr val="FFC0CD"/>
    <a:srgbClr val="FF005F"/>
    <a:srgbClr val="AC6E6E"/>
    <a:srgbClr val="FFF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4660"/>
  </p:normalViewPr>
  <p:slideViewPr>
    <p:cSldViewPr snapToGrid="0" showGuides="1">
      <p:cViewPr varScale="1">
        <p:scale>
          <a:sx n="153" d="100"/>
          <a:sy n="153" d="100"/>
        </p:scale>
        <p:origin x="714" y="108"/>
      </p:cViewPr>
      <p:guideLst>
        <p:guide orient="horz" pos="227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73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4830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09912"/>
            <a:ext cx="166480" cy="512866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74" tIns="27337" rIns="54674" bIns="27337" rtlCol="0" anchor="ctr"/>
          <a:lstStyle/>
          <a:p>
            <a:pPr algn="ctr" defTabSz="576580"/>
            <a:endParaRPr lang="zh-CN" altLang="en-US" sz="1120">
              <a:solidFill>
                <a:srgbClr val="E7E6E6">
                  <a:lumMod val="50000"/>
                </a:srgb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 userDrawn="1"/>
        </p:nvPicPr>
        <p:blipFill>
          <a:blip r:embed="rId4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image" Target="../media/image5.jpeg"/><Relationship Id="rId7" Type="http://schemas.openxmlformats.org/officeDocument/2006/relationships/tags" Target="../tags/tag68.xml"/><Relationship Id="rId6" Type="http://schemas.openxmlformats.org/officeDocument/2006/relationships/image" Target="../media/image4.jpeg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image" Target="../media/image2.jpeg"/><Relationship Id="rId11" Type="http://schemas.openxmlformats.org/officeDocument/2006/relationships/image" Target="../media/image7.png"/><Relationship Id="rId10" Type="http://schemas.openxmlformats.org/officeDocument/2006/relationships/image" Target="../media/image6.jpe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-4528" y="6677822"/>
            <a:ext cx="12201060" cy="179990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708397" y="122907"/>
            <a:ext cx="2330246" cy="1402662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1638611" y="3998"/>
            <a:ext cx="549245" cy="1605827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-16892" y="-316"/>
            <a:ext cx="4677259" cy="1605481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828811" y="243322"/>
            <a:ext cx="2330246" cy="14026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 bwMode="auto">
          <a:xfrm>
            <a:off x="4689552" y="-8702"/>
            <a:ext cx="2233808" cy="1614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0" name="图片 99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314688" y="11628"/>
            <a:ext cx="2288484" cy="159429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967201" y="3801"/>
            <a:ext cx="2299923" cy="161596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 descr="透明底"/>
          <p:cNvPicPr>
            <a:picLocks noChangeAspect="1"/>
          </p:cNvPicPr>
          <p:nvPr/>
        </p:nvPicPr>
        <p:blipFill>
          <a:blip r:embed="rId11"/>
          <a:srcRect l="10822" t="13549" r="9928" b="12441"/>
          <a:stretch>
            <a:fillRect/>
          </a:stretch>
        </p:blipFill>
        <p:spPr>
          <a:xfrm>
            <a:off x="8549640" y="2045335"/>
            <a:ext cx="925195" cy="820420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/>
        </p:nvPicPr>
        <p:blipFill>
          <a:blip r:embed="rId12"/>
          <a:srcRect t="36843" b="36463"/>
          <a:stretch>
            <a:fillRect/>
          </a:stretch>
        </p:blipFill>
        <p:spPr>
          <a:xfrm>
            <a:off x="1033780" y="2044700"/>
            <a:ext cx="3077210" cy="821690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2475230" y="3161030"/>
            <a:ext cx="6861175" cy="2144395"/>
            <a:chOff x="3770" y="4978"/>
            <a:chExt cx="10805" cy="3377"/>
          </a:xfrm>
        </p:grpSpPr>
        <p:sp>
          <p:nvSpPr>
            <p:cNvPr id="6" name="矩形 5"/>
            <p:cNvSpPr/>
            <p:nvPr>
              <p:custDataLst>
                <p:tags r:id="rId13"/>
              </p:custDataLst>
            </p:nvPr>
          </p:nvSpPr>
          <p:spPr>
            <a:xfrm>
              <a:off x="3770" y="4978"/>
              <a:ext cx="10805" cy="845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第</a:t>
              </a:r>
              <a:r>
                <a:rPr lang="en-US" altLang="zh-CN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3</a:t>
              </a: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章：</a:t>
              </a:r>
              <a:endParaRPr lang="zh-CN" altLang="en-US" sz="3600" b="1" dirty="0">
                <a:solidFill>
                  <a:srgbClr val="B1001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注意力</a:t>
              </a:r>
              <a:r>
                <a:rPr lang="zh-CN" altLang="en-US" sz="3600" b="1" dirty="0">
                  <a:solidFill>
                    <a:srgbClr val="B10015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</a:rPr>
                <a:t>机制</a:t>
              </a:r>
              <a:endParaRPr lang="zh-CN" altLang="en-US" sz="3600" b="1" dirty="0">
                <a:solidFill>
                  <a:srgbClr val="B10015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4"/>
              </p:custDataLst>
            </p:nvPr>
          </p:nvSpPr>
          <p:spPr>
            <a:xfrm>
              <a:off x="3771" y="7078"/>
              <a:ext cx="10804" cy="1277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indent="0" algn="ctr">
                <a:spcBef>
                  <a:spcPts val="600"/>
                </a:spcBef>
                <a:spcAft>
                  <a:spcPts val="600"/>
                </a:spcAft>
                <a:buFont typeface="Arial" panose="020B0604020202090204" pitchFamily="34" charset="0"/>
                <a:buNone/>
              </a:pPr>
              <a:endParaRPr lang="en-US" altLang="zh-CN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1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0040" y="480060"/>
            <a:ext cx="8845550" cy="427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背景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：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传统框架下的“记忆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瓶颈”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1005205"/>
            <a:ext cx="8056880" cy="40024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0040" y="5007610"/>
            <a:ext cx="1162685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rtl="0" eaLnBrk="0" fontAlgn="auto">
              <a:lnSpc>
                <a:spcPct val="150000"/>
              </a:lnSpc>
            </a:pPr>
            <a:r>
              <a:rPr lang="zh-CN" altLang="en-US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在</a:t>
            </a:r>
            <a:r>
              <a:rPr lang="en-US" altLang="zh-CN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Transformer </a:t>
            </a:r>
            <a:r>
              <a:rPr lang="zh-CN" altLang="en-US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出现之前，循环神经网络（</a:t>
            </a:r>
            <a:r>
              <a:rPr lang="en-US" altLang="zh-CN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RNN</a:t>
            </a:r>
            <a:r>
              <a:rPr lang="zh-CN" altLang="en-US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）以</a:t>
            </a:r>
            <a:r>
              <a:rPr lang="en-US" altLang="zh-CN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“</a:t>
            </a:r>
            <a:r>
              <a:rPr lang="zh-CN" altLang="en-US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按顺序逐词</a:t>
            </a:r>
            <a:r>
              <a:rPr lang="en-US" altLang="zh-CN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”</a:t>
            </a:r>
            <a:r>
              <a:rPr lang="zh-CN" altLang="en-US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的方式处理文本。用于机器翻译时，编码器必须先把整句输入的语义压缩到一个固定长度的</a:t>
            </a:r>
            <a:r>
              <a:rPr lang="en-US" altLang="zh-CN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“</a:t>
            </a:r>
            <a:r>
              <a:rPr lang="zh-CN" altLang="en-US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隐藏状态</a:t>
            </a:r>
            <a:r>
              <a:rPr lang="en-US" altLang="zh-CN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”</a:t>
            </a:r>
            <a:r>
              <a:rPr lang="zh-CN" altLang="en-US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（也称上下文向量）中，然后解码器才能开始生成译文。由于这个向量长度是固定的，压缩过程就形成了</a:t>
            </a:r>
            <a:r>
              <a:rPr lang="zh-CN" altLang="en-US" sz="1800" b="1" kern="0" spc="-70" dirty="0">
                <a:solidFill>
                  <a:srgbClr val="C70202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Regular" panose="020B0400000000000000" charset="-122"/>
                <a:sym typeface="+mn-ea"/>
              </a:rPr>
              <a:t>信息瓶颈</a:t>
            </a:r>
            <a:r>
              <a:rPr lang="zh-CN" altLang="en-US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：句子越长，模型越容易在读到后半段时</a:t>
            </a:r>
            <a:r>
              <a:rPr lang="en-US" altLang="zh-CN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“</a:t>
            </a:r>
            <a:r>
              <a:rPr lang="zh-CN" altLang="en-US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忘记</a:t>
            </a:r>
            <a:r>
              <a:rPr lang="en-US" altLang="zh-CN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”</a:t>
            </a:r>
            <a:r>
              <a:rPr lang="zh-CN" altLang="en-US" sz="1800" kern="0" spc="-70" dirty="0">
                <a:solidFill>
                  <a:srgbClr val="000000">
                    <a:alpha val="100000"/>
                  </a:srgbClr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开头的信息，最终导致长句的翻译效果显著变差。</a:t>
            </a:r>
            <a:endParaRPr lang="zh-CN" altLang="en-US" sz="1800" kern="0" spc="-70" dirty="0">
              <a:solidFill>
                <a:srgbClr val="000000">
                  <a:alpha val="100000"/>
                </a:srgbClr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964805" y="6583680"/>
            <a:ext cx="4227195" cy="2298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Sebastian Raschka, </a:t>
            </a:r>
            <a:r>
              <a:rPr lang="en-US" altLang="zh-CN" sz="900" b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Build a Large Language Model From Scratch</a:t>
            </a:r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, Fig. 3-3</a:t>
            </a:r>
            <a:endParaRPr lang="en-US" altLang="zh-CN" sz="9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20040" y="480060"/>
            <a:ext cx="8845550" cy="427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像人类一样分配注意力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0040" y="111379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注意力机制</a:t>
            </a:r>
            <a:r>
              <a:rPr lang="en-US" altLang="zh-CN" sz="2000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Attention Mechanism</a:t>
            </a:r>
            <a:endParaRPr lang="en-US" altLang="zh-CN" sz="2000" b="1">
              <a:solidFill>
                <a:srgbClr val="C70202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0040" y="1512570"/>
            <a:ext cx="1168527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注意力机制通过让解码器在生成时访问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“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全部输入状态的历史信息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”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（而不仅仅是最后一个隐藏状态），从根本上消除了信息瓶颈。它就像人类翻译员在写译文时，会不时回看原文中的关键单词或短语来确认含义一样。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模型在每一步生成输出词时，都会为不同的输入词动态分配</a:t>
            </a:r>
            <a:r>
              <a:rPr lang="en-US" altLang="zh-CN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“</a:t>
            </a:r>
            <a:r>
              <a:rPr lang="zh-CN" altLang="en-US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重要性权重</a:t>
            </a:r>
            <a:r>
              <a:rPr lang="en-US" altLang="zh-CN" b="1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”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，从而把最相关的信息提取出来辅助当前生成过程。因为可以随用随取，不再需要把整句语义强行压缩进一个固定长度的向量。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730" y="3734435"/>
            <a:ext cx="9399905" cy="29978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20040" y="480060"/>
            <a:ext cx="8845550" cy="427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自注意力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Self - A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ttention</a:t>
            </a:r>
            <a:endParaRPr lang="en-US" altLang="zh-CN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1755"/>
          <a:stretch>
            <a:fillRect/>
          </a:stretch>
        </p:blipFill>
        <p:spPr>
          <a:xfrm>
            <a:off x="5706110" y="1909445"/>
            <a:ext cx="5911215" cy="44411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0040" y="2035810"/>
            <a:ext cx="5053330" cy="387667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· 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目标</a:t>
            </a:r>
            <a:endParaRPr lang="zh-CN" altLang="en-US" b="1" i="0">
              <a:solidFill>
                <a:srgbClr val="C70202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把原始的</a:t>
            </a:r>
            <a:r>
              <a:rPr lang="zh-CN" altLang="en-US" sz="1600" b="0" i="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词向量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转换为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“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具备上下文信息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的词向量（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context-aware embedding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），让每个词不仅代表它本身，还包含它与周围词的关系信息。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· 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机制</a:t>
            </a:r>
            <a:endParaRPr lang="zh-CN" altLang="en-US" b="1" i="0">
              <a:solidFill>
                <a:srgbClr val="C70202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词语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“journey”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会去关注同句中的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“starts”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和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“step”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等相关词，以确定它在这个具体语境里的含义。最终输出不是简单复制原词向量，而是将该词与其关键邻近词按权重加权融合，得到一个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“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加权混合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”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的表示。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0040" y="1056640"/>
            <a:ext cx="1104074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1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自注意力</a:t>
            </a:r>
            <a:r>
              <a:rPr lang="zh-CN" altLang="en-US" sz="160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是在同一条序列内部进行信息交互。也就是说，模型会在一句话里让每个词去“对照”同一句中的其他词，从而理解它在当前语境下的含义。</a:t>
            </a:r>
            <a:endParaRPr lang="zh-CN" altLang="en-US" sz="160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textbox 20"/>
          <p:cNvSpPr/>
          <p:nvPr/>
        </p:nvSpPr>
        <p:spPr>
          <a:xfrm>
            <a:off x="443230" y="5819140"/>
            <a:ext cx="11439525" cy="7042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234315" algn="l" rtl="0" eaLnBrk="0">
              <a:lnSpc>
                <a:spcPct val="85000"/>
              </a:lnSpc>
            </a:pPr>
            <a:endParaRPr sz="1800" kern="0" spc="-70" dirty="0">
              <a:solidFill>
                <a:srgbClr val="000000">
                  <a:alpha val="100000"/>
                </a:srgbClr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0040" y="480060"/>
            <a:ext cx="8845550" cy="427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原理：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Query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、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Key 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与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Value</a:t>
            </a:r>
            <a:endParaRPr lang="en-US" altLang="zh-CN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79425" y="1046480"/>
            <a:ext cx="11069955" cy="706755"/>
            <a:chOff x="755" y="1648"/>
            <a:chExt cx="17433" cy="1113"/>
          </a:xfrm>
        </p:grpSpPr>
        <p:sp>
          <p:nvSpPr>
            <p:cNvPr id="17" name="任意多边形: 形状 96"/>
            <p:cNvSpPr/>
            <p:nvPr/>
          </p:nvSpPr>
          <p:spPr>
            <a:xfrm>
              <a:off x="755" y="1813"/>
              <a:ext cx="3548" cy="783"/>
            </a:xfrm>
            <a:custGeom>
              <a:avLst/>
              <a:gdLst>
                <a:gd name="connsiteX0" fmla="*/ 0 w 2252751"/>
                <a:gd name="connsiteY0" fmla="*/ 0 h 461665"/>
                <a:gd name="connsiteX1" fmla="*/ 2252751 w 2252751"/>
                <a:gd name="connsiteY1" fmla="*/ 0 h 461665"/>
                <a:gd name="connsiteX2" fmla="*/ 2131458 w 2252751"/>
                <a:gd name="connsiteY2" fmla="*/ 230833 h 461665"/>
                <a:gd name="connsiteX3" fmla="*/ 2252751 w 2252751"/>
                <a:gd name="connsiteY3" fmla="*/ 461665 h 461665"/>
                <a:gd name="connsiteX4" fmla="*/ 0 w 2252751"/>
                <a:gd name="connsiteY4" fmla="*/ 461665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2751" h="461665">
                  <a:moveTo>
                    <a:pt x="0" y="0"/>
                  </a:moveTo>
                  <a:lnTo>
                    <a:pt x="2252751" y="0"/>
                  </a:lnTo>
                  <a:lnTo>
                    <a:pt x="2131458" y="230833"/>
                  </a:lnTo>
                  <a:lnTo>
                    <a:pt x="2252751" y="461665"/>
                  </a:lnTo>
                  <a:lnTo>
                    <a:pt x="0" y="461665"/>
                  </a:lnTo>
                  <a:close/>
                </a:path>
              </a:pathLst>
            </a:custGeom>
            <a:solidFill>
              <a:srgbClr val="9B131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14300" dir="2700000" algn="tl" rotWithShape="0">
                <a:prstClr val="black">
                  <a:alpha val="6000"/>
                </a:prstClr>
              </a:outerShdw>
            </a:effectLst>
          </p:spPr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73" y="1918"/>
              <a:ext cx="2912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 defTabSz="457200"/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核心</a:t>
              </a:r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原理</a:t>
              </a:r>
              <a:endParaRPr lang="zh-CN" altLang="en-US" b="1" dirty="0">
                <a:solidFill>
                  <a:sysClr val="window" lastClr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361" y="1648"/>
              <a:ext cx="13827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just">
                <a:lnSpc>
                  <a:spcPct val="125000"/>
                </a:lnSpc>
                <a:spcBef>
                  <a:spcPts val="400"/>
                </a:spcBef>
              </a:pPr>
              <a:r>
                <a:rPr lang="zh-CN" altLang="en-US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为了让注意力机制可以被训练，模型会用三组可学习的权重矩阵（</a:t>
              </a:r>
              <a:r>
                <a:rPr lang="en-US" altLang="zh-CN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Wq</a:t>
              </a:r>
              <a:r>
                <a:rPr lang="zh-CN" altLang="en-US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、</a:t>
              </a:r>
              <a:r>
                <a:rPr lang="en-US" altLang="zh-CN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Wk</a:t>
              </a:r>
              <a:r>
                <a:rPr lang="zh-CN" altLang="en-US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、</a:t>
              </a:r>
              <a:r>
                <a:rPr lang="en-US" altLang="zh-CN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Wv</a:t>
              </a:r>
              <a:r>
                <a:rPr lang="zh-CN" altLang="en-US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）把每个输入词投影成三个不同的向量：</a:t>
              </a:r>
              <a:r>
                <a:rPr lang="en-US" altLang="zh-CN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Query</a:t>
              </a:r>
              <a:r>
                <a:rPr lang="zh-CN" altLang="en-US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、</a:t>
              </a:r>
              <a:r>
                <a:rPr lang="en-US" altLang="zh-CN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Key </a:t>
              </a:r>
              <a:r>
                <a:rPr lang="zh-CN" altLang="en-US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和</a:t>
              </a:r>
              <a:r>
                <a:rPr lang="en-US" altLang="zh-CN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 Value</a:t>
              </a:r>
              <a:r>
                <a:rPr lang="zh-CN" altLang="en-US" sz="1600" dirty="0">
                  <a:solidFill>
                    <a:schemeClr val="tx1"/>
                  </a:solidFill>
                  <a:latin typeface="PingFang SC Regular" panose="020B0400000000000000" charset="-122"/>
                  <a:ea typeface="PingFang SC Regular" panose="020B0400000000000000" charset="-122"/>
                  <a:cs typeface="微软雅黑" charset="0"/>
                  <a:sym typeface="汉仪旗黑-55简" panose="00020600040101010101" pitchFamily="18" charset="-122"/>
                </a:rPr>
                <a:t>。</a:t>
              </a:r>
              <a:endParaRPr lang="zh-CN" altLang="en-US" sz="1600" dirty="0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微软雅黑" charset="0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43865" y="2106930"/>
            <a:ext cx="5080000" cy="3415030"/>
          </a:xfrm>
          <a:prstGeom prst="rect">
            <a:avLst/>
          </a:prstGeom>
        </p:spPr>
        <p:txBody>
          <a:bodyPr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· Query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</a:t>
            </a: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Q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：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表示“这个词想要找什么信息”，也就是它当前的关注需求。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· Key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</a:t>
            </a: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K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：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表示“这个词能被别人如何识别”，用于和别人的 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Query 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做匹配。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· Value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（</a:t>
            </a: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V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：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则是“这个词真正携带的内容信息”，当匹配成功后会被取出来参与计算。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2460"/>
          <a:stretch>
            <a:fillRect/>
          </a:stretch>
        </p:blipFill>
        <p:spPr>
          <a:xfrm>
            <a:off x="5381625" y="2415540"/>
            <a:ext cx="6394450" cy="28708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1355" y="5948680"/>
            <a:ext cx="1086739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模型先提出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问题（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Query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，再去对照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索引（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Key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找到最相关的条目，最后取回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实际内容（</a:t>
            </a:r>
            <a:r>
              <a:rPr lang="en-US" altLang="zh-CN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Value</a:t>
            </a:r>
            <a:r>
              <a:rPr lang="zh-CN" altLang="en-US" sz="16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用于生成当前的上下文表示。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20040" y="480060"/>
            <a:ext cx="8845550" cy="427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如何判断相关性：点积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Dot Product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8985" y="907415"/>
            <a:ext cx="4551680" cy="54089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0040" y="1238885"/>
            <a:ext cx="6251575" cy="549275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模型要知道哪些词彼此相关，会把“当前词”的 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Query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Q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）与“句子中每个词”的 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Key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K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）逐一做相似度计算。最常用的方法就是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点积（</a:t>
            </a: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Dot Product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，它是一种衡量两个向量“对齐程度”的数学运算。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0" i="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  · </a:t>
            </a:r>
            <a:r>
              <a:rPr lang="zh-CN" altLang="en-US" b="0" i="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点积越大，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表示两个向量越对齐，相似度越高，模型就会更“关注”那个词；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b="0" i="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  · </a:t>
            </a:r>
            <a:r>
              <a:rPr lang="zh-CN" altLang="en-US" b="0" i="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点积越小</a:t>
            </a:r>
            <a:r>
              <a:rPr lang="en-US" altLang="zh-CN" b="0" i="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甚至为负，表示相似度低，模型倾向于忽略该词。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通过这一过程，模型会为句子中“任意两词的组合”产生一个原始的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注意力分数（</a:t>
            </a: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attention score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）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，也就是后续分配注意力权重的基础。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20040" y="480060"/>
            <a:ext cx="8845550" cy="427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归一化：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Softmax 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的作用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0040" y="1083945"/>
            <a:ext cx="11320145" cy="92202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8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原始的</a:t>
            </a:r>
            <a:r>
              <a:rPr lang="zh-CN" altLang="en-US" sz="18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注意力分数（attention scores）</a:t>
            </a:r>
            <a:r>
              <a:rPr lang="zh-CN" altLang="en-US" sz="18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范围可能从负无穷到正无穷，数值跨度很大，既不直观，也不方便直接当作“权重”使用。因此我们会把这些分数输入 </a:t>
            </a:r>
            <a:r>
              <a:rPr lang="zh-CN" altLang="en-US" sz="18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Softmax 函数</a:t>
            </a:r>
            <a:r>
              <a:rPr lang="en-US" altLang="zh-CN" sz="18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 </a:t>
            </a:r>
            <a:r>
              <a:rPr lang="zh-CN" altLang="en-US" sz="18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进行归一化，把它们转换成可解释的概率分布。</a:t>
            </a:r>
            <a:endParaRPr lang="zh-CN" altLang="en-US" sz="18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0995" y="2315210"/>
            <a:ext cx="11320145" cy="13379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8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Softmax 会把所有权重压到 0 到 1 之间，并且保证它们的</a:t>
            </a:r>
            <a:r>
              <a:rPr lang="zh-CN" altLang="en-US" sz="1800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总和严格等于 1.0</a:t>
            </a:r>
            <a:r>
              <a:rPr lang="zh-CN" altLang="en-US" sz="18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（也就是 100%）。这会迫使模型在有限的注意力预算里做取舍：把更多权重分配给最相关的词，同时压低不重要信息的权重，从而减少噪声、突出关键线索。</a:t>
            </a:r>
            <a:endParaRPr lang="zh-CN" altLang="en-US" sz="18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620" y="3653155"/>
            <a:ext cx="10020300" cy="2990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20040" y="480060"/>
            <a:ext cx="8845550" cy="427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上下文向量：信息的加权融合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Mixing the Information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5720" y="2124710"/>
            <a:ext cx="8209280" cy="4483100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479425" y="1046480"/>
            <a:ext cx="11069955" cy="706755"/>
            <a:chOff x="755" y="1648"/>
            <a:chExt cx="17433" cy="1113"/>
          </a:xfrm>
        </p:grpSpPr>
        <p:sp>
          <p:nvSpPr>
            <p:cNvPr id="17" name="任意多边形: 形状 96"/>
            <p:cNvSpPr/>
            <p:nvPr/>
          </p:nvSpPr>
          <p:spPr>
            <a:xfrm>
              <a:off x="755" y="1813"/>
              <a:ext cx="3548" cy="783"/>
            </a:xfrm>
            <a:custGeom>
              <a:avLst/>
              <a:gdLst>
                <a:gd name="connsiteX0" fmla="*/ 0 w 2252751"/>
                <a:gd name="connsiteY0" fmla="*/ 0 h 461665"/>
                <a:gd name="connsiteX1" fmla="*/ 2252751 w 2252751"/>
                <a:gd name="connsiteY1" fmla="*/ 0 h 461665"/>
                <a:gd name="connsiteX2" fmla="*/ 2131458 w 2252751"/>
                <a:gd name="connsiteY2" fmla="*/ 230833 h 461665"/>
                <a:gd name="connsiteX3" fmla="*/ 2252751 w 2252751"/>
                <a:gd name="connsiteY3" fmla="*/ 461665 h 461665"/>
                <a:gd name="connsiteX4" fmla="*/ 0 w 2252751"/>
                <a:gd name="connsiteY4" fmla="*/ 461665 h 46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2751" h="461665">
                  <a:moveTo>
                    <a:pt x="0" y="0"/>
                  </a:moveTo>
                  <a:lnTo>
                    <a:pt x="2252751" y="0"/>
                  </a:lnTo>
                  <a:lnTo>
                    <a:pt x="2131458" y="230833"/>
                  </a:lnTo>
                  <a:lnTo>
                    <a:pt x="2252751" y="461665"/>
                  </a:lnTo>
                  <a:lnTo>
                    <a:pt x="0" y="461665"/>
                  </a:lnTo>
                  <a:close/>
                </a:path>
              </a:pathLst>
            </a:custGeom>
            <a:solidFill>
              <a:srgbClr val="9B1313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14300" dir="2700000" algn="tl" rotWithShape="0">
                <a:prstClr val="black">
                  <a:alpha val="6000"/>
                </a:prstClr>
              </a:outerShdw>
            </a:effectLst>
          </p:spPr>
          <p:txBody>
            <a:bodyPr wrap="square" rtlCol="0" anchor="ctr">
              <a:noAutofit/>
            </a:bodyPr>
            <a:p>
              <a:pPr algn="ctr"/>
              <a:endParaRPr lang="zh-CN" altLang="en-US">
                <a:solidFill>
                  <a:sysClr val="window" lastClr="FFFFFF"/>
                </a:solidFill>
                <a:latin typeface="汉仪旗黑-55简" panose="00020600040101010101" pitchFamily="18" charset="-122"/>
                <a:ea typeface="汉仪旗黑-55简" panose="00020600040101010101" pitchFamily="18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073" y="1918"/>
              <a:ext cx="2912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 defTabSz="457200"/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核心</a:t>
              </a:r>
              <a:r>
                <a:rPr lang="zh-CN" altLang="en-US" b="1" dirty="0">
                  <a:solidFill>
                    <a:sysClr val="window" lastClr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等线" charset="0"/>
                  <a:sym typeface="汉仪旗黑-55简" panose="00020600040101010101" pitchFamily="18" charset="-122"/>
                </a:rPr>
                <a:t>逻辑</a:t>
              </a:r>
              <a:endParaRPr lang="zh-CN" altLang="en-US" b="1" dirty="0">
                <a:solidFill>
                  <a:sysClr val="window" lastClr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等线" charset="0"/>
                <a:sym typeface="汉仪旗黑-55简" panose="00020600040101010101" pitchFamily="18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4361" y="1648"/>
              <a:ext cx="13827" cy="11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lnSpc>
                  <a:spcPct val="125000"/>
                </a:lnSpc>
                <a:spcBef>
                  <a:spcPts val="400"/>
                </a:spcBef>
              </a:pPr>
              <a:r>
                <a:rPr lang="zh-CN" altLang="en-US" sz="1600">
                  <a:solidFill>
                    <a:srgbClr val="000000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+mn-ea"/>
                </a:rPr>
                <a:t>模型会取出句子中所有词的 </a:t>
              </a:r>
              <a:r>
                <a:rPr lang="en-US" altLang="zh-CN" sz="1600">
                  <a:solidFill>
                    <a:srgbClr val="000000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+mn-ea"/>
                </a:rPr>
                <a:t>Value </a:t>
              </a:r>
              <a:r>
                <a:rPr lang="zh-CN" altLang="en-US" sz="1600">
                  <a:solidFill>
                    <a:srgbClr val="000000"/>
                  </a:solidFill>
                  <a:latin typeface="PingFang SC Regular" panose="020B0400000000000000" charset="-122"/>
                  <a:ea typeface="PingFang SC Regular" panose="020B0400000000000000" charset="-122"/>
                  <a:cs typeface="PingFang SC Regular" panose="020B0400000000000000" charset="-122"/>
                  <a:sym typeface="+mn-ea"/>
                </a:rPr>
                <a:t>向量，并使用注意力权重对它们做加权求和，从而得到当前词的输出表示。</a:t>
              </a:r>
              <a:endParaRPr lang="zh-CN" altLang="en-US" sz="1600" dirty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endParaRP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7964805" y="6583680"/>
            <a:ext cx="4227195" cy="2298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Sebastian Raschka, </a:t>
            </a:r>
            <a:r>
              <a:rPr lang="en-US" altLang="zh-CN" sz="900" b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Build a Large Language Model From Scratch</a:t>
            </a:r>
            <a:r>
              <a:rPr lang="en-US" altLang="zh-CN" sz="9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</a:rPr>
              <a:t>, Fig. 3-17</a:t>
            </a:r>
            <a:endParaRPr lang="en-US" altLang="zh-CN" sz="9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0060" y="2342515"/>
            <a:ext cx="3375660" cy="341503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如果某个词与当前词的相关性很高，比如占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90%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，那么它的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Value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向量就会以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90% 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的比例参与合成；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如果相关性只有 </a:t>
            </a:r>
            <a:r>
              <a:rPr lang="en-US" altLang="zh-CN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1%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，那么它的贡献几乎可以忽略不计。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这样，模型就能把最有用的信息保留下来，把不重要的信息剔除</a:t>
            </a:r>
            <a:r>
              <a:rPr lang="zh-CN" altLang="en-US" sz="16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出去。</a:t>
            </a:r>
            <a:endParaRPr lang="zh-CN" altLang="en-US" sz="16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20040" y="480060"/>
            <a:ext cx="8845550" cy="427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因果注意力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Causal Attention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3269"/>
          <a:stretch>
            <a:fillRect/>
          </a:stretch>
        </p:blipFill>
        <p:spPr>
          <a:xfrm>
            <a:off x="1301115" y="3429000"/>
            <a:ext cx="9655810" cy="29171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0040" y="1164590"/>
            <a:ext cx="11026140" cy="92202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标准的自注意力允许一个词查看整句话中的所有词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但在文本生成任务里，这会带来一个关键问题：</a:t>
            </a:r>
            <a:r>
              <a:rPr lang="zh-CN" altLang="en-US" b="0" i="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模型在预测当前位置的词时，如果能看到后面的“未来词”，就等于提前拿到了答案。</a:t>
            </a:r>
            <a:endParaRPr lang="zh-CN" altLang="en-US" b="0" i="0">
              <a:solidFill>
                <a:srgbClr val="C70202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0040" y="2242185"/>
            <a:ext cx="11026140" cy="133794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解决方案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：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每个位置只能关注它自己以及它之前的词，位于它之后的词必须被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遮住（</a:t>
            </a:r>
            <a:r>
              <a:rPr lang="en-US" altLang="zh-CN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mask </a:t>
            </a:r>
            <a:r>
              <a:rPr lang="zh-CN" altLang="en-US" b="1" i="0">
                <a:solidFill>
                  <a:srgbClr val="C70202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掉）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。这样可以防止训练时出现“作弊”，并确保模型只能按照时间顺序逐步生成文本，也就是严格地从左到右、一步一步地写下去。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20040" y="480060"/>
            <a:ext cx="8845550" cy="427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如何实现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Mask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：负无穷（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-inf</a:t>
            </a: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）的逻辑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3797300"/>
            <a:ext cx="10287000" cy="30099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0040" y="1122045"/>
            <a:ext cx="11388090" cy="922020"/>
          </a:xfrm>
          <a:prstGeom prst="rect">
            <a:avLst/>
          </a:prstGeom>
          <a:gradFill>
            <a:gsLst>
              <a:gs pos="66000">
                <a:srgbClr val="FFFFFF"/>
              </a:gs>
              <a:gs pos="0">
                <a:srgbClr val="FBDEDE">
                  <a:lumMod val="11000"/>
                  <a:lumOff val="89000"/>
                </a:srgbClr>
              </a:gs>
            </a:gsLst>
            <a:lin ang="16200000" scaled="0"/>
          </a:gradFill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为了在技术上实现“看不见未来”的限制，我们会在 Softmax 之前先处理原始注意力分数，让不该被关注的位置在归一化后自动变成 0。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8455" y="2044065"/>
            <a:ext cx="10901045" cy="175323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8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（1）</a:t>
            </a:r>
            <a:r>
              <a:rPr lang="zh-CN" altLang="en-US" sz="18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把注意力矩阵右上角三角区域（代表未来位置）的分数全部替换为负无穷（-inf）</a:t>
            </a:r>
            <a:endParaRPr lang="zh-CN" altLang="en-US" sz="18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8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（2）</a:t>
            </a:r>
            <a:r>
              <a:rPr lang="zh-CN" altLang="en-US" sz="18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在数学上，e</a:t>
            </a:r>
            <a:r>
              <a:rPr lang="zh-CN" altLang="en-US" sz="1800" b="0" i="0" baseline="3000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−∞</a:t>
            </a:r>
            <a:r>
              <a:rPr lang="zh-CN" altLang="en-US" sz="18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 会趋近于 0，因此这些位置在 Softmax 后几乎不可能分到任何概率质量</a:t>
            </a:r>
            <a:endParaRPr lang="zh-CN" altLang="en-US" sz="18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8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（3）</a:t>
            </a:r>
            <a:r>
              <a:rPr lang="zh-CN" altLang="en-US" sz="1800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所有未来词对应的注意力权重会变成严格的 0，从而在计算上“切断连接”，确保模型只能关注当前与过去的信息</a:t>
            </a:r>
            <a:endParaRPr lang="zh-CN" altLang="en-US" sz="1800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20040" y="480060"/>
            <a:ext cx="8845550" cy="427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algn="l" rtl="0" eaLnBrk="0">
              <a:lnSpc>
                <a:spcPct val="91000"/>
              </a:lnSpc>
              <a:spcBef>
                <a:spcPts val="0"/>
              </a:spcBef>
            </a:pPr>
            <a:r>
              <a:rPr lang="zh-CN" altLang="en-US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多头注意力</a:t>
            </a:r>
            <a:r>
              <a:rPr lang="en-US" altLang="zh-CN" sz="2400" b="1" kern="0" spc="-50" dirty="0">
                <a:solidFill>
                  <a:srgbClr val="000000">
                    <a:alpha val="100000"/>
                  </a:srgbClr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+mn-ea"/>
              </a:rPr>
              <a:t> Multi-Head Attention</a:t>
            </a:r>
            <a:endParaRPr lang="zh-CN" altLang="en-US" sz="2400" b="1" kern="0" spc="-50" dirty="0">
              <a:solidFill>
                <a:srgbClr val="000000">
                  <a:alpha val="100000"/>
                </a:srgbClr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295" y="1049020"/>
            <a:ext cx="4836160" cy="512699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0040" y="1361440"/>
            <a:ext cx="6358255" cy="175323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单一的注意力机制往往只能给出一种“理解角度”，容易遗漏语言的复杂关系。为了更全面地建模句子，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Transformer 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会并行运行多个注意力头，</a:t>
            </a:r>
            <a:r>
              <a:rPr lang="zh-CN" altLang="en-US" b="0" i="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让模型从不同“视角”同时观察同一段文本。</a:t>
            </a:r>
            <a:endParaRPr lang="zh-CN" altLang="en-US" b="0" i="0">
              <a:solidFill>
                <a:srgbClr val="C70202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7185" y="3429000"/>
            <a:ext cx="6102350" cy="258445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比如某个 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head 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可能</a:t>
            </a:r>
            <a:r>
              <a:rPr lang="zh-CN" altLang="en-US" b="0" i="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更关注语法结构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，另一个 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head 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可能</a:t>
            </a:r>
            <a:r>
              <a:rPr lang="zh-CN" altLang="en-US" b="0" i="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更关注指代与词汇匹配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，还有的 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head 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会</a:t>
            </a:r>
            <a:r>
              <a:rPr lang="zh-CN" altLang="en-US" b="0" i="0">
                <a:solidFill>
                  <a:srgbClr val="C70202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更关注情绪或语气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这些 </a:t>
            </a:r>
            <a:r>
              <a:rPr lang="en-US" altLang="zh-CN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head </a:t>
            </a:r>
            <a:r>
              <a:rPr lang="zh-CN" altLang="en-US" b="0" i="0">
                <a:solidFill>
                  <a:srgbClr val="0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各自输出一份上下文表示，最后会被拼接并再做一次整合，形成更丰富、更立体的表示，从而提升模型对语义、语法与长距离依赖的捕捉能力。</a:t>
            </a:r>
            <a:endParaRPr lang="zh-CN" altLang="en-US" b="0" i="0">
              <a:solidFill>
                <a:srgbClr val="000000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73.xml><?xml version="1.0" encoding="utf-8"?>
<p:tagLst xmlns:p="http://schemas.openxmlformats.org/presentationml/2006/main">
  <p:tag name="COMMONDATA" val="eyJoZGlkIjoiMjVhODdiNDM4NzVmNGNiNWI5YjAyNzNmMzg1OGIwZTYifQ=="/>
  <p:tag name="RESOURCE_RECORD_KEY" val="{&quot;13&quot;:[20481688],&quot;8&quot;:[20470823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2522</Words>
  <Application>WPS 演示</Application>
  <PresentationFormat>宽屏</PresentationFormat>
  <Paragraphs>96</Paragraphs>
  <Slides>11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41" baseType="lpstr">
      <vt:lpstr>Arial</vt:lpstr>
      <vt:lpstr>宋体</vt:lpstr>
      <vt:lpstr>Wingdings</vt:lpstr>
      <vt:lpstr>Wingdings</vt:lpstr>
      <vt:lpstr>微软雅黑</vt:lpstr>
      <vt:lpstr>汉仪旗黑</vt:lpstr>
      <vt:lpstr>PingFang SC Semibold</vt:lpstr>
      <vt:lpstr>PingFang SC</vt:lpstr>
      <vt:lpstr>PingFang SC Regular</vt:lpstr>
      <vt:lpstr>Arial</vt:lpstr>
      <vt:lpstr>Microsoft Sans Serif</vt:lpstr>
      <vt:lpstr>等线</vt:lpstr>
      <vt:lpstr>汉仪旗黑-55简</vt:lpstr>
      <vt:lpstr>汉仪中黑KW</vt:lpstr>
      <vt:lpstr>等线</vt:lpstr>
      <vt:lpstr>汉仪中等线KW</vt:lpstr>
      <vt:lpstr>微软雅黑</vt:lpstr>
      <vt:lpstr>宋体</vt:lpstr>
      <vt:lpstr>Arial Unicode MS</vt:lpstr>
      <vt:lpstr>Calibri</vt:lpstr>
      <vt:lpstr>Helvetica Neue</vt:lpstr>
      <vt:lpstr>汉仪书宋二KW</vt:lpstr>
      <vt:lpstr>汉仪旗黑-55简</vt:lpstr>
      <vt:lpstr>黑体</vt:lpstr>
      <vt:lpstr>宋体</vt:lpstr>
      <vt:lpstr>-webkit-standard</vt:lpstr>
      <vt:lpstr>Thonburi</vt:lpstr>
      <vt:lpstr>-webkit-standard</vt:lpstr>
      <vt:lpstr>苹方-简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王皓平</cp:lastModifiedBy>
  <cp:revision>355</cp:revision>
  <dcterms:created xsi:type="dcterms:W3CDTF">2026-02-03T19:10:09Z</dcterms:created>
  <dcterms:modified xsi:type="dcterms:W3CDTF">2026-02-03T19:10:09Z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96532D13E662C3941148826961BB28C4_43</vt:lpwstr>
  </property>
</Properties>
</file>