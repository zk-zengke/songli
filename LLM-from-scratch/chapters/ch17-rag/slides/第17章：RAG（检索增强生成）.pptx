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92" r:id="rId5"/>
    <p:sldId id="518" r:id="rId6"/>
    <p:sldId id="493" r:id="rId7"/>
    <p:sldId id="510" r:id="rId8"/>
    <p:sldId id="542" r:id="rId9"/>
    <p:sldId id="570" r:id="rId10"/>
    <p:sldId id="572" r:id="rId11"/>
    <p:sldId id="523" r:id="rId12"/>
    <p:sldId id="547" r:id="rId13"/>
    <p:sldId id="521" r:id="rId14"/>
    <p:sldId id="556" r:id="rId15"/>
    <p:sldId id="558" r:id="rId16"/>
    <p:sldId id="571" r:id="rId17"/>
    <p:sldId id="562" r:id="rId18"/>
    <p:sldId id="549" r:id="rId19"/>
    <p:sldId id="564" r:id="rId20"/>
    <p:sldId id="567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90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015"/>
    <a:srgbClr val="FFFFFF"/>
    <a:srgbClr val="FFF0F2"/>
    <a:srgbClr val="FFC5CD"/>
    <a:srgbClr val="FD005D"/>
    <a:srgbClr val="FEF1F2"/>
    <a:srgbClr val="FAC9CD"/>
    <a:srgbClr val="E0385C"/>
    <a:srgbClr val="FF5F70"/>
    <a:srgbClr val="BC6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20" y="1164"/>
      </p:cViewPr>
      <p:guideLst>
        <p:guide orient="horz" pos="2112"/>
        <p:guide pos="390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07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4.jpeg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image" Target="../media/image2.jpeg"/><Relationship Id="rId13" Type="http://schemas.openxmlformats.org/officeDocument/2006/relationships/image" Target="../media/image7.png"/><Relationship Id="rId12" Type="http://schemas.openxmlformats.org/officeDocument/2006/relationships/image" Target="../media/image6.jpeg"/><Relationship Id="rId11" Type="http://schemas.openxmlformats.org/officeDocument/2006/relationships/tags" Target="../tags/tag71.xml"/><Relationship Id="rId10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5" Type="http://schemas.openxmlformats.org/officeDocument/2006/relationships/slideLayout" Target="../slideLayouts/slideLayout12.xml"/><Relationship Id="rId34" Type="http://schemas.openxmlformats.org/officeDocument/2006/relationships/tags" Target="../tags/tag106.xml"/><Relationship Id="rId33" Type="http://schemas.openxmlformats.org/officeDocument/2006/relationships/tags" Target="../tags/tag105.xml"/><Relationship Id="rId32" Type="http://schemas.openxmlformats.org/officeDocument/2006/relationships/tags" Target="../tags/tag104.xml"/><Relationship Id="rId31" Type="http://schemas.openxmlformats.org/officeDocument/2006/relationships/tags" Target="../tags/tag103.xml"/><Relationship Id="rId30" Type="http://schemas.openxmlformats.org/officeDocument/2006/relationships/tags" Target="../tags/tag102.xml"/><Relationship Id="rId3" Type="http://schemas.openxmlformats.org/officeDocument/2006/relationships/tags" Target="../tags/tag75.xml"/><Relationship Id="rId29" Type="http://schemas.openxmlformats.org/officeDocument/2006/relationships/tags" Target="../tags/tag101.xml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4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24.svg"/><Relationship Id="rId15" Type="http://schemas.openxmlformats.org/officeDocument/2006/relationships/image" Target="../media/image23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17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章：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RAG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Retrieval-Augmented Generation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）架构</a:t>
              </a:r>
              <a:endParaRPr lang="zh-CN" altLang="en-US" sz="3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3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4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6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学习目标与主线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70700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学习目标与主线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45845" y="1356360"/>
            <a:ext cx="10100310" cy="1219200"/>
            <a:chOff x="1647" y="2136"/>
            <a:chExt cx="15906" cy="1920"/>
          </a:xfrm>
        </p:grpSpPr>
        <p:sp>
          <p:nvSpPr>
            <p:cNvPr id="6" name="矩形 5"/>
            <p:cNvSpPr/>
            <p:nvPr/>
          </p:nvSpPr>
          <p:spPr>
            <a:xfrm>
              <a:off x="2881" y="2136"/>
              <a:ext cx="14672" cy="1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7" name="矩形: 单圆角 61"/>
            <p:cNvSpPr/>
            <p:nvPr/>
          </p:nvSpPr>
          <p:spPr>
            <a:xfrm>
              <a:off x="1647" y="2466"/>
              <a:ext cx="2248" cy="126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647" y="2587"/>
              <a:ext cx="1939" cy="1018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643" y="2387"/>
              <a:ext cx="12472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algn="l" fontAlgn="auto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掌握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检索增强生成的核心定义与组件构成，理解检索器与生成器的协同逻辑，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明确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解决大模型幻觉、知识时效性不足的核心价值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45903" y="2715497"/>
            <a:ext cx="10100194" cy="1219200"/>
            <a:chOff x="1647" y="4325"/>
            <a:chExt cx="15906" cy="1920"/>
          </a:xfrm>
        </p:grpSpPr>
        <p:sp>
          <p:nvSpPr>
            <p:cNvPr id="10" name="矩形 9"/>
            <p:cNvSpPr/>
            <p:nvPr/>
          </p:nvSpPr>
          <p:spPr>
            <a:xfrm>
              <a:off x="2881" y="4325"/>
              <a:ext cx="14672" cy="1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1" name="矩形: 单圆角 65"/>
            <p:cNvSpPr/>
            <p:nvPr/>
          </p:nvSpPr>
          <p:spPr>
            <a:xfrm>
              <a:off x="1647" y="4655"/>
              <a:ext cx="2248" cy="126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647" y="4776"/>
              <a:ext cx="1939" cy="1018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643" y="4511"/>
              <a:ext cx="12472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algn="l" fontAlgn="auto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梳理从参数化知识存储到检索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生成融合的范式演变脉络，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厘清传统检索问答、端到端阅读理解、封闭书大模型到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的技术迭代路径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045845" y="4074160"/>
            <a:ext cx="10100194" cy="1219200"/>
            <a:chOff x="1045903" y="5197895"/>
            <a:chExt cx="10100194" cy="1219200"/>
          </a:xfrm>
        </p:grpSpPr>
        <p:sp>
          <p:nvSpPr>
            <p:cNvPr id="14" name="矩形 13"/>
            <p:cNvSpPr/>
            <p:nvPr/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5" name="矩形: 单圆角 69"/>
            <p:cNvSpPr/>
            <p:nvPr/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948192" y="5324260"/>
              <a:ext cx="7919595" cy="891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拆解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检索模块、生成模块的核心技术方法与训练策略，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掌握稀疏检索、稠密检索、嵌入编码、向量索引等关键技术的落地逻辑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045845" y="5433060"/>
            <a:ext cx="10100194" cy="1219200"/>
            <a:chOff x="1045903" y="5197895"/>
            <a:chExt cx="10100194" cy="1219200"/>
          </a:xfrm>
        </p:grpSpPr>
        <p:sp>
          <p:nvSpPr>
            <p:cNvPr id="18" name="矩形 17"/>
            <p:cNvSpPr/>
            <p:nvPr/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9" name="矩形: 单圆角 69"/>
            <p:cNvSpPr/>
            <p:nvPr/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45903" y="5484330"/>
              <a:ext cx="1231419" cy="645160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948192" y="5324260"/>
              <a:ext cx="7919595" cy="891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落地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的典型应用模式与部署实践，识别检索准确性、多文档融合、系统效率等核心挑战，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掌握针对性优化思路与可信度保障方案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引言与全景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39458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RAG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核心定义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84810" y="1413510"/>
            <a:ext cx="11418570" cy="1379220"/>
          </a:xfrm>
          <a:custGeom>
            <a:avLst/>
            <a:gdLst/>
            <a:ahLst/>
            <a:cxnLst/>
            <a:rect l="l" t="t" r="r" b="b"/>
            <a:pathLst>
              <a:path w="11418570" h="1379220">
                <a:moveTo>
                  <a:pt x="76202" y="0"/>
                </a:moveTo>
                <a:lnTo>
                  <a:pt x="11342368" y="0"/>
                </a:lnTo>
                <a:cubicBezTo>
                  <a:pt x="11384453" y="0"/>
                  <a:pt x="11418570" y="34117"/>
                  <a:pt x="11418570" y="76202"/>
                </a:cubicBezTo>
                <a:lnTo>
                  <a:pt x="11418570" y="1303018"/>
                </a:lnTo>
                <a:cubicBezTo>
                  <a:pt x="11418570" y="1345103"/>
                  <a:pt x="11384453" y="1379220"/>
                  <a:pt x="11342368" y="1379220"/>
                </a:cubicBezTo>
                <a:lnTo>
                  <a:pt x="76202" y="1379220"/>
                </a:lnTo>
                <a:cubicBezTo>
                  <a:pt x="34117" y="1379220"/>
                  <a:pt x="0" y="1345103"/>
                  <a:pt x="0" y="13030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2" name="Shape 4"/>
          <p:cNvSpPr/>
          <p:nvPr/>
        </p:nvSpPr>
        <p:spPr>
          <a:xfrm>
            <a:off x="579120" y="1607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3" name="Shape 5"/>
          <p:cNvSpPr/>
          <p:nvPr/>
        </p:nvSpPr>
        <p:spPr>
          <a:xfrm>
            <a:off x="674370" y="17030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4" name="Text 6"/>
          <p:cNvSpPr/>
          <p:nvPr/>
        </p:nvSpPr>
        <p:spPr>
          <a:xfrm>
            <a:off x="1074420" y="1645920"/>
            <a:ext cx="311277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什么是RAG？</a:t>
            </a:r>
            <a:endParaRPr 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7"/>
          <p:cNvSpPr/>
          <p:nvPr/>
        </p:nvSpPr>
        <p:spPr>
          <a:xfrm>
            <a:off x="579120" y="2103120"/>
            <a:ext cx="11106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RAG（Retrieval-Augmented Generation，检索增强生成）是将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信息检索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文本生成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深度融合的架构，让模型在生成时实时访问外部知识库，从而获取准确、合规且时效性强的信息，有效解决大模型幻觉问题。</a:t>
            </a:r>
            <a:endParaRPr lang="en-US" sz="16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384810" y="3284221"/>
            <a:ext cx="3703320" cy="1503045"/>
          </a:xfrm>
          <a:custGeom>
            <a:avLst/>
            <a:gdLst/>
            <a:ahLst/>
            <a:cxnLst/>
            <a:rect l="l" t="t" r="r" b="b"/>
            <a:pathLst>
              <a:path w="3703320" h="1503045">
                <a:moveTo>
                  <a:pt x="76204" y="0"/>
                </a:moveTo>
                <a:lnTo>
                  <a:pt x="3627116" y="0"/>
                </a:lnTo>
                <a:cubicBezTo>
                  <a:pt x="3669202" y="0"/>
                  <a:pt x="3703320" y="34118"/>
                  <a:pt x="3703320" y="76204"/>
                </a:cubicBezTo>
                <a:lnTo>
                  <a:pt x="3703320" y="1426841"/>
                </a:lnTo>
                <a:cubicBezTo>
                  <a:pt x="3703320" y="1468927"/>
                  <a:pt x="3669202" y="1503045"/>
                  <a:pt x="3627116" y="1503045"/>
                </a:cubicBezTo>
                <a:lnTo>
                  <a:pt x="76204" y="1503045"/>
                </a:lnTo>
                <a:cubicBezTo>
                  <a:pt x="34118" y="1503045"/>
                  <a:pt x="0" y="1468927"/>
                  <a:pt x="0" y="142684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7" name="Shape 9"/>
          <p:cNvSpPr/>
          <p:nvPr/>
        </p:nvSpPr>
        <p:spPr>
          <a:xfrm>
            <a:off x="541020" y="34404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28" name="Shape 10"/>
          <p:cNvSpPr/>
          <p:nvPr/>
        </p:nvSpPr>
        <p:spPr>
          <a:xfrm>
            <a:off x="617220" y="35166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Text 11"/>
          <p:cNvSpPr/>
          <p:nvPr/>
        </p:nvSpPr>
        <p:spPr>
          <a:xfrm>
            <a:off x="922020" y="3459480"/>
            <a:ext cx="185991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模型不知道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541020" y="3859531"/>
            <a:ext cx="3457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覆盖模型未学习过的新知识，打破训练数据的时间限制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541020" y="4358641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7C82">
              <a:alpha val="20000"/>
            </a:srgbClr>
          </a:solidFill>
        </p:spPr>
      </p:sp>
      <p:sp>
        <p:nvSpPr>
          <p:cNvPr id="32" name="Shape 14"/>
          <p:cNvSpPr/>
          <p:nvPr/>
        </p:nvSpPr>
        <p:spPr>
          <a:xfrm>
            <a:off x="555307" y="449199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33" name="Text 15"/>
          <p:cNvSpPr/>
          <p:nvPr/>
        </p:nvSpPr>
        <p:spPr>
          <a:xfrm>
            <a:off x="712470" y="4476752"/>
            <a:ext cx="32766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知识覆盖不足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4245531" y="3284221"/>
            <a:ext cx="3703320" cy="1503045"/>
          </a:xfrm>
          <a:custGeom>
            <a:avLst/>
            <a:gdLst/>
            <a:ahLst/>
            <a:cxnLst/>
            <a:rect l="l" t="t" r="r" b="b"/>
            <a:pathLst>
              <a:path w="3703320" h="1503045">
                <a:moveTo>
                  <a:pt x="76204" y="0"/>
                </a:moveTo>
                <a:lnTo>
                  <a:pt x="3627116" y="0"/>
                </a:lnTo>
                <a:cubicBezTo>
                  <a:pt x="3669202" y="0"/>
                  <a:pt x="3703320" y="34118"/>
                  <a:pt x="3703320" y="76204"/>
                </a:cubicBezTo>
                <a:lnTo>
                  <a:pt x="3703320" y="1426841"/>
                </a:lnTo>
                <a:cubicBezTo>
                  <a:pt x="3703320" y="1468927"/>
                  <a:pt x="3669202" y="1503045"/>
                  <a:pt x="3627116" y="1503045"/>
                </a:cubicBezTo>
                <a:lnTo>
                  <a:pt x="76204" y="1503045"/>
                </a:lnTo>
                <a:cubicBezTo>
                  <a:pt x="34118" y="1503045"/>
                  <a:pt x="0" y="1468927"/>
                  <a:pt x="0" y="142684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5" name="Shape 17"/>
          <p:cNvSpPr/>
          <p:nvPr/>
        </p:nvSpPr>
        <p:spPr>
          <a:xfrm>
            <a:off x="4401741" y="34404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36" name="Shape 18"/>
          <p:cNvSpPr/>
          <p:nvPr/>
        </p:nvSpPr>
        <p:spPr>
          <a:xfrm>
            <a:off x="4477941" y="35166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52388"/>
                </a:moveTo>
                <a:cubicBezTo>
                  <a:pt x="70931" y="52388"/>
                  <a:pt x="66675" y="56644"/>
                  <a:pt x="66675" y="61912"/>
                </a:cubicBezTo>
                <a:cubicBezTo>
                  <a:pt x="66675" y="65871"/>
                  <a:pt x="63490" y="69056"/>
                  <a:pt x="59531" y="69056"/>
                </a:cubicBezTo>
                <a:cubicBezTo>
                  <a:pt x="55572" y="69056"/>
                  <a:pt x="52388" y="65871"/>
                  <a:pt x="52388" y="61912"/>
                </a:cubicBezTo>
                <a:cubicBezTo>
                  <a:pt x="52388" y="48756"/>
                  <a:pt x="63044" y="38100"/>
                  <a:pt x="76200" y="38100"/>
                </a:cubicBezTo>
                <a:cubicBezTo>
                  <a:pt x="89356" y="38100"/>
                  <a:pt x="100013" y="48756"/>
                  <a:pt x="100013" y="61912"/>
                </a:cubicBezTo>
                <a:cubicBezTo>
                  <a:pt x="100013" y="75962"/>
                  <a:pt x="89297" y="81915"/>
                  <a:pt x="83344" y="84088"/>
                </a:cubicBezTo>
                <a:lnTo>
                  <a:pt x="83344" y="85219"/>
                </a:lnTo>
                <a:cubicBezTo>
                  <a:pt x="83344" y="89178"/>
                  <a:pt x="80159" y="92363"/>
                  <a:pt x="76200" y="92363"/>
                </a:cubicBezTo>
                <a:cubicBezTo>
                  <a:pt x="72241" y="92363"/>
                  <a:pt x="69056" y="89178"/>
                  <a:pt x="69056" y="85219"/>
                </a:cubicBezTo>
                <a:lnTo>
                  <a:pt x="69056" y="82808"/>
                </a:lnTo>
                <a:cubicBezTo>
                  <a:pt x="69056" y="76706"/>
                  <a:pt x="73462" y="72330"/>
                  <a:pt x="78016" y="70842"/>
                </a:cubicBezTo>
                <a:cubicBezTo>
                  <a:pt x="79921" y="70217"/>
                  <a:pt x="81945" y="69205"/>
                  <a:pt x="83433" y="67776"/>
                </a:cubicBezTo>
                <a:cubicBezTo>
                  <a:pt x="84713" y="66526"/>
                  <a:pt x="85725" y="64800"/>
                  <a:pt x="85725" y="61942"/>
                </a:cubicBezTo>
                <a:cubicBezTo>
                  <a:pt x="85725" y="56674"/>
                  <a:pt x="81469" y="52417"/>
                  <a:pt x="76200" y="52417"/>
                </a:cubicBezTo>
                <a:close/>
                <a:moveTo>
                  <a:pt x="66675" y="109537"/>
                </a:moveTo>
                <a:cubicBezTo>
                  <a:pt x="66675" y="104281"/>
                  <a:pt x="70943" y="100013"/>
                  <a:pt x="76200" y="100013"/>
                </a:cubicBezTo>
                <a:cubicBezTo>
                  <a:pt x="81457" y="100013"/>
                  <a:pt x="85725" y="104281"/>
                  <a:pt x="85725" y="109537"/>
                </a:cubicBezTo>
                <a:cubicBezTo>
                  <a:pt x="85725" y="114794"/>
                  <a:pt x="81457" y="119062"/>
                  <a:pt x="76200" y="119062"/>
                </a:cubicBezTo>
                <a:cubicBezTo>
                  <a:pt x="70943" y="119062"/>
                  <a:pt x="66675" y="114794"/>
                  <a:pt x="66675" y="10953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Text 19"/>
          <p:cNvSpPr/>
          <p:nvPr/>
        </p:nvSpPr>
        <p:spPr>
          <a:xfrm>
            <a:off x="4782820" y="3459480"/>
            <a:ext cx="171704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模型记不准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4401741" y="3859531"/>
            <a:ext cx="3457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提供权威依据，有效减少大模型的幻觉问题，确保答案可信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0" name="Shape 21"/>
          <p:cNvSpPr/>
          <p:nvPr/>
        </p:nvSpPr>
        <p:spPr>
          <a:xfrm>
            <a:off x="4401741" y="4358641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8A464">
              <a:alpha val="20000"/>
            </a:srgbClr>
          </a:solidFill>
        </p:spPr>
      </p:sp>
      <p:sp>
        <p:nvSpPr>
          <p:cNvPr id="41" name="Shape 22"/>
          <p:cNvSpPr/>
          <p:nvPr/>
        </p:nvSpPr>
        <p:spPr>
          <a:xfrm>
            <a:off x="4416028" y="449199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2" name="Text 23"/>
          <p:cNvSpPr/>
          <p:nvPr/>
        </p:nvSpPr>
        <p:spPr>
          <a:xfrm>
            <a:off x="4573191" y="4476752"/>
            <a:ext cx="32766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幻觉问题严重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8106371" y="3284221"/>
            <a:ext cx="3703320" cy="1503045"/>
          </a:xfrm>
          <a:custGeom>
            <a:avLst/>
            <a:gdLst/>
            <a:ahLst/>
            <a:cxnLst/>
            <a:rect l="l" t="t" r="r" b="b"/>
            <a:pathLst>
              <a:path w="3703320" h="1503045">
                <a:moveTo>
                  <a:pt x="76204" y="0"/>
                </a:moveTo>
                <a:lnTo>
                  <a:pt x="3627116" y="0"/>
                </a:lnTo>
                <a:cubicBezTo>
                  <a:pt x="3669202" y="0"/>
                  <a:pt x="3703320" y="34118"/>
                  <a:pt x="3703320" y="76204"/>
                </a:cubicBezTo>
                <a:lnTo>
                  <a:pt x="3703320" y="1426841"/>
                </a:lnTo>
                <a:cubicBezTo>
                  <a:pt x="3703320" y="1468927"/>
                  <a:pt x="3669202" y="1503045"/>
                  <a:pt x="3627116" y="1503045"/>
                </a:cubicBezTo>
                <a:lnTo>
                  <a:pt x="76204" y="1503045"/>
                </a:lnTo>
                <a:cubicBezTo>
                  <a:pt x="34118" y="1503045"/>
                  <a:pt x="0" y="1468927"/>
                  <a:pt x="0" y="142684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4" name="Shape 25"/>
          <p:cNvSpPr/>
          <p:nvPr/>
        </p:nvSpPr>
        <p:spPr>
          <a:xfrm>
            <a:off x="8262581" y="34404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45" name="Shape 26"/>
          <p:cNvSpPr/>
          <p:nvPr/>
        </p:nvSpPr>
        <p:spPr>
          <a:xfrm>
            <a:off x="8329256" y="35166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6" name="Text 27"/>
          <p:cNvSpPr/>
          <p:nvPr/>
        </p:nvSpPr>
        <p:spPr>
          <a:xfrm>
            <a:off x="8643620" y="3459480"/>
            <a:ext cx="172847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知识已过时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8262581" y="3859531"/>
            <a:ext cx="3457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实时接入最新知识库，保证信息的时效性和准确性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Shape 29"/>
          <p:cNvSpPr/>
          <p:nvPr/>
        </p:nvSpPr>
        <p:spPr>
          <a:xfrm>
            <a:off x="8262581" y="4358641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7C82">
              <a:alpha val="20000"/>
            </a:srgbClr>
          </a:solidFill>
        </p:spPr>
      </p:sp>
      <p:sp>
        <p:nvSpPr>
          <p:cNvPr id="49" name="Shape 30"/>
          <p:cNvSpPr/>
          <p:nvPr/>
        </p:nvSpPr>
        <p:spPr>
          <a:xfrm>
            <a:off x="8276868" y="449199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0" name="Text 31"/>
          <p:cNvSpPr/>
          <p:nvPr/>
        </p:nvSpPr>
        <p:spPr>
          <a:xfrm>
            <a:off x="8434031" y="4476752"/>
            <a:ext cx="32766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知识滞后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1" name="Shape 32"/>
          <p:cNvSpPr/>
          <p:nvPr/>
        </p:nvSpPr>
        <p:spPr>
          <a:xfrm>
            <a:off x="400050" y="4941570"/>
            <a:ext cx="3686175" cy="1486535"/>
          </a:xfrm>
          <a:custGeom>
            <a:avLst/>
            <a:gdLst/>
            <a:ahLst/>
            <a:cxnLst/>
            <a:rect l="l" t="t" r="r" b="b"/>
            <a:pathLst>
              <a:path w="3686175" h="990600">
                <a:moveTo>
                  <a:pt x="38100" y="0"/>
                </a:moveTo>
                <a:lnTo>
                  <a:pt x="3609978" y="0"/>
                </a:lnTo>
                <a:cubicBezTo>
                  <a:pt x="3652060" y="0"/>
                  <a:pt x="3686175" y="34115"/>
                  <a:pt x="3686175" y="76197"/>
                </a:cubicBezTo>
                <a:lnTo>
                  <a:pt x="3686175" y="914403"/>
                </a:lnTo>
                <a:cubicBezTo>
                  <a:pt x="3686175" y="956485"/>
                  <a:pt x="3652060" y="990600"/>
                  <a:pt x="360997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2" name="Shape 33"/>
          <p:cNvSpPr/>
          <p:nvPr/>
        </p:nvSpPr>
        <p:spPr>
          <a:xfrm>
            <a:off x="400050" y="4941451"/>
            <a:ext cx="38100" cy="14760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3" name="Shape 34"/>
          <p:cNvSpPr/>
          <p:nvPr/>
        </p:nvSpPr>
        <p:spPr>
          <a:xfrm>
            <a:off x="606028" y="512242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4" name="Text 35"/>
          <p:cNvSpPr/>
          <p:nvPr/>
        </p:nvSpPr>
        <p:spPr>
          <a:xfrm>
            <a:off x="862330" y="5093970"/>
            <a:ext cx="236918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外部知识依赖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5" name="Text 36"/>
          <p:cNvSpPr/>
          <p:nvPr/>
        </p:nvSpPr>
        <p:spPr>
          <a:xfrm>
            <a:off x="571500" y="5398770"/>
            <a:ext cx="3429000" cy="911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生成结果不单纯依赖模型预训练记忆，而是结合实时检索到的外部知识库信息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Shape 37"/>
          <p:cNvSpPr/>
          <p:nvPr/>
        </p:nvSpPr>
        <p:spPr>
          <a:xfrm>
            <a:off x="4260771" y="4941451"/>
            <a:ext cx="3686175" cy="1486800"/>
          </a:xfrm>
          <a:custGeom>
            <a:avLst/>
            <a:gdLst/>
            <a:ahLst/>
            <a:cxnLst/>
            <a:rect l="l" t="t" r="r" b="b"/>
            <a:pathLst>
              <a:path w="3686175" h="990600">
                <a:moveTo>
                  <a:pt x="38100" y="0"/>
                </a:moveTo>
                <a:lnTo>
                  <a:pt x="3609978" y="0"/>
                </a:lnTo>
                <a:cubicBezTo>
                  <a:pt x="3652060" y="0"/>
                  <a:pt x="3686175" y="34115"/>
                  <a:pt x="3686175" y="76197"/>
                </a:cubicBezTo>
                <a:lnTo>
                  <a:pt x="3686175" y="914403"/>
                </a:lnTo>
                <a:cubicBezTo>
                  <a:pt x="3686175" y="956485"/>
                  <a:pt x="3652060" y="990600"/>
                  <a:pt x="360997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7" name="Shape 38"/>
          <p:cNvSpPr/>
          <p:nvPr/>
        </p:nvSpPr>
        <p:spPr>
          <a:xfrm>
            <a:off x="4260771" y="4941451"/>
            <a:ext cx="38100" cy="14868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8" name="Shape 39"/>
          <p:cNvSpPr/>
          <p:nvPr/>
        </p:nvSpPr>
        <p:spPr>
          <a:xfrm>
            <a:off x="4445318" y="512242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9" name="Text 40"/>
          <p:cNvSpPr/>
          <p:nvPr/>
        </p:nvSpPr>
        <p:spPr>
          <a:xfrm>
            <a:off x="4722495" y="5093970"/>
            <a:ext cx="19888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语义关联生成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0" name="Text 41"/>
          <p:cNvSpPr/>
          <p:nvPr/>
        </p:nvSpPr>
        <p:spPr>
          <a:xfrm>
            <a:off x="4432300" y="5398770"/>
            <a:ext cx="3429000" cy="727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生成器深度融合用户问题与检索内容，进行语义层面的整合与推理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1" name="Shape 42"/>
          <p:cNvSpPr/>
          <p:nvPr/>
        </p:nvSpPr>
        <p:spPr>
          <a:xfrm>
            <a:off x="8121611" y="4941451"/>
            <a:ext cx="3686175" cy="1486800"/>
          </a:xfrm>
          <a:custGeom>
            <a:avLst/>
            <a:gdLst/>
            <a:ahLst/>
            <a:cxnLst/>
            <a:rect l="l" t="t" r="r" b="b"/>
            <a:pathLst>
              <a:path w="3686175" h="990600">
                <a:moveTo>
                  <a:pt x="38100" y="0"/>
                </a:moveTo>
                <a:lnTo>
                  <a:pt x="3609978" y="0"/>
                </a:lnTo>
                <a:cubicBezTo>
                  <a:pt x="3652060" y="0"/>
                  <a:pt x="3686175" y="34115"/>
                  <a:pt x="3686175" y="76197"/>
                </a:cubicBezTo>
                <a:lnTo>
                  <a:pt x="3686175" y="914403"/>
                </a:lnTo>
                <a:cubicBezTo>
                  <a:pt x="3686175" y="956485"/>
                  <a:pt x="3652060" y="990600"/>
                  <a:pt x="360997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62" name="Shape 43"/>
          <p:cNvSpPr/>
          <p:nvPr/>
        </p:nvSpPr>
        <p:spPr>
          <a:xfrm>
            <a:off x="8121611" y="4941451"/>
            <a:ext cx="38100" cy="14868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3" name="Shape 44"/>
          <p:cNvSpPr/>
          <p:nvPr/>
        </p:nvSpPr>
        <p:spPr>
          <a:xfrm>
            <a:off x="8338304" y="512242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4" name="Text 45"/>
          <p:cNvSpPr/>
          <p:nvPr/>
        </p:nvSpPr>
        <p:spPr>
          <a:xfrm>
            <a:off x="8583295" y="5093970"/>
            <a:ext cx="194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结果可追溯性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5" name="Text 46"/>
          <p:cNvSpPr/>
          <p:nvPr/>
        </p:nvSpPr>
        <p:spPr>
          <a:xfrm>
            <a:off x="8293100" y="5398770"/>
            <a:ext cx="3429000" cy="727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生成的每条内容都可关联到具体知识库文档来源，提供清晰的引用依据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核心架构设计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64146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RAG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核心架构：检索器与生成器的协同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357765" y="984495"/>
            <a:ext cx="11493348" cy="2175115"/>
          </a:xfrm>
          <a:custGeom>
            <a:avLst/>
            <a:gdLst/>
            <a:ahLst/>
            <a:cxnLst/>
            <a:rect l="l" t="t" r="r" b="b"/>
            <a:pathLst>
              <a:path w="11493348" h="2175115">
                <a:moveTo>
                  <a:pt x="68842" y="0"/>
                </a:moveTo>
                <a:lnTo>
                  <a:pt x="11424505" y="0"/>
                </a:lnTo>
                <a:cubicBezTo>
                  <a:pt x="11462526" y="0"/>
                  <a:pt x="11493348" y="30822"/>
                  <a:pt x="11493348" y="68842"/>
                </a:cubicBezTo>
                <a:lnTo>
                  <a:pt x="11493348" y="2106272"/>
                </a:lnTo>
                <a:cubicBezTo>
                  <a:pt x="11493348" y="2144293"/>
                  <a:pt x="11462526" y="2175115"/>
                  <a:pt x="11424505" y="2175115"/>
                </a:cubicBezTo>
                <a:lnTo>
                  <a:pt x="68842" y="2175115"/>
                </a:lnTo>
                <a:cubicBezTo>
                  <a:pt x="30822" y="2175115"/>
                  <a:pt x="0" y="2144293"/>
                  <a:pt x="0" y="2106272"/>
                </a:cubicBezTo>
                <a:lnTo>
                  <a:pt x="0" y="68842"/>
                </a:lnTo>
                <a:cubicBezTo>
                  <a:pt x="0" y="30822"/>
                  <a:pt x="30822" y="0"/>
                  <a:pt x="6884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5" name="Shape 4"/>
          <p:cNvSpPr/>
          <p:nvPr/>
        </p:nvSpPr>
        <p:spPr>
          <a:xfrm>
            <a:off x="520383" y="1160016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64531" y="21510"/>
                </a:moveTo>
                <a:cubicBezTo>
                  <a:pt x="64531" y="15561"/>
                  <a:pt x="69337" y="10755"/>
                  <a:pt x="75286" y="10755"/>
                </a:cubicBezTo>
                <a:lnTo>
                  <a:pt x="96796" y="10755"/>
                </a:lnTo>
                <a:cubicBezTo>
                  <a:pt x="102745" y="10755"/>
                  <a:pt x="107551" y="15561"/>
                  <a:pt x="107551" y="21510"/>
                </a:cubicBezTo>
                <a:lnTo>
                  <a:pt x="107551" y="43020"/>
                </a:lnTo>
                <a:cubicBezTo>
                  <a:pt x="107551" y="48969"/>
                  <a:pt x="102745" y="53776"/>
                  <a:pt x="96796" y="53776"/>
                </a:cubicBezTo>
                <a:lnTo>
                  <a:pt x="94107" y="53776"/>
                </a:lnTo>
                <a:lnTo>
                  <a:pt x="94107" y="75286"/>
                </a:lnTo>
                <a:lnTo>
                  <a:pt x="134439" y="75286"/>
                </a:lnTo>
                <a:cubicBezTo>
                  <a:pt x="147816" y="75286"/>
                  <a:pt x="158638" y="86108"/>
                  <a:pt x="158638" y="99485"/>
                </a:cubicBezTo>
                <a:lnTo>
                  <a:pt x="158638" y="118306"/>
                </a:lnTo>
                <a:lnTo>
                  <a:pt x="161327" y="118306"/>
                </a:lnTo>
                <a:cubicBezTo>
                  <a:pt x="167276" y="118306"/>
                  <a:pt x="172082" y="123112"/>
                  <a:pt x="172082" y="129061"/>
                </a:cubicBezTo>
                <a:lnTo>
                  <a:pt x="172082" y="150572"/>
                </a:lnTo>
                <a:cubicBezTo>
                  <a:pt x="172082" y="156521"/>
                  <a:pt x="167276" y="161327"/>
                  <a:pt x="161327" y="161327"/>
                </a:cubicBezTo>
                <a:lnTo>
                  <a:pt x="139817" y="161327"/>
                </a:lnTo>
                <a:cubicBezTo>
                  <a:pt x="133868" y="161327"/>
                  <a:pt x="129061" y="156521"/>
                  <a:pt x="129061" y="150572"/>
                </a:cubicBezTo>
                <a:lnTo>
                  <a:pt x="129061" y="129061"/>
                </a:lnTo>
                <a:cubicBezTo>
                  <a:pt x="129061" y="123112"/>
                  <a:pt x="133868" y="118306"/>
                  <a:pt x="139817" y="118306"/>
                </a:cubicBezTo>
                <a:lnTo>
                  <a:pt x="142505" y="118306"/>
                </a:lnTo>
                <a:lnTo>
                  <a:pt x="142505" y="99485"/>
                </a:lnTo>
                <a:cubicBezTo>
                  <a:pt x="142505" y="95015"/>
                  <a:pt x="138909" y="91418"/>
                  <a:pt x="134439" y="91418"/>
                </a:cubicBezTo>
                <a:lnTo>
                  <a:pt x="94107" y="91418"/>
                </a:lnTo>
                <a:lnTo>
                  <a:pt x="94107" y="118306"/>
                </a:lnTo>
                <a:lnTo>
                  <a:pt x="96796" y="118306"/>
                </a:lnTo>
                <a:cubicBezTo>
                  <a:pt x="102745" y="118306"/>
                  <a:pt x="107551" y="123112"/>
                  <a:pt x="107551" y="129061"/>
                </a:cubicBezTo>
                <a:lnTo>
                  <a:pt x="107551" y="150572"/>
                </a:lnTo>
                <a:cubicBezTo>
                  <a:pt x="107551" y="156521"/>
                  <a:pt x="102745" y="161327"/>
                  <a:pt x="96796" y="161327"/>
                </a:cubicBezTo>
                <a:lnTo>
                  <a:pt x="75286" y="161327"/>
                </a:lnTo>
                <a:cubicBezTo>
                  <a:pt x="69337" y="161327"/>
                  <a:pt x="64531" y="156521"/>
                  <a:pt x="64531" y="150572"/>
                </a:cubicBezTo>
                <a:lnTo>
                  <a:pt x="64531" y="129061"/>
                </a:lnTo>
                <a:cubicBezTo>
                  <a:pt x="64531" y="123112"/>
                  <a:pt x="69337" y="118306"/>
                  <a:pt x="75286" y="118306"/>
                </a:cubicBezTo>
                <a:lnTo>
                  <a:pt x="77975" y="118306"/>
                </a:lnTo>
                <a:lnTo>
                  <a:pt x="77975" y="91418"/>
                </a:lnTo>
                <a:lnTo>
                  <a:pt x="37643" y="91418"/>
                </a:lnTo>
                <a:cubicBezTo>
                  <a:pt x="33173" y="91418"/>
                  <a:pt x="29577" y="95015"/>
                  <a:pt x="29577" y="99485"/>
                </a:cubicBezTo>
                <a:lnTo>
                  <a:pt x="29577" y="118306"/>
                </a:lnTo>
                <a:lnTo>
                  <a:pt x="32265" y="118306"/>
                </a:lnTo>
                <a:cubicBezTo>
                  <a:pt x="38214" y="118306"/>
                  <a:pt x="43020" y="123112"/>
                  <a:pt x="43020" y="129061"/>
                </a:cubicBezTo>
                <a:lnTo>
                  <a:pt x="43020" y="150572"/>
                </a:lnTo>
                <a:cubicBezTo>
                  <a:pt x="43020" y="156521"/>
                  <a:pt x="38214" y="161327"/>
                  <a:pt x="32265" y="161327"/>
                </a:cubicBezTo>
                <a:lnTo>
                  <a:pt x="10755" y="161327"/>
                </a:lnTo>
                <a:cubicBezTo>
                  <a:pt x="4806" y="161327"/>
                  <a:pt x="0" y="156521"/>
                  <a:pt x="0" y="150572"/>
                </a:cubicBezTo>
                <a:lnTo>
                  <a:pt x="0" y="129061"/>
                </a:lnTo>
                <a:cubicBezTo>
                  <a:pt x="0" y="123112"/>
                  <a:pt x="4806" y="118306"/>
                  <a:pt x="10755" y="118306"/>
                </a:cubicBezTo>
                <a:lnTo>
                  <a:pt x="13444" y="118306"/>
                </a:lnTo>
                <a:lnTo>
                  <a:pt x="13444" y="99485"/>
                </a:lnTo>
                <a:cubicBezTo>
                  <a:pt x="13444" y="86108"/>
                  <a:pt x="24266" y="75286"/>
                  <a:pt x="37643" y="75286"/>
                </a:cubicBezTo>
                <a:lnTo>
                  <a:pt x="77975" y="75286"/>
                </a:lnTo>
                <a:lnTo>
                  <a:pt x="77975" y="53776"/>
                </a:lnTo>
                <a:lnTo>
                  <a:pt x="75286" y="53776"/>
                </a:lnTo>
                <a:cubicBezTo>
                  <a:pt x="69337" y="53776"/>
                  <a:pt x="64531" y="48969"/>
                  <a:pt x="64531" y="43020"/>
                </a:cubicBezTo>
                <a:lnTo>
                  <a:pt x="64531" y="2151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26" name="Text 5"/>
          <p:cNvSpPr/>
          <p:nvPr/>
        </p:nvSpPr>
        <p:spPr>
          <a:xfrm>
            <a:off x="713975" y="1125600"/>
            <a:ext cx="11082072" cy="240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RAG四大核心环节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498872" y="1521388"/>
            <a:ext cx="2727498" cy="1084116"/>
          </a:xfrm>
          <a:custGeom>
            <a:avLst/>
            <a:gdLst/>
            <a:ahLst/>
            <a:cxnLst/>
            <a:rect l="l" t="t" r="r" b="b"/>
            <a:pathLst>
              <a:path w="2727498" h="10841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1015285"/>
                </a:lnTo>
                <a:cubicBezTo>
                  <a:pt x="2727498" y="1053299"/>
                  <a:pt x="2696681" y="1084116"/>
                  <a:pt x="2658667" y="1084116"/>
                </a:cubicBezTo>
                <a:lnTo>
                  <a:pt x="68831" y="1084116"/>
                </a:lnTo>
                <a:cubicBezTo>
                  <a:pt x="30816" y="1084116"/>
                  <a:pt x="0" y="1053299"/>
                  <a:pt x="0" y="1015285"/>
                </a:cubicBezTo>
                <a:lnTo>
                  <a:pt x="0" y="34416"/>
                </a:lnTo>
                <a:cubicBezTo>
                  <a:pt x="0" y="15421"/>
                  <a:pt x="15421" y="0"/>
                  <a:pt x="344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8" name="Shape 7"/>
          <p:cNvSpPr/>
          <p:nvPr/>
        </p:nvSpPr>
        <p:spPr>
          <a:xfrm>
            <a:off x="498872" y="1521388"/>
            <a:ext cx="2727498" cy="34416"/>
          </a:xfrm>
          <a:custGeom>
            <a:avLst/>
            <a:gdLst/>
            <a:ahLst/>
            <a:cxnLst/>
            <a:rect l="l" t="t" r="r" b="b"/>
            <a:pathLst>
              <a:path w="2727498" h="344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34416"/>
                </a:lnTo>
                <a:lnTo>
                  <a:pt x="0" y="34416"/>
                </a:ln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Shape 8"/>
          <p:cNvSpPr/>
          <p:nvPr/>
        </p:nvSpPr>
        <p:spPr>
          <a:xfrm>
            <a:off x="1655263" y="1641846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206498" y="0"/>
                </a:moveTo>
                <a:lnTo>
                  <a:pt x="206498" y="0"/>
                </a:lnTo>
                <a:cubicBezTo>
                  <a:pt x="320544" y="0"/>
                  <a:pt x="412996" y="92452"/>
                  <a:pt x="412996" y="206498"/>
                </a:cubicBezTo>
                <a:lnTo>
                  <a:pt x="412996" y="206498"/>
                </a:lnTo>
                <a:cubicBezTo>
                  <a:pt x="412996" y="320544"/>
                  <a:pt x="320544" y="412996"/>
                  <a:pt x="206498" y="412996"/>
                </a:cubicBezTo>
                <a:lnTo>
                  <a:pt x="206498" y="412996"/>
                </a:lnTo>
                <a:cubicBezTo>
                  <a:pt x="92452" y="412996"/>
                  <a:pt x="0" y="320544"/>
                  <a:pt x="0" y="206498"/>
                </a:cubicBezTo>
                <a:lnTo>
                  <a:pt x="0" y="206498"/>
                </a:lnTo>
                <a:cubicBezTo>
                  <a:pt x="0" y="92452"/>
                  <a:pt x="92452" y="0"/>
                  <a:pt x="2064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0" name="Text 9"/>
          <p:cNvSpPr/>
          <p:nvPr/>
        </p:nvSpPr>
        <p:spPr>
          <a:xfrm>
            <a:off x="1784862" y="1727887"/>
            <a:ext cx="154874" cy="240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567705" y="2123675"/>
            <a:ext cx="2589832" cy="206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问题输入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576309" y="2364590"/>
            <a:ext cx="2572624" cy="137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用户提出具体问题，系统接收并解析输入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3328006" y="1521388"/>
            <a:ext cx="2727498" cy="1084116"/>
          </a:xfrm>
          <a:custGeom>
            <a:avLst/>
            <a:gdLst/>
            <a:ahLst/>
            <a:cxnLst/>
            <a:rect l="l" t="t" r="r" b="b"/>
            <a:pathLst>
              <a:path w="2727498" h="10841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1015285"/>
                </a:lnTo>
                <a:cubicBezTo>
                  <a:pt x="2727498" y="1053299"/>
                  <a:pt x="2696681" y="1084116"/>
                  <a:pt x="2658667" y="1084116"/>
                </a:cubicBezTo>
                <a:lnTo>
                  <a:pt x="68831" y="1084116"/>
                </a:lnTo>
                <a:cubicBezTo>
                  <a:pt x="30816" y="1084116"/>
                  <a:pt x="0" y="1053299"/>
                  <a:pt x="0" y="1015285"/>
                </a:cubicBezTo>
                <a:lnTo>
                  <a:pt x="0" y="34416"/>
                </a:lnTo>
                <a:cubicBezTo>
                  <a:pt x="0" y="15421"/>
                  <a:pt x="15421" y="0"/>
                  <a:pt x="344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4" name="Shape 13"/>
          <p:cNvSpPr/>
          <p:nvPr/>
        </p:nvSpPr>
        <p:spPr>
          <a:xfrm>
            <a:off x="3328006" y="1521388"/>
            <a:ext cx="2727498" cy="34416"/>
          </a:xfrm>
          <a:custGeom>
            <a:avLst/>
            <a:gdLst/>
            <a:ahLst/>
            <a:cxnLst/>
            <a:rect l="l" t="t" r="r" b="b"/>
            <a:pathLst>
              <a:path w="2727498" h="344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34416"/>
                </a:lnTo>
                <a:lnTo>
                  <a:pt x="0" y="34416"/>
                </a:ln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5" name="Shape 14"/>
          <p:cNvSpPr/>
          <p:nvPr/>
        </p:nvSpPr>
        <p:spPr>
          <a:xfrm>
            <a:off x="4484504" y="1641846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206498" y="0"/>
                </a:moveTo>
                <a:lnTo>
                  <a:pt x="206498" y="0"/>
                </a:lnTo>
                <a:cubicBezTo>
                  <a:pt x="320544" y="0"/>
                  <a:pt x="412996" y="92452"/>
                  <a:pt x="412996" y="206498"/>
                </a:cubicBezTo>
                <a:lnTo>
                  <a:pt x="412996" y="206498"/>
                </a:lnTo>
                <a:cubicBezTo>
                  <a:pt x="412996" y="320544"/>
                  <a:pt x="320544" y="412996"/>
                  <a:pt x="206498" y="412996"/>
                </a:cubicBezTo>
                <a:lnTo>
                  <a:pt x="206498" y="412996"/>
                </a:lnTo>
                <a:cubicBezTo>
                  <a:pt x="92452" y="412996"/>
                  <a:pt x="0" y="320544"/>
                  <a:pt x="0" y="206498"/>
                </a:cubicBezTo>
                <a:lnTo>
                  <a:pt x="0" y="206498"/>
                </a:lnTo>
                <a:cubicBezTo>
                  <a:pt x="0" y="92452"/>
                  <a:pt x="92452" y="0"/>
                  <a:pt x="2064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6" name="Text 15"/>
          <p:cNvSpPr/>
          <p:nvPr/>
        </p:nvSpPr>
        <p:spPr>
          <a:xfrm>
            <a:off x="4599583" y="1727887"/>
            <a:ext cx="180686" cy="240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3396839" y="2123675"/>
            <a:ext cx="2589832" cy="206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 Retriever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3405443" y="2364590"/>
            <a:ext cx="2572624" cy="137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从外部知识库检索与问题最相关的文档片段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6157247" y="1521388"/>
            <a:ext cx="2727498" cy="1084116"/>
          </a:xfrm>
          <a:custGeom>
            <a:avLst/>
            <a:gdLst/>
            <a:ahLst/>
            <a:cxnLst/>
            <a:rect l="l" t="t" r="r" b="b"/>
            <a:pathLst>
              <a:path w="2727498" h="10841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1015285"/>
                </a:lnTo>
                <a:cubicBezTo>
                  <a:pt x="2727498" y="1053299"/>
                  <a:pt x="2696681" y="1084116"/>
                  <a:pt x="2658667" y="1084116"/>
                </a:cubicBezTo>
                <a:lnTo>
                  <a:pt x="68831" y="1084116"/>
                </a:lnTo>
                <a:cubicBezTo>
                  <a:pt x="30816" y="1084116"/>
                  <a:pt x="0" y="1053299"/>
                  <a:pt x="0" y="1015285"/>
                </a:cubicBezTo>
                <a:lnTo>
                  <a:pt x="0" y="34416"/>
                </a:lnTo>
                <a:cubicBezTo>
                  <a:pt x="0" y="15421"/>
                  <a:pt x="15421" y="0"/>
                  <a:pt x="344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1" name="Shape 19"/>
          <p:cNvSpPr/>
          <p:nvPr/>
        </p:nvSpPr>
        <p:spPr>
          <a:xfrm>
            <a:off x="6157247" y="1521388"/>
            <a:ext cx="2727498" cy="34416"/>
          </a:xfrm>
          <a:custGeom>
            <a:avLst/>
            <a:gdLst/>
            <a:ahLst/>
            <a:cxnLst/>
            <a:rect l="l" t="t" r="r" b="b"/>
            <a:pathLst>
              <a:path w="2727498" h="344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34416"/>
                </a:lnTo>
                <a:lnTo>
                  <a:pt x="0" y="34416"/>
                </a:ln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2" name="Shape 20"/>
          <p:cNvSpPr/>
          <p:nvPr/>
        </p:nvSpPr>
        <p:spPr>
          <a:xfrm>
            <a:off x="7313745" y="1641846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206498" y="0"/>
                </a:moveTo>
                <a:lnTo>
                  <a:pt x="206498" y="0"/>
                </a:lnTo>
                <a:cubicBezTo>
                  <a:pt x="320544" y="0"/>
                  <a:pt x="412996" y="92452"/>
                  <a:pt x="412996" y="206498"/>
                </a:cubicBezTo>
                <a:lnTo>
                  <a:pt x="412996" y="206498"/>
                </a:lnTo>
                <a:cubicBezTo>
                  <a:pt x="412996" y="320544"/>
                  <a:pt x="320544" y="412996"/>
                  <a:pt x="206498" y="412996"/>
                </a:cubicBezTo>
                <a:lnTo>
                  <a:pt x="206498" y="412996"/>
                </a:lnTo>
                <a:cubicBezTo>
                  <a:pt x="92452" y="412996"/>
                  <a:pt x="0" y="320544"/>
                  <a:pt x="0" y="206498"/>
                </a:cubicBezTo>
                <a:lnTo>
                  <a:pt x="0" y="206498"/>
                </a:lnTo>
                <a:cubicBezTo>
                  <a:pt x="0" y="92452"/>
                  <a:pt x="92452" y="0"/>
                  <a:pt x="2064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3" name="Text 21"/>
          <p:cNvSpPr/>
          <p:nvPr/>
        </p:nvSpPr>
        <p:spPr>
          <a:xfrm>
            <a:off x="7426566" y="1727887"/>
            <a:ext cx="189290" cy="240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6226080" y="2123675"/>
            <a:ext cx="2589832" cy="206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 Generator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6234684" y="2364590"/>
            <a:ext cx="2572624" cy="137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大模型结合问题和检索知识，生成准确答案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" name="Shape 24"/>
          <p:cNvSpPr/>
          <p:nvPr/>
        </p:nvSpPr>
        <p:spPr>
          <a:xfrm>
            <a:off x="8986488" y="1521388"/>
            <a:ext cx="2727498" cy="1084116"/>
          </a:xfrm>
          <a:custGeom>
            <a:avLst/>
            <a:gdLst/>
            <a:ahLst/>
            <a:cxnLst/>
            <a:rect l="l" t="t" r="r" b="b"/>
            <a:pathLst>
              <a:path w="2727498" h="10841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1015285"/>
                </a:lnTo>
                <a:cubicBezTo>
                  <a:pt x="2727498" y="1053299"/>
                  <a:pt x="2696681" y="1084116"/>
                  <a:pt x="2658667" y="1084116"/>
                </a:cubicBezTo>
                <a:lnTo>
                  <a:pt x="68831" y="1084116"/>
                </a:lnTo>
                <a:cubicBezTo>
                  <a:pt x="30816" y="1084116"/>
                  <a:pt x="0" y="1053299"/>
                  <a:pt x="0" y="1015285"/>
                </a:cubicBezTo>
                <a:lnTo>
                  <a:pt x="0" y="34416"/>
                </a:lnTo>
                <a:cubicBezTo>
                  <a:pt x="0" y="15421"/>
                  <a:pt x="15421" y="0"/>
                  <a:pt x="344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7" name="Shape 25"/>
          <p:cNvSpPr/>
          <p:nvPr/>
        </p:nvSpPr>
        <p:spPr>
          <a:xfrm>
            <a:off x="8986488" y="1521388"/>
            <a:ext cx="2727498" cy="34416"/>
          </a:xfrm>
          <a:custGeom>
            <a:avLst/>
            <a:gdLst/>
            <a:ahLst/>
            <a:cxnLst/>
            <a:rect l="l" t="t" r="r" b="b"/>
            <a:pathLst>
              <a:path w="2727498" h="34416">
                <a:moveTo>
                  <a:pt x="34416" y="0"/>
                </a:moveTo>
                <a:lnTo>
                  <a:pt x="2693081" y="0"/>
                </a:lnTo>
                <a:cubicBezTo>
                  <a:pt x="2712089" y="0"/>
                  <a:pt x="2727498" y="15409"/>
                  <a:pt x="2727498" y="34416"/>
                </a:cubicBezTo>
                <a:lnTo>
                  <a:pt x="2727498" y="34416"/>
                </a:lnTo>
                <a:lnTo>
                  <a:pt x="0" y="34416"/>
                </a:ln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8" name="Shape 26"/>
          <p:cNvSpPr/>
          <p:nvPr/>
        </p:nvSpPr>
        <p:spPr>
          <a:xfrm>
            <a:off x="10142986" y="1641846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206498" y="0"/>
                </a:moveTo>
                <a:lnTo>
                  <a:pt x="206498" y="0"/>
                </a:lnTo>
                <a:cubicBezTo>
                  <a:pt x="320544" y="0"/>
                  <a:pt x="412996" y="92452"/>
                  <a:pt x="412996" y="206498"/>
                </a:cubicBezTo>
                <a:lnTo>
                  <a:pt x="412996" y="206498"/>
                </a:lnTo>
                <a:cubicBezTo>
                  <a:pt x="412996" y="320544"/>
                  <a:pt x="320544" y="412996"/>
                  <a:pt x="206498" y="412996"/>
                </a:cubicBezTo>
                <a:lnTo>
                  <a:pt x="206498" y="412996"/>
                </a:lnTo>
                <a:cubicBezTo>
                  <a:pt x="92452" y="412996"/>
                  <a:pt x="0" y="320544"/>
                  <a:pt x="0" y="206498"/>
                </a:cubicBezTo>
                <a:lnTo>
                  <a:pt x="0" y="206498"/>
                </a:lnTo>
                <a:cubicBezTo>
                  <a:pt x="0" y="92452"/>
                  <a:pt x="92452" y="0"/>
                  <a:pt x="2064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9" name="Text 27"/>
          <p:cNvSpPr/>
          <p:nvPr/>
        </p:nvSpPr>
        <p:spPr>
          <a:xfrm>
            <a:off x="10256022" y="1727887"/>
            <a:ext cx="189290" cy="240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0" name="Text 28"/>
          <p:cNvSpPr/>
          <p:nvPr/>
        </p:nvSpPr>
        <p:spPr>
          <a:xfrm>
            <a:off x="9055321" y="2123675"/>
            <a:ext cx="2589832" cy="206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输出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9063925" y="2364590"/>
            <a:ext cx="2572624" cy="137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返回有依据的最终结果，附带引用来源</a:t>
            </a:r>
            <a:endParaRPr lang="en-US" sz="10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Shape 30"/>
          <p:cNvSpPr/>
          <p:nvPr/>
        </p:nvSpPr>
        <p:spPr>
          <a:xfrm>
            <a:off x="498872" y="2708648"/>
            <a:ext cx="11211133" cy="309747"/>
          </a:xfrm>
          <a:custGeom>
            <a:avLst/>
            <a:gdLst/>
            <a:ahLst/>
            <a:cxnLst/>
            <a:rect l="l" t="t" r="r" b="b"/>
            <a:pathLst>
              <a:path w="11211133" h="309747">
                <a:moveTo>
                  <a:pt x="68832" y="0"/>
                </a:moveTo>
                <a:lnTo>
                  <a:pt x="11142301" y="0"/>
                </a:lnTo>
                <a:cubicBezTo>
                  <a:pt x="11180316" y="0"/>
                  <a:pt x="11211133" y="30817"/>
                  <a:pt x="11211133" y="68832"/>
                </a:cubicBezTo>
                <a:lnTo>
                  <a:pt x="11211133" y="240915"/>
                </a:lnTo>
                <a:cubicBezTo>
                  <a:pt x="11211133" y="278930"/>
                  <a:pt x="11180316" y="309747"/>
                  <a:pt x="11142301" y="309747"/>
                </a:cubicBezTo>
                <a:lnTo>
                  <a:pt x="68832" y="309747"/>
                </a:lnTo>
                <a:cubicBezTo>
                  <a:pt x="30843" y="309747"/>
                  <a:pt x="0" y="278905"/>
                  <a:pt x="0" y="240915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3" name="Shape 31"/>
          <p:cNvSpPr/>
          <p:nvPr/>
        </p:nvSpPr>
        <p:spPr>
          <a:xfrm>
            <a:off x="3948759" y="2828610"/>
            <a:ext cx="120457" cy="120457"/>
          </a:xfrm>
          <a:custGeom>
            <a:avLst/>
            <a:gdLst/>
            <a:ahLst/>
            <a:cxnLst/>
            <a:rect l="l" t="t" r="r" b="b"/>
            <a:pathLst>
              <a:path w="120457" h="120457">
                <a:moveTo>
                  <a:pt x="60229" y="120457"/>
                </a:moveTo>
                <a:cubicBezTo>
                  <a:pt x="93470" y="120457"/>
                  <a:pt x="120457" y="93470"/>
                  <a:pt x="120457" y="60229"/>
                </a:cubicBezTo>
                <a:cubicBezTo>
                  <a:pt x="120457" y="26988"/>
                  <a:pt x="93470" y="0"/>
                  <a:pt x="60229" y="0"/>
                </a:cubicBezTo>
                <a:cubicBezTo>
                  <a:pt x="26988" y="0"/>
                  <a:pt x="0" y="26988"/>
                  <a:pt x="0" y="60229"/>
                </a:cubicBezTo>
                <a:cubicBezTo>
                  <a:pt x="0" y="93470"/>
                  <a:pt x="26988" y="120457"/>
                  <a:pt x="60229" y="120457"/>
                </a:cubicBezTo>
                <a:close/>
                <a:moveTo>
                  <a:pt x="52700" y="37643"/>
                </a:moveTo>
                <a:cubicBezTo>
                  <a:pt x="52700" y="33488"/>
                  <a:pt x="56074" y="30114"/>
                  <a:pt x="60229" y="30114"/>
                </a:cubicBezTo>
                <a:cubicBezTo>
                  <a:pt x="64384" y="30114"/>
                  <a:pt x="67757" y="33488"/>
                  <a:pt x="67757" y="37643"/>
                </a:cubicBezTo>
                <a:cubicBezTo>
                  <a:pt x="67757" y="41798"/>
                  <a:pt x="64384" y="45171"/>
                  <a:pt x="60229" y="45171"/>
                </a:cubicBezTo>
                <a:cubicBezTo>
                  <a:pt x="56074" y="45171"/>
                  <a:pt x="52700" y="41798"/>
                  <a:pt x="52700" y="37643"/>
                </a:cubicBezTo>
                <a:close/>
                <a:moveTo>
                  <a:pt x="50818" y="52700"/>
                </a:moveTo>
                <a:lnTo>
                  <a:pt x="62111" y="52700"/>
                </a:lnTo>
                <a:cubicBezTo>
                  <a:pt x="65240" y="52700"/>
                  <a:pt x="67757" y="55217"/>
                  <a:pt x="67757" y="58347"/>
                </a:cubicBezTo>
                <a:lnTo>
                  <a:pt x="67757" y="79050"/>
                </a:lnTo>
                <a:lnTo>
                  <a:pt x="69639" y="79050"/>
                </a:lnTo>
                <a:cubicBezTo>
                  <a:pt x="72768" y="79050"/>
                  <a:pt x="75286" y="81567"/>
                  <a:pt x="75286" y="84697"/>
                </a:cubicBezTo>
                <a:cubicBezTo>
                  <a:pt x="75286" y="87826"/>
                  <a:pt x="72768" y="90343"/>
                  <a:pt x="69639" y="90343"/>
                </a:cubicBezTo>
                <a:lnTo>
                  <a:pt x="50818" y="90343"/>
                </a:lnTo>
                <a:cubicBezTo>
                  <a:pt x="47689" y="90343"/>
                  <a:pt x="45171" y="87826"/>
                  <a:pt x="45171" y="84697"/>
                </a:cubicBezTo>
                <a:cubicBezTo>
                  <a:pt x="45171" y="81567"/>
                  <a:pt x="47689" y="79050"/>
                  <a:pt x="50818" y="79050"/>
                </a:cubicBezTo>
                <a:lnTo>
                  <a:pt x="56464" y="79050"/>
                </a:lnTo>
                <a:lnTo>
                  <a:pt x="56464" y="63993"/>
                </a:lnTo>
                <a:lnTo>
                  <a:pt x="50818" y="63993"/>
                </a:lnTo>
                <a:cubicBezTo>
                  <a:pt x="47689" y="63993"/>
                  <a:pt x="45171" y="61476"/>
                  <a:pt x="45171" y="58347"/>
                </a:cubicBezTo>
                <a:cubicBezTo>
                  <a:pt x="45171" y="55217"/>
                  <a:pt x="47689" y="52700"/>
                  <a:pt x="50818" y="5270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4" name="Text 32"/>
          <p:cNvSpPr/>
          <p:nvPr/>
        </p:nvSpPr>
        <p:spPr>
          <a:xfrm>
            <a:off x="1104858" y="2777481"/>
            <a:ext cx="10932190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辅助环节：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知识库索引构建 / 数据清洗与预处理 / 向量化存储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Shape 33"/>
          <p:cNvSpPr/>
          <p:nvPr/>
        </p:nvSpPr>
        <p:spPr>
          <a:xfrm>
            <a:off x="357765" y="3269633"/>
            <a:ext cx="5694189" cy="2467654"/>
          </a:xfrm>
          <a:custGeom>
            <a:avLst/>
            <a:gdLst/>
            <a:ahLst/>
            <a:cxnLst/>
            <a:rect l="l" t="t" r="r" b="b"/>
            <a:pathLst>
              <a:path w="5694189" h="2467654">
                <a:moveTo>
                  <a:pt x="68823" y="0"/>
                </a:moveTo>
                <a:lnTo>
                  <a:pt x="5625366" y="0"/>
                </a:lnTo>
                <a:cubicBezTo>
                  <a:pt x="5663376" y="0"/>
                  <a:pt x="5694189" y="30813"/>
                  <a:pt x="5694189" y="68823"/>
                </a:cubicBezTo>
                <a:lnTo>
                  <a:pt x="5694189" y="2398831"/>
                </a:lnTo>
                <a:cubicBezTo>
                  <a:pt x="5694189" y="2436841"/>
                  <a:pt x="5663376" y="2467654"/>
                  <a:pt x="5625366" y="2467654"/>
                </a:cubicBezTo>
                <a:lnTo>
                  <a:pt x="68823" y="2467654"/>
                </a:lnTo>
                <a:cubicBezTo>
                  <a:pt x="30813" y="2467654"/>
                  <a:pt x="0" y="2436841"/>
                  <a:pt x="0" y="2398831"/>
                </a:cubicBezTo>
                <a:lnTo>
                  <a:pt x="0" y="68823"/>
                </a:lnTo>
                <a:cubicBezTo>
                  <a:pt x="0" y="30813"/>
                  <a:pt x="30813" y="0"/>
                  <a:pt x="6882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6" name="Shape 34"/>
          <p:cNvSpPr/>
          <p:nvPr/>
        </p:nvSpPr>
        <p:spPr>
          <a:xfrm>
            <a:off x="520383" y="3453764"/>
            <a:ext cx="154874" cy="154874"/>
          </a:xfrm>
          <a:custGeom>
            <a:avLst/>
            <a:gdLst/>
            <a:ahLst/>
            <a:cxnLst/>
            <a:rect l="l" t="t" r="r" b="b"/>
            <a:pathLst>
              <a:path w="154874" h="154874">
                <a:moveTo>
                  <a:pt x="125835" y="62917"/>
                </a:moveTo>
                <a:cubicBezTo>
                  <a:pt x="125835" y="76802"/>
                  <a:pt x="121328" y="89627"/>
                  <a:pt x="113735" y="100033"/>
                </a:cubicBezTo>
                <a:lnTo>
                  <a:pt x="152030" y="138358"/>
                </a:lnTo>
                <a:cubicBezTo>
                  <a:pt x="155811" y="142139"/>
                  <a:pt x="155811" y="148279"/>
                  <a:pt x="152030" y="152061"/>
                </a:cubicBezTo>
                <a:cubicBezTo>
                  <a:pt x="148249" y="155842"/>
                  <a:pt x="142109" y="155842"/>
                  <a:pt x="138328" y="152061"/>
                </a:cubicBezTo>
                <a:lnTo>
                  <a:pt x="100033" y="113735"/>
                </a:lnTo>
                <a:cubicBezTo>
                  <a:pt x="89627" y="121328"/>
                  <a:pt x="76802" y="125835"/>
                  <a:pt x="62917" y="125835"/>
                </a:cubicBezTo>
                <a:cubicBezTo>
                  <a:pt x="28162" y="125835"/>
                  <a:pt x="0" y="97673"/>
                  <a:pt x="0" y="62917"/>
                </a:cubicBezTo>
                <a:cubicBezTo>
                  <a:pt x="0" y="28162"/>
                  <a:pt x="28162" y="0"/>
                  <a:pt x="62917" y="0"/>
                </a:cubicBezTo>
                <a:cubicBezTo>
                  <a:pt x="97673" y="0"/>
                  <a:pt x="125835" y="28162"/>
                  <a:pt x="125835" y="62917"/>
                </a:cubicBezTo>
                <a:close/>
                <a:moveTo>
                  <a:pt x="62917" y="106476"/>
                </a:moveTo>
                <a:cubicBezTo>
                  <a:pt x="86958" y="106476"/>
                  <a:pt x="106476" y="86958"/>
                  <a:pt x="106476" y="62917"/>
                </a:cubicBezTo>
                <a:cubicBezTo>
                  <a:pt x="106476" y="38877"/>
                  <a:pt x="86958" y="19359"/>
                  <a:pt x="62917" y="19359"/>
                </a:cubicBezTo>
                <a:cubicBezTo>
                  <a:pt x="38877" y="19359"/>
                  <a:pt x="19359" y="38877"/>
                  <a:pt x="19359" y="62917"/>
                </a:cubicBezTo>
                <a:cubicBezTo>
                  <a:pt x="19359" y="86958"/>
                  <a:pt x="38877" y="106476"/>
                  <a:pt x="62917" y="10647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7" name="Text 35"/>
          <p:cNvSpPr/>
          <p:nvPr/>
        </p:nvSpPr>
        <p:spPr>
          <a:xfrm>
            <a:off x="696767" y="3410743"/>
            <a:ext cx="5291517" cy="240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稀疏检索 vs 稠密检索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Shape 36"/>
          <p:cNvSpPr/>
          <p:nvPr/>
        </p:nvSpPr>
        <p:spPr>
          <a:xfrm>
            <a:off x="498872" y="3754907"/>
            <a:ext cx="5411975" cy="860409"/>
          </a:xfrm>
          <a:custGeom>
            <a:avLst/>
            <a:gdLst/>
            <a:ahLst/>
            <a:cxnLst/>
            <a:rect l="l" t="t" r="r" b="b"/>
            <a:pathLst>
              <a:path w="5411975" h="860409">
                <a:moveTo>
                  <a:pt x="68833" y="0"/>
                </a:moveTo>
                <a:lnTo>
                  <a:pt x="5343142" y="0"/>
                </a:lnTo>
                <a:cubicBezTo>
                  <a:pt x="5381157" y="0"/>
                  <a:pt x="5411975" y="30817"/>
                  <a:pt x="5411975" y="68833"/>
                </a:cubicBezTo>
                <a:lnTo>
                  <a:pt x="5411975" y="791577"/>
                </a:lnTo>
                <a:cubicBezTo>
                  <a:pt x="5411975" y="829592"/>
                  <a:pt x="5381157" y="860409"/>
                  <a:pt x="5343142" y="860409"/>
                </a:cubicBezTo>
                <a:lnTo>
                  <a:pt x="68833" y="860409"/>
                </a:lnTo>
                <a:cubicBezTo>
                  <a:pt x="30817" y="860409"/>
                  <a:pt x="0" y="829592"/>
                  <a:pt x="0" y="791577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9" name="Text 37"/>
          <p:cNvSpPr/>
          <p:nvPr/>
        </p:nvSpPr>
        <p:spPr>
          <a:xfrm>
            <a:off x="601980" y="3858260"/>
            <a:ext cx="177038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稀疏检索 (Sparse)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Shape 38"/>
          <p:cNvSpPr/>
          <p:nvPr/>
        </p:nvSpPr>
        <p:spPr>
          <a:xfrm>
            <a:off x="4862195" y="3858260"/>
            <a:ext cx="991870" cy="206375"/>
          </a:xfrm>
          <a:custGeom>
            <a:avLst/>
            <a:gdLst/>
            <a:ahLst/>
            <a:cxnLst/>
            <a:rect l="l" t="t" r="r" b="b"/>
            <a:pathLst>
              <a:path w="782972" h="206498">
                <a:moveTo>
                  <a:pt x="34417" y="0"/>
                </a:moveTo>
                <a:lnTo>
                  <a:pt x="748555" y="0"/>
                </a:lnTo>
                <a:cubicBezTo>
                  <a:pt x="767563" y="0"/>
                  <a:pt x="782972" y="15409"/>
                  <a:pt x="782972" y="34417"/>
                </a:cubicBezTo>
                <a:lnTo>
                  <a:pt x="782972" y="172081"/>
                </a:lnTo>
                <a:cubicBezTo>
                  <a:pt x="782972" y="191089"/>
                  <a:pt x="767563" y="206498"/>
                  <a:pt x="748555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6B7280">
              <a:alpha val="30196"/>
            </a:srgbClr>
          </a:solidFill>
        </p:spPr>
      </p:sp>
      <p:sp>
        <p:nvSpPr>
          <p:cNvPr id="61" name="Text 39"/>
          <p:cNvSpPr/>
          <p:nvPr/>
        </p:nvSpPr>
        <p:spPr>
          <a:xfrm>
            <a:off x="4810125" y="3860800"/>
            <a:ext cx="1151890" cy="206375"/>
          </a:xfrm>
          <a:prstGeom prst="rect">
            <a:avLst/>
          </a:prstGeom>
          <a:noFill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BM25/TF-IDF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2" name="Text 40"/>
          <p:cNvSpPr/>
          <p:nvPr/>
        </p:nvSpPr>
        <p:spPr>
          <a:xfrm>
            <a:off x="602122" y="4133487"/>
            <a:ext cx="5265705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基于关键词匹配与词频统计，计算成本低、推理速度快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Shape 41"/>
          <p:cNvSpPr/>
          <p:nvPr/>
        </p:nvSpPr>
        <p:spPr>
          <a:xfrm>
            <a:off x="621481" y="4388165"/>
            <a:ext cx="90343" cy="103249"/>
          </a:xfrm>
          <a:custGeom>
            <a:avLst/>
            <a:gdLst/>
            <a:ahLst/>
            <a:cxnLst/>
            <a:rect l="l" t="t" r="r" b="b"/>
            <a:pathLst>
              <a:path w="90343" h="103249">
                <a:moveTo>
                  <a:pt x="51625" y="12906"/>
                </a:moveTo>
                <a:cubicBezTo>
                  <a:pt x="51625" y="9337"/>
                  <a:pt x="48741" y="6453"/>
                  <a:pt x="45171" y="6453"/>
                </a:cubicBezTo>
                <a:cubicBezTo>
                  <a:pt x="41602" y="6453"/>
                  <a:pt x="38718" y="9337"/>
                  <a:pt x="38718" y="12906"/>
                </a:cubicBezTo>
                <a:lnTo>
                  <a:pt x="38718" y="45171"/>
                </a:lnTo>
                <a:lnTo>
                  <a:pt x="6453" y="45171"/>
                </a:lnTo>
                <a:cubicBezTo>
                  <a:pt x="2884" y="45171"/>
                  <a:pt x="0" y="48055"/>
                  <a:pt x="0" y="51625"/>
                </a:cubicBezTo>
                <a:cubicBezTo>
                  <a:pt x="0" y="55194"/>
                  <a:pt x="2884" y="58078"/>
                  <a:pt x="6453" y="58078"/>
                </a:cubicBezTo>
                <a:lnTo>
                  <a:pt x="38718" y="58078"/>
                </a:lnTo>
                <a:lnTo>
                  <a:pt x="38718" y="90343"/>
                </a:lnTo>
                <a:cubicBezTo>
                  <a:pt x="38718" y="93912"/>
                  <a:pt x="41602" y="96796"/>
                  <a:pt x="45171" y="96796"/>
                </a:cubicBezTo>
                <a:cubicBezTo>
                  <a:pt x="48741" y="96796"/>
                  <a:pt x="51625" y="93912"/>
                  <a:pt x="51625" y="90343"/>
                </a:cubicBezTo>
                <a:lnTo>
                  <a:pt x="51625" y="58078"/>
                </a:lnTo>
                <a:lnTo>
                  <a:pt x="83890" y="58078"/>
                </a:lnTo>
                <a:cubicBezTo>
                  <a:pt x="87459" y="58078"/>
                  <a:pt x="90343" y="55194"/>
                  <a:pt x="90343" y="51625"/>
                </a:cubicBezTo>
                <a:cubicBezTo>
                  <a:pt x="90343" y="48055"/>
                  <a:pt x="87459" y="45171"/>
                  <a:pt x="83890" y="45171"/>
                </a:cubicBezTo>
                <a:lnTo>
                  <a:pt x="51625" y="45171"/>
                </a:lnTo>
                <a:lnTo>
                  <a:pt x="51625" y="12906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4" name="Text 42"/>
          <p:cNvSpPr/>
          <p:nvPr/>
        </p:nvSpPr>
        <p:spPr>
          <a:xfrm>
            <a:off x="754380" y="4374515"/>
            <a:ext cx="183705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优势：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速度快、可解释性强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Shape 43"/>
          <p:cNvSpPr/>
          <p:nvPr/>
        </p:nvSpPr>
        <p:spPr>
          <a:xfrm>
            <a:off x="2885261" y="4388165"/>
            <a:ext cx="90343" cy="103249"/>
          </a:xfrm>
          <a:custGeom>
            <a:avLst/>
            <a:gdLst/>
            <a:ahLst/>
            <a:cxnLst/>
            <a:rect l="l" t="t" r="r" b="b"/>
            <a:pathLst>
              <a:path w="90343" h="103249">
                <a:moveTo>
                  <a:pt x="0" y="51625"/>
                </a:moveTo>
                <a:cubicBezTo>
                  <a:pt x="0" y="48055"/>
                  <a:pt x="2884" y="45171"/>
                  <a:pt x="6453" y="45171"/>
                </a:cubicBezTo>
                <a:lnTo>
                  <a:pt x="83890" y="45171"/>
                </a:lnTo>
                <a:cubicBezTo>
                  <a:pt x="87459" y="45171"/>
                  <a:pt x="90343" y="48055"/>
                  <a:pt x="90343" y="51625"/>
                </a:cubicBezTo>
                <a:cubicBezTo>
                  <a:pt x="90343" y="55194"/>
                  <a:pt x="87459" y="58078"/>
                  <a:pt x="83890" y="58078"/>
                </a:cubicBezTo>
                <a:lnTo>
                  <a:pt x="6453" y="58078"/>
                </a:lnTo>
                <a:cubicBezTo>
                  <a:pt x="2884" y="58078"/>
                  <a:pt x="0" y="55194"/>
                  <a:pt x="0" y="5162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6" name="Text 44"/>
          <p:cNvSpPr/>
          <p:nvPr/>
        </p:nvSpPr>
        <p:spPr>
          <a:xfrm>
            <a:off x="3035935" y="4374515"/>
            <a:ext cx="160591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局限：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无法理解语义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Shape 45"/>
          <p:cNvSpPr/>
          <p:nvPr/>
        </p:nvSpPr>
        <p:spPr>
          <a:xfrm>
            <a:off x="502314" y="4721898"/>
            <a:ext cx="5401650" cy="867293"/>
          </a:xfrm>
          <a:custGeom>
            <a:avLst/>
            <a:gdLst/>
            <a:ahLst/>
            <a:cxnLst/>
            <a:rect l="l" t="t" r="r" b="b"/>
            <a:pathLst>
              <a:path w="5401650" h="867293">
                <a:moveTo>
                  <a:pt x="68837" y="0"/>
                </a:moveTo>
                <a:lnTo>
                  <a:pt x="5332813" y="0"/>
                </a:lnTo>
                <a:cubicBezTo>
                  <a:pt x="5370830" y="0"/>
                  <a:pt x="5401650" y="30819"/>
                  <a:pt x="5401650" y="68837"/>
                </a:cubicBezTo>
                <a:lnTo>
                  <a:pt x="5401650" y="798456"/>
                </a:lnTo>
                <a:cubicBezTo>
                  <a:pt x="5401650" y="836473"/>
                  <a:pt x="5370830" y="867293"/>
                  <a:pt x="5332813" y="867293"/>
                </a:cubicBezTo>
                <a:lnTo>
                  <a:pt x="68837" y="867293"/>
                </a:lnTo>
                <a:cubicBezTo>
                  <a:pt x="30819" y="867293"/>
                  <a:pt x="0" y="836473"/>
                  <a:pt x="0" y="798456"/>
                </a:cubicBezTo>
                <a:lnTo>
                  <a:pt x="0" y="68837"/>
                </a:lnTo>
                <a:cubicBezTo>
                  <a:pt x="0" y="30819"/>
                  <a:pt x="30819" y="0"/>
                  <a:pt x="6883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8" name="Text 46"/>
          <p:cNvSpPr/>
          <p:nvPr/>
        </p:nvSpPr>
        <p:spPr>
          <a:xfrm>
            <a:off x="608965" y="4828540"/>
            <a:ext cx="176339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稠密检索 (Dense)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Shape 47"/>
          <p:cNvSpPr/>
          <p:nvPr/>
        </p:nvSpPr>
        <p:spPr>
          <a:xfrm>
            <a:off x="4862195" y="4828540"/>
            <a:ext cx="941070" cy="206375"/>
          </a:xfrm>
          <a:custGeom>
            <a:avLst/>
            <a:gdLst/>
            <a:ahLst/>
            <a:cxnLst/>
            <a:rect l="l" t="t" r="r" b="b"/>
            <a:pathLst>
              <a:path w="593682" h="206498">
                <a:moveTo>
                  <a:pt x="34417" y="0"/>
                </a:moveTo>
                <a:lnTo>
                  <a:pt x="559265" y="0"/>
                </a:lnTo>
                <a:cubicBezTo>
                  <a:pt x="578273" y="0"/>
                  <a:pt x="593682" y="15409"/>
                  <a:pt x="593682" y="34417"/>
                </a:cubicBezTo>
                <a:lnTo>
                  <a:pt x="593682" y="172081"/>
                </a:lnTo>
                <a:cubicBezTo>
                  <a:pt x="593682" y="191089"/>
                  <a:pt x="578273" y="206498"/>
                  <a:pt x="559265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C8A464">
              <a:alpha val="30196"/>
            </a:srgbClr>
          </a:solidFill>
        </p:spPr>
      </p:sp>
      <p:sp>
        <p:nvSpPr>
          <p:cNvPr id="70" name="Text 48"/>
          <p:cNvSpPr/>
          <p:nvPr/>
        </p:nvSpPr>
        <p:spPr>
          <a:xfrm>
            <a:off x="4889500" y="4828540"/>
            <a:ext cx="876300" cy="206375"/>
          </a:xfrm>
          <a:prstGeom prst="rect">
            <a:avLst/>
          </a:prstGeom>
          <a:noFill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DPR/主流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Text 49"/>
          <p:cNvSpPr/>
          <p:nvPr/>
        </p:nvSpPr>
        <p:spPr>
          <a:xfrm>
            <a:off x="609005" y="5103918"/>
            <a:ext cx="5248497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基于语义嵌入向量的相似度匹配，理解文本深层含义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2" name="Shape 50"/>
          <p:cNvSpPr/>
          <p:nvPr/>
        </p:nvSpPr>
        <p:spPr>
          <a:xfrm>
            <a:off x="628364" y="5358600"/>
            <a:ext cx="90343" cy="103249"/>
          </a:xfrm>
          <a:custGeom>
            <a:avLst/>
            <a:gdLst/>
            <a:ahLst/>
            <a:cxnLst/>
            <a:rect l="l" t="t" r="r" b="b"/>
            <a:pathLst>
              <a:path w="90343" h="103249">
                <a:moveTo>
                  <a:pt x="51625" y="12906"/>
                </a:moveTo>
                <a:cubicBezTo>
                  <a:pt x="51625" y="9337"/>
                  <a:pt x="48741" y="6453"/>
                  <a:pt x="45171" y="6453"/>
                </a:cubicBezTo>
                <a:cubicBezTo>
                  <a:pt x="41602" y="6453"/>
                  <a:pt x="38718" y="9337"/>
                  <a:pt x="38718" y="12906"/>
                </a:cubicBezTo>
                <a:lnTo>
                  <a:pt x="38718" y="45171"/>
                </a:lnTo>
                <a:lnTo>
                  <a:pt x="6453" y="45171"/>
                </a:lnTo>
                <a:cubicBezTo>
                  <a:pt x="2884" y="45171"/>
                  <a:pt x="0" y="48055"/>
                  <a:pt x="0" y="51625"/>
                </a:cubicBezTo>
                <a:cubicBezTo>
                  <a:pt x="0" y="55194"/>
                  <a:pt x="2884" y="58078"/>
                  <a:pt x="6453" y="58078"/>
                </a:cubicBezTo>
                <a:lnTo>
                  <a:pt x="38718" y="58078"/>
                </a:lnTo>
                <a:lnTo>
                  <a:pt x="38718" y="90343"/>
                </a:lnTo>
                <a:cubicBezTo>
                  <a:pt x="38718" y="93912"/>
                  <a:pt x="41602" y="96796"/>
                  <a:pt x="45171" y="96796"/>
                </a:cubicBezTo>
                <a:cubicBezTo>
                  <a:pt x="48741" y="96796"/>
                  <a:pt x="51625" y="93912"/>
                  <a:pt x="51625" y="90343"/>
                </a:cubicBezTo>
                <a:lnTo>
                  <a:pt x="51625" y="58078"/>
                </a:lnTo>
                <a:lnTo>
                  <a:pt x="83890" y="58078"/>
                </a:lnTo>
                <a:cubicBezTo>
                  <a:pt x="87459" y="58078"/>
                  <a:pt x="90343" y="55194"/>
                  <a:pt x="90343" y="51625"/>
                </a:cubicBezTo>
                <a:cubicBezTo>
                  <a:pt x="90343" y="48055"/>
                  <a:pt x="87459" y="45171"/>
                  <a:pt x="83890" y="45171"/>
                </a:cubicBezTo>
                <a:lnTo>
                  <a:pt x="51625" y="45171"/>
                </a:lnTo>
                <a:lnTo>
                  <a:pt x="51625" y="12906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3" name="Text 51"/>
          <p:cNvSpPr/>
          <p:nvPr/>
        </p:nvSpPr>
        <p:spPr>
          <a:xfrm>
            <a:off x="761365" y="5344795"/>
            <a:ext cx="183007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优势：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语义理解、精准度高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4" name="Shape 52"/>
          <p:cNvSpPr/>
          <p:nvPr/>
        </p:nvSpPr>
        <p:spPr>
          <a:xfrm>
            <a:off x="2892144" y="5358600"/>
            <a:ext cx="90343" cy="103249"/>
          </a:xfrm>
          <a:custGeom>
            <a:avLst/>
            <a:gdLst/>
            <a:ahLst/>
            <a:cxnLst/>
            <a:rect l="l" t="t" r="r" b="b"/>
            <a:pathLst>
              <a:path w="90343" h="103249">
                <a:moveTo>
                  <a:pt x="0" y="51625"/>
                </a:moveTo>
                <a:cubicBezTo>
                  <a:pt x="0" y="48055"/>
                  <a:pt x="2884" y="45171"/>
                  <a:pt x="6453" y="45171"/>
                </a:cubicBezTo>
                <a:lnTo>
                  <a:pt x="83890" y="45171"/>
                </a:lnTo>
                <a:cubicBezTo>
                  <a:pt x="87459" y="45171"/>
                  <a:pt x="90343" y="48055"/>
                  <a:pt x="90343" y="51625"/>
                </a:cubicBezTo>
                <a:cubicBezTo>
                  <a:pt x="90343" y="55194"/>
                  <a:pt x="87459" y="58078"/>
                  <a:pt x="83890" y="58078"/>
                </a:cubicBezTo>
                <a:lnTo>
                  <a:pt x="6453" y="58078"/>
                </a:lnTo>
                <a:cubicBezTo>
                  <a:pt x="2884" y="58078"/>
                  <a:pt x="0" y="55194"/>
                  <a:pt x="0" y="5162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5" name="Text 53"/>
          <p:cNvSpPr/>
          <p:nvPr/>
        </p:nvSpPr>
        <p:spPr>
          <a:xfrm>
            <a:off x="3025140" y="5344795"/>
            <a:ext cx="149923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局限：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计算成本较高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Shape 54"/>
          <p:cNvSpPr/>
          <p:nvPr/>
        </p:nvSpPr>
        <p:spPr>
          <a:xfrm>
            <a:off x="6160688" y="3269633"/>
            <a:ext cx="5694189" cy="2467654"/>
          </a:xfrm>
          <a:custGeom>
            <a:avLst/>
            <a:gdLst/>
            <a:ahLst/>
            <a:cxnLst/>
            <a:rect l="l" t="t" r="r" b="b"/>
            <a:pathLst>
              <a:path w="5694189" h="2467654">
                <a:moveTo>
                  <a:pt x="68823" y="0"/>
                </a:moveTo>
                <a:lnTo>
                  <a:pt x="5625366" y="0"/>
                </a:lnTo>
                <a:cubicBezTo>
                  <a:pt x="5663376" y="0"/>
                  <a:pt x="5694189" y="30813"/>
                  <a:pt x="5694189" y="68823"/>
                </a:cubicBezTo>
                <a:lnTo>
                  <a:pt x="5694189" y="2398831"/>
                </a:lnTo>
                <a:cubicBezTo>
                  <a:pt x="5694189" y="2436841"/>
                  <a:pt x="5663376" y="2467654"/>
                  <a:pt x="5625366" y="2467654"/>
                </a:cubicBezTo>
                <a:lnTo>
                  <a:pt x="68823" y="2467654"/>
                </a:lnTo>
                <a:cubicBezTo>
                  <a:pt x="30813" y="2467654"/>
                  <a:pt x="0" y="2436841"/>
                  <a:pt x="0" y="2398831"/>
                </a:cubicBezTo>
                <a:lnTo>
                  <a:pt x="0" y="68823"/>
                </a:lnTo>
                <a:cubicBezTo>
                  <a:pt x="0" y="30813"/>
                  <a:pt x="30813" y="0"/>
                  <a:pt x="6882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7" name="Shape 55"/>
          <p:cNvSpPr/>
          <p:nvPr/>
        </p:nvSpPr>
        <p:spPr>
          <a:xfrm>
            <a:off x="6303946" y="3453764"/>
            <a:ext cx="193592" cy="154874"/>
          </a:xfrm>
          <a:custGeom>
            <a:avLst/>
            <a:gdLst/>
            <a:ahLst/>
            <a:cxnLst/>
            <a:rect l="l" t="t" r="r" b="b"/>
            <a:pathLst>
              <a:path w="193592" h="154874">
                <a:moveTo>
                  <a:pt x="125805" y="63674"/>
                </a:moveTo>
                <a:cubicBezTo>
                  <a:pt x="129495" y="62675"/>
                  <a:pt x="133367" y="64430"/>
                  <a:pt x="135030" y="67848"/>
                </a:cubicBezTo>
                <a:lnTo>
                  <a:pt x="140657" y="79222"/>
                </a:lnTo>
                <a:cubicBezTo>
                  <a:pt x="143772" y="79645"/>
                  <a:pt x="146828" y="80492"/>
                  <a:pt x="149701" y="81672"/>
                </a:cubicBezTo>
                <a:lnTo>
                  <a:pt x="160288" y="74624"/>
                </a:lnTo>
                <a:cubicBezTo>
                  <a:pt x="163464" y="72506"/>
                  <a:pt x="167669" y="72930"/>
                  <a:pt x="170361" y="75622"/>
                </a:cubicBezTo>
                <a:lnTo>
                  <a:pt x="176169" y="81430"/>
                </a:lnTo>
                <a:cubicBezTo>
                  <a:pt x="178861" y="84122"/>
                  <a:pt x="179284" y="88357"/>
                  <a:pt x="177167" y="91503"/>
                </a:cubicBezTo>
                <a:lnTo>
                  <a:pt x="170119" y="102059"/>
                </a:lnTo>
                <a:cubicBezTo>
                  <a:pt x="170694" y="103481"/>
                  <a:pt x="171208" y="104963"/>
                  <a:pt x="171631" y="106506"/>
                </a:cubicBezTo>
                <a:cubicBezTo>
                  <a:pt x="172055" y="108049"/>
                  <a:pt x="172327" y="109561"/>
                  <a:pt x="172539" y="111104"/>
                </a:cubicBezTo>
                <a:lnTo>
                  <a:pt x="183943" y="116730"/>
                </a:lnTo>
                <a:cubicBezTo>
                  <a:pt x="187361" y="118424"/>
                  <a:pt x="189115" y="122296"/>
                  <a:pt x="188117" y="125956"/>
                </a:cubicBezTo>
                <a:lnTo>
                  <a:pt x="186000" y="133881"/>
                </a:lnTo>
                <a:cubicBezTo>
                  <a:pt x="185001" y="137541"/>
                  <a:pt x="181583" y="140022"/>
                  <a:pt x="177772" y="139780"/>
                </a:cubicBezTo>
                <a:lnTo>
                  <a:pt x="165068" y="138963"/>
                </a:lnTo>
                <a:cubicBezTo>
                  <a:pt x="163162" y="141413"/>
                  <a:pt x="160954" y="143682"/>
                  <a:pt x="158443" y="145618"/>
                </a:cubicBezTo>
                <a:lnTo>
                  <a:pt x="159260" y="158292"/>
                </a:lnTo>
                <a:cubicBezTo>
                  <a:pt x="159502" y="162103"/>
                  <a:pt x="157021" y="165551"/>
                  <a:pt x="153361" y="166519"/>
                </a:cubicBezTo>
                <a:lnTo>
                  <a:pt x="145436" y="168637"/>
                </a:lnTo>
                <a:cubicBezTo>
                  <a:pt x="141746" y="169635"/>
                  <a:pt x="137904" y="167881"/>
                  <a:pt x="136210" y="164463"/>
                </a:cubicBezTo>
                <a:lnTo>
                  <a:pt x="130584" y="153089"/>
                </a:lnTo>
                <a:cubicBezTo>
                  <a:pt x="127468" y="152666"/>
                  <a:pt x="124413" y="151819"/>
                  <a:pt x="121540" y="150639"/>
                </a:cubicBezTo>
                <a:lnTo>
                  <a:pt x="110952" y="157687"/>
                </a:lnTo>
                <a:cubicBezTo>
                  <a:pt x="107776" y="159804"/>
                  <a:pt x="103572" y="159381"/>
                  <a:pt x="100880" y="156689"/>
                </a:cubicBezTo>
                <a:lnTo>
                  <a:pt x="95072" y="150881"/>
                </a:lnTo>
                <a:cubicBezTo>
                  <a:pt x="92380" y="148189"/>
                  <a:pt x="91956" y="143984"/>
                  <a:pt x="94074" y="140808"/>
                </a:cubicBezTo>
                <a:lnTo>
                  <a:pt x="101122" y="130221"/>
                </a:lnTo>
                <a:cubicBezTo>
                  <a:pt x="100547" y="128799"/>
                  <a:pt x="100033" y="127317"/>
                  <a:pt x="99609" y="125774"/>
                </a:cubicBezTo>
                <a:cubicBezTo>
                  <a:pt x="99186" y="124232"/>
                  <a:pt x="98913" y="122689"/>
                  <a:pt x="98702" y="121177"/>
                </a:cubicBezTo>
                <a:lnTo>
                  <a:pt x="87298" y="115550"/>
                </a:lnTo>
                <a:cubicBezTo>
                  <a:pt x="83880" y="113856"/>
                  <a:pt x="82156" y="109985"/>
                  <a:pt x="83124" y="106324"/>
                </a:cubicBezTo>
                <a:lnTo>
                  <a:pt x="85241" y="98399"/>
                </a:lnTo>
                <a:cubicBezTo>
                  <a:pt x="86239" y="94739"/>
                  <a:pt x="89657" y="92259"/>
                  <a:pt x="93469" y="92501"/>
                </a:cubicBezTo>
                <a:lnTo>
                  <a:pt x="106143" y="93317"/>
                </a:lnTo>
                <a:cubicBezTo>
                  <a:pt x="108049" y="90867"/>
                  <a:pt x="110257" y="88599"/>
                  <a:pt x="112767" y="86663"/>
                </a:cubicBezTo>
                <a:lnTo>
                  <a:pt x="111951" y="74019"/>
                </a:lnTo>
                <a:cubicBezTo>
                  <a:pt x="111709" y="70207"/>
                  <a:pt x="114189" y="66759"/>
                  <a:pt x="117849" y="65791"/>
                </a:cubicBezTo>
                <a:lnTo>
                  <a:pt x="125774" y="63674"/>
                </a:lnTo>
                <a:close/>
                <a:moveTo>
                  <a:pt x="135635" y="102846"/>
                </a:moveTo>
                <a:cubicBezTo>
                  <a:pt x="128290" y="102854"/>
                  <a:pt x="122333" y="108825"/>
                  <a:pt x="122341" y="116170"/>
                </a:cubicBezTo>
                <a:cubicBezTo>
                  <a:pt x="122349" y="123516"/>
                  <a:pt x="128320" y="129473"/>
                  <a:pt x="135666" y="129465"/>
                </a:cubicBezTo>
                <a:cubicBezTo>
                  <a:pt x="143011" y="129456"/>
                  <a:pt x="148968" y="123486"/>
                  <a:pt x="148960" y="116140"/>
                </a:cubicBezTo>
                <a:cubicBezTo>
                  <a:pt x="148952" y="108794"/>
                  <a:pt x="142981" y="102837"/>
                  <a:pt x="135635" y="102846"/>
                </a:cubicBezTo>
                <a:close/>
                <a:moveTo>
                  <a:pt x="68029" y="-13763"/>
                </a:moveTo>
                <a:lnTo>
                  <a:pt x="75955" y="-11646"/>
                </a:lnTo>
                <a:cubicBezTo>
                  <a:pt x="79615" y="-10648"/>
                  <a:pt x="82095" y="-7199"/>
                  <a:pt x="81853" y="-3418"/>
                </a:cubicBezTo>
                <a:lnTo>
                  <a:pt x="81036" y="9226"/>
                </a:lnTo>
                <a:cubicBezTo>
                  <a:pt x="83547" y="11162"/>
                  <a:pt x="85755" y="13400"/>
                  <a:pt x="87661" y="15881"/>
                </a:cubicBezTo>
                <a:lnTo>
                  <a:pt x="100365" y="15064"/>
                </a:lnTo>
                <a:cubicBezTo>
                  <a:pt x="104146" y="14822"/>
                  <a:pt x="107595" y="17302"/>
                  <a:pt x="108593" y="20962"/>
                </a:cubicBezTo>
                <a:lnTo>
                  <a:pt x="110710" y="28888"/>
                </a:lnTo>
                <a:cubicBezTo>
                  <a:pt x="111678" y="32548"/>
                  <a:pt x="109954" y="36420"/>
                  <a:pt x="106536" y="38113"/>
                </a:cubicBezTo>
                <a:lnTo>
                  <a:pt x="95132" y="43740"/>
                </a:lnTo>
                <a:cubicBezTo>
                  <a:pt x="94921" y="45282"/>
                  <a:pt x="94618" y="46825"/>
                  <a:pt x="94225" y="48338"/>
                </a:cubicBezTo>
                <a:cubicBezTo>
                  <a:pt x="93832" y="49850"/>
                  <a:pt x="93287" y="51362"/>
                  <a:pt x="92712" y="52784"/>
                </a:cubicBezTo>
                <a:lnTo>
                  <a:pt x="99760" y="63371"/>
                </a:lnTo>
                <a:cubicBezTo>
                  <a:pt x="101878" y="66547"/>
                  <a:pt x="101454" y="70752"/>
                  <a:pt x="98762" y="73444"/>
                </a:cubicBezTo>
                <a:lnTo>
                  <a:pt x="92954" y="79252"/>
                </a:lnTo>
                <a:cubicBezTo>
                  <a:pt x="90262" y="81944"/>
                  <a:pt x="86058" y="82367"/>
                  <a:pt x="82882" y="80250"/>
                </a:cubicBezTo>
                <a:lnTo>
                  <a:pt x="72295" y="73202"/>
                </a:lnTo>
                <a:cubicBezTo>
                  <a:pt x="69421" y="74382"/>
                  <a:pt x="66366" y="75229"/>
                  <a:pt x="63250" y="75652"/>
                </a:cubicBezTo>
                <a:lnTo>
                  <a:pt x="57624" y="87026"/>
                </a:lnTo>
                <a:cubicBezTo>
                  <a:pt x="55930" y="90444"/>
                  <a:pt x="52058" y="92168"/>
                  <a:pt x="48398" y="91200"/>
                </a:cubicBezTo>
                <a:lnTo>
                  <a:pt x="40473" y="89083"/>
                </a:lnTo>
                <a:cubicBezTo>
                  <a:pt x="36782" y="88084"/>
                  <a:pt x="34332" y="84636"/>
                  <a:pt x="34574" y="80855"/>
                </a:cubicBezTo>
                <a:lnTo>
                  <a:pt x="35391" y="68181"/>
                </a:lnTo>
                <a:cubicBezTo>
                  <a:pt x="32880" y="66245"/>
                  <a:pt x="30672" y="64006"/>
                  <a:pt x="28767" y="61526"/>
                </a:cubicBezTo>
                <a:lnTo>
                  <a:pt x="16062" y="62343"/>
                </a:lnTo>
                <a:cubicBezTo>
                  <a:pt x="12281" y="62585"/>
                  <a:pt x="8833" y="60104"/>
                  <a:pt x="7834" y="56444"/>
                </a:cubicBezTo>
                <a:lnTo>
                  <a:pt x="5717" y="48519"/>
                </a:lnTo>
                <a:cubicBezTo>
                  <a:pt x="4749" y="44859"/>
                  <a:pt x="6473" y="40987"/>
                  <a:pt x="9891" y="39293"/>
                </a:cubicBezTo>
                <a:lnTo>
                  <a:pt x="21295" y="33667"/>
                </a:lnTo>
                <a:cubicBezTo>
                  <a:pt x="21507" y="32124"/>
                  <a:pt x="21809" y="30612"/>
                  <a:pt x="22203" y="29069"/>
                </a:cubicBezTo>
                <a:cubicBezTo>
                  <a:pt x="22626" y="27526"/>
                  <a:pt x="23110" y="26044"/>
                  <a:pt x="23715" y="24622"/>
                </a:cubicBezTo>
                <a:lnTo>
                  <a:pt x="16667" y="14066"/>
                </a:lnTo>
                <a:cubicBezTo>
                  <a:pt x="14550" y="10890"/>
                  <a:pt x="14973" y="6685"/>
                  <a:pt x="17665" y="3993"/>
                </a:cubicBezTo>
                <a:lnTo>
                  <a:pt x="23473" y="-1815"/>
                </a:lnTo>
                <a:cubicBezTo>
                  <a:pt x="26165" y="-4507"/>
                  <a:pt x="30370" y="-4931"/>
                  <a:pt x="33546" y="-2813"/>
                </a:cubicBezTo>
                <a:lnTo>
                  <a:pt x="44133" y="4235"/>
                </a:lnTo>
                <a:cubicBezTo>
                  <a:pt x="47007" y="3055"/>
                  <a:pt x="50062" y="2208"/>
                  <a:pt x="53177" y="1785"/>
                </a:cubicBezTo>
                <a:lnTo>
                  <a:pt x="58804" y="-9589"/>
                </a:lnTo>
                <a:cubicBezTo>
                  <a:pt x="60498" y="-13007"/>
                  <a:pt x="64339" y="-14731"/>
                  <a:pt x="68029" y="-13763"/>
                </a:cubicBezTo>
                <a:close/>
                <a:moveTo>
                  <a:pt x="58199" y="25409"/>
                </a:moveTo>
                <a:cubicBezTo>
                  <a:pt x="50853" y="25409"/>
                  <a:pt x="44889" y="31373"/>
                  <a:pt x="44889" y="38718"/>
                </a:cubicBezTo>
                <a:cubicBezTo>
                  <a:pt x="44889" y="46064"/>
                  <a:pt x="50853" y="52028"/>
                  <a:pt x="58199" y="52028"/>
                </a:cubicBezTo>
                <a:cubicBezTo>
                  <a:pt x="65544" y="52028"/>
                  <a:pt x="71508" y="46064"/>
                  <a:pt x="71508" y="38718"/>
                </a:cubicBezTo>
                <a:cubicBezTo>
                  <a:pt x="71508" y="31373"/>
                  <a:pt x="65544" y="25409"/>
                  <a:pt x="58199" y="2540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8" name="Text 56"/>
          <p:cNvSpPr/>
          <p:nvPr/>
        </p:nvSpPr>
        <p:spPr>
          <a:xfrm>
            <a:off x="6499690" y="3410743"/>
            <a:ext cx="5291517" cy="240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稠密检索核心流程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9" name="Shape 57"/>
          <p:cNvSpPr/>
          <p:nvPr/>
        </p:nvSpPr>
        <p:spPr>
          <a:xfrm>
            <a:off x="6301795" y="3754907"/>
            <a:ext cx="5411975" cy="550662"/>
          </a:xfrm>
          <a:custGeom>
            <a:avLst/>
            <a:gdLst/>
            <a:ahLst/>
            <a:cxnLst/>
            <a:rect l="l" t="t" r="r" b="b"/>
            <a:pathLst>
              <a:path w="5411975" h="550662">
                <a:moveTo>
                  <a:pt x="68833" y="0"/>
                </a:moveTo>
                <a:lnTo>
                  <a:pt x="5343142" y="0"/>
                </a:lnTo>
                <a:cubicBezTo>
                  <a:pt x="5381157" y="0"/>
                  <a:pt x="5411975" y="30817"/>
                  <a:pt x="5411975" y="68833"/>
                </a:cubicBezTo>
                <a:lnTo>
                  <a:pt x="5411975" y="481829"/>
                </a:lnTo>
                <a:cubicBezTo>
                  <a:pt x="5411975" y="519844"/>
                  <a:pt x="5381157" y="550662"/>
                  <a:pt x="5343142" y="550662"/>
                </a:cubicBezTo>
                <a:lnTo>
                  <a:pt x="68833" y="550662"/>
                </a:lnTo>
                <a:cubicBezTo>
                  <a:pt x="30817" y="550662"/>
                  <a:pt x="0" y="519844"/>
                  <a:pt x="0" y="481829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0" name="Shape 58"/>
          <p:cNvSpPr/>
          <p:nvPr/>
        </p:nvSpPr>
        <p:spPr>
          <a:xfrm>
            <a:off x="6405045" y="3858156"/>
            <a:ext cx="275331" cy="275331"/>
          </a:xfrm>
          <a:custGeom>
            <a:avLst/>
            <a:gdLst/>
            <a:ahLst/>
            <a:cxnLst/>
            <a:rect l="l" t="t" r="r" b="b"/>
            <a:pathLst>
              <a:path w="275331" h="275331">
                <a:moveTo>
                  <a:pt x="137665" y="0"/>
                </a:moveTo>
                <a:lnTo>
                  <a:pt x="137665" y="0"/>
                </a:lnTo>
                <a:cubicBezTo>
                  <a:pt x="213696" y="0"/>
                  <a:pt x="275331" y="61635"/>
                  <a:pt x="275331" y="137665"/>
                </a:cubicBezTo>
                <a:lnTo>
                  <a:pt x="275331" y="137665"/>
                </a:lnTo>
                <a:cubicBezTo>
                  <a:pt x="275331" y="213696"/>
                  <a:pt x="213696" y="275331"/>
                  <a:pt x="137665" y="275331"/>
                </a:cubicBezTo>
                <a:lnTo>
                  <a:pt x="137665" y="275331"/>
                </a:lnTo>
                <a:cubicBezTo>
                  <a:pt x="61635" y="275331"/>
                  <a:pt x="0" y="213696"/>
                  <a:pt x="0" y="137665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1" name="Text 59"/>
          <p:cNvSpPr/>
          <p:nvPr/>
        </p:nvSpPr>
        <p:spPr>
          <a:xfrm>
            <a:off x="6518942" y="3909780"/>
            <a:ext cx="111853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2" name="Text 60"/>
          <p:cNvSpPr/>
          <p:nvPr/>
        </p:nvSpPr>
        <p:spPr>
          <a:xfrm>
            <a:off x="6783625" y="3858156"/>
            <a:ext cx="3570699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嵌入编码 (Embedding)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 61"/>
          <p:cNvSpPr/>
          <p:nvPr/>
        </p:nvSpPr>
        <p:spPr>
          <a:xfrm>
            <a:off x="6783705" y="4064635"/>
            <a:ext cx="468376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利用编码器将文档与问题转化为低维稠密向量，向量相似度即代表语义关联度</a:t>
            </a:r>
            <a:endParaRPr lang="en-US" sz="102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4" name="Shape 62"/>
          <p:cNvSpPr/>
          <p:nvPr/>
        </p:nvSpPr>
        <p:spPr>
          <a:xfrm>
            <a:off x="6301795" y="4374292"/>
            <a:ext cx="5411975" cy="550662"/>
          </a:xfrm>
          <a:custGeom>
            <a:avLst/>
            <a:gdLst/>
            <a:ahLst/>
            <a:cxnLst/>
            <a:rect l="l" t="t" r="r" b="b"/>
            <a:pathLst>
              <a:path w="5411975" h="550662">
                <a:moveTo>
                  <a:pt x="68833" y="0"/>
                </a:moveTo>
                <a:lnTo>
                  <a:pt x="5343142" y="0"/>
                </a:lnTo>
                <a:cubicBezTo>
                  <a:pt x="5381157" y="0"/>
                  <a:pt x="5411975" y="30817"/>
                  <a:pt x="5411975" y="68833"/>
                </a:cubicBezTo>
                <a:lnTo>
                  <a:pt x="5411975" y="481829"/>
                </a:lnTo>
                <a:cubicBezTo>
                  <a:pt x="5411975" y="519844"/>
                  <a:pt x="5381157" y="550662"/>
                  <a:pt x="5343142" y="550662"/>
                </a:cubicBezTo>
                <a:lnTo>
                  <a:pt x="68833" y="550662"/>
                </a:lnTo>
                <a:cubicBezTo>
                  <a:pt x="30817" y="550662"/>
                  <a:pt x="0" y="519844"/>
                  <a:pt x="0" y="481829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5" name="Shape 63"/>
          <p:cNvSpPr/>
          <p:nvPr/>
        </p:nvSpPr>
        <p:spPr>
          <a:xfrm>
            <a:off x="6405045" y="4477541"/>
            <a:ext cx="275331" cy="275331"/>
          </a:xfrm>
          <a:custGeom>
            <a:avLst/>
            <a:gdLst/>
            <a:ahLst/>
            <a:cxnLst/>
            <a:rect l="l" t="t" r="r" b="b"/>
            <a:pathLst>
              <a:path w="275331" h="275331">
                <a:moveTo>
                  <a:pt x="137665" y="0"/>
                </a:moveTo>
                <a:lnTo>
                  <a:pt x="137665" y="0"/>
                </a:lnTo>
                <a:cubicBezTo>
                  <a:pt x="213696" y="0"/>
                  <a:pt x="275331" y="61635"/>
                  <a:pt x="275331" y="137665"/>
                </a:cubicBezTo>
                <a:lnTo>
                  <a:pt x="275331" y="137665"/>
                </a:lnTo>
                <a:cubicBezTo>
                  <a:pt x="275331" y="213696"/>
                  <a:pt x="213696" y="275331"/>
                  <a:pt x="137665" y="275331"/>
                </a:cubicBezTo>
                <a:lnTo>
                  <a:pt x="137665" y="275331"/>
                </a:lnTo>
                <a:cubicBezTo>
                  <a:pt x="61635" y="275331"/>
                  <a:pt x="0" y="213696"/>
                  <a:pt x="0" y="137665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6" name="Text 64"/>
          <p:cNvSpPr/>
          <p:nvPr/>
        </p:nvSpPr>
        <p:spPr>
          <a:xfrm>
            <a:off x="6508831" y="4529166"/>
            <a:ext cx="129061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7" name="Text 65"/>
          <p:cNvSpPr/>
          <p:nvPr/>
        </p:nvSpPr>
        <p:spPr>
          <a:xfrm>
            <a:off x="6783625" y="4477541"/>
            <a:ext cx="3949279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索引构建 (Indexing)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 66"/>
          <p:cNvSpPr/>
          <p:nvPr/>
        </p:nvSpPr>
        <p:spPr>
          <a:xfrm>
            <a:off x="6783705" y="4683760"/>
            <a:ext cx="492696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将文档向量存入向量数据库（如FAISS），构建高效索引结构，支撑海量数据快速检索</a:t>
            </a:r>
            <a:endParaRPr lang="en-US" sz="102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Shape 67"/>
          <p:cNvSpPr/>
          <p:nvPr/>
        </p:nvSpPr>
        <p:spPr>
          <a:xfrm>
            <a:off x="6301795" y="4993678"/>
            <a:ext cx="5411975" cy="550662"/>
          </a:xfrm>
          <a:custGeom>
            <a:avLst/>
            <a:gdLst/>
            <a:ahLst/>
            <a:cxnLst/>
            <a:rect l="l" t="t" r="r" b="b"/>
            <a:pathLst>
              <a:path w="5411975" h="550662">
                <a:moveTo>
                  <a:pt x="68833" y="0"/>
                </a:moveTo>
                <a:lnTo>
                  <a:pt x="5343142" y="0"/>
                </a:lnTo>
                <a:cubicBezTo>
                  <a:pt x="5381157" y="0"/>
                  <a:pt x="5411975" y="30817"/>
                  <a:pt x="5411975" y="68833"/>
                </a:cubicBezTo>
                <a:lnTo>
                  <a:pt x="5411975" y="481829"/>
                </a:lnTo>
                <a:cubicBezTo>
                  <a:pt x="5411975" y="519844"/>
                  <a:pt x="5381157" y="550662"/>
                  <a:pt x="5343142" y="550662"/>
                </a:cubicBezTo>
                <a:lnTo>
                  <a:pt x="68833" y="550662"/>
                </a:lnTo>
                <a:cubicBezTo>
                  <a:pt x="30817" y="550662"/>
                  <a:pt x="0" y="519844"/>
                  <a:pt x="0" y="481829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0" name="Shape 68"/>
          <p:cNvSpPr/>
          <p:nvPr/>
        </p:nvSpPr>
        <p:spPr>
          <a:xfrm>
            <a:off x="6405045" y="5096927"/>
            <a:ext cx="275331" cy="275331"/>
          </a:xfrm>
          <a:custGeom>
            <a:avLst/>
            <a:gdLst/>
            <a:ahLst/>
            <a:cxnLst/>
            <a:rect l="l" t="t" r="r" b="b"/>
            <a:pathLst>
              <a:path w="275331" h="275331">
                <a:moveTo>
                  <a:pt x="137665" y="0"/>
                </a:moveTo>
                <a:lnTo>
                  <a:pt x="137665" y="0"/>
                </a:lnTo>
                <a:cubicBezTo>
                  <a:pt x="213696" y="0"/>
                  <a:pt x="275331" y="61635"/>
                  <a:pt x="275331" y="137665"/>
                </a:cubicBezTo>
                <a:lnTo>
                  <a:pt x="275331" y="137665"/>
                </a:lnTo>
                <a:cubicBezTo>
                  <a:pt x="275331" y="213696"/>
                  <a:pt x="213696" y="275331"/>
                  <a:pt x="137665" y="275331"/>
                </a:cubicBezTo>
                <a:lnTo>
                  <a:pt x="137665" y="275331"/>
                </a:lnTo>
                <a:cubicBezTo>
                  <a:pt x="61635" y="275331"/>
                  <a:pt x="0" y="213696"/>
                  <a:pt x="0" y="137665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1" name="Text 69"/>
          <p:cNvSpPr/>
          <p:nvPr/>
        </p:nvSpPr>
        <p:spPr>
          <a:xfrm>
            <a:off x="6507218" y="5148551"/>
            <a:ext cx="129061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2" name="Text 70"/>
          <p:cNvSpPr/>
          <p:nvPr/>
        </p:nvSpPr>
        <p:spPr>
          <a:xfrm>
            <a:off x="6783625" y="5096927"/>
            <a:ext cx="2933996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相似度检索 (Retrieval)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Text 71"/>
          <p:cNvSpPr/>
          <p:nvPr/>
        </p:nvSpPr>
        <p:spPr>
          <a:xfrm>
            <a:off x="6783705" y="5303520"/>
            <a:ext cx="377253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计算问题向量与库中向量的余弦相似度，召回Top-K最相关文档</a:t>
            </a:r>
            <a:endParaRPr lang="en-US" sz="102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Shape 72"/>
          <p:cNvSpPr/>
          <p:nvPr/>
        </p:nvSpPr>
        <p:spPr>
          <a:xfrm>
            <a:off x="371532" y="5840324"/>
            <a:ext cx="5678701" cy="791577"/>
          </a:xfrm>
          <a:custGeom>
            <a:avLst/>
            <a:gdLst/>
            <a:ahLst/>
            <a:cxnLst/>
            <a:rect l="l" t="t" r="r" b="b"/>
            <a:pathLst>
              <a:path w="5678701" h="791577">
                <a:moveTo>
                  <a:pt x="34416" y="0"/>
                </a:moveTo>
                <a:lnTo>
                  <a:pt x="5609866" y="0"/>
                </a:lnTo>
                <a:cubicBezTo>
                  <a:pt x="5647883" y="0"/>
                  <a:pt x="5678701" y="30819"/>
                  <a:pt x="5678701" y="68835"/>
                </a:cubicBezTo>
                <a:lnTo>
                  <a:pt x="5678701" y="722741"/>
                </a:lnTo>
                <a:cubicBezTo>
                  <a:pt x="5678701" y="760758"/>
                  <a:pt x="5647883" y="791577"/>
                  <a:pt x="5609866" y="791577"/>
                </a:cubicBezTo>
                <a:lnTo>
                  <a:pt x="34416" y="791577"/>
                </a:lnTo>
                <a:cubicBezTo>
                  <a:pt x="15409" y="791577"/>
                  <a:pt x="0" y="776168"/>
                  <a:pt x="0" y="757160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5" name="Shape 73"/>
          <p:cNvSpPr/>
          <p:nvPr/>
        </p:nvSpPr>
        <p:spPr>
          <a:xfrm>
            <a:off x="371532" y="5840324"/>
            <a:ext cx="34416" cy="791577"/>
          </a:xfrm>
          <a:custGeom>
            <a:avLst/>
            <a:gdLst/>
            <a:ahLst/>
            <a:cxnLst/>
            <a:rect l="l" t="t" r="r" b="b"/>
            <a:pathLst>
              <a:path w="34416" h="791577">
                <a:moveTo>
                  <a:pt x="34416" y="0"/>
                </a:moveTo>
                <a:lnTo>
                  <a:pt x="34416" y="0"/>
                </a:lnTo>
                <a:lnTo>
                  <a:pt x="34416" y="791577"/>
                </a:lnTo>
                <a:lnTo>
                  <a:pt x="34416" y="791577"/>
                </a:lnTo>
                <a:cubicBezTo>
                  <a:pt x="15409" y="791577"/>
                  <a:pt x="0" y="776168"/>
                  <a:pt x="0" y="757160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6" name="Text 74"/>
          <p:cNvSpPr/>
          <p:nvPr/>
        </p:nvSpPr>
        <p:spPr>
          <a:xfrm>
            <a:off x="491989" y="5943573"/>
            <a:ext cx="5515224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编解码融合生成 (Fusion-in-Decoder)</a:t>
            </a:r>
            <a:endParaRPr 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 75"/>
          <p:cNvSpPr/>
          <p:nvPr/>
        </p:nvSpPr>
        <p:spPr>
          <a:xfrm>
            <a:off x="491989" y="6184488"/>
            <a:ext cx="5506620" cy="137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将问题与检索文档一同输入编码器进行语义融合，再由解码器生成答案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8" name="Shape 76"/>
          <p:cNvSpPr/>
          <p:nvPr/>
        </p:nvSpPr>
        <p:spPr>
          <a:xfrm>
            <a:off x="511348" y="6404644"/>
            <a:ext cx="90343" cy="103249"/>
          </a:xfrm>
          <a:custGeom>
            <a:avLst/>
            <a:gdLst/>
            <a:ahLst/>
            <a:cxnLst/>
            <a:rect l="l" t="t" r="r" b="b"/>
            <a:pathLst>
              <a:path w="90343" h="103249">
                <a:moveTo>
                  <a:pt x="87681" y="14136"/>
                </a:moveTo>
                <a:cubicBezTo>
                  <a:pt x="90565" y="16234"/>
                  <a:pt x="91210" y="20267"/>
                  <a:pt x="89113" y="23150"/>
                </a:cubicBezTo>
                <a:lnTo>
                  <a:pt x="37488" y="94134"/>
                </a:lnTo>
                <a:cubicBezTo>
                  <a:pt x="36379" y="95667"/>
                  <a:pt x="34665" y="96615"/>
                  <a:pt x="32769" y="96776"/>
                </a:cubicBezTo>
                <a:cubicBezTo>
                  <a:pt x="30874" y="96937"/>
                  <a:pt x="29039" y="96231"/>
                  <a:pt x="27708" y="94900"/>
                </a:cubicBezTo>
                <a:lnTo>
                  <a:pt x="1896" y="69088"/>
                </a:lnTo>
                <a:cubicBezTo>
                  <a:pt x="-625" y="66567"/>
                  <a:pt x="-625" y="62474"/>
                  <a:pt x="1896" y="59953"/>
                </a:cubicBezTo>
                <a:cubicBezTo>
                  <a:pt x="4416" y="57432"/>
                  <a:pt x="8510" y="57432"/>
                  <a:pt x="11031" y="59953"/>
                </a:cubicBezTo>
                <a:lnTo>
                  <a:pt x="31499" y="80421"/>
                </a:lnTo>
                <a:lnTo>
                  <a:pt x="78687" y="15548"/>
                </a:lnTo>
                <a:cubicBezTo>
                  <a:pt x="80784" y="12664"/>
                  <a:pt x="84818" y="12019"/>
                  <a:pt x="87701" y="1411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9" name="Text 77"/>
          <p:cNvSpPr/>
          <p:nvPr/>
        </p:nvSpPr>
        <p:spPr>
          <a:xfrm>
            <a:off x="644525" y="6390640"/>
            <a:ext cx="142367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支持端到端联合训练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0" name="Shape 78"/>
          <p:cNvSpPr/>
          <p:nvPr/>
        </p:nvSpPr>
        <p:spPr>
          <a:xfrm>
            <a:off x="2159414" y="6404644"/>
            <a:ext cx="77437" cy="103249"/>
          </a:xfrm>
          <a:custGeom>
            <a:avLst/>
            <a:gdLst/>
            <a:ahLst/>
            <a:cxnLst/>
            <a:rect l="l" t="t" r="r" b="b"/>
            <a:pathLst>
              <a:path w="77437" h="103249">
                <a:moveTo>
                  <a:pt x="11111" y="14802"/>
                </a:moveTo>
                <a:cubicBezTo>
                  <a:pt x="8591" y="12281"/>
                  <a:pt x="4497" y="12281"/>
                  <a:pt x="1976" y="14802"/>
                </a:cubicBezTo>
                <a:cubicBezTo>
                  <a:pt x="-544" y="17322"/>
                  <a:pt x="-544" y="21416"/>
                  <a:pt x="1976" y="23937"/>
                </a:cubicBezTo>
                <a:lnTo>
                  <a:pt x="29684" y="51625"/>
                </a:lnTo>
                <a:lnTo>
                  <a:pt x="1996" y="79332"/>
                </a:lnTo>
                <a:cubicBezTo>
                  <a:pt x="-524" y="81853"/>
                  <a:pt x="-524" y="85947"/>
                  <a:pt x="1996" y="88468"/>
                </a:cubicBezTo>
                <a:cubicBezTo>
                  <a:pt x="4517" y="90988"/>
                  <a:pt x="8611" y="90988"/>
                  <a:pt x="11132" y="88468"/>
                </a:cubicBezTo>
                <a:lnTo>
                  <a:pt x="38819" y="60760"/>
                </a:lnTo>
                <a:lnTo>
                  <a:pt x="66527" y="88447"/>
                </a:lnTo>
                <a:cubicBezTo>
                  <a:pt x="69048" y="90968"/>
                  <a:pt x="73142" y="90968"/>
                  <a:pt x="75662" y="88447"/>
                </a:cubicBezTo>
                <a:cubicBezTo>
                  <a:pt x="78183" y="85927"/>
                  <a:pt x="78183" y="81833"/>
                  <a:pt x="75662" y="79312"/>
                </a:cubicBezTo>
                <a:lnTo>
                  <a:pt x="47954" y="51625"/>
                </a:lnTo>
                <a:lnTo>
                  <a:pt x="75642" y="23917"/>
                </a:lnTo>
                <a:cubicBezTo>
                  <a:pt x="78163" y="21396"/>
                  <a:pt x="78163" y="17302"/>
                  <a:pt x="75642" y="14782"/>
                </a:cubicBezTo>
                <a:cubicBezTo>
                  <a:pt x="73121" y="12261"/>
                  <a:pt x="69028" y="12261"/>
                  <a:pt x="66507" y="14782"/>
                </a:cubicBezTo>
                <a:lnTo>
                  <a:pt x="38819" y="42489"/>
                </a:lnTo>
                <a:lnTo>
                  <a:pt x="11111" y="1480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1" name="Text 79"/>
          <p:cNvSpPr/>
          <p:nvPr/>
        </p:nvSpPr>
        <p:spPr>
          <a:xfrm>
            <a:off x="2286000" y="6390640"/>
            <a:ext cx="132080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架构复杂、成本高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2" name="Shape 80"/>
          <p:cNvSpPr/>
          <p:nvPr/>
        </p:nvSpPr>
        <p:spPr>
          <a:xfrm>
            <a:off x="6174455" y="5840324"/>
            <a:ext cx="5678701" cy="791577"/>
          </a:xfrm>
          <a:custGeom>
            <a:avLst/>
            <a:gdLst/>
            <a:ahLst/>
            <a:cxnLst/>
            <a:rect l="l" t="t" r="r" b="b"/>
            <a:pathLst>
              <a:path w="5678701" h="791577">
                <a:moveTo>
                  <a:pt x="34416" y="0"/>
                </a:moveTo>
                <a:lnTo>
                  <a:pt x="5609866" y="0"/>
                </a:lnTo>
                <a:cubicBezTo>
                  <a:pt x="5647883" y="0"/>
                  <a:pt x="5678701" y="30819"/>
                  <a:pt x="5678701" y="68835"/>
                </a:cubicBezTo>
                <a:lnTo>
                  <a:pt x="5678701" y="722741"/>
                </a:lnTo>
                <a:cubicBezTo>
                  <a:pt x="5678701" y="760758"/>
                  <a:pt x="5647883" y="791577"/>
                  <a:pt x="5609866" y="791577"/>
                </a:cubicBezTo>
                <a:lnTo>
                  <a:pt x="34416" y="791577"/>
                </a:lnTo>
                <a:cubicBezTo>
                  <a:pt x="15409" y="791577"/>
                  <a:pt x="0" y="776168"/>
                  <a:pt x="0" y="757160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03" name="Shape 81"/>
          <p:cNvSpPr/>
          <p:nvPr/>
        </p:nvSpPr>
        <p:spPr>
          <a:xfrm>
            <a:off x="6174455" y="5840324"/>
            <a:ext cx="34416" cy="791577"/>
          </a:xfrm>
          <a:custGeom>
            <a:avLst/>
            <a:gdLst/>
            <a:ahLst/>
            <a:cxnLst/>
            <a:rect l="l" t="t" r="r" b="b"/>
            <a:pathLst>
              <a:path w="34416" h="791577">
                <a:moveTo>
                  <a:pt x="34416" y="0"/>
                </a:moveTo>
                <a:lnTo>
                  <a:pt x="34416" y="0"/>
                </a:lnTo>
                <a:lnTo>
                  <a:pt x="34416" y="791577"/>
                </a:lnTo>
                <a:lnTo>
                  <a:pt x="34416" y="791577"/>
                </a:lnTo>
                <a:cubicBezTo>
                  <a:pt x="15409" y="791577"/>
                  <a:pt x="0" y="776168"/>
                  <a:pt x="0" y="757160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4" name="Text 82"/>
          <p:cNvSpPr/>
          <p:nvPr/>
        </p:nvSpPr>
        <p:spPr>
          <a:xfrm>
            <a:off x="6294912" y="5943573"/>
            <a:ext cx="5515224" cy="172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Prompt拼接生成 (主流落地方式)</a:t>
            </a:r>
            <a:endParaRPr 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 83"/>
          <p:cNvSpPr/>
          <p:nvPr/>
        </p:nvSpPr>
        <p:spPr>
          <a:xfrm>
            <a:off x="6294912" y="6184488"/>
            <a:ext cx="5506620" cy="137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将检索片段拼接在用户问题Prompt中，整体输入给GPT/LLaMA等大模型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Shape 84"/>
          <p:cNvSpPr/>
          <p:nvPr/>
        </p:nvSpPr>
        <p:spPr>
          <a:xfrm>
            <a:off x="6314272" y="6404644"/>
            <a:ext cx="90343" cy="103249"/>
          </a:xfrm>
          <a:custGeom>
            <a:avLst/>
            <a:gdLst/>
            <a:ahLst/>
            <a:cxnLst/>
            <a:rect l="l" t="t" r="r" b="b"/>
            <a:pathLst>
              <a:path w="90343" h="103249">
                <a:moveTo>
                  <a:pt x="87681" y="14136"/>
                </a:moveTo>
                <a:cubicBezTo>
                  <a:pt x="90565" y="16234"/>
                  <a:pt x="91210" y="20267"/>
                  <a:pt x="89113" y="23150"/>
                </a:cubicBezTo>
                <a:lnTo>
                  <a:pt x="37488" y="94134"/>
                </a:lnTo>
                <a:cubicBezTo>
                  <a:pt x="36379" y="95667"/>
                  <a:pt x="34665" y="96615"/>
                  <a:pt x="32769" y="96776"/>
                </a:cubicBezTo>
                <a:cubicBezTo>
                  <a:pt x="30874" y="96937"/>
                  <a:pt x="29039" y="96231"/>
                  <a:pt x="27708" y="94900"/>
                </a:cubicBezTo>
                <a:lnTo>
                  <a:pt x="1896" y="69088"/>
                </a:lnTo>
                <a:cubicBezTo>
                  <a:pt x="-625" y="66567"/>
                  <a:pt x="-625" y="62474"/>
                  <a:pt x="1896" y="59953"/>
                </a:cubicBezTo>
                <a:cubicBezTo>
                  <a:pt x="4416" y="57432"/>
                  <a:pt x="8510" y="57432"/>
                  <a:pt x="11031" y="59953"/>
                </a:cubicBezTo>
                <a:lnTo>
                  <a:pt x="31499" y="80421"/>
                </a:lnTo>
                <a:lnTo>
                  <a:pt x="78687" y="15548"/>
                </a:lnTo>
                <a:cubicBezTo>
                  <a:pt x="80784" y="12664"/>
                  <a:pt x="84818" y="12019"/>
                  <a:pt x="87701" y="1411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7" name="Text 85"/>
          <p:cNvSpPr/>
          <p:nvPr/>
        </p:nvSpPr>
        <p:spPr>
          <a:xfrm>
            <a:off x="6447155" y="6390640"/>
            <a:ext cx="177101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无需修改架构、开箱即用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8" name="Shape 86"/>
          <p:cNvSpPr/>
          <p:nvPr/>
        </p:nvSpPr>
        <p:spPr>
          <a:xfrm>
            <a:off x="8481255" y="6404644"/>
            <a:ext cx="77437" cy="103249"/>
          </a:xfrm>
          <a:custGeom>
            <a:avLst/>
            <a:gdLst/>
            <a:ahLst/>
            <a:cxnLst/>
            <a:rect l="l" t="t" r="r" b="b"/>
            <a:pathLst>
              <a:path w="77437" h="103249">
                <a:moveTo>
                  <a:pt x="11111" y="14802"/>
                </a:moveTo>
                <a:cubicBezTo>
                  <a:pt x="8591" y="12281"/>
                  <a:pt x="4497" y="12281"/>
                  <a:pt x="1976" y="14802"/>
                </a:cubicBezTo>
                <a:cubicBezTo>
                  <a:pt x="-544" y="17322"/>
                  <a:pt x="-544" y="21416"/>
                  <a:pt x="1976" y="23937"/>
                </a:cubicBezTo>
                <a:lnTo>
                  <a:pt x="29684" y="51625"/>
                </a:lnTo>
                <a:lnTo>
                  <a:pt x="1996" y="79332"/>
                </a:lnTo>
                <a:cubicBezTo>
                  <a:pt x="-524" y="81853"/>
                  <a:pt x="-524" y="85947"/>
                  <a:pt x="1996" y="88468"/>
                </a:cubicBezTo>
                <a:cubicBezTo>
                  <a:pt x="4517" y="90988"/>
                  <a:pt x="8611" y="90988"/>
                  <a:pt x="11132" y="88468"/>
                </a:cubicBezTo>
                <a:lnTo>
                  <a:pt x="38819" y="60760"/>
                </a:lnTo>
                <a:lnTo>
                  <a:pt x="66527" y="88447"/>
                </a:lnTo>
                <a:cubicBezTo>
                  <a:pt x="69048" y="90968"/>
                  <a:pt x="73142" y="90968"/>
                  <a:pt x="75662" y="88447"/>
                </a:cubicBezTo>
                <a:cubicBezTo>
                  <a:pt x="78183" y="85927"/>
                  <a:pt x="78183" y="81833"/>
                  <a:pt x="75662" y="79312"/>
                </a:cubicBezTo>
                <a:lnTo>
                  <a:pt x="47954" y="51625"/>
                </a:lnTo>
                <a:lnTo>
                  <a:pt x="75642" y="23917"/>
                </a:lnTo>
                <a:cubicBezTo>
                  <a:pt x="78163" y="21396"/>
                  <a:pt x="78163" y="17302"/>
                  <a:pt x="75642" y="14782"/>
                </a:cubicBezTo>
                <a:cubicBezTo>
                  <a:pt x="73121" y="12261"/>
                  <a:pt x="69028" y="12261"/>
                  <a:pt x="66507" y="14782"/>
                </a:cubicBezTo>
                <a:lnTo>
                  <a:pt x="38819" y="42489"/>
                </a:lnTo>
                <a:lnTo>
                  <a:pt x="11111" y="1480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9" name="Text 87"/>
          <p:cNvSpPr/>
          <p:nvPr/>
        </p:nvSpPr>
        <p:spPr>
          <a:xfrm>
            <a:off x="8608060" y="6390640"/>
            <a:ext cx="160210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依赖Prompt工程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533654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RAG Pipeline 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系统架构全景图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320675" y="1033145"/>
            <a:ext cx="3681095" cy="4758690"/>
          </a:xfrm>
          <a:custGeom>
            <a:avLst/>
            <a:gdLst/>
            <a:ahLst/>
            <a:cxnLst/>
            <a:rect l="l" t="t" r="r" b="b"/>
            <a:pathLst>
              <a:path w="3681412" h="5316538">
                <a:moveTo>
                  <a:pt x="95238" y="0"/>
                </a:moveTo>
                <a:lnTo>
                  <a:pt x="3586174" y="0"/>
                </a:lnTo>
                <a:cubicBezTo>
                  <a:pt x="3638738" y="0"/>
                  <a:pt x="3681412" y="42675"/>
                  <a:pt x="3681412" y="95238"/>
                </a:cubicBezTo>
                <a:lnTo>
                  <a:pt x="3681412" y="5221299"/>
                </a:lnTo>
                <a:cubicBezTo>
                  <a:pt x="3681412" y="5273863"/>
                  <a:pt x="3638738" y="5316538"/>
                  <a:pt x="3586174" y="5316538"/>
                </a:cubicBezTo>
                <a:lnTo>
                  <a:pt x="95238" y="5316538"/>
                </a:lnTo>
                <a:cubicBezTo>
                  <a:pt x="42675" y="5316538"/>
                  <a:pt x="0" y="5273863"/>
                  <a:pt x="0" y="5221299"/>
                </a:cubicBezTo>
                <a:lnTo>
                  <a:pt x="0" y="95238"/>
                </a:lnTo>
                <a:cubicBezTo>
                  <a:pt x="0" y="42675"/>
                  <a:pt x="42675" y="0"/>
                  <a:pt x="95238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281" name="Shape 4"/>
          <p:cNvSpPr/>
          <p:nvPr/>
        </p:nvSpPr>
        <p:spPr>
          <a:xfrm>
            <a:off x="419100" y="1163955"/>
            <a:ext cx="254000" cy="22733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82" name="Shape 5"/>
          <p:cNvSpPr/>
          <p:nvPr/>
        </p:nvSpPr>
        <p:spPr>
          <a:xfrm>
            <a:off x="499745" y="1227455"/>
            <a:ext cx="97155" cy="9969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7234" y="44667"/>
                </a:moveTo>
                <a:cubicBezTo>
                  <a:pt x="94022" y="46794"/>
                  <a:pt x="90332" y="48509"/>
                  <a:pt x="86491" y="49876"/>
                </a:cubicBezTo>
                <a:cubicBezTo>
                  <a:pt x="76290" y="53522"/>
                  <a:pt x="62898" y="55563"/>
                  <a:pt x="48617" y="55563"/>
                </a:cubicBezTo>
                <a:cubicBezTo>
                  <a:pt x="34336" y="55563"/>
                  <a:pt x="20923" y="53501"/>
                  <a:pt x="10744" y="49876"/>
                </a:cubicBezTo>
                <a:cubicBezTo>
                  <a:pt x="6924" y="48509"/>
                  <a:pt x="3212" y="46794"/>
                  <a:pt x="0" y="44667"/>
                </a:cubicBezTo>
                <a:lnTo>
                  <a:pt x="0" y="62508"/>
                </a:lnTo>
                <a:cubicBezTo>
                  <a:pt x="0" y="72101"/>
                  <a:pt x="21769" y="79871"/>
                  <a:pt x="48617" y="79871"/>
                </a:cubicBezTo>
                <a:cubicBezTo>
                  <a:pt x="75465" y="79871"/>
                  <a:pt x="97234" y="72101"/>
                  <a:pt x="97234" y="62508"/>
                </a:cubicBezTo>
                <a:lnTo>
                  <a:pt x="97234" y="44667"/>
                </a:lnTo>
                <a:close/>
                <a:moveTo>
                  <a:pt x="97234" y="27781"/>
                </a:moveTo>
                <a:lnTo>
                  <a:pt x="97234" y="17363"/>
                </a:lnTo>
                <a:cubicBezTo>
                  <a:pt x="97234" y="7770"/>
                  <a:pt x="75465" y="0"/>
                  <a:pt x="48617" y="0"/>
                </a:cubicBezTo>
                <a:cubicBezTo>
                  <a:pt x="21769" y="0"/>
                  <a:pt x="0" y="7770"/>
                  <a:pt x="0" y="17363"/>
                </a:cubicBezTo>
                <a:lnTo>
                  <a:pt x="0" y="27781"/>
                </a:lnTo>
                <a:cubicBezTo>
                  <a:pt x="0" y="37374"/>
                  <a:pt x="21769" y="45145"/>
                  <a:pt x="48617" y="45145"/>
                </a:cubicBezTo>
                <a:cubicBezTo>
                  <a:pt x="75465" y="45145"/>
                  <a:pt x="97234" y="37374"/>
                  <a:pt x="97234" y="27781"/>
                </a:cubicBezTo>
                <a:close/>
                <a:moveTo>
                  <a:pt x="86491" y="84603"/>
                </a:moveTo>
                <a:cubicBezTo>
                  <a:pt x="76312" y="88227"/>
                  <a:pt x="62920" y="90289"/>
                  <a:pt x="48617" y="90289"/>
                </a:cubicBezTo>
                <a:cubicBezTo>
                  <a:pt x="34314" y="90289"/>
                  <a:pt x="20923" y="88227"/>
                  <a:pt x="10744" y="84603"/>
                </a:cubicBezTo>
                <a:cubicBezTo>
                  <a:pt x="6924" y="83235"/>
                  <a:pt x="3212" y="81521"/>
                  <a:pt x="0" y="79394"/>
                </a:cubicBezTo>
                <a:lnTo>
                  <a:pt x="0" y="93762"/>
                </a:lnTo>
                <a:cubicBezTo>
                  <a:pt x="0" y="103355"/>
                  <a:pt x="21769" y="111125"/>
                  <a:pt x="48617" y="111125"/>
                </a:cubicBezTo>
                <a:cubicBezTo>
                  <a:pt x="75465" y="111125"/>
                  <a:pt x="97234" y="103355"/>
                  <a:pt x="97234" y="93762"/>
                </a:cubicBezTo>
                <a:lnTo>
                  <a:pt x="97234" y="79394"/>
                </a:lnTo>
                <a:cubicBezTo>
                  <a:pt x="94022" y="81521"/>
                  <a:pt x="90332" y="83235"/>
                  <a:pt x="86491" y="8460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83" name="Text 6"/>
          <p:cNvSpPr/>
          <p:nvPr/>
        </p:nvSpPr>
        <p:spPr>
          <a:xfrm>
            <a:off x="736600" y="1065530"/>
            <a:ext cx="2121535" cy="198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阶段一：索引阶段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736600" y="1320165"/>
            <a:ext cx="1774190" cy="113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Indexing Phase (Offline)</a:t>
            </a:r>
            <a:endParaRPr 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434975" y="1490345"/>
            <a:ext cx="3469005" cy="828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286" name="Shape 9"/>
          <p:cNvSpPr/>
          <p:nvPr/>
        </p:nvSpPr>
        <p:spPr>
          <a:xfrm>
            <a:off x="434975" y="1490345"/>
            <a:ext cx="31750" cy="828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87" name="Shape 10"/>
          <p:cNvSpPr/>
          <p:nvPr/>
        </p:nvSpPr>
        <p:spPr>
          <a:xfrm>
            <a:off x="530225" y="1561465"/>
            <a:ext cx="158750" cy="14224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288" name="Text 11"/>
          <p:cNvSpPr/>
          <p:nvPr/>
        </p:nvSpPr>
        <p:spPr>
          <a:xfrm>
            <a:off x="556260" y="1576070"/>
            <a:ext cx="87630" cy="113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752475" y="1561465"/>
            <a:ext cx="1198880" cy="14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数据摄取层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0" name="Text 13"/>
          <p:cNvSpPr/>
          <p:nvPr/>
        </p:nvSpPr>
        <p:spPr>
          <a:xfrm>
            <a:off x="530225" y="1863725"/>
            <a:ext cx="3342005" cy="120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从多源收集文档(PDF/DOCX/HTML)，提取文本与结构信息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36" name="组合 335"/>
          <p:cNvGrpSpPr/>
          <p:nvPr/>
        </p:nvGrpSpPr>
        <p:grpSpPr>
          <a:xfrm rot="0">
            <a:off x="530225" y="2137410"/>
            <a:ext cx="2037715" cy="135255"/>
            <a:chOff x="835" y="3369"/>
            <a:chExt cx="2237" cy="238"/>
          </a:xfrm>
        </p:grpSpPr>
        <p:sp>
          <p:nvSpPr>
            <p:cNvPr id="291" name="Shape 14"/>
            <p:cNvSpPr/>
            <p:nvPr/>
          </p:nvSpPr>
          <p:spPr>
            <a:xfrm>
              <a:off x="835" y="3369"/>
              <a:ext cx="775" cy="238"/>
            </a:xfrm>
            <a:custGeom>
              <a:avLst/>
              <a:gdLst/>
              <a:ahLst/>
              <a:cxnLst/>
              <a:rect l="l" t="t" r="r" b="b"/>
              <a:pathLst>
                <a:path w="492125" h="150813">
                  <a:moveTo>
                    <a:pt x="31751" y="0"/>
                  </a:moveTo>
                  <a:lnTo>
                    <a:pt x="460374" y="0"/>
                  </a:lnTo>
                  <a:cubicBezTo>
                    <a:pt x="477910" y="0"/>
                    <a:pt x="492125" y="14215"/>
                    <a:pt x="492125" y="31751"/>
                  </a:cubicBezTo>
                  <a:lnTo>
                    <a:pt x="492125" y="119062"/>
                  </a:lnTo>
                  <a:cubicBezTo>
                    <a:pt x="492125" y="136597"/>
                    <a:pt x="477910" y="150813"/>
                    <a:pt x="460374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3D8F8A">
                <a:alpha val="20000"/>
              </a:srgbClr>
            </a:solidFill>
          </p:spPr>
        </p:sp>
        <p:sp>
          <p:nvSpPr>
            <p:cNvPr id="292" name="Text 15"/>
            <p:cNvSpPr/>
            <p:nvPr/>
          </p:nvSpPr>
          <p:spPr>
            <a:xfrm>
              <a:off x="835" y="3369"/>
              <a:ext cx="838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数据连接器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293" name="Shape 16"/>
            <p:cNvSpPr/>
            <p:nvPr/>
          </p:nvSpPr>
          <p:spPr>
            <a:xfrm>
              <a:off x="1660" y="3369"/>
              <a:ext cx="650" cy="238"/>
            </a:xfrm>
            <a:custGeom>
              <a:avLst/>
              <a:gdLst/>
              <a:ahLst/>
              <a:cxnLst/>
              <a:rect l="l" t="t" r="r" b="b"/>
              <a:pathLst>
                <a:path w="412750" h="150813">
                  <a:moveTo>
                    <a:pt x="31751" y="0"/>
                  </a:moveTo>
                  <a:lnTo>
                    <a:pt x="380999" y="0"/>
                  </a:lnTo>
                  <a:cubicBezTo>
                    <a:pt x="398523" y="0"/>
                    <a:pt x="412750" y="14227"/>
                    <a:pt x="412750" y="31751"/>
                  </a:cubicBezTo>
                  <a:lnTo>
                    <a:pt x="412750" y="119062"/>
                  </a:lnTo>
                  <a:cubicBezTo>
                    <a:pt x="412750" y="136597"/>
                    <a:pt x="398535" y="150813"/>
                    <a:pt x="380999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3D8F8A">
                <a:alpha val="20000"/>
              </a:srgbClr>
            </a:solidFill>
          </p:spPr>
        </p:sp>
        <p:sp>
          <p:nvSpPr>
            <p:cNvPr id="294" name="Text 17"/>
            <p:cNvSpPr/>
            <p:nvPr/>
          </p:nvSpPr>
          <p:spPr>
            <a:xfrm>
              <a:off x="1660" y="3369"/>
              <a:ext cx="713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文档解析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295" name="Shape 18"/>
            <p:cNvSpPr/>
            <p:nvPr/>
          </p:nvSpPr>
          <p:spPr>
            <a:xfrm>
              <a:off x="2360" y="3369"/>
              <a:ext cx="650" cy="238"/>
            </a:xfrm>
            <a:custGeom>
              <a:avLst/>
              <a:gdLst/>
              <a:ahLst/>
              <a:cxnLst/>
              <a:rect l="l" t="t" r="r" b="b"/>
              <a:pathLst>
                <a:path w="412750" h="150813">
                  <a:moveTo>
                    <a:pt x="31751" y="0"/>
                  </a:moveTo>
                  <a:lnTo>
                    <a:pt x="380999" y="0"/>
                  </a:lnTo>
                  <a:cubicBezTo>
                    <a:pt x="398523" y="0"/>
                    <a:pt x="412750" y="14227"/>
                    <a:pt x="412750" y="31751"/>
                  </a:cubicBezTo>
                  <a:lnTo>
                    <a:pt x="412750" y="119062"/>
                  </a:lnTo>
                  <a:cubicBezTo>
                    <a:pt x="412750" y="136597"/>
                    <a:pt x="398535" y="150813"/>
                    <a:pt x="380999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3D8F8A">
                <a:alpha val="20000"/>
              </a:srgbClr>
            </a:solidFill>
          </p:spPr>
        </p:sp>
        <p:sp>
          <p:nvSpPr>
            <p:cNvPr id="296" name="Text 19"/>
            <p:cNvSpPr/>
            <p:nvPr/>
          </p:nvSpPr>
          <p:spPr>
            <a:xfrm>
              <a:off x="2360" y="3369"/>
              <a:ext cx="713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格式转换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</p:grpSp>
      <p:sp>
        <p:nvSpPr>
          <p:cNvPr id="297" name="Shape 20"/>
          <p:cNvSpPr/>
          <p:nvPr/>
        </p:nvSpPr>
        <p:spPr>
          <a:xfrm>
            <a:off x="2115185" y="2386965"/>
            <a:ext cx="95250" cy="113665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98" name="Shape 21"/>
          <p:cNvSpPr/>
          <p:nvPr/>
        </p:nvSpPr>
        <p:spPr>
          <a:xfrm>
            <a:off x="434975" y="2553335"/>
            <a:ext cx="3469005" cy="837565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299" name="Shape 22"/>
          <p:cNvSpPr/>
          <p:nvPr/>
        </p:nvSpPr>
        <p:spPr>
          <a:xfrm>
            <a:off x="434975" y="2553335"/>
            <a:ext cx="31750" cy="837565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00" name="Shape 23"/>
          <p:cNvSpPr/>
          <p:nvPr/>
        </p:nvSpPr>
        <p:spPr>
          <a:xfrm>
            <a:off x="530225" y="2624455"/>
            <a:ext cx="158750" cy="14224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01" name="Text 24"/>
          <p:cNvSpPr/>
          <p:nvPr/>
        </p:nvSpPr>
        <p:spPr>
          <a:xfrm>
            <a:off x="548640" y="2639060"/>
            <a:ext cx="103505" cy="113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02" name="Text 25"/>
          <p:cNvSpPr/>
          <p:nvPr/>
        </p:nvSpPr>
        <p:spPr>
          <a:xfrm>
            <a:off x="752475" y="2624455"/>
            <a:ext cx="1023620" cy="14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文档处理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03" name="Text 26"/>
          <p:cNvSpPr/>
          <p:nvPr/>
        </p:nvSpPr>
        <p:spPr>
          <a:xfrm>
            <a:off x="530225" y="2881630"/>
            <a:ext cx="3342005" cy="120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清洗文本、去除冗余、智能分块，保留语义边界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grpSp>
        <p:nvGrpSpPr>
          <p:cNvPr id="337" name="组合 336"/>
          <p:cNvGrpSpPr/>
          <p:nvPr/>
        </p:nvGrpSpPr>
        <p:grpSpPr>
          <a:xfrm rot="0">
            <a:off x="530225" y="3166110"/>
            <a:ext cx="2183130" cy="135255"/>
            <a:chOff x="835" y="5379"/>
            <a:chExt cx="2238" cy="238"/>
          </a:xfrm>
        </p:grpSpPr>
        <p:sp>
          <p:nvSpPr>
            <p:cNvPr id="304" name="Shape 27"/>
            <p:cNvSpPr/>
            <p:nvPr/>
          </p:nvSpPr>
          <p:spPr>
            <a:xfrm>
              <a:off x="835" y="5379"/>
              <a:ext cx="650" cy="238"/>
            </a:xfrm>
            <a:custGeom>
              <a:avLst/>
              <a:gdLst/>
              <a:ahLst/>
              <a:cxnLst/>
              <a:rect l="l" t="t" r="r" b="b"/>
              <a:pathLst>
                <a:path w="412750" h="150813">
                  <a:moveTo>
                    <a:pt x="31751" y="0"/>
                  </a:moveTo>
                  <a:lnTo>
                    <a:pt x="380999" y="0"/>
                  </a:lnTo>
                  <a:cubicBezTo>
                    <a:pt x="398523" y="0"/>
                    <a:pt x="412750" y="14227"/>
                    <a:pt x="412750" y="31751"/>
                  </a:cubicBezTo>
                  <a:lnTo>
                    <a:pt x="412750" y="119062"/>
                  </a:lnTo>
                  <a:cubicBezTo>
                    <a:pt x="412750" y="136597"/>
                    <a:pt x="398535" y="150813"/>
                    <a:pt x="380999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E5A044">
                <a:alpha val="20000"/>
              </a:srgbClr>
            </a:solidFill>
          </p:spPr>
        </p:sp>
        <p:sp>
          <p:nvSpPr>
            <p:cNvPr id="305" name="Text 28"/>
            <p:cNvSpPr/>
            <p:nvPr/>
          </p:nvSpPr>
          <p:spPr>
            <a:xfrm>
              <a:off x="835" y="5379"/>
              <a:ext cx="713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文本清洗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06" name="Shape 29"/>
            <p:cNvSpPr/>
            <p:nvPr/>
          </p:nvSpPr>
          <p:spPr>
            <a:xfrm>
              <a:off x="1535" y="5379"/>
              <a:ext cx="650" cy="238"/>
            </a:xfrm>
            <a:custGeom>
              <a:avLst/>
              <a:gdLst/>
              <a:ahLst/>
              <a:cxnLst/>
              <a:rect l="l" t="t" r="r" b="b"/>
              <a:pathLst>
                <a:path w="412750" h="150813">
                  <a:moveTo>
                    <a:pt x="31751" y="0"/>
                  </a:moveTo>
                  <a:lnTo>
                    <a:pt x="380999" y="0"/>
                  </a:lnTo>
                  <a:cubicBezTo>
                    <a:pt x="398523" y="0"/>
                    <a:pt x="412750" y="14227"/>
                    <a:pt x="412750" y="31751"/>
                  </a:cubicBezTo>
                  <a:lnTo>
                    <a:pt x="412750" y="119062"/>
                  </a:lnTo>
                  <a:cubicBezTo>
                    <a:pt x="412750" y="136597"/>
                    <a:pt x="398535" y="150813"/>
                    <a:pt x="380999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E5A044">
                <a:alpha val="20000"/>
              </a:srgbClr>
            </a:solidFill>
          </p:spPr>
        </p:sp>
        <p:sp>
          <p:nvSpPr>
            <p:cNvPr id="307" name="Text 30"/>
            <p:cNvSpPr/>
            <p:nvPr/>
          </p:nvSpPr>
          <p:spPr>
            <a:xfrm>
              <a:off x="1535" y="5379"/>
              <a:ext cx="713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智能分块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08" name="Shape 31"/>
            <p:cNvSpPr/>
            <p:nvPr/>
          </p:nvSpPr>
          <p:spPr>
            <a:xfrm>
              <a:off x="2235" y="5379"/>
              <a:ext cx="775" cy="238"/>
            </a:xfrm>
            <a:custGeom>
              <a:avLst/>
              <a:gdLst/>
              <a:ahLst/>
              <a:cxnLst/>
              <a:rect l="l" t="t" r="r" b="b"/>
              <a:pathLst>
                <a:path w="492125" h="150813">
                  <a:moveTo>
                    <a:pt x="31751" y="0"/>
                  </a:moveTo>
                  <a:lnTo>
                    <a:pt x="460374" y="0"/>
                  </a:lnTo>
                  <a:cubicBezTo>
                    <a:pt x="477910" y="0"/>
                    <a:pt x="492125" y="14215"/>
                    <a:pt x="492125" y="31751"/>
                  </a:cubicBezTo>
                  <a:lnTo>
                    <a:pt x="492125" y="119062"/>
                  </a:lnTo>
                  <a:cubicBezTo>
                    <a:pt x="492125" y="136597"/>
                    <a:pt x="477910" y="150813"/>
                    <a:pt x="460374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E5A044">
                <a:alpha val="20000"/>
              </a:srgbClr>
            </a:solidFill>
          </p:spPr>
        </p:sp>
        <p:sp>
          <p:nvSpPr>
            <p:cNvPr id="309" name="Text 32"/>
            <p:cNvSpPr/>
            <p:nvPr/>
          </p:nvSpPr>
          <p:spPr>
            <a:xfrm>
              <a:off x="2235" y="5379"/>
              <a:ext cx="838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元数据提取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</p:grpSp>
      <p:sp>
        <p:nvSpPr>
          <p:cNvPr id="310" name="Shape 33"/>
          <p:cNvSpPr/>
          <p:nvPr/>
        </p:nvSpPr>
        <p:spPr>
          <a:xfrm>
            <a:off x="2115185" y="3442970"/>
            <a:ext cx="95250" cy="113665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11" name="Shape 34"/>
          <p:cNvSpPr/>
          <p:nvPr/>
        </p:nvSpPr>
        <p:spPr>
          <a:xfrm>
            <a:off x="434975" y="3604895"/>
            <a:ext cx="3469005" cy="936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12" name="Shape 35"/>
          <p:cNvSpPr/>
          <p:nvPr/>
        </p:nvSpPr>
        <p:spPr>
          <a:xfrm>
            <a:off x="434975" y="3604895"/>
            <a:ext cx="31750" cy="936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13" name="Shape 36"/>
          <p:cNvSpPr/>
          <p:nvPr/>
        </p:nvSpPr>
        <p:spPr>
          <a:xfrm>
            <a:off x="530225" y="3675380"/>
            <a:ext cx="158750" cy="14224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14" name="Text 37"/>
          <p:cNvSpPr/>
          <p:nvPr/>
        </p:nvSpPr>
        <p:spPr>
          <a:xfrm>
            <a:off x="547370" y="3689985"/>
            <a:ext cx="103505" cy="113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5" name="Text 38"/>
          <p:cNvSpPr/>
          <p:nvPr/>
        </p:nvSpPr>
        <p:spPr>
          <a:xfrm>
            <a:off x="752475" y="3675380"/>
            <a:ext cx="1257935" cy="14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嵌入生成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6" name="Text 39"/>
          <p:cNvSpPr/>
          <p:nvPr/>
        </p:nvSpPr>
        <p:spPr>
          <a:xfrm>
            <a:off x="530225" y="3938270"/>
            <a:ext cx="334200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使用Embedding模型将文本转为向量(384-1536维)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38" name="组合 337"/>
          <p:cNvGrpSpPr/>
          <p:nvPr/>
        </p:nvGrpSpPr>
        <p:grpSpPr>
          <a:xfrm rot="0">
            <a:off x="530225" y="4316095"/>
            <a:ext cx="2121535" cy="135255"/>
            <a:chOff x="835" y="7393"/>
            <a:chExt cx="1977" cy="238"/>
          </a:xfrm>
        </p:grpSpPr>
        <p:sp>
          <p:nvSpPr>
            <p:cNvPr id="317" name="Shape 40"/>
            <p:cNvSpPr/>
            <p:nvPr/>
          </p:nvSpPr>
          <p:spPr>
            <a:xfrm>
              <a:off x="835" y="7393"/>
              <a:ext cx="463" cy="238"/>
            </a:xfrm>
            <a:custGeom>
              <a:avLst/>
              <a:gdLst/>
              <a:ahLst/>
              <a:cxnLst/>
              <a:rect l="l" t="t" r="r" b="b"/>
              <a:pathLst>
                <a:path w="293688" h="150813">
                  <a:moveTo>
                    <a:pt x="31751" y="0"/>
                  </a:moveTo>
                  <a:lnTo>
                    <a:pt x="261937" y="0"/>
                  </a:lnTo>
                  <a:cubicBezTo>
                    <a:pt x="279461" y="0"/>
                    <a:pt x="293688" y="14227"/>
                    <a:pt x="293688" y="31751"/>
                  </a:cubicBezTo>
                  <a:lnTo>
                    <a:pt x="293688" y="119062"/>
                  </a:lnTo>
                  <a:cubicBezTo>
                    <a:pt x="293687" y="136597"/>
                    <a:pt x="279472" y="150813"/>
                    <a:pt x="261937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</p:spPr>
        </p:sp>
        <p:sp>
          <p:nvSpPr>
            <p:cNvPr id="318" name="Text 41"/>
            <p:cNvSpPr/>
            <p:nvPr/>
          </p:nvSpPr>
          <p:spPr>
            <a:xfrm>
              <a:off x="835" y="7393"/>
              <a:ext cx="525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BERT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19" name="Shape 42"/>
            <p:cNvSpPr/>
            <p:nvPr/>
          </p:nvSpPr>
          <p:spPr>
            <a:xfrm>
              <a:off x="1345" y="7393"/>
              <a:ext cx="1050" cy="238"/>
            </a:xfrm>
            <a:custGeom>
              <a:avLst/>
              <a:gdLst/>
              <a:ahLst/>
              <a:cxnLst/>
              <a:rect l="l" t="t" r="r" b="b"/>
              <a:pathLst>
                <a:path w="666750" h="150813">
                  <a:moveTo>
                    <a:pt x="31751" y="0"/>
                  </a:moveTo>
                  <a:lnTo>
                    <a:pt x="634999" y="0"/>
                  </a:lnTo>
                  <a:cubicBezTo>
                    <a:pt x="652535" y="0"/>
                    <a:pt x="666750" y="14215"/>
                    <a:pt x="666750" y="31751"/>
                  </a:cubicBezTo>
                  <a:lnTo>
                    <a:pt x="666750" y="119062"/>
                  </a:lnTo>
                  <a:cubicBezTo>
                    <a:pt x="666750" y="136597"/>
                    <a:pt x="652535" y="150813"/>
                    <a:pt x="634999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</p:spPr>
        </p:sp>
        <p:sp>
          <p:nvSpPr>
            <p:cNvPr id="320" name="Text 43"/>
            <p:cNvSpPr/>
            <p:nvPr/>
          </p:nvSpPr>
          <p:spPr>
            <a:xfrm>
              <a:off x="1345" y="7393"/>
              <a:ext cx="1113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Sentence-BERT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21" name="Shape 44"/>
            <p:cNvSpPr/>
            <p:nvPr/>
          </p:nvSpPr>
          <p:spPr>
            <a:xfrm>
              <a:off x="2450" y="7393"/>
              <a:ext cx="300" cy="238"/>
            </a:xfrm>
            <a:custGeom>
              <a:avLst/>
              <a:gdLst/>
              <a:ahLst/>
              <a:cxnLst/>
              <a:rect l="l" t="t" r="r" b="b"/>
              <a:pathLst>
                <a:path w="190500" h="150813">
                  <a:moveTo>
                    <a:pt x="31751" y="0"/>
                  </a:moveTo>
                  <a:lnTo>
                    <a:pt x="158749" y="0"/>
                  </a:lnTo>
                  <a:cubicBezTo>
                    <a:pt x="176273" y="0"/>
                    <a:pt x="190500" y="14227"/>
                    <a:pt x="190500" y="31751"/>
                  </a:cubicBezTo>
                  <a:lnTo>
                    <a:pt x="190500" y="119062"/>
                  </a:lnTo>
                  <a:cubicBezTo>
                    <a:pt x="190500" y="136597"/>
                    <a:pt x="176285" y="150813"/>
                    <a:pt x="158749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</p:spPr>
        </p:sp>
        <p:sp>
          <p:nvSpPr>
            <p:cNvPr id="322" name="Text 45"/>
            <p:cNvSpPr/>
            <p:nvPr/>
          </p:nvSpPr>
          <p:spPr>
            <a:xfrm>
              <a:off x="2450" y="7393"/>
              <a:ext cx="363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E5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</p:grpSp>
      <p:sp>
        <p:nvSpPr>
          <p:cNvPr id="323" name="Shape 46"/>
          <p:cNvSpPr/>
          <p:nvPr/>
        </p:nvSpPr>
        <p:spPr>
          <a:xfrm>
            <a:off x="2115185" y="4597400"/>
            <a:ext cx="95250" cy="113665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24" name="Shape 47"/>
          <p:cNvSpPr/>
          <p:nvPr/>
        </p:nvSpPr>
        <p:spPr>
          <a:xfrm>
            <a:off x="434975" y="4766945"/>
            <a:ext cx="3469005" cy="900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25" name="Shape 48"/>
          <p:cNvSpPr/>
          <p:nvPr/>
        </p:nvSpPr>
        <p:spPr>
          <a:xfrm>
            <a:off x="434975" y="4766945"/>
            <a:ext cx="31750" cy="900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26" name="Shape 49"/>
          <p:cNvSpPr/>
          <p:nvPr/>
        </p:nvSpPr>
        <p:spPr>
          <a:xfrm>
            <a:off x="530225" y="4838065"/>
            <a:ext cx="158750" cy="14224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27" name="Text 50"/>
          <p:cNvSpPr/>
          <p:nvPr/>
        </p:nvSpPr>
        <p:spPr>
          <a:xfrm>
            <a:off x="547370" y="4852035"/>
            <a:ext cx="103505" cy="113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8" name="Text 51"/>
          <p:cNvSpPr/>
          <p:nvPr/>
        </p:nvSpPr>
        <p:spPr>
          <a:xfrm>
            <a:off x="752475" y="4838065"/>
            <a:ext cx="1303020" cy="14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数据库存储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9" name="Text 52"/>
          <p:cNvSpPr/>
          <p:nvPr/>
        </p:nvSpPr>
        <p:spPr>
          <a:xfrm>
            <a:off x="530225" y="5099685"/>
            <a:ext cx="3342005" cy="291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向量存入数据库(FAISS/Pinecone/Milvus)，构建高效索引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39" name="组合 338"/>
          <p:cNvGrpSpPr/>
          <p:nvPr/>
        </p:nvGrpSpPr>
        <p:grpSpPr>
          <a:xfrm rot="0">
            <a:off x="530225" y="5476240"/>
            <a:ext cx="1584960" cy="135255"/>
            <a:chOff x="835" y="9444"/>
            <a:chExt cx="1675" cy="238"/>
          </a:xfrm>
        </p:grpSpPr>
        <p:sp>
          <p:nvSpPr>
            <p:cNvPr id="330" name="Shape 53"/>
            <p:cNvSpPr/>
            <p:nvPr/>
          </p:nvSpPr>
          <p:spPr>
            <a:xfrm>
              <a:off x="835" y="9444"/>
              <a:ext cx="650" cy="238"/>
            </a:xfrm>
            <a:custGeom>
              <a:avLst/>
              <a:gdLst/>
              <a:ahLst/>
              <a:cxnLst/>
              <a:rect l="l" t="t" r="r" b="b"/>
              <a:pathLst>
                <a:path w="412750" h="150813">
                  <a:moveTo>
                    <a:pt x="31751" y="0"/>
                  </a:moveTo>
                  <a:lnTo>
                    <a:pt x="380999" y="0"/>
                  </a:lnTo>
                  <a:cubicBezTo>
                    <a:pt x="398523" y="0"/>
                    <a:pt x="412750" y="14227"/>
                    <a:pt x="412750" y="31751"/>
                  </a:cubicBezTo>
                  <a:lnTo>
                    <a:pt x="412750" y="119062"/>
                  </a:lnTo>
                  <a:cubicBezTo>
                    <a:pt x="412750" y="136597"/>
                    <a:pt x="398535" y="150813"/>
                    <a:pt x="380999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3D8F8A">
                <a:alpha val="20000"/>
              </a:srgbClr>
            </a:solidFill>
          </p:spPr>
        </p:sp>
        <p:sp>
          <p:nvSpPr>
            <p:cNvPr id="331" name="Text 54"/>
            <p:cNvSpPr/>
            <p:nvPr/>
          </p:nvSpPr>
          <p:spPr>
            <a:xfrm>
              <a:off x="835" y="9444"/>
              <a:ext cx="713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向量索引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32" name="Shape 55"/>
            <p:cNvSpPr/>
            <p:nvPr/>
          </p:nvSpPr>
          <p:spPr>
            <a:xfrm>
              <a:off x="1535" y="9444"/>
              <a:ext cx="525" cy="238"/>
            </a:xfrm>
            <a:custGeom>
              <a:avLst/>
              <a:gdLst/>
              <a:ahLst/>
              <a:cxnLst/>
              <a:rect l="l" t="t" r="r" b="b"/>
              <a:pathLst>
                <a:path w="333375" h="150813">
                  <a:moveTo>
                    <a:pt x="31751" y="0"/>
                  </a:moveTo>
                  <a:lnTo>
                    <a:pt x="301624" y="0"/>
                  </a:lnTo>
                  <a:cubicBezTo>
                    <a:pt x="319148" y="0"/>
                    <a:pt x="333375" y="14227"/>
                    <a:pt x="333375" y="31751"/>
                  </a:cubicBezTo>
                  <a:lnTo>
                    <a:pt x="333375" y="119062"/>
                  </a:lnTo>
                  <a:cubicBezTo>
                    <a:pt x="333375" y="136597"/>
                    <a:pt x="319160" y="150813"/>
                    <a:pt x="301624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3D8F8A">
                <a:alpha val="20000"/>
              </a:srgbClr>
            </a:solidFill>
          </p:spPr>
        </p:sp>
        <p:sp>
          <p:nvSpPr>
            <p:cNvPr id="333" name="Text 56"/>
            <p:cNvSpPr/>
            <p:nvPr/>
          </p:nvSpPr>
          <p:spPr>
            <a:xfrm>
              <a:off x="1535" y="9444"/>
              <a:ext cx="588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HNSW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34" name="Shape 57"/>
            <p:cNvSpPr/>
            <p:nvPr/>
          </p:nvSpPr>
          <p:spPr>
            <a:xfrm>
              <a:off x="2110" y="9444"/>
              <a:ext cx="338" cy="238"/>
            </a:xfrm>
            <a:custGeom>
              <a:avLst/>
              <a:gdLst/>
              <a:ahLst/>
              <a:cxnLst/>
              <a:rect l="l" t="t" r="r" b="b"/>
              <a:pathLst>
                <a:path w="214313" h="150813">
                  <a:moveTo>
                    <a:pt x="31751" y="0"/>
                  </a:moveTo>
                  <a:lnTo>
                    <a:pt x="182562" y="0"/>
                  </a:lnTo>
                  <a:cubicBezTo>
                    <a:pt x="200086" y="0"/>
                    <a:pt x="214313" y="14227"/>
                    <a:pt x="214313" y="31751"/>
                  </a:cubicBezTo>
                  <a:lnTo>
                    <a:pt x="214313" y="119062"/>
                  </a:lnTo>
                  <a:cubicBezTo>
                    <a:pt x="214312" y="136597"/>
                    <a:pt x="200097" y="150813"/>
                    <a:pt x="182562" y="150813"/>
                  </a:cubicBezTo>
                  <a:lnTo>
                    <a:pt x="31751" y="150813"/>
                  </a:lnTo>
                  <a:cubicBezTo>
                    <a:pt x="14215" y="150813"/>
                    <a:pt x="0" y="136597"/>
                    <a:pt x="0" y="119062"/>
                  </a:cubicBezTo>
                  <a:lnTo>
                    <a:pt x="0" y="31751"/>
                  </a:lnTo>
                  <a:cubicBezTo>
                    <a:pt x="0" y="14215"/>
                    <a:pt x="14215" y="0"/>
                    <a:pt x="31751" y="0"/>
                  </a:cubicBezTo>
                  <a:close/>
                </a:path>
              </a:pathLst>
            </a:custGeom>
            <a:solidFill>
              <a:srgbClr val="3D8F8A">
                <a:alpha val="20000"/>
              </a:srgbClr>
            </a:solidFill>
          </p:spPr>
        </p:sp>
        <p:sp>
          <p:nvSpPr>
            <p:cNvPr id="335" name="Text 58"/>
            <p:cNvSpPr/>
            <p:nvPr/>
          </p:nvSpPr>
          <p:spPr>
            <a:xfrm>
              <a:off x="2110" y="9444"/>
              <a:ext cx="400" cy="238"/>
            </a:xfrm>
            <a:prstGeom prst="rect">
              <a:avLst/>
            </a:prstGeom>
            <a:noFill/>
          </p:spPr>
          <p:txBody>
            <a:bodyPr wrap="square" lIns="47625" tIns="15875" rIns="47625" bIns="15875" rtlCol="0" anchor="ctr"/>
            <a:lstStyle/>
            <a:p>
              <a:pPr>
                <a:lnSpc>
                  <a:spcPct val="130000"/>
                </a:lnSpc>
              </a:pPr>
              <a:r>
                <a:rPr lang="en-US" sz="103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IVF</a:t>
              </a:r>
              <a:endPara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</p:grpSp>
      <p:sp>
        <p:nvSpPr>
          <p:cNvPr id="341" name="Shape 59"/>
          <p:cNvSpPr/>
          <p:nvPr/>
        </p:nvSpPr>
        <p:spPr>
          <a:xfrm>
            <a:off x="4137660" y="1033145"/>
            <a:ext cx="3919220" cy="3018155"/>
          </a:xfrm>
          <a:custGeom>
            <a:avLst/>
            <a:gdLst/>
            <a:ahLst/>
            <a:cxnLst/>
            <a:rect l="l" t="t" r="r" b="b"/>
            <a:pathLst>
              <a:path w="3919537" h="4252912">
                <a:moveTo>
                  <a:pt x="95245" y="0"/>
                </a:moveTo>
                <a:lnTo>
                  <a:pt x="3824293" y="0"/>
                </a:lnTo>
                <a:cubicBezTo>
                  <a:pt x="3876895" y="0"/>
                  <a:pt x="3919537" y="42643"/>
                  <a:pt x="3919537" y="95245"/>
                </a:cubicBezTo>
                <a:lnTo>
                  <a:pt x="3919537" y="4157668"/>
                </a:lnTo>
                <a:cubicBezTo>
                  <a:pt x="3919537" y="4210270"/>
                  <a:pt x="3876895" y="4252912"/>
                  <a:pt x="3824293" y="4252912"/>
                </a:cubicBezTo>
                <a:lnTo>
                  <a:pt x="95245" y="4252912"/>
                </a:lnTo>
                <a:cubicBezTo>
                  <a:pt x="42643" y="4252912"/>
                  <a:pt x="0" y="4210270"/>
                  <a:pt x="0" y="4157668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42" name="Shape 60"/>
          <p:cNvSpPr/>
          <p:nvPr/>
        </p:nvSpPr>
        <p:spPr>
          <a:xfrm>
            <a:off x="4236244" y="117909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43" name="Shape 61"/>
          <p:cNvSpPr/>
          <p:nvPr/>
        </p:nvSpPr>
        <p:spPr>
          <a:xfrm>
            <a:off x="4309666" y="125053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38199" y="5209"/>
                </a:moveTo>
                <a:cubicBezTo>
                  <a:pt x="38199" y="2322"/>
                  <a:pt x="35877" y="0"/>
                  <a:pt x="32990" y="0"/>
                </a:cubicBezTo>
                <a:cubicBezTo>
                  <a:pt x="30104" y="0"/>
                  <a:pt x="27781" y="2322"/>
                  <a:pt x="27781" y="5209"/>
                </a:cubicBezTo>
                <a:lnTo>
                  <a:pt x="27781" y="13891"/>
                </a:lnTo>
                <a:cubicBezTo>
                  <a:pt x="20120" y="13891"/>
                  <a:pt x="13891" y="20120"/>
                  <a:pt x="13891" y="27781"/>
                </a:cubicBezTo>
                <a:lnTo>
                  <a:pt x="5209" y="27781"/>
                </a:lnTo>
                <a:cubicBezTo>
                  <a:pt x="2322" y="27781"/>
                  <a:pt x="0" y="30104"/>
                  <a:pt x="0" y="32990"/>
                </a:cubicBezTo>
                <a:cubicBezTo>
                  <a:pt x="0" y="35877"/>
                  <a:pt x="2322" y="38199"/>
                  <a:pt x="5209" y="38199"/>
                </a:cubicBezTo>
                <a:lnTo>
                  <a:pt x="13891" y="38199"/>
                </a:lnTo>
                <a:lnTo>
                  <a:pt x="13891" y="50354"/>
                </a:lnTo>
                <a:lnTo>
                  <a:pt x="5209" y="50354"/>
                </a:lnTo>
                <a:cubicBezTo>
                  <a:pt x="2322" y="50354"/>
                  <a:pt x="0" y="52676"/>
                  <a:pt x="0" y="55563"/>
                </a:cubicBezTo>
                <a:cubicBezTo>
                  <a:pt x="0" y="58449"/>
                  <a:pt x="2322" y="60771"/>
                  <a:pt x="5209" y="60771"/>
                </a:cubicBezTo>
                <a:lnTo>
                  <a:pt x="13891" y="60771"/>
                </a:lnTo>
                <a:lnTo>
                  <a:pt x="13891" y="72926"/>
                </a:lnTo>
                <a:lnTo>
                  <a:pt x="5209" y="72926"/>
                </a:lnTo>
                <a:cubicBezTo>
                  <a:pt x="2322" y="72926"/>
                  <a:pt x="0" y="75248"/>
                  <a:pt x="0" y="78135"/>
                </a:cubicBezTo>
                <a:cubicBezTo>
                  <a:pt x="0" y="81021"/>
                  <a:pt x="2322" y="83344"/>
                  <a:pt x="5209" y="83344"/>
                </a:cubicBezTo>
                <a:lnTo>
                  <a:pt x="13891" y="83344"/>
                </a:lnTo>
                <a:cubicBezTo>
                  <a:pt x="13891" y="91005"/>
                  <a:pt x="20120" y="97234"/>
                  <a:pt x="27781" y="97234"/>
                </a:cubicBezTo>
                <a:lnTo>
                  <a:pt x="27781" y="105916"/>
                </a:lnTo>
                <a:cubicBezTo>
                  <a:pt x="27781" y="108803"/>
                  <a:pt x="30104" y="111125"/>
                  <a:pt x="32990" y="111125"/>
                </a:cubicBezTo>
                <a:cubicBezTo>
                  <a:pt x="35877" y="111125"/>
                  <a:pt x="38199" y="108803"/>
                  <a:pt x="38199" y="105916"/>
                </a:cubicBezTo>
                <a:lnTo>
                  <a:pt x="38199" y="97234"/>
                </a:lnTo>
                <a:lnTo>
                  <a:pt x="50354" y="97234"/>
                </a:lnTo>
                <a:lnTo>
                  <a:pt x="50354" y="105916"/>
                </a:lnTo>
                <a:cubicBezTo>
                  <a:pt x="50354" y="108803"/>
                  <a:pt x="52676" y="111125"/>
                  <a:pt x="55563" y="111125"/>
                </a:cubicBezTo>
                <a:cubicBezTo>
                  <a:pt x="58449" y="111125"/>
                  <a:pt x="60771" y="108803"/>
                  <a:pt x="60771" y="105916"/>
                </a:cubicBezTo>
                <a:lnTo>
                  <a:pt x="60771" y="97234"/>
                </a:lnTo>
                <a:lnTo>
                  <a:pt x="72926" y="97234"/>
                </a:lnTo>
                <a:lnTo>
                  <a:pt x="72926" y="105916"/>
                </a:lnTo>
                <a:cubicBezTo>
                  <a:pt x="72926" y="108803"/>
                  <a:pt x="75248" y="111125"/>
                  <a:pt x="78135" y="111125"/>
                </a:cubicBezTo>
                <a:cubicBezTo>
                  <a:pt x="81021" y="111125"/>
                  <a:pt x="83344" y="108803"/>
                  <a:pt x="83344" y="105916"/>
                </a:cubicBezTo>
                <a:lnTo>
                  <a:pt x="83344" y="97234"/>
                </a:lnTo>
                <a:cubicBezTo>
                  <a:pt x="91005" y="97234"/>
                  <a:pt x="97234" y="91005"/>
                  <a:pt x="97234" y="83344"/>
                </a:cubicBezTo>
                <a:lnTo>
                  <a:pt x="105916" y="83344"/>
                </a:lnTo>
                <a:cubicBezTo>
                  <a:pt x="108803" y="83344"/>
                  <a:pt x="111125" y="81021"/>
                  <a:pt x="111125" y="78135"/>
                </a:cubicBezTo>
                <a:cubicBezTo>
                  <a:pt x="111125" y="75248"/>
                  <a:pt x="108803" y="72926"/>
                  <a:pt x="105916" y="72926"/>
                </a:cubicBezTo>
                <a:lnTo>
                  <a:pt x="97234" y="72926"/>
                </a:lnTo>
                <a:lnTo>
                  <a:pt x="97234" y="60771"/>
                </a:lnTo>
                <a:lnTo>
                  <a:pt x="105916" y="60771"/>
                </a:lnTo>
                <a:cubicBezTo>
                  <a:pt x="108803" y="60771"/>
                  <a:pt x="111125" y="58449"/>
                  <a:pt x="111125" y="55563"/>
                </a:cubicBezTo>
                <a:cubicBezTo>
                  <a:pt x="111125" y="52676"/>
                  <a:pt x="108803" y="50354"/>
                  <a:pt x="105916" y="50354"/>
                </a:cubicBezTo>
                <a:lnTo>
                  <a:pt x="97234" y="50354"/>
                </a:lnTo>
                <a:lnTo>
                  <a:pt x="97234" y="38199"/>
                </a:lnTo>
                <a:lnTo>
                  <a:pt x="105916" y="38199"/>
                </a:lnTo>
                <a:cubicBezTo>
                  <a:pt x="108803" y="38199"/>
                  <a:pt x="111125" y="35877"/>
                  <a:pt x="111125" y="32990"/>
                </a:cubicBezTo>
                <a:cubicBezTo>
                  <a:pt x="111125" y="30104"/>
                  <a:pt x="108803" y="27781"/>
                  <a:pt x="105916" y="27781"/>
                </a:cubicBezTo>
                <a:lnTo>
                  <a:pt x="97234" y="27781"/>
                </a:lnTo>
                <a:cubicBezTo>
                  <a:pt x="97234" y="20120"/>
                  <a:pt x="91005" y="13891"/>
                  <a:pt x="83344" y="13891"/>
                </a:cubicBezTo>
                <a:lnTo>
                  <a:pt x="83344" y="5209"/>
                </a:lnTo>
                <a:cubicBezTo>
                  <a:pt x="83344" y="2322"/>
                  <a:pt x="81021" y="0"/>
                  <a:pt x="78135" y="0"/>
                </a:cubicBezTo>
                <a:cubicBezTo>
                  <a:pt x="75248" y="0"/>
                  <a:pt x="72926" y="2322"/>
                  <a:pt x="72926" y="5209"/>
                </a:cubicBezTo>
                <a:lnTo>
                  <a:pt x="72926" y="13891"/>
                </a:lnTo>
                <a:lnTo>
                  <a:pt x="60771" y="13891"/>
                </a:lnTo>
                <a:lnTo>
                  <a:pt x="60771" y="5209"/>
                </a:lnTo>
                <a:cubicBezTo>
                  <a:pt x="60771" y="2322"/>
                  <a:pt x="58449" y="0"/>
                  <a:pt x="55563" y="0"/>
                </a:cubicBezTo>
                <a:cubicBezTo>
                  <a:pt x="52676" y="0"/>
                  <a:pt x="50354" y="2322"/>
                  <a:pt x="50354" y="5209"/>
                </a:cubicBezTo>
                <a:lnTo>
                  <a:pt x="50354" y="13891"/>
                </a:lnTo>
                <a:lnTo>
                  <a:pt x="38199" y="13891"/>
                </a:lnTo>
                <a:lnTo>
                  <a:pt x="38199" y="5209"/>
                </a:lnTo>
                <a:close/>
                <a:moveTo>
                  <a:pt x="34727" y="27781"/>
                </a:moveTo>
                <a:lnTo>
                  <a:pt x="76398" y="27781"/>
                </a:lnTo>
                <a:cubicBezTo>
                  <a:pt x="80240" y="27781"/>
                  <a:pt x="83344" y="30885"/>
                  <a:pt x="83344" y="34727"/>
                </a:cubicBezTo>
                <a:lnTo>
                  <a:pt x="83344" y="76398"/>
                </a:lnTo>
                <a:cubicBezTo>
                  <a:pt x="83344" y="80240"/>
                  <a:pt x="80240" y="83344"/>
                  <a:pt x="76398" y="83344"/>
                </a:cubicBezTo>
                <a:lnTo>
                  <a:pt x="34727" y="83344"/>
                </a:lnTo>
                <a:cubicBezTo>
                  <a:pt x="30885" y="83344"/>
                  <a:pt x="27781" y="80240"/>
                  <a:pt x="27781" y="76398"/>
                </a:cubicBezTo>
                <a:lnTo>
                  <a:pt x="27781" y="34727"/>
                </a:lnTo>
                <a:cubicBezTo>
                  <a:pt x="27781" y="30885"/>
                  <a:pt x="30885" y="27781"/>
                  <a:pt x="34727" y="27781"/>
                </a:cubicBezTo>
                <a:close/>
                <a:moveTo>
                  <a:pt x="38199" y="38199"/>
                </a:moveTo>
                <a:lnTo>
                  <a:pt x="38199" y="72926"/>
                </a:lnTo>
                <a:lnTo>
                  <a:pt x="72926" y="72926"/>
                </a:lnTo>
                <a:lnTo>
                  <a:pt x="72926" y="38199"/>
                </a:lnTo>
                <a:lnTo>
                  <a:pt x="38199" y="38199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344" name="Text 62"/>
          <p:cNvSpPr/>
          <p:nvPr/>
        </p:nvSpPr>
        <p:spPr>
          <a:xfrm>
            <a:off x="4553585" y="1109980"/>
            <a:ext cx="135826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核心组件层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5" name="Text 63"/>
          <p:cNvSpPr/>
          <p:nvPr/>
        </p:nvSpPr>
        <p:spPr>
          <a:xfrm>
            <a:off x="4553585" y="1353820"/>
            <a:ext cx="1317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Core Components</a:t>
            </a:r>
            <a:endParaRPr 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346" name="Shape 64"/>
          <p:cNvSpPr/>
          <p:nvPr/>
        </p:nvSpPr>
        <p:spPr>
          <a:xfrm>
            <a:off x="4239260" y="1547495"/>
            <a:ext cx="1824355" cy="770255"/>
          </a:xfrm>
          <a:custGeom>
            <a:avLst/>
            <a:gdLst/>
            <a:ahLst/>
            <a:cxnLst/>
            <a:rect l="l" t="t" r="r" b="b"/>
            <a:pathLst>
              <a:path w="1824038" h="1165225">
                <a:moveTo>
                  <a:pt x="63505" y="0"/>
                </a:moveTo>
                <a:lnTo>
                  <a:pt x="1760533" y="0"/>
                </a:lnTo>
                <a:cubicBezTo>
                  <a:pt x="1795605" y="0"/>
                  <a:pt x="1824038" y="28432"/>
                  <a:pt x="1824038" y="63505"/>
                </a:cubicBezTo>
                <a:lnTo>
                  <a:pt x="1824038" y="1101720"/>
                </a:lnTo>
                <a:cubicBezTo>
                  <a:pt x="1824038" y="1136793"/>
                  <a:pt x="1795605" y="1165225"/>
                  <a:pt x="1760533" y="1165225"/>
                </a:cubicBezTo>
                <a:lnTo>
                  <a:pt x="63505" y="1165225"/>
                </a:lnTo>
                <a:cubicBezTo>
                  <a:pt x="28432" y="1165225"/>
                  <a:pt x="0" y="1136793"/>
                  <a:pt x="0" y="110172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47" name="Shape 65"/>
          <p:cNvSpPr/>
          <p:nvPr/>
        </p:nvSpPr>
        <p:spPr>
          <a:xfrm>
            <a:off x="4321969" y="1621911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17363"/>
                </a:moveTo>
                <a:cubicBezTo>
                  <a:pt x="0" y="11612"/>
                  <a:pt x="4666" y="6945"/>
                  <a:pt x="10418" y="6945"/>
                </a:cubicBezTo>
                <a:lnTo>
                  <a:pt x="31254" y="6945"/>
                </a:lnTo>
                <a:cubicBezTo>
                  <a:pt x="37005" y="6945"/>
                  <a:pt x="41672" y="11612"/>
                  <a:pt x="41672" y="17363"/>
                </a:cubicBezTo>
                <a:lnTo>
                  <a:pt x="41672" y="20836"/>
                </a:lnTo>
                <a:lnTo>
                  <a:pt x="69453" y="20836"/>
                </a:lnTo>
                <a:lnTo>
                  <a:pt x="69453" y="17363"/>
                </a:lnTo>
                <a:cubicBezTo>
                  <a:pt x="69453" y="11612"/>
                  <a:pt x="74120" y="6945"/>
                  <a:pt x="79871" y="6945"/>
                </a:cubicBezTo>
                <a:lnTo>
                  <a:pt x="100707" y="6945"/>
                </a:lnTo>
                <a:cubicBezTo>
                  <a:pt x="106459" y="6945"/>
                  <a:pt x="111125" y="11612"/>
                  <a:pt x="111125" y="17363"/>
                </a:cubicBezTo>
                <a:lnTo>
                  <a:pt x="111125" y="38199"/>
                </a:lnTo>
                <a:cubicBezTo>
                  <a:pt x="111125" y="43951"/>
                  <a:pt x="106459" y="48617"/>
                  <a:pt x="100707" y="48617"/>
                </a:cubicBezTo>
                <a:lnTo>
                  <a:pt x="79871" y="48617"/>
                </a:lnTo>
                <a:cubicBezTo>
                  <a:pt x="74120" y="48617"/>
                  <a:pt x="69453" y="43951"/>
                  <a:pt x="69453" y="38199"/>
                </a:cubicBezTo>
                <a:lnTo>
                  <a:pt x="69453" y="34727"/>
                </a:lnTo>
                <a:lnTo>
                  <a:pt x="41672" y="34727"/>
                </a:lnTo>
                <a:lnTo>
                  <a:pt x="41672" y="38199"/>
                </a:lnTo>
                <a:cubicBezTo>
                  <a:pt x="41672" y="39784"/>
                  <a:pt x="41303" y="41303"/>
                  <a:pt x="40673" y="42649"/>
                </a:cubicBezTo>
                <a:lnTo>
                  <a:pt x="55563" y="62508"/>
                </a:lnTo>
                <a:lnTo>
                  <a:pt x="72926" y="62508"/>
                </a:lnTo>
                <a:cubicBezTo>
                  <a:pt x="78677" y="62508"/>
                  <a:pt x="83344" y="67174"/>
                  <a:pt x="83344" y="72926"/>
                </a:cubicBezTo>
                <a:lnTo>
                  <a:pt x="83344" y="93762"/>
                </a:lnTo>
                <a:cubicBezTo>
                  <a:pt x="83344" y="99513"/>
                  <a:pt x="78677" y="104180"/>
                  <a:pt x="72926" y="104180"/>
                </a:cubicBezTo>
                <a:lnTo>
                  <a:pt x="52090" y="104180"/>
                </a:lnTo>
                <a:cubicBezTo>
                  <a:pt x="46338" y="104180"/>
                  <a:pt x="41672" y="99513"/>
                  <a:pt x="41672" y="93762"/>
                </a:cubicBezTo>
                <a:lnTo>
                  <a:pt x="41672" y="72926"/>
                </a:lnTo>
                <a:cubicBezTo>
                  <a:pt x="41672" y="71341"/>
                  <a:pt x="42041" y="69822"/>
                  <a:pt x="42670" y="68476"/>
                </a:cubicBezTo>
                <a:lnTo>
                  <a:pt x="27781" y="48617"/>
                </a:lnTo>
                <a:lnTo>
                  <a:pt x="10418" y="48617"/>
                </a:lnTo>
                <a:cubicBezTo>
                  <a:pt x="4666" y="48617"/>
                  <a:pt x="0" y="43951"/>
                  <a:pt x="0" y="38199"/>
                </a:cubicBezTo>
                <a:lnTo>
                  <a:pt x="0" y="17363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48" name="Text 66"/>
          <p:cNvSpPr/>
          <p:nvPr/>
        </p:nvSpPr>
        <p:spPr>
          <a:xfrm>
            <a:off x="4508500" y="1614170"/>
            <a:ext cx="113601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嵌入模型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9" name="Text 67"/>
          <p:cNvSpPr/>
          <p:nvPr/>
        </p:nvSpPr>
        <p:spPr>
          <a:xfrm>
            <a:off x="4305935" y="1772920"/>
            <a:ext cx="1730375" cy="364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将文本转为向量表示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0" name="Text 68"/>
          <p:cNvSpPr/>
          <p:nvPr/>
        </p:nvSpPr>
        <p:spPr>
          <a:xfrm>
            <a:off x="4306094" y="2133482"/>
            <a:ext cx="1726406" cy="111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编码器架构</a:t>
            </a:r>
            <a:endParaRPr lang="en-US" sz="107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1" name="Shape 69"/>
          <p:cNvSpPr/>
          <p:nvPr/>
        </p:nvSpPr>
        <p:spPr>
          <a:xfrm>
            <a:off x="6130925" y="1547495"/>
            <a:ext cx="1824355" cy="770255"/>
          </a:xfrm>
          <a:custGeom>
            <a:avLst/>
            <a:gdLst/>
            <a:ahLst/>
            <a:cxnLst/>
            <a:rect l="l" t="t" r="r" b="b"/>
            <a:pathLst>
              <a:path w="1824038" h="1165225">
                <a:moveTo>
                  <a:pt x="63505" y="0"/>
                </a:moveTo>
                <a:lnTo>
                  <a:pt x="1760533" y="0"/>
                </a:lnTo>
                <a:cubicBezTo>
                  <a:pt x="1795605" y="0"/>
                  <a:pt x="1824038" y="28432"/>
                  <a:pt x="1824038" y="63505"/>
                </a:cubicBezTo>
                <a:lnTo>
                  <a:pt x="1824038" y="1101720"/>
                </a:lnTo>
                <a:cubicBezTo>
                  <a:pt x="1824038" y="1136793"/>
                  <a:pt x="1795605" y="1165225"/>
                  <a:pt x="1760533" y="1165225"/>
                </a:cubicBezTo>
                <a:lnTo>
                  <a:pt x="63505" y="1165225"/>
                </a:lnTo>
                <a:cubicBezTo>
                  <a:pt x="28432" y="1165225"/>
                  <a:pt x="0" y="1136793"/>
                  <a:pt x="0" y="110172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52" name="Shape 70"/>
          <p:cNvSpPr/>
          <p:nvPr/>
        </p:nvSpPr>
        <p:spPr>
          <a:xfrm>
            <a:off x="6220420" y="1621911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13891" y="6945"/>
                </a:moveTo>
                <a:cubicBezTo>
                  <a:pt x="6229" y="6945"/>
                  <a:pt x="0" y="13174"/>
                  <a:pt x="0" y="20836"/>
                </a:cubicBezTo>
                <a:lnTo>
                  <a:pt x="0" y="34727"/>
                </a:lnTo>
                <a:cubicBezTo>
                  <a:pt x="0" y="42388"/>
                  <a:pt x="6229" y="48617"/>
                  <a:pt x="13891" y="48617"/>
                </a:cubicBezTo>
                <a:lnTo>
                  <a:pt x="83344" y="48617"/>
                </a:lnTo>
                <a:cubicBezTo>
                  <a:pt x="91005" y="48617"/>
                  <a:pt x="97234" y="42388"/>
                  <a:pt x="97234" y="34727"/>
                </a:cubicBezTo>
                <a:lnTo>
                  <a:pt x="97234" y="20836"/>
                </a:lnTo>
                <a:cubicBezTo>
                  <a:pt x="97234" y="13174"/>
                  <a:pt x="91005" y="6945"/>
                  <a:pt x="83344" y="6945"/>
                </a:cubicBezTo>
                <a:lnTo>
                  <a:pt x="13891" y="6945"/>
                </a:lnTo>
                <a:close/>
                <a:moveTo>
                  <a:pt x="60771" y="22572"/>
                </a:moveTo>
                <a:cubicBezTo>
                  <a:pt x="63646" y="22572"/>
                  <a:pt x="65980" y="24906"/>
                  <a:pt x="65980" y="27781"/>
                </a:cubicBezTo>
                <a:cubicBezTo>
                  <a:pt x="65980" y="30656"/>
                  <a:pt x="63646" y="32990"/>
                  <a:pt x="60771" y="32990"/>
                </a:cubicBezTo>
                <a:cubicBezTo>
                  <a:pt x="57897" y="32990"/>
                  <a:pt x="55563" y="30656"/>
                  <a:pt x="55563" y="27781"/>
                </a:cubicBezTo>
                <a:cubicBezTo>
                  <a:pt x="55563" y="24906"/>
                  <a:pt x="57897" y="22572"/>
                  <a:pt x="60771" y="22572"/>
                </a:cubicBezTo>
                <a:close/>
                <a:moveTo>
                  <a:pt x="72926" y="27781"/>
                </a:moveTo>
                <a:cubicBezTo>
                  <a:pt x="72926" y="24906"/>
                  <a:pt x="75260" y="22572"/>
                  <a:pt x="78135" y="22572"/>
                </a:cubicBezTo>
                <a:cubicBezTo>
                  <a:pt x="81010" y="22572"/>
                  <a:pt x="83344" y="24906"/>
                  <a:pt x="83344" y="27781"/>
                </a:cubicBezTo>
                <a:cubicBezTo>
                  <a:pt x="83344" y="30656"/>
                  <a:pt x="81010" y="32990"/>
                  <a:pt x="78135" y="32990"/>
                </a:cubicBezTo>
                <a:cubicBezTo>
                  <a:pt x="75260" y="32990"/>
                  <a:pt x="72926" y="30656"/>
                  <a:pt x="72926" y="27781"/>
                </a:cubicBezTo>
                <a:close/>
                <a:moveTo>
                  <a:pt x="13891" y="62508"/>
                </a:moveTo>
                <a:cubicBezTo>
                  <a:pt x="6229" y="62508"/>
                  <a:pt x="0" y="68737"/>
                  <a:pt x="0" y="76398"/>
                </a:cubicBezTo>
                <a:lnTo>
                  <a:pt x="0" y="90289"/>
                </a:lnTo>
                <a:cubicBezTo>
                  <a:pt x="0" y="97951"/>
                  <a:pt x="6229" y="104180"/>
                  <a:pt x="13891" y="104180"/>
                </a:cubicBezTo>
                <a:lnTo>
                  <a:pt x="83344" y="104180"/>
                </a:lnTo>
                <a:cubicBezTo>
                  <a:pt x="91005" y="104180"/>
                  <a:pt x="97234" y="97951"/>
                  <a:pt x="97234" y="90289"/>
                </a:cubicBezTo>
                <a:lnTo>
                  <a:pt x="97234" y="76398"/>
                </a:lnTo>
                <a:cubicBezTo>
                  <a:pt x="97234" y="68737"/>
                  <a:pt x="91005" y="62508"/>
                  <a:pt x="83344" y="62508"/>
                </a:cubicBezTo>
                <a:lnTo>
                  <a:pt x="13891" y="62508"/>
                </a:lnTo>
                <a:close/>
                <a:moveTo>
                  <a:pt x="60771" y="78135"/>
                </a:moveTo>
                <a:cubicBezTo>
                  <a:pt x="63646" y="78135"/>
                  <a:pt x="65980" y="80469"/>
                  <a:pt x="65980" y="83344"/>
                </a:cubicBezTo>
                <a:cubicBezTo>
                  <a:pt x="65980" y="86219"/>
                  <a:pt x="63646" y="88553"/>
                  <a:pt x="60771" y="88553"/>
                </a:cubicBezTo>
                <a:cubicBezTo>
                  <a:pt x="57897" y="88553"/>
                  <a:pt x="55563" y="86219"/>
                  <a:pt x="55563" y="83344"/>
                </a:cubicBezTo>
                <a:cubicBezTo>
                  <a:pt x="55563" y="80469"/>
                  <a:pt x="57897" y="78135"/>
                  <a:pt x="60771" y="78135"/>
                </a:cubicBezTo>
                <a:close/>
                <a:moveTo>
                  <a:pt x="72926" y="83344"/>
                </a:moveTo>
                <a:cubicBezTo>
                  <a:pt x="72926" y="80469"/>
                  <a:pt x="75260" y="78135"/>
                  <a:pt x="78135" y="78135"/>
                </a:cubicBezTo>
                <a:cubicBezTo>
                  <a:pt x="81010" y="78135"/>
                  <a:pt x="83344" y="80469"/>
                  <a:pt x="83344" y="83344"/>
                </a:cubicBezTo>
                <a:cubicBezTo>
                  <a:pt x="83344" y="86219"/>
                  <a:pt x="81010" y="88553"/>
                  <a:pt x="78135" y="88553"/>
                </a:cubicBezTo>
                <a:cubicBezTo>
                  <a:pt x="75260" y="88553"/>
                  <a:pt x="72926" y="86219"/>
                  <a:pt x="72926" y="8334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53" name="Text 71"/>
          <p:cNvSpPr/>
          <p:nvPr/>
        </p:nvSpPr>
        <p:spPr>
          <a:xfrm>
            <a:off x="6400165" y="1614170"/>
            <a:ext cx="128524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向量数据库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4" name="Text 72"/>
          <p:cNvSpPr/>
          <p:nvPr/>
        </p:nvSpPr>
        <p:spPr>
          <a:xfrm>
            <a:off x="6197600" y="1772920"/>
            <a:ext cx="1730375" cy="364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存储与索引向量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5" name="Text 73"/>
          <p:cNvSpPr/>
          <p:nvPr/>
        </p:nvSpPr>
        <p:spPr>
          <a:xfrm>
            <a:off x="6197600" y="2133482"/>
            <a:ext cx="1726406" cy="111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相似度搜索</a:t>
            </a:r>
            <a:endParaRPr lang="en-US" sz="107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6" name="Shape 74"/>
          <p:cNvSpPr/>
          <p:nvPr/>
        </p:nvSpPr>
        <p:spPr>
          <a:xfrm>
            <a:off x="4239260" y="2357120"/>
            <a:ext cx="1824355" cy="774700"/>
          </a:xfrm>
          <a:custGeom>
            <a:avLst/>
            <a:gdLst/>
            <a:ahLst/>
            <a:cxnLst/>
            <a:rect l="l" t="t" r="r" b="b"/>
            <a:pathLst>
              <a:path w="1824038" h="1165225">
                <a:moveTo>
                  <a:pt x="63505" y="0"/>
                </a:moveTo>
                <a:lnTo>
                  <a:pt x="1760533" y="0"/>
                </a:lnTo>
                <a:cubicBezTo>
                  <a:pt x="1795605" y="0"/>
                  <a:pt x="1824038" y="28432"/>
                  <a:pt x="1824038" y="63505"/>
                </a:cubicBezTo>
                <a:lnTo>
                  <a:pt x="1824038" y="1101720"/>
                </a:lnTo>
                <a:cubicBezTo>
                  <a:pt x="1824038" y="1136793"/>
                  <a:pt x="1795605" y="1165225"/>
                  <a:pt x="1760533" y="1165225"/>
                </a:cubicBezTo>
                <a:lnTo>
                  <a:pt x="63505" y="1165225"/>
                </a:lnTo>
                <a:cubicBezTo>
                  <a:pt x="28432" y="1165225"/>
                  <a:pt x="0" y="1136793"/>
                  <a:pt x="0" y="110172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57" name="Shape 75"/>
          <p:cNvSpPr/>
          <p:nvPr/>
        </p:nvSpPr>
        <p:spPr>
          <a:xfrm>
            <a:off x="4321969" y="243135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0289" y="45145"/>
                </a:moveTo>
                <a:cubicBezTo>
                  <a:pt x="90289" y="55107"/>
                  <a:pt x="87055" y="64309"/>
                  <a:pt x="81607" y="71775"/>
                </a:cubicBezTo>
                <a:lnTo>
                  <a:pt x="109085" y="99275"/>
                </a:lnTo>
                <a:cubicBezTo>
                  <a:pt x="111798" y="101988"/>
                  <a:pt x="111798" y="106394"/>
                  <a:pt x="109085" y="109107"/>
                </a:cubicBezTo>
                <a:cubicBezTo>
                  <a:pt x="106372" y="111820"/>
                  <a:pt x="101966" y="111820"/>
                  <a:pt x="99253" y="109107"/>
                </a:cubicBezTo>
                <a:lnTo>
                  <a:pt x="71775" y="81607"/>
                </a:lnTo>
                <a:cubicBezTo>
                  <a:pt x="64309" y="87055"/>
                  <a:pt x="55107" y="90289"/>
                  <a:pt x="45145" y="90289"/>
                </a:cubicBezTo>
                <a:cubicBezTo>
                  <a:pt x="20207" y="90289"/>
                  <a:pt x="0" y="70083"/>
                  <a:pt x="0" y="45145"/>
                </a:cubicBezTo>
                <a:cubicBezTo>
                  <a:pt x="0" y="20207"/>
                  <a:pt x="20207" y="0"/>
                  <a:pt x="45145" y="0"/>
                </a:cubicBezTo>
                <a:cubicBezTo>
                  <a:pt x="70083" y="0"/>
                  <a:pt x="90289" y="20207"/>
                  <a:pt x="90289" y="45145"/>
                </a:cubicBezTo>
                <a:close/>
                <a:moveTo>
                  <a:pt x="45145" y="76398"/>
                </a:moveTo>
                <a:cubicBezTo>
                  <a:pt x="62394" y="76398"/>
                  <a:pt x="76398" y="62394"/>
                  <a:pt x="76398" y="45145"/>
                </a:cubicBezTo>
                <a:cubicBezTo>
                  <a:pt x="76398" y="27895"/>
                  <a:pt x="62394" y="13891"/>
                  <a:pt x="45145" y="13891"/>
                </a:cubicBezTo>
                <a:cubicBezTo>
                  <a:pt x="27895" y="13891"/>
                  <a:pt x="13891" y="27895"/>
                  <a:pt x="13891" y="45145"/>
                </a:cubicBezTo>
                <a:cubicBezTo>
                  <a:pt x="13891" y="62394"/>
                  <a:pt x="27895" y="76398"/>
                  <a:pt x="45145" y="76398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58" name="Text 76"/>
          <p:cNvSpPr/>
          <p:nvPr/>
        </p:nvSpPr>
        <p:spPr>
          <a:xfrm>
            <a:off x="4508500" y="2423795"/>
            <a:ext cx="66865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检索器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9" name="Text 77"/>
          <p:cNvSpPr/>
          <p:nvPr/>
        </p:nvSpPr>
        <p:spPr>
          <a:xfrm>
            <a:off x="4306094" y="2582168"/>
            <a:ext cx="1730375" cy="3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执行相似度搜索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0" name="Text 78"/>
          <p:cNvSpPr/>
          <p:nvPr/>
        </p:nvSpPr>
        <p:spPr>
          <a:xfrm>
            <a:off x="4306094" y="2927687"/>
            <a:ext cx="1726406" cy="111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混合检索策略</a:t>
            </a:r>
            <a:endParaRPr lang="en-US" sz="107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1" name="Shape 79"/>
          <p:cNvSpPr/>
          <p:nvPr/>
        </p:nvSpPr>
        <p:spPr>
          <a:xfrm>
            <a:off x="6130925" y="2357120"/>
            <a:ext cx="1824355" cy="774700"/>
          </a:xfrm>
          <a:custGeom>
            <a:avLst/>
            <a:gdLst/>
            <a:ahLst/>
            <a:cxnLst/>
            <a:rect l="l" t="t" r="r" b="b"/>
            <a:pathLst>
              <a:path w="1824038" h="1165225">
                <a:moveTo>
                  <a:pt x="63505" y="0"/>
                </a:moveTo>
                <a:lnTo>
                  <a:pt x="1760533" y="0"/>
                </a:lnTo>
                <a:cubicBezTo>
                  <a:pt x="1795605" y="0"/>
                  <a:pt x="1824038" y="28432"/>
                  <a:pt x="1824038" y="63505"/>
                </a:cubicBezTo>
                <a:lnTo>
                  <a:pt x="1824038" y="1101720"/>
                </a:lnTo>
                <a:cubicBezTo>
                  <a:pt x="1824038" y="1136793"/>
                  <a:pt x="1795605" y="1165225"/>
                  <a:pt x="1760533" y="1165225"/>
                </a:cubicBezTo>
                <a:lnTo>
                  <a:pt x="63505" y="1165225"/>
                </a:lnTo>
                <a:cubicBezTo>
                  <a:pt x="28432" y="1165225"/>
                  <a:pt x="0" y="1136793"/>
                  <a:pt x="0" y="110172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62" name="Shape 80"/>
          <p:cNvSpPr/>
          <p:nvPr/>
        </p:nvSpPr>
        <p:spPr>
          <a:xfrm>
            <a:off x="6213475" y="243135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6045" y="12154"/>
                </a:moveTo>
                <a:cubicBezTo>
                  <a:pt x="26045" y="5448"/>
                  <a:pt x="31493" y="0"/>
                  <a:pt x="38199" y="0"/>
                </a:cubicBezTo>
                <a:lnTo>
                  <a:pt x="43408" y="0"/>
                </a:lnTo>
                <a:cubicBezTo>
                  <a:pt x="47250" y="0"/>
                  <a:pt x="50354" y="3104"/>
                  <a:pt x="50354" y="6945"/>
                </a:cubicBezTo>
                <a:lnTo>
                  <a:pt x="50354" y="104180"/>
                </a:lnTo>
                <a:cubicBezTo>
                  <a:pt x="50354" y="108021"/>
                  <a:pt x="47250" y="111125"/>
                  <a:pt x="43408" y="111125"/>
                </a:cubicBezTo>
                <a:lnTo>
                  <a:pt x="36463" y="111125"/>
                </a:lnTo>
                <a:cubicBezTo>
                  <a:pt x="29995" y="111125"/>
                  <a:pt x="24547" y="106697"/>
                  <a:pt x="23006" y="100707"/>
                </a:cubicBezTo>
                <a:cubicBezTo>
                  <a:pt x="22854" y="100707"/>
                  <a:pt x="22724" y="100707"/>
                  <a:pt x="22572" y="100707"/>
                </a:cubicBezTo>
                <a:cubicBezTo>
                  <a:pt x="12979" y="100707"/>
                  <a:pt x="5209" y="92937"/>
                  <a:pt x="5209" y="83344"/>
                </a:cubicBezTo>
                <a:cubicBezTo>
                  <a:pt x="5209" y="79437"/>
                  <a:pt x="6511" y="75834"/>
                  <a:pt x="8682" y="72926"/>
                </a:cubicBezTo>
                <a:cubicBezTo>
                  <a:pt x="4471" y="69757"/>
                  <a:pt x="1736" y="64722"/>
                  <a:pt x="1736" y="59035"/>
                </a:cubicBezTo>
                <a:cubicBezTo>
                  <a:pt x="1736" y="52329"/>
                  <a:pt x="5556" y="46490"/>
                  <a:pt x="11113" y="43604"/>
                </a:cubicBezTo>
                <a:cubicBezTo>
                  <a:pt x="9572" y="40999"/>
                  <a:pt x="8682" y="37960"/>
                  <a:pt x="8682" y="34727"/>
                </a:cubicBezTo>
                <a:cubicBezTo>
                  <a:pt x="8682" y="25133"/>
                  <a:pt x="16452" y="17363"/>
                  <a:pt x="26045" y="17363"/>
                </a:cubicBezTo>
                <a:lnTo>
                  <a:pt x="26045" y="12154"/>
                </a:lnTo>
                <a:close/>
                <a:moveTo>
                  <a:pt x="85080" y="12154"/>
                </a:moveTo>
                <a:lnTo>
                  <a:pt x="85080" y="17363"/>
                </a:lnTo>
                <a:cubicBezTo>
                  <a:pt x="94673" y="17363"/>
                  <a:pt x="102443" y="25133"/>
                  <a:pt x="102443" y="34727"/>
                </a:cubicBezTo>
                <a:cubicBezTo>
                  <a:pt x="102443" y="37982"/>
                  <a:pt x="101553" y="41021"/>
                  <a:pt x="100013" y="43604"/>
                </a:cubicBezTo>
                <a:cubicBezTo>
                  <a:pt x="105590" y="46490"/>
                  <a:pt x="109389" y="52307"/>
                  <a:pt x="109389" y="59035"/>
                </a:cubicBezTo>
                <a:cubicBezTo>
                  <a:pt x="109389" y="64722"/>
                  <a:pt x="106654" y="69757"/>
                  <a:pt x="102443" y="72926"/>
                </a:cubicBezTo>
                <a:cubicBezTo>
                  <a:pt x="104614" y="75834"/>
                  <a:pt x="105916" y="79437"/>
                  <a:pt x="105916" y="83344"/>
                </a:cubicBezTo>
                <a:cubicBezTo>
                  <a:pt x="105916" y="92937"/>
                  <a:pt x="98146" y="100707"/>
                  <a:pt x="88553" y="100707"/>
                </a:cubicBezTo>
                <a:cubicBezTo>
                  <a:pt x="88401" y="100707"/>
                  <a:pt x="88271" y="100707"/>
                  <a:pt x="88119" y="100707"/>
                </a:cubicBezTo>
                <a:cubicBezTo>
                  <a:pt x="86578" y="106697"/>
                  <a:pt x="81130" y="111125"/>
                  <a:pt x="74662" y="111125"/>
                </a:cubicBezTo>
                <a:lnTo>
                  <a:pt x="67717" y="111125"/>
                </a:lnTo>
                <a:cubicBezTo>
                  <a:pt x="63875" y="111125"/>
                  <a:pt x="60771" y="108021"/>
                  <a:pt x="60771" y="104180"/>
                </a:cubicBezTo>
                <a:lnTo>
                  <a:pt x="60771" y="6945"/>
                </a:lnTo>
                <a:cubicBezTo>
                  <a:pt x="60771" y="3104"/>
                  <a:pt x="63875" y="0"/>
                  <a:pt x="67717" y="0"/>
                </a:cubicBezTo>
                <a:lnTo>
                  <a:pt x="72926" y="0"/>
                </a:lnTo>
                <a:cubicBezTo>
                  <a:pt x="79632" y="0"/>
                  <a:pt x="85080" y="5448"/>
                  <a:pt x="85080" y="1215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63" name="Text 81"/>
          <p:cNvSpPr/>
          <p:nvPr/>
        </p:nvSpPr>
        <p:spPr>
          <a:xfrm>
            <a:off x="6400165" y="2423795"/>
            <a:ext cx="132524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生成器 (LLM)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4" name="Text 82"/>
          <p:cNvSpPr/>
          <p:nvPr/>
        </p:nvSpPr>
        <p:spPr>
          <a:xfrm>
            <a:off x="6197600" y="2582168"/>
            <a:ext cx="1730375" cy="3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生成最终答案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5" name="Text 83"/>
          <p:cNvSpPr/>
          <p:nvPr/>
        </p:nvSpPr>
        <p:spPr>
          <a:xfrm>
            <a:off x="6197600" y="2927687"/>
            <a:ext cx="1726406" cy="111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GPT-4/LLaMA</a:t>
            </a:r>
            <a:endParaRPr lang="en-US" sz="107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6" name="Shape 84"/>
          <p:cNvSpPr/>
          <p:nvPr/>
        </p:nvSpPr>
        <p:spPr>
          <a:xfrm>
            <a:off x="4239260" y="3196590"/>
            <a:ext cx="3712845" cy="741680"/>
          </a:xfrm>
          <a:custGeom>
            <a:avLst/>
            <a:gdLst/>
            <a:ahLst/>
            <a:cxnLst/>
            <a:rect l="l" t="t" r="r" b="b"/>
            <a:pathLst>
              <a:path w="3713162" h="1165225">
                <a:moveTo>
                  <a:pt x="63505" y="0"/>
                </a:moveTo>
                <a:lnTo>
                  <a:pt x="3649658" y="0"/>
                </a:lnTo>
                <a:cubicBezTo>
                  <a:pt x="3684730" y="0"/>
                  <a:pt x="3713163" y="28432"/>
                  <a:pt x="3713163" y="63505"/>
                </a:cubicBezTo>
                <a:lnTo>
                  <a:pt x="3713162" y="1101720"/>
                </a:lnTo>
                <a:cubicBezTo>
                  <a:pt x="3713163" y="1136793"/>
                  <a:pt x="3684730" y="1165225"/>
                  <a:pt x="3649658" y="1165225"/>
                </a:cubicBezTo>
                <a:lnTo>
                  <a:pt x="63505" y="1165225"/>
                </a:lnTo>
                <a:cubicBezTo>
                  <a:pt x="28432" y="1165225"/>
                  <a:pt x="0" y="1136793"/>
                  <a:pt x="0" y="110172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67" name="Shape 85"/>
          <p:cNvSpPr/>
          <p:nvPr/>
        </p:nvSpPr>
        <p:spPr>
          <a:xfrm>
            <a:off x="4321969" y="327128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6561" y="0"/>
                  <a:pt x="57559" y="217"/>
                  <a:pt x="58471" y="629"/>
                </a:cubicBezTo>
                <a:lnTo>
                  <a:pt x="99361" y="17971"/>
                </a:lnTo>
                <a:cubicBezTo>
                  <a:pt x="104136" y="19989"/>
                  <a:pt x="107696" y="24699"/>
                  <a:pt x="107674" y="30386"/>
                </a:cubicBezTo>
                <a:cubicBezTo>
                  <a:pt x="107566" y="51916"/>
                  <a:pt x="98710" y="91309"/>
                  <a:pt x="61314" y="109215"/>
                </a:cubicBezTo>
                <a:cubicBezTo>
                  <a:pt x="57690" y="110951"/>
                  <a:pt x="53479" y="110951"/>
                  <a:pt x="49854" y="109215"/>
                </a:cubicBezTo>
                <a:cubicBezTo>
                  <a:pt x="12436" y="91309"/>
                  <a:pt x="3603" y="51916"/>
                  <a:pt x="3494" y="30386"/>
                </a:cubicBezTo>
                <a:cubicBezTo>
                  <a:pt x="3473" y="24699"/>
                  <a:pt x="7032" y="19989"/>
                  <a:pt x="11807" y="17971"/>
                </a:cubicBezTo>
                <a:lnTo>
                  <a:pt x="52676" y="629"/>
                </a:lnTo>
                <a:cubicBezTo>
                  <a:pt x="53587" y="217"/>
                  <a:pt x="54564" y="0"/>
                  <a:pt x="55563" y="0"/>
                </a:cubicBezTo>
                <a:close/>
                <a:moveTo>
                  <a:pt x="55563" y="14498"/>
                </a:moveTo>
                <a:lnTo>
                  <a:pt x="55563" y="96562"/>
                </a:lnTo>
                <a:cubicBezTo>
                  <a:pt x="85514" y="82063"/>
                  <a:pt x="93566" y="49941"/>
                  <a:pt x="93762" y="30711"/>
                </a:cubicBezTo>
                <a:lnTo>
                  <a:pt x="55563" y="14520"/>
                </a:lnTo>
                <a:lnTo>
                  <a:pt x="55563" y="14520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68" name="Text 86"/>
          <p:cNvSpPr/>
          <p:nvPr/>
        </p:nvSpPr>
        <p:spPr>
          <a:xfrm>
            <a:off x="4508500" y="3263265"/>
            <a:ext cx="98679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后处理层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9" name="Text 87"/>
          <p:cNvSpPr/>
          <p:nvPr/>
        </p:nvSpPr>
        <p:spPr>
          <a:xfrm>
            <a:off x="4305935" y="3422015"/>
            <a:ext cx="3619500" cy="381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幻觉检查、引用标注、质量评估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0" name="Text 88"/>
          <p:cNvSpPr/>
          <p:nvPr/>
        </p:nvSpPr>
        <p:spPr>
          <a:xfrm>
            <a:off x="4306094" y="3754915"/>
            <a:ext cx="3615531" cy="111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可信度保障</a:t>
            </a:r>
            <a:endParaRPr lang="en-US" sz="107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1" name="Shape 89"/>
          <p:cNvSpPr/>
          <p:nvPr/>
        </p:nvSpPr>
        <p:spPr>
          <a:xfrm>
            <a:off x="4137660" y="4087495"/>
            <a:ext cx="3919220" cy="1703705"/>
          </a:xfrm>
          <a:custGeom>
            <a:avLst/>
            <a:gdLst/>
            <a:ahLst/>
            <a:cxnLst/>
            <a:rect l="l" t="t" r="r" b="b"/>
            <a:pathLst>
              <a:path w="3919537" h="990600">
                <a:moveTo>
                  <a:pt x="95246" y="0"/>
                </a:moveTo>
                <a:lnTo>
                  <a:pt x="3824291" y="0"/>
                </a:lnTo>
                <a:cubicBezTo>
                  <a:pt x="3876894" y="0"/>
                  <a:pt x="3919537" y="42643"/>
                  <a:pt x="3919537" y="95246"/>
                </a:cubicBezTo>
                <a:lnTo>
                  <a:pt x="3919537" y="895354"/>
                </a:lnTo>
                <a:cubicBezTo>
                  <a:pt x="3919538" y="947957"/>
                  <a:pt x="3876894" y="990600"/>
                  <a:pt x="3824291" y="990600"/>
                </a:cubicBezTo>
                <a:lnTo>
                  <a:pt x="95246" y="990600"/>
                </a:lnTo>
                <a:cubicBezTo>
                  <a:pt x="42643" y="990600"/>
                  <a:pt x="0" y="947957"/>
                  <a:pt x="0" y="895354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72" name="Shape 90"/>
          <p:cNvSpPr/>
          <p:nvPr/>
        </p:nvSpPr>
        <p:spPr>
          <a:xfrm>
            <a:off x="4252119" y="417925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32686"/>
                </a:moveTo>
                <a:lnTo>
                  <a:pt x="88249" y="53522"/>
                </a:lnTo>
                <a:cubicBezTo>
                  <a:pt x="86252" y="55519"/>
                  <a:pt x="83279" y="56105"/>
                  <a:pt x="80674" y="55020"/>
                </a:cubicBezTo>
                <a:cubicBezTo>
                  <a:pt x="78070" y="53935"/>
                  <a:pt x="76398" y="51417"/>
                  <a:pt x="76398" y="48617"/>
                </a:cubicBezTo>
                <a:lnTo>
                  <a:pt x="76398" y="34727"/>
                </a:lnTo>
                <a:lnTo>
                  <a:pt x="6945" y="34727"/>
                </a:lnTo>
                <a:cubicBezTo>
                  <a:pt x="3104" y="34727"/>
                  <a:pt x="0" y="31623"/>
                  <a:pt x="0" y="27781"/>
                </a:cubicBezTo>
                <a:cubicBezTo>
                  <a:pt x="0" y="23940"/>
                  <a:pt x="3104" y="20836"/>
                  <a:pt x="6945" y="20836"/>
                </a:cubicBezTo>
                <a:lnTo>
                  <a:pt x="76398" y="20836"/>
                </a:lnTo>
                <a:lnTo>
                  <a:pt x="76398" y="6945"/>
                </a:lnTo>
                <a:cubicBezTo>
                  <a:pt x="76398" y="4145"/>
                  <a:pt x="78091" y="1606"/>
                  <a:pt x="80696" y="521"/>
                </a:cubicBezTo>
                <a:cubicBezTo>
                  <a:pt x="83300" y="-564"/>
                  <a:pt x="86274" y="43"/>
                  <a:pt x="88271" y="2018"/>
                </a:cubicBezTo>
                <a:lnTo>
                  <a:pt x="109107" y="22854"/>
                </a:lnTo>
                <a:cubicBezTo>
                  <a:pt x="111820" y="25567"/>
                  <a:pt x="111820" y="29973"/>
                  <a:pt x="109107" y="32686"/>
                </a:cubicBezTo>
                <a:close/>
                <a:moveTo>
                  <a:pt x="22854" y="109085"/>
                </a:moveTo>
                <a:lnTo>
                  <a:pt x="2018" y="88249"/>
                </a:lnTo>
                <a:cubicBezTo>
                  <a:pt x="-695" y="85536"/>
                  <a:pt x="-695" y="81130"/>
                  <a:pt x="2018" y="78417"/>
                </a:cubicBezTo>
                <a:lnTo>
                  <a:pt x="22854" y="57581"/>
                </a:lnTo>
                <a:cubicBezTo>
                  <a:pt x="24851" y="55584"/>
                  <a:pt x="27825" y="54998"/>
                  <a:pt x="30429" y="56083"/>
                </a:cubicBezTo>
                <a:cubicBezTo>
                  <a:pt x="33034" y="57169"/>
                  <a:pt x="34727" y="59708"/>
                  <a:pt x="34727" y="62508"/>
                </a:cubicBezTo>
                <a:lnTo>
                  <a:pt x="34727" y="76398"/>
                </a:lnTo>
                <a:lnTo>
                  <a:pt x="104180" y="76398"/>
                </a:lnTo>
                <a:cubicBezTo>
                  <a:pt x="108021" y="76398"/>
                  <a:pt x="111125" y="79502"/>
                  <a:pt x="111125" y="83344"/>
                </a:cubicBezTo>
                <a:cubicBezTo>
                  <a:pt x="111125" y="87185"/>
                  <a:pt x="108021" y="90289"/>
                  <a:pt x="104180" y="90289"/>
                </a:cubicBezTo>
                <a:lnTo>
                  <a:pt x="34727" y="90289"/>
                </a:lnTo>
                <a:lnTo>
                  <a:pt x="34727" y="104180"/>
                </a:lnTo>
                <a:cubicBezTo>
                  <a:pt x="34727" y="106980"/>
                  <a:pt x="33034" y="109519"/>
                  <a:pt x="30429" y="110604"/>
                </a:cubicBezTo>
                <a:cubicBezTo>
                  <a:pt x="27825" y="111689"/>
                  <a:pt x="24851" y="111082"/>
                  <a:pt x="22854" y="109107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73" name="Text 91"/>
          <p:cNvSpPr/>
          <p:nvPr/>
        </p:nvSpPr>
        <p:spPr>
          <a:xfrm>
            <a:off x="4422299" y="4155441"/>
            <a:ext cx="363537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数据流向与交互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4" name="Shape 92"/>
          <p:cNvSpPr/>
          <p:nvPr/>
        </p:nvSpPr>
        <p:spPr>
          <a:xfrm>
            <a:off x="4236244" y="44513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75" name="Shape 93"/>
          <p:cNvSpPr/>
          <p:nvPr/>
        </p:nvSpPr>
        <p:spPr>
          <a:xfrm>
            <a:off x="4277916" y="4491038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77918" y="43191"/>
                </a:moveTo>
                <a:cubicBezTo>
                  <a:pt x="79856" y="41253"/>
                  <a:pt x="79856" y="38106"/>
                  <a:pt x="77918" y="36168"/>
                </a:cubicBezTo>
                <a:lnTo>
                  <a:pt x="53113" y="11364"/>
                </a:lnTo>
                <a:cubicBezTo>
                  <a:pt x="51175" y="9426"/>
                  <a:pt x="48028" y="9426"/>
                  <a:pt x="46090" y="11364"/>
                </a:cubicBezTo>
                <a:cubicBezTo>
                  <a:pt x="44152" y="13302"/>
                  <a:pt x="44152" y="16449"/>
                  <a:pt x="46090" y="18386"/>
                </a:cubicBezTo>
                <a:lnTo>
                  <a:pt x="62430" y="34727"/>
                </a:lnTo>
                <a:lnTo>
                  <a:pt x="4961" y="34727"/>
                </a:lnTo>
                <a:cubicBezTo>
                  <a:pt x="2217" y="34727"/>
                  <a:pt x="0" y="36943"/>
                  <a:pt x="0" y="39688"/>
                </a:cubicBezTo>
                <a:cubicBezTo>
                  <a:pt x="0" y="42432"/>
                  <a:pt x="2217" y="44648"/>
                  <a:pt x="4961" y="44648"/>
                </a:cubicBezTo>
                <a:lnTo>
                  <a:pt x="62430" y="44648"/>
                </a:lnTo>
                <a:lnTo>
                  <a:pt x="46090" y="60989"/>
                </a:lnTo>
                <a:cubicBezTo>
                  <a:pt x="44152" y="62926"/>
                  <a:pt x="44152" y="66073"/>
                  <a:pt x="46090" y="68011"/>
                </a:cubicBezTo>
                <a:cubicBezTo>
                  <a:pt x="48028" y="69949"/>
                  <a:pt x="51175" y="69949"/>
                  <a:pt x="53113" y="68011"/>
                </a:cubicBezTo>
                <a:lnTo>
                  <a:pt x="77918" y="43207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76" name="Text 94"/>
          <p:cNvSpPr/>
          <p:nvPr/>
        </p:nvSpPr>
        <p:spPr>
          <a:xfrm>
            <a:off x="4458335" y="4553585"/>
            <a:ext cx="349758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原始文档 → 清洗分块 → 向量嵌入 → 数据库存储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7" name="Shape 95"/>
          <p:cNvSpPr/>
          <p:nvPr/>
        </p:nvSpPr>
        <p:spPr>
          <a:xfrm>
            <a:off x="4236244" y="486600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78" name="Shape 96"/>
          <p:cNvSpPr/>
          <p:nvPr/>
        </p:nvSpPr>
        <p:spPr>
          <a:xfrm>
            <a:off x="4277916" y="490569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77918" y="43191"/>
                </a:moveTo>
                <a:cubicBezTo>
                  <a:pt x="79856" y="41253"/>
                  <a:pt x="79856" y="38106"/>
                  <a:pt x="77918" y="36168"/>
                </a:cubicBezTo>
                <a:lnTo>
                  <a:pt x="53113" y="11364"/>
                </a:lnTo>
                <a:cubicBezTo>
                  <a:pt x="51175" y="9426"/>
                  <a:pt x="48028" y="9426"/>
                  <a:pt x="46090" y="11364"/>
                </a:cubicBezTo>
                <a:cubicBezTo>
                  <a:pt x="44152" y="13302"/>
                  <a:pt x="44152" y="16449"/>
                  <a:pt x="46090" y="18386"/>
                </a:cubicBezTo>
                <a:lnTo>
                  <a:pt x="62430" y="34727"/>
                </a:lnTo>
                <a:lnTo>
                  <a:pt x="4961" y="34727"/>
                </a:lnTo>
                <a:cubicBezTo>
                  <a:pt x="2217" y="34727"/>
                  <a:pt x="0" y="36943"/>
                  <a:pt x="0" y="39688"/>
                </a:cubicBezTo>
                <a:cubicBezTo>
                  <a:pt x="0" y="42432"/>
                  <a:pt x="2217" y="44648"/>
                  <a:pt x="4961" y="44648"/>
                </a:cubicBezTo>
                <a:lnTo>
                  <a:pt x="62430" y="44648"/>
                </a:lnTo>
                <a:lnTo>
                  <a:pt x="46090" y="60989"/>
                </a:lnTo>
                <a:cubicBezTo>
                  <a:pt x="44152" y="62926"/>
                  <a:pt x="44152" y="66073"/>
                  <a:pt x="46090" y="68011"/>
                </a:cubicBezTo>
                <a:cubicBezTo>
                  <a:pt x="48028" y="69949"/>
                  <a:pt x="51175" y="69949"/>
                  <a:pt x="53113" y="68011"/>
                </a:cubicBezTo>
                <a:lnTo>
                  <a:pt x="77918" y="43207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79" name="Text 97"/>
          <p:cNvSpPr/>
          <p:nvPr/>
        </p:nvSpPr>
        <p:spPr>
          <a:xfrm>
            <a:off x="4458335" y="5019040"/>
            <a:ext cx="349694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用户查询 → 查询嵌入 → 相似度搜索 → Top-K召回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Shape 98"/>
          <p:cNvSpPr/>
          <p:nvPr/>
        </p:nvSpPr>
        <p:spPr>
          <a:xfrm>
            <a:off x="4236244" y="535940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81" name="Shape 99"/>
          <p:cNvSpPr/>
          <p:nvPr/>
        </p:nvSpPr>
        <p:spPr>
          <a:xfrm>
            <a:off x="4277916" y="5399088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77918" y="43191"/>
                </a:moveTo>
                <a:cubicBezTo>
                  <a:pt x="79856" y="41253"/>
                  <a:pt x="79856" y="38106"/>
                  <a:pt x="77918" y="36168"/>
                </a:cubicBezTo>
                <a:lnTo>
                  <a:pt x="53113" y="11364"/>
                </a:lnTo>
                <a:cubicBezTo>
                  <a:pt x="51175" y="9426"/>
                  <a:pt x="48028" y="9426"/>
                  <a:pt x="46090" y="11364"/>
                </a:cubicBezTo>
                <a:cubicBezTo>
                  <a:pt x="44152" y="13302"/>
                  <a:pt x="44152" y="16449"/>
                  <a:pt x="46090" y="18386"/>
                </a:cubicBezTo>
                <a:lnTo>
                  <a:pt x="62430" y="34727"/>
                </a:lnTo>
                <a:lnTo>
                  <a:pt x="4961" y="34727"/>
                </a:lnTo>
                <a:cubicBezTo>
                  <a:pt x="2217" y="34727"/>
                  <a:pt x="0" y="36943"/>
                  <a:pt x="0" y="39688"/>
                </a:cubicBezTo>
                <a:cubicBezTo>
                  <a:pt x="0" y="42432"/>
                  <a:pt x="2217" y="44648"/>
                  <a:pt x="4961" y="44648"/>
                </a:cubicBezTo>
                <a:lnTo>
                  <a:pt x="62430" y="44648"/>
                </a:lnTo>
                <a:lnTo>
                  <a:pt x="46090" y="60989"/>
                </a:lnTo>
                <a:cubicBezTo>
                  <a:pt x="44152" y="62926"/>
                  <a:pt x="44152" y="66073"/>
                  <a:pt x="46090" y="68011"/>
                </a:cubicBezTo>
                <a:cubicBezTo>
                  <a:pt x="48028" y="69949"/>
                  <a:pt x="51175" y="69949"/>
                  <a:pt x="53113" y="68011"/>
                </a:cubicBezTo>
                <a:lnTo>
                  <a:pt x="77918" y="43207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82" name="Text 100"/>
          <p:cNvSpPr/>
          <p:nvPr/>
        </p:nvSpPr>
        <p:spPr>
          <a:xfrm>
            <a:off x="4458335" y="5461635"/>
            <a:ext cx="349377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检索结果 → 上下文构建 → Prompt增强 → LLM生成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3" name="Shape 101"/>
          <p:cNvSpPr/>
          <p:nvPr/>
        </p:nvSpPr>
        <p:spPr>
          <a:xfrm>
            <a:off x="8172450" y="1033145"/>
            <a:ext cx="3681095" cy="5722620"/>
          </a:xfrm>
          <a:custGeom>
            <a:avLst/>
            <a:gdLst/>
            <a:ahLst/>
            <a:cxnLst/>
            <a:rect l="l" t="t" r="r" b="b"/>
            <a:pathLst>
              <a:path w="3681412" h="5316538">
                <a:moveTo>
                  <a:pt x="95238" y="0"/>
                </a:moveTo>
                <a:lnTo>
                  <a:pt x="3586174" y="0"/>
                </a:lnTo>
                <a:cubicBezTo>
                  <a:pt x="3638738" y="0"/>
                  <a:pt x="3681412" y="42675"/>
                  <a:pt x="3681412" y="95238"/>
                </a:cubicBezTo>
                <a:lnTo>
                  <a:pt x="3681412" y="5221299"/>
                </a:lnTo>
                <a:cubicBezTo>
                  <a:pt x="3681412" y="5273863"/>
                  <a:pt x="3638738" y="5316538"/>
                  <a:pt x="3586174" y="5316538"/>
                </a:cubicBezTo>
                <a:lnTo>
                  <a:pt x="95238" y="5316538"/>
                </a:lnTo>
                <a:cubicBezTo>
                  <a:pt x="42675" y="5316538"/>
                  <a:pt x="0" y="5273863"/>
                  <a:pt x="0" y="5221299"/>
                </a:cubicBezTo>
                <a:lnTo>
                  <a:pt x="0" y="95238"/>
                </a:lnTo>
                <a:cubicBezTo>
                  <a:pt x="0" y="42675"/>
                  <a:pt x="42675" y="0"/>
                  <a:pt x="95238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384" name="Shape 102"/>
          <p:cNvSpPr/>
          <p:nvPr/>
        </p:nvSpPr>
        <p:spPr>
          <a:xfrm>
            <a:off x="8270716" y="117909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85" name="Shape 103"/>
          <p:cNvSpPr/>
          <p:nvPr/>
        </p:nvSpPr>
        <p:spPr>
          <a:xfrm>
            <a:off x="8351084" y="125053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73533" y="-2149"/>
                </a:moveTo>
                <a:cubicBezTo>
                  <a:pt x="76116" y="-282"/>
                  <a:pt x="77071" y="3104"/>
                  <a:pt x="75899" y="6055"/>
                </a:cubicBezTo>
                <a:lnTo>
                  <a:pt x="58883" y="48617"/>
                </a:lnTo>
                <a:lnTo>
                  <a:pt x="90289" y="48617"/>
                </a:lnTo>
                <a:cubicBezTo>
                  <a:pt x="93219" y="48617"/>
                  <a:pt x="95824" y="50440"/>
                  <a:pt x="96822" y="53197"/>
                </a:cubicBezTo>
                <a:cubicBezTo>
                  <a:pt x="97820" y="55953"/>
                  <a:pt x="96974" y="59035"/>
                  <a:pt x="94738" y="60902"/>
                </a:cubicBezTo>
                <a:lnTo>
                  <a:pt x="32231" y="112992"/>
                </a:lnTo>
                <a:cubicBezTo>
                  <a:pt x="29778" y="115032"/>
                  <a:pt x="26284" y="115140"/>
                  <a:pt x="23701" y="113274"/>
                </a:cubicBezTo>
                <a:cubicBezTo>
                  <a:pt x="21118" y="111407"/>
                  <a:pt x="20163" y="108021"/>
                  <a:pt x="21335" y="105070"/>
                </a:cubicBezTo>
                <a:lnTo>
                  <a:pt x="38351" y="62508"/>
                </a:lnTo>
                <a:lnTo>
                  <a:pt x="6945" y="62508"/>
                </a:lnTo>
                <a:cubicBezTo>
                  <a:pt x="4015" y="62508"/>
                  <a:pt x="1411" y="60685"/>
                  <a:pt x="412" y="57928"/>
                </a:cubicBezTo>
                <a:cubicBezTo>
                  <a:pt x="-586" y="55172"/>
                  <a:pt x="260" y="52090"/>
                  <a:pt x="2496" y="50223"/>
                </a:cubicBezTo>
                <a:lnTo>
                  <a:pt x="65004" y="-1867"/>
                </a:lnTo>
                <a:cubicBezTo>
                  <a:pt x="67456" y="-3907"/>
                  <a:pt x="70951" y="-4015"/>
                  <a:pt x="73533" y="-2149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86" name="Text 104"/>
          <p:cNvSpPr/>
          <p:nvPr/>
        </p:nvSpPr>
        <p:spPr>
          <a:xfrm>
            <a:off x="8588375" y="1109980"/>
            <a:ext cx="246888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阶段二：推理阶段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87" name="Text 105"/>
          <p:cNvSpPr/>
          <p:nvPr/>
        </p:nvSpPr>
        <p:spPr>
          <a:xfrm>
            <a:off x="8588375" y="1353820"/>
            <a:ext cx="166687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Inference Phase (Online)</a:t>
            </a:r>
            <a:endParaRPr 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388" name="Shape 106"/>
          <p:cNvSpPr/>
          <p:nvPr/>
        </p:nvSpPr>
        <p:spPr>
          <a:xfrm>
            <a:off x="8286591" y="1544222"/>
            <a:ext cx="3468688" cy="484187"/>
          </a:xfrm>
          <a:custGeom>
            <a:avLst/>
            <a:gdLst/>
            <a:ahLst/>
            <a:cxnLst/>
            <a:rect l="l" t="t" r="r" b="b"/>
            <a:pathLst>
              <a:path w="3468688" h="484187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420686"/>
                </a:lnTo>
                <a:cubicBezTo>
                  <a:pt x="3468688" y="455757"/>
                  <a:pt x="3440257" y="484188"/>
                  <a:pt x="3405186" y="484187"/>
                </a:cubicBezTo>
                <a:lnTo>
                  <a:pt x="31750" y="484187"/>
                </a:lnTo>
                <a:cubicBezTo>
                  <a:pt x="14227" y="484187"/>
                  <a:pt x="0" y="469961"/>
                  <a:pt x="0" y="452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89" name="Shape 107"/>
          <p:cNvSpPr/>
          <p:nvPr/>
        </p:nvSpPr>
        <p:spPr>
          <a:xfrm>
            <a:off x="8286591" y="1544222"/>
            <a:ext cx="31750" cy="484187"/>
          </a:xfrm>
          <a:custGeom>
            <a:avLst/>
            <a:gdLst/>
            <a:ahLst/>
            <a:cxnLst/>
            <a:rect l="l" t="t" r="r" b="b"/>
            <a:pathLst>
              <a:path w="31750" h="484187">
                <a:moveTo>
                  <a:pt x="31750" y="0"/>
                </a:moveTo>
                <a:lnTo>
                  <a:pt x="31750" y="0"/>
                </a:lnTo>
                <a:lnTo>
                  <a:pt x="31750" y="484187"/>
                </a:lnTo>
                <a:lnTo>
                  <a:pt x="31750" y="484187"/>
                </a:lnTo>
                <a:cubicBezTo>
                  <a:pt x="14227" y="484187"/>
                  <a:pt x="0" y="469961"/>
                  <a:pt x="0" y="452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90" name="Shape 108"/>
          <p:cNvSpPr/>
          <p:nvPr/>
        </p:nvSpPr>
        <p:spPr>
          <a:xfrm>
            <a:off x="8381841" y="162359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91" name="Text 109"/>
          <p:cNvSpPr/>
          <p:nvPr/>
        </p:nvSpPr>
        <p:spPr>
          <a:xfrm>
            <a:off x="8442464" y="1639472"/>
            <a:ext cx="87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92" name="Text 110"/>
          <p:cNvSpPr/>
          <p:nvPr/>
        </p:nvSpPr>
        <p:spPr>
          <a:xfrm>
            <a:off x="8604250" y="1623695"/>
            <a:ext cx="106807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查询接收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93" name="Text 111"/>
          <p:cNvSpPr/>
          <p:nvPr/>
        </p:nvSpPr>
        <p:spPr>
          <a:xfrm>
            <a:off x="8381841" y="1814097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用户提交问题，系统解析意图与关键概念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94" name="Shape 112"/>
          <p:cNvSpPr/>
          <p:nvPr/>
        </p:nvSpPr>
        <p:spPr>
          <a:xfrm>
            <a:off x="9966564" y="20473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95" name="Shape 113"/>
          <p:cNvSpPr/>
          <p:nvPr/>
        </p:nvSpPr>
        <p:spPr>
          <a:xfrm>
            <a:off x="8286591" y="2207320"/>
            <a:ext cx="3468688" cy="468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96" name="Shape 114"/>
          <p:cNvSpPr/>
          <p:nvPr/>
        </p:nvSpPr>
        <p:spPr>
          <a:xfrm>
            <a:off x="8286591" y="2207320"/>
            <a:ext cx="31750" cy="468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97" name="Shape 115"/>
          <p:cNvSpPr/>
          <p:nvPr/>
        </p:nvSpPr>
        <p:spPr>
          <a:xfrm>
            <a:off x="8381841" y="228669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98" name="Text 116"/>
          <p:cNvSpPr/>
          <p:nvPr/>
        </p:nvSpPr>
        <p:spPr>
          <a:xfrm>
            <a:off x="8434427" y="2302570"/>
            <a:ext cx="1031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99" name="Text 117"/>
          <p:cNvSpPr/>
          <p:nvPr/>
        </p:nvSpPr>
        <p:spPr>
          <a:xfrm>
            <a:off x="8604250" y="2286635"/>
            <a:ext cx="118173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查询嵌入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00" name="Text 118"/>
          <p:cNvSpPr/>
          <p:nvPr/>
        </p:nvSpPr>
        <p:spPr>
          <a:xfrm>
            <a:off x="8381841" y="2477195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使用相同Embedding模型将查询转为向量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Shape 123"/>
          <p:cNvSpPr/>
          <p:nvPr/>
        </p:nvSpPr>
        <p:spPr>
          <a:xfrm>
            <a:off x="9966564" y="271008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06" name="Shape 124"/>
          <p:cNvSpPr/>
          <p:nvPr/>
        </p:nvSpPr>
        <p:spPr>
          <a:xfrm>
            <a:off x="8286591" y="2870102"/>
            <a:ext cx="3468688" cy="468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07" name="Shape 125"/>
          <p:cNvSpPr/>
          <p:nvPr/>
        </p:nvSpPr>
        <p:spPr>
          <a:xfrm>
            <a:off x="8286591" y="2870102"/>
            <a:ext cx="31750" cy="468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08" name="Shape 126"/>
          <p:cNvSpPr/>
          <p:nvPr/>
        </p:nvSpPr>
        <p:spPr>
          <a:xfrm>
            <a:off x="8381841" y="294947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409" name="Text 127"/>
          <p:cNvSpPr/>
          <p:nvPr/>
        </p:nvSpPr>
        <p:spPr>
          <a:xfrm>
            <a:off x="8433138" y="2965352"/>
            <a:ext cx="1031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0" name="Text 128"/>
          <p:cNvSpPr/>
          <p:nvPr/>
        </p:nvSpPr>
        <p:spPr>
          <a:xfrm>
            <a:off x="8604250" y="2949575"/>
            <a:ext cx="121094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相似度搜索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1" name="Text 129"/>
          <p:cNvSpPr/>
          <p:nvPr/>
        </p:nvSpPr>
        <p:spPr>
          <a:xfrm>
            <a:off x="8381841" y="3139977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在向量数据库中执行相似度搜索，召回Top-K文档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Shape 134"/>
          <p:cNvSpPr/>
          <p:nvPr/>
        </p:nvSpPr>
        <p:spPr>
          <a:xfrm>
            <a:off x="9966564" y="334238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17" name="Shape 135"/>
          <p:cNvSpPr/>
          <p:nvPr/>
        </p:nvSpPr>
        <p:spPr>
          <a:xfrm>
            <a:off x="8286591" y="3482083"/>
            <a:ext cx="3468688" cy="468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18" name="Shape 136"/>
          <p:cNvSpPr/>
          <p:nvPr/>
        </p:nvSpPr>
        <p:spPr>
          <a:xfrm>
            <a:off x="8286591" y="3482083"/>
            <a:ext cx="31750" cy="468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19" name="Shape 137"/>
          <p:cNvSpPr/>
          <p:nvPr/>
        </p:nvSpPr>
        <p:spPr>
          <a:xfrm>
            <a:off x="8381841" y="356145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420" name="Text 138"/>
          <p:cNvSpPr/>
          <p:nvPr/>
        </p:nvSpPr>
        <p:spPr>
          <a:xfrm>
            <a:off x="8433237" y="3577333"/>
            <a:ext cx="1031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1" name="Text 139"/>
          <p:cNvSpPr/>
          <p:nvPr/>
        </p:nvSpPr>
        <p:spPr>
          <a:xfrm>
            <a:off x="8604250" y="3561715"/>
            <a:ext cx="106743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结果重排序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2" name="Text 140"/>
          <p:cNvSpPr/>
          <p:nvPr/>
        </p:nvSpPr>
        <p:spPr>
          <a:xfrm>
            <a:off x="8381841" y="3751958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使用Cross-Encoder对结果精排，优化相关性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7" name="Shape 145"/>
          <p:cNvSpPr/>
          <p:nvPr/>
        </p:nvSpPr>
        <p:spPr>
          <a:xfrm>
            <a:off x="9966564" y="3974684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28" name="Shape 146"/>
          <p:cNvSpPr/>
          <p:nvPr/>
        </p:nvSpPr>
        <p:spPr>
          <a:xfrm>
            <a:off x="8286591" y="4124544"/>
            <a:ext cx="3468688" cy="468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29" name="Shape 147"/>
          <p:cNvSpPr/>
          <p:nvPr/>
        </p:nvSpPr>
        <p:spPr>
          <a:xfrm>
            <a:off x="8286591" y="4124544"/>
            <a:ext cx="31750" cy="468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30" name="Shape 148"/>
          <p:cNvSpPr/>
          <p:nvPr/>
        </p:nvSpPr>
        <p:spPr>
          <a:xfrm>
            <a:off x="8381841" y="420391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431" name="Text 149"/>
          <p:cNvSpPr/>
          <p:nvPr/>
        </p:nvSpPr>
        <p:spPr>
          <a:xfrm>
            <a:off x="8432740" y="4219794"/>
            <a:ext cx="1031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2" name="Text 150"/>
          <p:cNvSpPr/>
          <p:nvPr/>
        </p:nvSpPr>
        <p:spPr>
          <a:xfrm>
            <a:off x="8604250" y="4203700"/>
            <a:ext cx="97917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上下文构建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3" name="Text 151"/>
          <p:cNvSpPr/>
          <p:nvPr/>
        </p:nvSpPr>
        <p:spPr>
          <a:xfrm>
            <a:off x="8381841" y="4394419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整合检索片段，添加元数据与引用，构建上下文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8" name="Shape 156"/>
          <p:cNvSpPr/>
          <p:nvPr/>
        </p:nvSpPr>
        <p:spPr>
          <a:xfrm>
            <a:off x="9966564" y="460698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39" name="Shape 157"/>
          <p:cNvSpPr/>
          <p:nvPr/>
        </p:nvSpPr>
        <p:spPr>
          <a:xfrm>
            <a:off x="8286591" y="4756845"/>
            <a:ext cx="3468688" cy="484187"/>
          </a:xfrm>
          <a:custGeom>
            <a:avLst/>
            <a:gdLst/>
            <a:ahLst/>
            <a:cxnLst/>
            <a:rect l="l" t="t" r="r" b="b"/>
            <a:pathLst>
              <a:path w="3468688" h="484187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420686"/>
                </a:lnTo>
                <a:cubicBezTo>
                  <a:pt x="3468688" y="455757"/>
                  <a:pt x="3440257" y="484188"/>
                  <a:pt x="3405186" y="484187"/>
                </a:cubicBezTo>
                <a:lnTo>
                  <a:pt x="31750" y="484187"/>
                </a:lnTo>
                <a:cubicBezTo>
                  <a:pt x="14227" y="484187"/>
                  <a:pt x="0" y="469961"/>
                  <a:pt x="0" y="452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40" name="Shape 158"/>
          <p:cNvSpPr/>
          <p:nvPr/>
        </p:nvSpPr>
        <p:spPr>
          <a:xfrm>
            <a:off x="8286591" y="4756845"/>
            <a:ext cx="31750" cy="484187"/>
          </a:xfrm>
          <a:custGeom>
            <a:avLst/>
            <a:gdLst/>
            <a:ahLst/>
            <a:cxnLst/>
            <a:rect l="l" t="t" r="r" b="b"/>
            <a:pathLst>
              <a:path w="31750" h="484187">
                <a:moveTo>
                  <a:pt x="31750" y="0"/>
                </a:moveTo>
                <a:lnTo>
                  <a:pt x="31750" y="0"/>
                </a:lnTo>
                <a:lnTo>
                  <a:pt x="31750" y="484187"/>
                </a:lnTo>
                <a:lnTo>
                  <a:pt x="31750" y="484187"/>
                </a:lnTo>
                <a:cubicBezTo>
                  <a:pt x="14227" y="484187"/>
                  <a:pt x="0" y="469961"/>
                  <a:pt x="0" y="452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41" name="Shape 159"/>
          <p:cNvSpPr/>
          <p:nvPr/>
        </p:nvSpPr>
        <p:spPr>
          <a:xfrm>
            <a:off x="8381841" y="483622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442" name="Text 160"/>
          <p:cNvSpPr/>
          <p:nvPr/>
        </p:nvSpPr>
        <p:spPr>
          <a:xfrm>
            <a:off x="8432542" y="4852095"/>
            <a:ext cx="1031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3" name="Text 161"/>
          <p:cNvSpPr/>
          <p:nvPr/>
        </p:nvSpPr>
        <p:spPr>
          <a:xfrm>
            <a:off x="8604250" y="4836160"/>
            <a:ext cx="97917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Prompt组装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 162"/>
          <p:cNvSpPr/>
          <p:nvPr/>
        </p:nvSpPr>
        <p:spPr>
          <a:xfrm>
            <a:off x="8381841" y="5026720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整合系统指令、用户查询、检索上下文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5" name="Shape 163"/>
          <p:cNvSpPr/>
          <p:nvPr/>
        </p:nvSpPr>
        <p:spPr>
          <a:xfrm>
            <a:off x="9966564" y="5280244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46" name="Shape 164"/>
          <p:cNvSpPr/>
          <p:nvPr/>
        </p:nvSpPr>
        <p:spPr>
          <a:xfrm>
            <a:off x="8286591" y="5460584"/>
            <a:ext cx="3468688" cy="468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47" name="Shape 165"/>
          <p:cNvSpPr/>
          <p:nvPr/>
        </p:nvSpPr>
        <p:spPr>
          <a:xfrm>
            <a:off x="8286591" y="5460584"/>
            <a:ext cx="31750" cy="468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48" name="Shape 166"/>
          <p:cNvSpPr/>
          <p:nvPr/>
        </p:nvSpPr>
        <p:spPr>
          <a:xfrm>
            <a:off x="8381841" y="553995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449" name="Text 167"/>
          <p:cNvSpPr/>
          <p:nvPr/>
        </p:nvSpPr>
        <p:spPr>
          <a:xfrm>
            <a:off x="8436511" y="5555834"/>
            <a:ext cx="9525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0" name="Text 168"/>
          <p:cNvSpPr/>
          <p:nvPr/>
        </p:nvSpPr>
        <p:spPr>
          <a:xfrm>
            <a:off x="8604250" y="5539740"/>
            <a:ext cx="114554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LLM生成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1" name="Text 169"/>
          <p:cNvSpPr/>
          <p:nvPr/>
        </p:nvSpPr>
        <p:spPr>
          <a:xfrm>
            <a:off x="8381841" y="5730459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增强Prompt输入LLM，生成答案并流式输出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6" name="Shape 174"/>
          <p:cNvSpPr/>
          <p:nvPr/>
        </p:nvSpPr>
        <p:spPr>
          <a:xfrm>
            <a:off x="9966564" y="599382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57" name="Shape 175"/>
          <p:cNvSpPr/>
          <p:nvPr/>
        </p:nvSpPr>
        <p:spPr>
          <a:xfrm>
            <a:off x="8286591" y="6184325"/>
            <a:ext cx="3468688" cy="468000"/>
          </a:xfrm>
          <a:custGeom>
            <a:avLst/>
            <a:gdLst/>
            <a:ahLst/>
            <a:cxnLst/>
            <a:rect l="l" t="t" r="r" b="b"/>
            <a:pathLst>
              <a:path w="3468688" h="666750">
                <a:moveTo>
                  <a:pt x="31750" y="0"/>
                </a:moveTo>
                <a:lnTo>
                  <a:pt x="3405186" y="0"/>
                </a:lnTo>
                <a:cubicBezTo>
                  <a:pt x="3440257" y="0"/>
                  <a:pt x="3468688" y="28430"/>
                  <a:pt x="3468688" y="63501"/>
                </a:cubicBezTo>
                <a:lnTo>
                  <a:pt x="3468688" y="603249"/>
                </a:lnTo>
                <a:cubicBezTo>
                  <a:pt x="3468688" y="638320"/>
                  <a:pt x="3440257" y="666750"/>
                  <a:pt x="3405186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58" name="Shape 176"/>
          <p:cNvSpPr/>
          <p:nvPr/>
        </p:nvSpPr>
        <p:spPr>
          <a:xfrm>
            <a:off x="8286591" y="6184325"/>
            <a:ext cx="31750" cy="46800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59" name="Shape 177"/>
          <p:cNvSpPr/>
          <p:nvPr/>
        </p:nvSpPr>
        <p:spPr>
          <a:xfrm>
            <a:off x="8381841" y="62637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1750" y="0"/>
                </a:moveTo>
                <a:lnTo>
                  <a:pt x="127000" y="0"/>
                </a:lnTo>
                <a:cubicBezTo>
                  <a:pt x="144523" y="0"/>
                  <a:pt x="158750" y="14227"/>
                  <a:pt x="158750" y="31750"/>
                </a:cubicBezTo>
                <a:lnTo>
                  <a:pt x="158750" y="127000"/>
                </a:lnTo>
                <a:cubicBezTo>
                  <a:pt x="158750" y="144523"/>
                  <a:pt x="144523" y="158750"/>
                  <a:pt x="127000" y="158750"/>
                </a:cubicBezTo>
                <a:lnTo>
                  <a:pt x="31750" y="158750"/>
                </a:lnTo>
                <a:cubicBezTo>
                  <a:pt x="14227" y="158750"/>
                  <a:pt x="0" y="144523"/>
                  <a:pt x="0" y="12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460" name="Text 178"/>
          <p:cNvSpPr/>
          <p:nvPr/>
        </p:nvSpPr>
        <p:spPr>
          <a:xfrm>
            <a:off x="8431451" y="6279575"/>
            <a:ext cx="1031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1" name="Text 179"/>
          <p:cNvSpPr/>
          <p:nvPr/>
        </p:nvSpPr>
        <p:spPr>
          <a:xfrm>
            <a:off x="8604250" y="6263640"/>
            <a:ext cx="127762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后处理与输出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2" name="Text 180"/>
          <p:cNvSpPr/>
          <p:nvPr/>
        </p:nvSpPr>
        <p:spPr>
          <a:xfrm>
            <a:off x="8381841" y="6454200"/>
            <a:ext cx="3341688" cy="134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幻觉检查、引用验证、质量评估后输出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76" name="Shape 185"/>
          <p:cNvSpPr/>
          <p:nvPr/>
        </p:nvSpPr>
        <p:spPr>
          <a:xfrm>
            <a:off x="320675" y="6101715"/>
            <a:ext cx="7736840" cy="504825"/>
          </a:xfrm>
          <a:custGeom>
            <a:avLst/>
            <a:gdLst/>
            <a:ahLst/>
            <a:cxnLst/>
            <a:rect l="l" t="t" r="r" b="b"/>
            <a:pathLst>
              <a:path w="11547475" h="292100">
                <a:moveTo>
                  <a:pt x="63500" y="0"/>
                </a:moveTo>
                <a:lnTo>
                  <a:pt x="11483975" y="0"/>
                </a:lnTo>
                <a:cubicBezTo>
                  <a:pt x="11519045" y="0"/>
                  <a:pt x="11547475" y="28430"/>
                  <a:pt x="11547475" y="63500"/>
                </a:cubicBezTo>
                <a:lnTo>
                  <a:pt x="11547475" y="228600"/>
                </a:lnTo>
                <a:cubicBezTo>
                  <a:pt x="11547475" y="263670"/>
                  <a:pt x="11519045" y="292100"/>
                  <a:pt x="11483975" y="292100"/>
                </a:cubicBezTo>
                <a:lnTo>
                  <a:pt x="63500" y="292100"/>
                </a:lnTo>
                <a:cubicBezTo>
                  <a:pt x="28453" y="292100"/>
                  <a:pt x="0" y="263647"/>
                  <a:pt x="0" y="2286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477" name="Shape 186"/>
          <p:cNvSpPr/>
          <p:nvPr/>
        </p:nvSpPr>
        <p:spPr>
          <a:xfrm>
            <a:off x="419100" y="6275707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78" name="Text 187"/>
          <p:cNvSpPr/>
          <p:nvPr/>
        </p:nvSpPr>
        <p:spPr>
          <a:xfrm>
            <a:off x="609600" y="6259830"/>
            <a:ext cx="72517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核心洞察</a:t>
            </a:r>
            <a:endParaRPr lang="en-US" sz="14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79" name="Text 188"/>
          <p:cNvSpPr/>
          <p:nvPr/>
        </p:nvSpPr>
        <p:spPr>
          <a:xfrm>
            <a:off x="1512570" y="6169025"/>
            <a:ext cx="4301490" cy="358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Pipeline通过"离线索引+在线推理"两阶段架构，实现知识的动态更新与高效检索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0" name="Shape 189"/>
          <p:cNvSpPr/>
          <p:nvPr/>
        </p:nvSpPr>
        <p:spPr>
          <a:xfrm>
            <a:off x="6305233" y="63201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31750"/>
                </a:moveTo>
                <a:cubicBezTo>
                  <a:pt x="0" y="14227"/>
                  <a:pt x="14227" y="0"/>
                  <a:pt x="31750" y="0"/>
                </a:cubicBezTo>
                <a:cubicBezTo>
                  <a:pt x="49273" y="0"/>
                  <a:pt x="63500" y="14227"/>
                  <a:pt x="63500" y="31750"/>
                </a:cubicBezTo>
                <a:cubicBezTo>
                  <a:pt x="63500" y="49273"/>
                  <a:pt x="49273" y="63500"/>
                  <a:pt x="31750" y="63500"/>
                </a:cubicBezTo>
                <a:cubicBezTo>
                  <a:pt x="14227" y="63500"/>
                  <a:pt x="0" y="49273"/>
                  <a:pt x="0" y="3175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81" name="Text 190"/>
          <p:cNvSpPr/>
          <p:nvPr/>
        </p:nvSpPr>
        <p:spPr>
          <a:xfrm>
            <a:off x="6396514" y="6275707"/>
            <a:ext cx="440531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D8F8A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索引阶段</a:t>
            </a:r>
            <a:endParaRPr lang="en-US" sz="1200" dirty="0">
              <a:solidFill>
                <a:srgbClr val="3D8F8A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2" name="Shape 191"/>
          <p:cNvSpPr/>
          <p:nvPr/>
        </p:nvSpPr>
        <p:spPr>
          <a:xfrm>
            <a:off x="6892608" y="63201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31750"/>
                </a:moveTo>
                <a:cubicBezTo>
                  <a:pt x="0" y="14227"/>
                  <a:pt x="14227" y="0"/>
                  <a:pt x="31750" y="0"/>
                </a:cubicBezTo>
                <a:cubicBezTo>
                  <a:pt x="49273" y="0"/>
                  <a:pt x="63500" y="14227"/>
                  <a:pt x="63500" y="31750"/>
                </a:cubicBezTo>
                <a:cubicBezTo>
                  <a:pt x="63500" y="49273"/>
                  <a:pt x="49273" y="63500"/>
                  <a:pt x="31750" y="63500"/>
                </a:cubicBezTo>
                <a:cubicBezTo>
                  <a:pt x="14227" y="63500"/>
                  <a:pt x="0" y="49273"/>
                  <a:pt x="0" y="31750"/>
                </a:cubicBezTo>
                <a:close/>
              </a:path>
            </a:pathLst>
          </a:custGeom>
          <a:solidFill>
            <a:srgbClr val="E5A044"/>
          </a:solidFill>
        </p:spPr>
      </p:sp>
      <p:sp>
        <p:nvSpPr>
          <p:cNvPr id="483" name="Text 192"/>
          <p:cNvSpPr/>
          <p:nvPr/>
        </p:nvSpPr>
        <p:spPr>
          <a:xfrm>
            <a:off x="6983889" y="6275707"/>
            <a:ext cx="440531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5A044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推理阶段</a:t>
            </a:r>
            <a:endParaRPr lang="en-US" sz="1200" dirty="0">
              <a:solidFill>
                <a:srgbClr val="E5A044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4" name="Shape 193"/>
          <p:cNvSpPr/>
          <p:nvPr/>
        </p:nvSpPr>
        <p:spPr>
          <a:xfrm>
            <a:off x="7479983" y="63201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31750"/>
                </a:moveTo>
                <a:cubicBezTo>
                  <a:pt x="0" y="14227"/>
                  <a:pt x="14227" y="0"/>
                  <a:pt x="31750" y="0"/>
                </a:cubicBezTo>
                <a:cubicBezTo>
                  <a:pt x="49273" y="0"/>
                  <a:pt x="63500" y="14227"/>
                  <a:pt x="63500" y="31750"/>
                </a:cubicBezTo>
                <a:cubicBezTo>
                  <a:pt x="63500" y="49273"/>
                  <a:pt x="49273" y="63500"/>
                  <a:pt x="31750" y="63500"/>
                </a:cubicBezTo>
                <a:cubicBezTo>
                  <a:pt x="14227" y="63500"/>
                  <a:pt x="0" y="49273"/>
                  <a:pt x="0" y="31750"/>
                </a:cubicBezTo>
                <a:close/>
              </a:path>
            </a:pathLst>
          </a:custGeom>
          <a:solidFill>
            <a:srgbClr val="5F6B7A"/>
          </a:solidFill>
        </p:spPr>
      </p:sp>
      <p:sp>
        <p:nvSpPr>
          <p:cNvPr id="485" name="Text 194"/>
          <p:cNvSpPr/>
          <p:nvPr/>
        </p:nvSpPr>
        <p:spPr>
          <a:xfrm>
            <a:off x="7571264" y="6275707"/>
            <a:ext cx="440531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F6B7A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核心组件</a:t>
            </a:r>
            <a:endParaRPr lang="en-US" sz="1200" dirty="0">
              <a:solidFill>
                <a:srgbClr val="5F6B7A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548322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企业级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RAG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应用全景与标杆案例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382123" y="1076513"/>
            <a:ext cx="5654288" cy="1293922"/>
          </a:xfrm>
          <a:custGeom>
            <a:avLst/>
            <a:gdLst/>
            <a:ahLst/>
            <a:cxnLst/>
            <a:rect l="l" t="t" r="r" b="b"/>
            <a:pathLst>
              <a:path w="5654288" h="1293922">
                <a:moveTo>
                  <a:pt x="75669" y="0"/>
                </a:moveTo>
                <a:lnTo>
                  <a:pt x="5578620" y="0"/>
                </a:lnTo>
                <a:cubicBezTo>
                  <a:pt x="5620410" y="0"/>
                  <a:pt x="5654288" y="33878"/>
                  <a:pt x="5654288" y="75669"/>
                </a:cubicBezTo>
                <a:lnTo>
                  <a:pt x="5654288" y="1218254"/>
                </a:lnTo>
                <a:cubicBezTo>
                  <a:pt x="5654288" y="1260044"/>
                  <a:pt x="5620410" y="1293922"/>
                  <a:pt x="5578620" y="1293922"/>
                </a:cubicBezTo>
                <a:lnTo>
                  <a:pt x="75669" y="1293922"/>
                </a:lnTo>
                <a:cubicBezTo>
                  <a:pt x="33878" y="1293922"/>
                  <a:pt x="0" y="1260044"/>
                  <a:pt x="0" y="1218254"/>
                </a:cubicBezTo>
                <a:lnTo>
                  <a:pt x="0" y="75669"/>
                </a:lnTo>
                <a:cubicBezTo>
                  <a:pt x="0" y="33906"/>
                  <a:pt x="33906" y="0"/>
                  <a:pt x="7566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5" name="Shape 4"/>
          <p:cNvSpPr/>
          <p:nvPr/>
        </p:nvSpPr>
        <p:spPr>
          <a:xfrm>
            <a:off x="549066" y="1188184"/>
            <a:ext cx="212816" cy="189170"/>
          </a:xfrm>
          <a:custGeom>
            <a:avLst/>
            <a:gdLst/>
            <a:ahLst/>
            <a:cxnLst/>
            <a:rect l="l" t="t" r="r" b="b"/>
            <a:pathLst>
              <a:path w="212816" h="189170">
                <a:moveTo>
                  <a:pt x="141877" y="53204"/>
                </a:moveTo>
                <a:cubicBezTo>
                  <a:pt x="141877" y="89117"/>
                  <a:pt x="110103" y="118231"/>
                  <a:pt x="70939" y="118231"/>
                </a:cubicBezTo>
                <a:cubicBezTo>
                  <a:pt x="61074" y="118231"/>
                  <a:pt x="51689" y="116384"/>
                  <a:pt x="43154" y="113059"/>
                </a:cubicBezTo>
                <a:lnTo>
                  <a:pt x="13005" y="129020"/>
                </a:lnTo>
                <a:cubicBezTo>
                  <a:pt x="9569" y="130830"/>
                  <a:pt x="5357" y="130202"/>
                  <a:pt x="2586" y="127468"/>
                </a:cubicBezTo>
                <a:cubicBezTo>
                  <a:pt x="-185" y="124734"/>
                  <a:pt x="-813" y="120485"/>
                  <a:pt x="1035" y="117049"/>
                </a:cubicBezTo>
                <a:lnTo>
                  <a:pt x="14188" y="92220"/>
                </a:lnTo>
                <a:cubicBezTo>
                  <a:pt x="5283" y="81358"/>
                  <a:pt x="0" y="67835"/>
                  <a:pt x="0" y="53204"/>
                </a:cubicBezTo>
                <a:cubicBezTo>
                  <a:pt x="0" y="17291"/>
                  <a:pt x="31775" y="-11823"/>
                  <a:pt x="70939" y="-11823"/>
                </a:cubicBezTo>
                <a:cubicBezTo>
                  <a:pt x="110103" y="-11823"/>
                  <a:pt x="141877" y="17291"/>
                  <a:pt x="141877" y="53204"/>
                </a:cubicBezTo>
                <a:close/>
                <a:moveTo>
                  <a:pt x="141877" y="189170"/>
                </a:moveTo>
                <a:cubicBezTo>
                  <a:pt x="107110" y="189170"/>
                  <a:pt x="78180" y="166226"/>
                  <a:pt x="72121" y="135966"/>
                </a:cubicBezTo>
                <a:cubicBezTo>
                  <a:pt x="116458" y="135412"/>
                  <a:pt x="154994" y="103859"/>
                  <a:pt x="159243" y="61074"/>
                </a:cubicBezTo>
                <a:cubicBezTo>
                  <a:pt x="190020" y="68168"/>
                  <a:pt x="212816" y="93698"/>
                  <a:pt x="212816" y="124143"/>
                </a:cubicBezTo>
                <a:cubicBezTo>
                  <a:pt x="212816" y="138774"/>
                  <a:pt x="207533" y="152297"/>
                  <a:pt x="198628" y="163159"/>
                </a:cubicBezTo>
                <a:lnTo>
                  <a:pt x="211782" y="187988"/>
                </a:lnTo>
                <a:cubicBezTo>
                  <a:pt x="213592" y="191424"/>
                  <a:pt x="212964" y="195636"/>
                  <a:pt x="210230" y="198407"/>
                </a:cubicBezTo>
                <a:cubicBezTo>
                  <a:pt x="207496" y="201178"/>
                  <a:pt x="203247" y="201806"/>
                  <a:pt x="199811" y="199958"/>
                </a:cubicBezTo>
                <a:lnTo>
                  <a:pt x="169662" y="183997"/>
                </a:lnTo>
                <a:cubicBezTo>
                  <a:pt x="161127" y="187323"/>
                  <a:pt x="151742" y="189170"/>
                  <a:pt x="141877" y="18917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6" name="Text 5"/>
          <p:cNvSpPr/>
          <p:nvPr/>
        </p:nvSpPr>
        <p:spPr>
          <a:xfrm>
            <a:off x="849630" y="1150620"/>
            <a:ext cx="2339340" cy="264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开放域知识问答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537243" y="1655690"/>
            <a:ext cx="5410259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覆盖模型未学习过的新知识，打破训练数据的时间限制，提供精准的自然语言问答服务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537243" y="2015512"/>
            <a:ext cx="5344050" cy="302672"/>
          </a:xfrm>
          <a:custGeom>
            <a:avLst/>
            <a:gdLst/>
            <a:ahLst/>
            <a:cxnLst/>
            <a:rect l="l" t="t" r="r" b="b"/>
            <a:pathLst>
              <a:path w="5344050" h="302672">
                <a:moveTo>
                  <a:pt x="37834" y="0"/>
                </a:moveTo>
                <a:lnTo>
                  <a:pt x="5306216" y="0"/>
                </a:lnTo>
                <a:cubicBezTo>
                  <a:pt x="5327111" y="0"/>
                  <a:pt x="5344050" y="16939"/>
                  <a:pt x="5344050" y="37834"/>
                </a:cubicBezTo>
                <a:lnTo>
                  <a:pt x="5344050" y="264838"/>
                </a:lnTo>
                <a:cubicBezTo>
                  <a:pt x="5344050" y="285733"/>
                  <a:pt x="5327111" y="302672"/>
                  <a:pt x="5306216" y="302672"/>
                </a:cubicBezTo>
                <a:lnTo>
                  <a:pt x="37834" y="302672"/>
                </a:lnTo>
                <a:cubicBezTo>
                  <a:pt x="16953" y="302672"/>
                  <a:pt x="0" y="285719"/>
                  <a:pt x="0" y="26483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>
              <a:alpha val="20000"/>
            </a:srgbClr>
          </a:solidFill>
          <a:ln>
            <a:solidFill>
              <a:srgbClr val="B10015"/>
            </a:solidFill>
          </a:ln>
        </p:spPr>
      </p:sp>
      <p:sp>
        <p:nvSpPr>
          <p:cNvPr id="29" name="Shape 8"/>
          <p:cNvSpPr/>
          <p:nvPr/>
        </p:nvSpPr>
        <p:spPr>
          <a:xfrm>
            <a:off x="634192" y="2106314"/>
            <a:ext cx="99314" cy="113502"/>
          </a:xfrm>
          <a:custGeom>
            <a:avLst/>
            <a:gdLst/>
            <a:ahLst/>
            <a:cxnLst/>
            <a:rect l="l" t="t" r="r" b="b"/>
            <a:pathLst>
              <a:path w="99314" h="113502">
                <a:moveTo>
                  <a:pt x="96388" y="15540"/>
                </a:moveTo>
                <a:cubicBezTo>
                  <a:pt x="99558" y="17846"/>
                  <a:pt x="100267" y="22279"/>
                  <a:pt x="97962" y="25449"/>
                </a:cubicBezTo>
                <a:lnTo>
                  <a:pt x="41211" y="103482"/>
                </a:lnTo>
                <a:cubicBezTo>
                  <a:pt x="39992" y="105167"/>
                  <a:pt x="38107" y="106209"/>
                  <a:pt x="36024" y="106386"/>
                </a:cubicBezTo>
                <a:cubicBezTo>
                  <a:pt x="33940" y="106563"/>
                  <a:pt x="31922" y="105787"/>
                  <a:pt x="30459" y="104324"/>
                </a:cubicBezTo>
                <a:lnTo>
                  <a:pt x="2084" y="75949"/>
                </a:lnTo>
                <a:cubicBezTo>
                  <a:pt x="-687" y="73178"/>
                  <a:pt x="-687" y="68678"/>
                  <a:pt x="2084" y="65906"/>
                </a:cubicBezTo>
                <a:cubicBezTo>
                  <a:pt x="4855" y="63135"/>
                  <a:pt x="9355" y="63135"/>
                  <a:pt x="12126" y="65906"/>
                </a:cubicBezTo>
                <a:lnTo>
                  <a:pt x="34627" y="88407"/>
                </a:lnTo>
                <a:lnTo>
                  <a:pt x="86501" y="17092"/>
                </a:lnTo>
                <a:cubicBezTo>
                  <a:pt x="88806" y="13922"/>
                  <a:pt x="93240" y="13212"/>
                  <a:pt x="96410" y="1551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0" name="Text 9"/>
          <p:cNvSpPr/>
          <p:nvPr/>
        </p:nvSpPr>
        <p:spPr>
          <a:xfrm>
            <a:off x="782965" y="2091180"/>
            <a:ext cx="5079410" cy="151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应用场景：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智能客服、产品助手、知识库查询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155943" y="1076513"/>
            <a:ext cx="5654288" cy="1293922"/>
          </a:xfrm>
          <a:custGeom>
            <a:avLst/>
            <a:gdLst/>
            <a:ahLst/>
            <a:cxnLst/>
            <a:rect l="l" t="t" r="r" b="b"/>
            <a:pathLst>
              <a:path w="5654288" h="1293922">
                <a:moveTo>
                  <a:pt x="75669" y="0"/>
                </a:moveTo>
                <a:lnTo>
                  <a:pt x="5578620" y="0"/>
                </a:lnTo>
                <a:cubicBezTo>
                  <a:pt x="5620410" y="0"/>
                  <a:pt x="5654288" y="33878"/>
                  <a:pt x="5654288" y="75669"/>
                </a:cubicBezTo>
                <a:lnTo>
                  <a:pt x="5654288" y="1218254"/>
                </a:lnTo>
                <a:cubicBezTo>
                  <a:pt x="5654288" y="1260044"/>
                  <a:pt x="5620410" y="1293922"/>
                  <a:pt x="5578620" y="1293922"/>
                </a:cubicBezTo>
                <a:lnTo>
                  <a:pt x="75669" y="1293922"/>
                </a:lnTo>
                <a:cubicBezTo>
                  <a:pt x="33878" y="1293922"/>
                  <a:pt x="0" y="1260044"/>
                  <a:pt x="0" y="1218254"/>
                </a:cubicBezTo>
                <a:lnTo>
                  <a:pt x="0" y="75669"/>
                </a:lnTo>
                <a:cubicBezTo>
                  <a:pt x="0" y="33906"/>
                  <a:pt x="33906" y="0"/>
                  <a:pt x="7566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2" name="Shape 11"/>
          <p:cNvSpPr/>
          <p:nvPr/>
        </p:nvSpPr>
        <p:spPr>
          <a:xfrm>
            <a:off x="6358355" y="1188184"/>
            <a:ext cx="141877" cy="189170"/>
          </a:xfrm>
          <a:custGeom>
            <a:avLst/>
            <a:gdLst/>
            <a:ahLst/>
            <a:cxnLst/>
            <a:rect l="l" t="t" r="r" b="b"/>
            <a:pathLst>
              <a:path w="141877" h="189170">
                <a:moveTo>
                  <a:pt x="47292" y="35469"/>
                </a:moveTo>
                <a:lnTo>
                  <a:pt x="47292" y="59116"/>
                </a:lnTo>
                <a:lnTo>
                  <a:pt x="94585" y="59116"/>
                </a:lnTo>
                <a:lnTo>
                  <a:pt x="94585" y="35469"/>
                </a:lnTo>
                <a:cubicBezTo>
                  <a:pt x="94585" y="22427"/>
                  <a:pt x="83981" y="11823"/>
                  <a:pt x="70939" y="11823"/>
                </a:cubicBezTo>
                <a:cubicBezTo>
                  <a:pt x="57896" y="11823"/>
                  <a:pt x="47292" y="22427"/>
                  <a:pt x="47292" y="35469"/>
                </a:cubicBezTo>
                <a:close/>
                <a:moveTo>
                  <a:pt x="23646" y="59116"/>
                </a:moveTo>
                <a:lnTo>
                  <a:pt x="23646" y="35469"/>
                </a:lnTo>
                <a:cubicBezTo>
                  <a:pt x="23646" y="9348"/>
                  <a:pt x="44817" y="-11823"/>
                  <a:pt x="70939" y="-11823"/>
                </a:cubicBezTo>
                <a:cubicBezTo>
                  <a:pt x="97060" y="-11823"/>
                  <a:pt x="118231" y="9348"/>
                  <a:pt x="118231" y="35469"/>
                </a:cubicBezTo>
                <a:lnTo>
                  <a:pt x="118231" y="59116"/>
                </a:lnTo>
                <a:cubicBezTo>
                  <a:pt x="131274" y="59116"/>
                  <a:pt x="141877" y="69719"/>
                  <a:pt x="141877" y="82762"/>
                </a:cubicBezTo>
                <a:lnTo>
                  <a:pt x="141877" y="165524"/>
                </a:lnTo>
                <a:cubicBezTo>
                  <a:pt x="141877" y="178566"/>
                  <a:pt x="131274" y="189170"/>
                  <a:pt x="118231" y="189170"/>
                </a:cubicBezTo>
                <a:lnTo>
                  <a:pt x="23646" y="189170"/>
                </a:lnTo>
                <a:cubicBezTo>
                  <a:pt x="10604" y="189170"/>
                  <a:pt x="0" y="178566"/>
                  <a:pt x="0" y="165524"/>
                </a:cubicBezTo>
                <a:lnTo>
                  <a:pt x="0" y="82762"/>
                </a:lnTo>
                <a:cubicBezTo>
                  <a:pt x="0" y="69719"/>
                  <a:pt x="10604" y="59116"/>
                  <a:pt x="23646" y="5911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3" name="Text 12"/>
          <p:cNvSpPr/>
          <p:nvPr/>
        </p:nvSpPr>
        <p:spPr>
          <a:xfrm>
            <a:off x="6623050" y="1150620"/>
            <a:ext cx="2781935" cy="264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企业私有文档问答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6311062" y="1655690"/>
            <a:ext cx="5410259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基于企业内部文档、政策、手册构建专属知识库，确保数据安全与隐私合规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6311062" y="2015512"/>
            <a:ext cx="5344050" cy="302672"/>
          </a:xfrm>
          <a:custGeom>
            <a:avLst/>
            <a:gdLst/>
            <a:ahLst/>
            <a:cxnLst/>
            <a:rect l="l" t="t" r="r" b="b"/>
            <a:pathLst>
              <a:path w="5344050" h="302672">
                <a:moveTo>
                  <a:pt x="37834" y="0"/>
                </a:moveTo>
                <a:lnTo>
                  <a:pt x="5306216" y="0"/>
                </a:lnTo>
                <a:cubicBezTo>
                  <a:pt x="5327111" y="0"/>
                  <a:pt x="5344050" y="16939"/>
                  <a:pt x="5344050" y="37834"/>
                </a:cubicBezTo>
                <a:lnTo>
                  <a:pt x="5344050" y="264838"/>
                </a:lnTo>
                <a:cubicBezTo>
                  <a:pt x="5344050" y="285733"/>
                  <a:pt x="5327111" y="302672"/>
                  <a:pt x="5306216" y="302672"/>
                </a:cubicBezTo>
                <a:lnTo>
                  <a:pt x="37834" y="302672"/>
                </a:lnTo>
                <a:cubicBezTo>
                  <a:pt x="16953" y="302672"/>
                  <a:pt x="0" y="285719"/>
                  <a:pt x="0" y="26483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>
              <a:alpha val="20000"/>
            </a:srgbClr>
          </a:solidFill>
          <a:ln>
            <a:solidFill>
              <a:srgbClr val="B10015"/>
            </a:solidFill>
          </a:ln>
        </p:spPr>
      </p:sp>
      <p:sp>
        <p:nvSpPr>
          <p:cNvPr id="36" name="Shape 15"/>
          <p:cNvSpPr/>
          <p:nvPr/>
        </p:nvSpPr>
        <p:spPr>
          <a:xfrm>
            <a:off x="6408012" y="2106314"/>
            <a:ext cx="99314" cy="113502"/>
          </a:xfrm>
          <a:custGeom>
            <a:avLst/>
            <a:gdLst/>
            <a:ahLst/>
            <a:cxnLst/>
            <a:rect l="l" t="t" r="r" b="b"/>
            <a:pathLst>
              <a:path w="99314" h="113502">
                <a:moveTo>
                  <a:pt x="96388" y="15540"/>
                </a:moveTo>
                <a:cubicBezTo>
                  <a:pt x="99558" y="17846"/>
                  <a:pt x="100267" y="22279"/>
                  <a:pt x="97962" y="25449"/>
                </a:cubicBezTo>
                <a:lnTo>
                  <a:pt x="41211" y="103482"/>
                </a:lnTo>
                <a:cubicBezTo>
                  <a:pt x="39992" y="105167"/>
                  <a:pt x="38107" y="106209"/>
                  <a:pt x="36024" y="106386"/>
                </a:cubicBezTo>
                <a:cubicBezTo>
                  <a:pt x="33940" y="106563"/>
                  <a:pt x="31922" y="105787"/>
                  <a:pt x="30459" y="104324"/>
                </a:cubicBezTo>
                <a:lnTo>
                  <a:pt x="2084" y="75949"/>
                </a:lnTo>
                <a:cubicBezTo>
                  <a:pt x="-687" y="73178"/>
                  <a:pt x="-687" y="68678"/>
                  <a:pt x="2084" y="65906"/>
                </a:cubicBezTo>
                <a:cubicBezTo>
                  <a:pt x="4855" y="63135"/>
                  <a:pt x="9355" y="63135"/>
                  <a:pt x="12126" y="65906"/>
                </a:cubicBezTo>
                <a:lnTo>
                  <a:pt x="34627" y="88407"/>
                </a:lnTo>
                <a:lnTo>
                  <a:pt x="86501" y="17092"/>
                </a:lnTo>
                <a:cubicBezTo>
                  <a:pt x="88806" y="13922"/>
                  <a:pt x="93240" y="13212"/>
                  <a:pt x="96410" y="1551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Text 16"/>
          <p:cNvSpPr/>
          <p:nvPr/>
        </p:nvSpPr>
        <p:spPr>
          <a:xfrm>
            <a:off x="6556785" y="2091180"/>
            <a:ext cx="5079410" cy="151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应用场景：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内部培训、合规查询、流程指导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382123" y="2491384"/>
            <a:ext cx="5654288" cy="1293922"/>
          </a:xfrm>
          <a:custGeom>
            <a:avLst/>
            <a:gdLst/>
            <a:ahLst/>
            <a:cxnLst/>
            <a:rect l="l" t="t" r="r" b="b"/>
            <a:pathLst>
              <a:path w="5654288" h="1293922">
                <a:moveTo>
                  <a:pt x="75669" y="0"/>
                </a:moveTo>
                <a:lnTo>
                  <a:pt x="5578620" y="0"/>
                </a:lnTo>
                <a:cubicBezTo>
                  <a:pt x="5620410" y="0"/>
                  <a:pt x="5654288" y="33878"/>
                  <a:pt x="5654288" y="75669"/>
                </a:cubicBezTo>
                <a:lnTo>
                  <a:pt x="5654288" y="1218254"/>
                </a:lnTo>
                <a:cubicBezTo>
                  <a:pt x="5654288" y="1260044"/>
                  <a:pt x="5620410" y="1293922"/>
                  <a:pt x="5578620" y="1293922"/>
                </a:cubicBezTo>
                <a:lnTo>
                  <a:pt x="75669" y="1293922"/>
                </a:lnTo>
                <a:cubicBezTo>
                  <a:pt x="33878" y="1293922"/>
                  <a:pt x="0" y="1260044"/>
                  <a:pt x="0" y="1218254"/>
                </a:cubicBezTo>
                <a:lnTo>
                  <a:pt x="0" y="75669"/>
                </a:lnTo>
                <a:cubicBezTo>
                  <a:pt x="0" y="33906"/>
                  <a:pt x="33906" y="0"/>
                  <a:pt x="7566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0" name="Shape 18"/>
          <p:cNvSpPr/>
          <p:nvPr/>
        </p:nvSpPr>
        <p:spPr>
          <a:xfrm>
            <a:off x="572712" y="2603056"/>
            <a:ext cx="165524" cy="189170"/>
          </a:xfrm>
          <a:custGeom>
            <a:avLst/>
            <a:gdLst/>
            <a:ahLst/>
            <a:cxnLst/>
            <a:rect l="l" t="t" r="r" b="b"/>
            <a:pathLst>
              <a:path w="165524" h="189170">
                <a:moveTo>
                  <a:pt x="82762" y="2956"/>
                </a:moveTo>
                <a:cubicBezTo>
                  <a:pt x="58292" y="2956"/>
                  <a:pt x="38425" y="22822"/>
                  <a:pt x="38425" y="47292"/>
                </a:cubicBezTo>
                <a:cubicBezTo>
                  <a:pt x="38425" y="71763"/>
                  <a:pt x="58292" y="91629"/>
                  <a:pt x="82762" y="91629"/>
                </a:cubicBezTo>
                <a:cubicBezTo>
                  <a:pt x="107232" y="91629"/>
                  <a:pt x="127099" y="71763"/>
                  <a:pt x="127099" y="47292"/>
                </a:cubicBezTo>
                <a:cubicBezTo>
                  <a:pt x="127099" y="22822"/>
                  <a:pt x="107232" y="2956"/>
                  <a:pt x="82762" y="2956"/>
                </a:cubicBezTo>
                <a:close/>
                <a:moveTo>
                  <a:pt x="104930" y="118527"/>
                </a:moveTo>
                <a:cubicBezTo>
                  <a:pt x="102935" y="118342"/>
                  <a:pt x="100866" y="118231"/>
                  <a:pt x="98797" y="118231"/>
                </a:cubicBezTo>
                <a:lnTo>
                  <a:pt x="66690" y="118231"/>
                </a:lnTo>
                <a:cubicBezTo>
                  <a:pt x="64621" y="118231"/>
                  <a:pt x="62589" y="118342"/>
                  <a:pt x="60557" y="118527"/>
                </a:cubicBezTo>
                <a:lnTo>
                  <a:pt x="60557" y="143466"/>
                </a:lnTo>
                <a:cubicBezTo>
                  <a:pt x="66653" y="146274"/>
                  <a:pt x="70902" y="152444"/>
                  <a:pt x="70902" y="159575"/>
                </a:cubicBezTo>
                <a:cubicBezTo>
                  <a:pt x="70902" y="169366"/>
                  <a:pt x="62958" y="177310"/>
                  <a:pt x="53167" y="177310"/>
                </a:cubicBezTo>
                <a:cubicBezTo>
                  <a:pt x="43376" y="177310"/>
                  <a:pt x="35432" y="169366"/>
                  <a:pt x="35432" y="159575"/>
                </a:cubicBezTo>
                <a:cubicBezTo>
                  <a:pt x="35432" y="152407"/>
                  <a:pt x="39681" y="146237"/>
                  <a:pt x="45778" y="143466"/>
                </a:cubicBezTo>
                <a:lnTo>
                  <a:pt x="45778" y="121889"/>
                </a:lnTo>
                <a:cubicBezTo>
                  <a:pt x="22538" y="130424"/>
                  <a:pt x="5912" y="152814"/>
                  <a:pt x="5912" y="179046"/>
                </a:cubicBezTo>
                <a:cubicBezTo>
                  <a:pt x="5912" y="184625"/>
                  <a:pt x="10456" y="189170"/>
                  <a:pt x="16035" y="189170"/>
                </a:cubicBezTo>
                <a:lnTo>
                  <a:pt x="149452" y="189170"/>
                </a:lnTo>
                <a:cubicBezTo>
                  <a:pt x="155031" y="189170"/>
                  <a:pt x="159575" y="184625"/>
                  <a:pt x="159575" y="179046"/>
                </a:cubicBezTo>
                <a:cubicBezTo>
                  <a:pt x="159575" y="152814"/>
                  <a:pt x="142949" y="130461"/>
                  <a:pt x="119672" y="121926"/>
                </a:cubicBezTo>
                <a:lnTo>
                  <a:pt x="119672" y="135744"/>
                </a:lnTo>
                <a:cubicBezTo>
                  <a:pt x="128281" y="138774"/>
                  <a:pt x="134451" y="147013"/>
                  <a:pt x="134451" y="156656"/>
                </a:cubicBezTo>
                <a:lnTo>
                  <a:pt x="134451" y="168479"/>
                </a:lnTo>
                <a:cubicBezTo>
                  <a:pt x="134451" y="172544"/>
                  <a:pt x="131126" y="175869"/>
                  <a:pt x="127062" y="175869"/>
                </a:cubicBezTo>
                <a:cubicBezTo>
                  <a:pt x="122997" y="175869"/>
                  <a:pt x="119672" y="172544"/>
                  <a:pt x="119672" y="168479"/>
                </a:cubicBezTo>
                <a:lnTo>
                  <a:pt x="119672" y="156656"/>
                </a:lnTo>
                <a:cubicBezTo>
                  <a:pt x="119672" y="152592"/>
                  <a:pt x="116347" y="149267"/>
                  <a:pt x="112283" y="149267"/>
                </a:cubicBezTo>
                <a:cubicBezTo>
                  <a:pt x="108218" y="149267"/>
                  <a:pt x="104893" y="152592"/>
                  <a:pt x="104893" y="156656"/>
                </a:cubicBezTo>
                <a:lnTo>
                  <a:pt x="104893" y="168479"/>
                </a:lnTo>
                <a:cubicBezTo>
                  <a:pt x="104893" y="172544"/>
                  <a:pt x="101568" y="175869"/>
                  <a:pt x="97504" y="175869"/>
                </a:cubicBezTo>
                <a:cubicBezTo>
                  <a:pt x="93440" y="175869"/>
                  <a:pt x="90114" y="172544"/>
                  <a:pt x="90114" y="168479"/>
                </a:cubicBezTo>
                <a:lnTo>
                  <a:pt x="90114" y="156656"/>
                </a:lnTo>
                <a:cubicBezTo>
                  <a:pt x="90114" y="147013"/>
                  <a:pt x="96285" y="138811"/>
                  <a:pt x="104893" y="135744"/>
                </a:cubicBezTo>
                <a:lnTo>
                  <a:pt x="104893" y="11852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1" name="Text 19"/>
          <p:cNvSpPr/>
          <p:nvPr/>
        </p:nvSpPr>
        <p:spPr>
          <a:xfrm>
            <a:off x="849630" y="2565400"/>
            <a:ext cx="2249170" cy="264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专业领域咨询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537243" y="3024842"/>
            <a:ext cx="5410259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医疗、法律、金融等专业领域，基于权威文献和案例提供精准咨询建议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Shape 21"/>
          <p:cNvSpPr/>
          <p:nvPr/>
        </p:nvSpPr>
        <p:spPr>
          <a:xfrm>
            <a:off x="537243" y="3396093"/>
            <a:ext cx="5344050" cy="302672"/>
          </a:xfrm>
          <a:custGeom>
            <a:avLst/>
            <a:gdLst/>
            <a:ahLst/>
            <a:cxnLst/>
            <a:rect l="l" t="t" r="r" b="b"/>
            <a:pathLst>
              <a:path w="5344050" h="302672">
                <a:moveTo>
                  <a:pt x="37834" y="0"/>
                </a:moveTo>
                <a:lnTo>
                  <a:pt x="5306216" y="0"/>
                </a:lnTo>
                <a:cubicBezTo>
                  <a:pt x="5327111" y="0"/>
                  <a:pt x="5344050" y="16939"/>
                  <a:pt x="5344050" y="37834"/>
                </a:cubicBezTo>
                <a:lnTo>
                  <a:pt x="5344050" y="264838"/>
                </a:lnTo>
                <a:cubicBezTo>
                  <a:pt x="5344050" y="285733"/>
                  <a:pt x="5327111" y="302672"/>
                  <a:pt x="5306216" y="302672"/>
                </a:cubicBezTo>
                <a:lnTo>
                  <a:pt x="37834" y="302672"/>
                </a:lnTo>
                <a:cubicBezTo>
                  <a:pt x="16953" y="302672"/>
                  <a:pt x="0" y="285719"/>
                  <a:pt x="0" y="26483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>
              <a:alpha val="20000"/>
            </a:srgbClr>
          </a:solidFill>
          <a:ln>
            <a:solidFill>
              <a:srgbClr val="B10015"/>
            </a:solidFill>
          </a:ln>
        </p:spPr>
      </p:sp>
      <p:sp>
        <p:nvSpPr>
          <p:cNvPr id="44" name="Shape 22"/>
          <p:cNvSpPr/>
          <p:nvPr/>
        </p:nvSpPr>
        <p:spPr>
          <a:xfrm>
            <a:off x="634192" y="3486896"/>
            <a:ext cx="99314" cy="113502"/>
          </a:xfrm>
          <a:custGeom>
            <a:avLst/>
            <a:gdLst/>
            <a:ahLst/>
            <a:cxnLst/>
            <a:rect l="l" t="t" r="r" b="b"/>
            <a:pathLst>
              <a:path w="99314" h="113502">
                <a:moveTo>
                  <a:pt x="96388" y="15540"/>
                </a:moveTo>
                <a:cubicBezTo>
                  <a:pt x="99558" y="17846"/>
                  <a:pt x="100267" y="22279"/>
                  <a:pt x="97962" y="25449"/>
                </a:cubicBezTo>
                <a:lnTo>
                  <a:pt x="41211" y="103482"/>
                </a:lnTo>
                <a:cubicBezTo>
                  <a:pt x="39992" y="105167"/>
                  <a:pt x="38107" y="106209"/>
                  <a:pt x="36024" y="106386"/>
                </a:cubicBezTo>
                <a:cubicBezTo>
                  <a:pt x="33940" y="106563"/>
                  <a:pt x="31922" y="105787"/>
                  <a:pt x="30459" y="104324"/>
                </a:cubicBezTo>
                <a:lnTo>
                  <a:pt x="2084" y="75949"/>
                </a:lnTo>
                <a:cubicBezTo>
                  <a:pt x="-687" y="73178"/>
                  <a:pt x="-687" y="68678"/>
                  <a:pt x="2084" y="65906"/>
                </a:cubicBezTo>
                <a:cubicBezTo>
                  <a:pt x="4855" y="63135"/>
                  <a:pt x="9355" y="63135"/>
                  <a:pt x="12126" y="65906"/>
                </a:cubicBezTo>
                <a:lnTo>
                  <a:pt x="34627" y="88407"/>
                </a:lnTo>
                <a:lnTo>
                  <a:pt x="86501" y="17092"/>
                </a:lnTo>
                <a:cubicBezTo>
                  <a:pt x="88806" y="13922"/>
                  <a:pt x="93240" y="13212"/>
                  <a:pt x="96410" y="1551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5" name="Text 23"/>
          <p:cNvSpPr/>
          <p:nvPr/>
        </p:nvSpPr>
        <p:spPr>
          <a:xfrm>
            <a:off x="782965" y="3471761"/>
            <a:ext cx="5079410" cy="151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应用场景：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临床决策支持、法律文书生成、投资分析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" name="Shape 24"/>
          <p:cNvSpPr/>
          <p:nvPr/>
        </p:nvSpPr>
        <p:spPr>
          <a:xfrm>
            <a:off x="6155943" y="2491384"/>
            <a:ext cx="5654288" cy="1293922"/>
          </a:xfrm>
          <a:custGeom>
            <a:avLst/>
            <a:gdLst/>
            <a:ahLst/>
            <a:cxnLst/>
            <a:rect l="l" t="t" r="r" b="b"/>
            <a:pathLst>
              <a:path w="5654288" h="1293922">
                <a:moveTo>
                  <a:pt x="75669" y="0"/>
                </a:moveTo>
                <a:lnTo>
                  <a:pt x="5578620" y="0"/>
                </a:lnTo>
                <a:cubicBezTo>
                  <a:pt x="5620410" y="0"/>
                  <a:pt x="5654288" y="33878"/>
                  <a:pt x="5654288" y="75669"/>
                </a:cubicBezTo>
                <a:lnTo>
                  <a:pt x="5654288" y="1218254"/>
                </a:lnTo>
                <a:cubicBezTo>
                  <a:pt x="5654288" y="1260044"/>
                  <a:pt x="5620410" y="1293922"/>
                  <a:pt x="5578620" y="1293922"/>
                </a:cubicBezTo>
                <a:lnTo>
                  <a:pt x="75669" y="1293922"/>
                </a:lnTo>
                <a:cubicBezTo>
                  <a:pt x="33878" y="1293922"/>
                  <a:pt x="0" y="1260044"/>
                  <a:pt x="0" y="1218254"/>
                </a:cubicBezTo>
                <a:lnTo>
                  <a:pt x="0" y="75669"/>
                </a:lnTo>
                <a:cubicBezTo>
                  <a:pt x="0" y="33906"/>
                  <a:pt x="33906" y="0"/>
                  <a:pt x="7566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7" name="Shape 25"/>
          <p:cNvSpPr/>
          <p:nvPr/>
        </p:nvSpPr>
        <p:spPr>
          <a:xfrm>
            <a:off x="6334709" y="2603056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0" y="153701"/>
                </a:moveTo>
                <a:lnTo>
                  <a:pt x="0" y="44337"/>
                </a:lnTo>
                <a:cubicBezTo>
                  <a:pt x="0" y="39423"/>
                  <a:pt x="3953" y="35469"/>
                  <a:pt x="8867" y="35469"/>
                </a:cubicBezTo>
                <a:cubicBezTo>
                  <a:pt x="13781" y="35469"/>
                  <a:pt x="17735" y="39423"/>
                  <a:pt x="17735" y="44337"/>
                </a:cubicBezTo>
                <a:lnTo>
                  <a:pt x="17735" y="150745"/>
                </a:lnTo>
                <a:cubicBezTo>
                  <a:pt x="17735" y="155659"/>
                  <a:pt x="21688" y="159612"/>
                  <a:pt x="26602" y="159612"/>
                </a:cubicBezTo>
                <a:cubicBezTo>
                  <a:pt x="31516" y="159612"/>
                  <a:pt x="35469" y="155659"/>
                  <a:pt x="35469" y="150745"/>
                </a:cubicBezTo>
                <a:lnTo>
                  <a:pt x="35469" y="35469"/>
                </a:lnTo>
                <a:cubicBezTo>
                  <a:pt x="35469" y="22427"/>
                  <a:pt x="46073" y="11823"/>
                  <a:pt x="59116" y="11823"/>
                </a:cubicBezTo>
                <a:lnTo>
                  <a:pt x="165524" y="11823"/>
                </a:lnTo>
                <a:cubicBezTo>
                  <a:pt x="178566" y="11823"/>
                  <a:pt x="189170" y="22427"/>
                  <a:pt x="189170" y="35469"/>
                </a:cubicBezTo>
                <a:lnTo>
                  <a:pt x="189170" y="153701"/>
                </a:lnTo>
                <a:cubicBezTo>
                  <a:pt x="189170" y="166743"/>
                  <a:pt x="178566" y="177347"/>
                  <a:pt x="165524" y="177347"/>
                </a:cubicBezTo>
                <a:lnTo>
                  <a:pt x="23646" y="177347"/>
                </a:lnTo>
                <a:cubicBezTo>
                  <a:pt x="10604" y="177347"/>
                  <a:pt x="0" y="166743"/>
                  <a:pt x="0" y="153701"/>
                </a:cubicBezTo>
                <a:close/>
                <a:moveTo>
                  <a:pt x="59116" y="47292"/>
                </a:moveTo>
                <a:lnTo>
                  <a:pt x="59116" y="70939"/>
                </a:lnTo>
                <a:cubicBezTo>
                  <a:pt x="59116" y="77478"/>
                  <a:pt x="64399" y="82762"/>
                  <a:pt x="70939" y="82762"/>
                </a:cubicBezTo>
                <a:lnTo>
                  <a:pt x="94585" y="82762"/>
                </a:lnTo>
                <a:cubicBezTo>
                  <a:pt x="101125" y="82762"/>
                  <a:pt x="106408" y="77478"/>
                  <a:pt x="106408" y="70939"/>
                </a:cubicBezTo>
                <a:lnTo>
                  <a:pt x="106408" y="47292"/>
                </a:lnTo>
                <a:cubicBezTo>
                  <a:pt x="106408" y="40753"/>
                  <a:pt x="101125" y="35469"/>
                  <a:pt x="94585" y="35469"/>
                </a:cubicBezTo>
                <a:lnTo>
                  <a:pt x="70939" y="35469"/>
                </a:lnTo>
                <a:cubicBezTo>
                  <a:pt x="64399" y="35469"/>
                  <a:pt x="59116" y="40753"/>
                  <a:pt x="59116" y="47292"/>
                </a:cubicBezTo>
                <a:close/>
                <a:moveTo>
                  <a:pt x="67983" y="135966"/>
                </a:moveTo>
                <a:cubicBezTo>
                  <a:pt x="63069" y="135966"/>
                  <a:pt x="59116" y="139919"/>
                  <a:pt x="59116" y="144833"/>
                </a:cubicBezTo>
                <a:cubicBezTo>
                  <a:pt x="59116" y="149747"/>
                  <a:pt x="63069" y="153701"/>
                  <a:pt x="67983" y="153701"/>
                </a:cubicBezTo>
                <a:lnTo>
                  <a:pt x="156656" y="153701"/>
                </a:lnTo>
                <a:cubicBezTo>
                  <a:pt x="161570" y="153701"/>
                  <a:pt x="165524" y="149747"/>
                  <a:pt x="165524" y="144833"/>
                </a:cubicBezTo>
                <a:cubicBezTo>
                  <a:pt x="165524" y="139919"/>
                  <a:pt x="161570" y="135966"/>
                  <a:pt x="156656" y="135966"/>
                </a:cubicBezTo>
                <a:lnTo>
                  <a:pt x="67983" y="135966"/>
                </a:lnTo>
                <a:close/>
                <a:moveTo>
                  <a:pt x="59116" y="109364"/>
                </a:moveTo>
                <a:cubicBezTo>
                  <a:pt x="59116" y="114278"/>
                  <a:pt x="63069" y="118231"/>
                  <a:pt x="67983" y="118231"/>
                </a:cubicBezTo>
                <a:lnTo>
                  <a:pt x="156656" y="118231"/>
                </a:lnTo>
                <a:cubicBezTo>
                  <a:pt x="161570" y="118231"/>
                  <a:pt x="165524" y="114278"/>
                  <a:pt x="165524" y="109364"/>
                </a:cubicBezTo>
                <a:cubicBezTo>
                  <a:pt x="165524" y="104450"/>
                  <a:pt x="161570" y="100497"/>
                  <a:pt x="156656" y="100497"/>
                </a:cubicBezTo>
                <a:lnTo>
                  <a:pt x="67983" y="100497"/>
                </a:lnTo>
                <a:cubicBezTo>
                  <a:pt x="63069" y="100497"/>
                  <a:pt x="59116" y="104450"/>
                  <a:pt x="59116" y="109364"/>
                </a:cubicBezTo>
                <a:close/>
                <a:moveTo>
                  <a:pt x="133010" y="65027"/>
                </a:moveTo>
                <a:cubicBezTo>
                  <a:pt x="128096" y="65027"/>
                  <a:pt x="124143" y="68981"/>
                  <a:pt x="124143" y="73894"/>
                </a:cubicBezTo>
                <a:cubicBezTo>
                  <a:pt x="124143" y="78808"/>
                  <a:pt x="128096" y="82762"/>
                  <a:pt x="133010" y="82762"/>
                </a:cubicBezTo>
                <a:lnTo>
                  <a:pt x="156656" y="82762"/>
                </a:lnTo>
                <a:cubicBezTo>
                  <a:pt x="161570" y="82762"/>
                  <a:pt x="165524" y="78808"/>
                  <a:pt x="165524" y="73894"/>
                </a:cubicBezTo>
                <a:cubicBezTo>
                  <a:pt x="165524" y="68981"/>
                  <a:pt x="161570" y="65027"/>
                  <a:pt x="156656" y="65027"/>
                </a:cubicBezTo>
                <a:lnTo>
                  <a:pt x="133010" y="6502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8" name="Text 26"/>
          <p:cNvSpPr/>
          <p:nvPr/>
        </p:nvSpPr>
        <p:spPr>
          <a:xfrm>
            <a:off x="6623050" y="2565400"/>
            <a:ext cx="2202815" cy="264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实时资讯生成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9" name="Text 27"/>
          <p:cNvSpPr/>
          <p:nvPr/>
        </p:nvSpPr>
        <p:spPr>
          <a:xfrm>
            <a:off x="6311265" y="2933700"/>
            <a:ext cx="54102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实时接入最新知识库，保证信息的时效性和准确性，辅助生成科技报告、新闻摘要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0" name="Shape 28"/>
          <p:cNvSpPr/>
          <p:nvPr/>
        </p:nvSpPr>
        <p:spPr>
          <a:xfrm>
            <a:off x="6311062" y="3396093"/>
            <a:ext cx="5344050" cy="302672"/>
          </a:xfrm>
          <a:custGeom>
            <a:avLst/>
            <a:gdLst/>
            <a:ahLst/>
            <a:cxnLst/>
            <a:rect l="l" t="t" r="r" b="b"/>
            <a:pathLst>
              <a:path w="5344050" h="302672">
                <a:moveTo>
                  <a:pt x="37834" y="0"/>
                </a:moveTo>
                <a:lnTo>
                  <a:pt x="5306216" y="0"/>
                </a:lnTo>
                <a:cubicBezTo>
                  <a:pt x="5327111" y="0"/>
                  <a:pt x="5344050" y="16939"/>
                  <a:pt x="5344050" y="37834"/>
                </a:cubicBezTo>
                <a:lnTo>
                  <a:pt x="5344050" y="264838"/>
                </a:lnTo>
                <a:cubicBezTo>
                  <a:pt x="5344050" y="285733"/>
                  <a:pt x="5327111" y="302672"/>
                  <a:pt x="5306216" y="302672"/>
                </a:cubicBezTo>
                <a:lnTo>
                  <a:pt x="37834" y="302672"/>
                </a:lnTo>
                <a:cubicBezTo>
                  <a:pt x="16953" y="302672"/>
                  <a:pt x="0" y="285719"/>
                  <a:pt x="0" y="26483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>
              <a:alpha val="20000"/>
            </a:srgbClr>
          </a:solidFill>
          <a:ln>
            <a:solidFill>
              <a:srgbClr val="B10015"/>
            </a:solidFill>
          </a:ln>
        </p:spPr>
      </p:sp>
      <p:sp>
        <p:nvSpPr>
          <p:cNvPr id="51" name="Shape 29"/>
          <p:cNvSpPr/>
          <p:nvPr/>
        </p:nvSpPr>
        <p:spPr>
          <a:xfrm>
            <a:off x="6408012" y="3486896"/>
            <a:ext cx="99314" cy="113502"/>
          </a:xfrm>
          <a:custGeom>
            <a:avLst/>
            <a:gdLst/>
            <a:ahLst/>
            <a:cxnLst/>
            <a:rect l="l" t="t" r="r" b="b"/>
            <a:pathLst>
              <a:path w="99314" h="113502">
                <a:moveTo>
                  <a:pt x="96388" y="15540"/>
                </a:moveTo>
                <a:cubicBezTo>
                  <a:pt x="99558" y="17846"/>
                  <a:pt x="100267" y="22279"/>
                  <a:pt x="97962" y="25449"/>
                </a:cubicBezTo>
                <a:lnTo>
                  <a:pt x="41211" y="103482"/>
                </a:lnTo>
                <a:cubicBezTo>
                  <a:pt x="39992" y="105167"/>
                  <a:pt x="38107" y="106209"/>
                  <a:pt x="36024" y="106386"/>
                </a:cubicBezTo>
                <a:cubicBezTo>
                  <a:pt x="33940" y="106563"/>
                  <a:pt x="31922" y="105787"/>
                  <a:pt x="30459" y="104324"/>
                </a:cubicBezTo>
                <a:lnTo>
                  <a:pt x="2084" y="75949"/>
                </a:lnTo>
                <a:cubicBezTo>
                  <a:pt x="-687" y="73178"/>
                  <a:pt x="-687" y="68678"/>
                  <a:pt x="2084" y="65906"/>
                </a:cubicBezTo>
                <a:cubicBezTo>
                  <a:pt x="4855" y="63135"/>
                  <a:pt x="9355" y="63135"/>
                  <a:pt x="12126" y="65906"/>
                </a:cubicBezTo>
                <a:lnTo>
                  <a:pt x="34627" y="88407"/>
                </a:lnTo>
                <a:lnTo>
                  <a:pt x="86501" y="17092"/>
                </a:lnTo>
                <a:cubicBezTo>
                  <a:pt x="88806" y="13922"/>
                  <a:pt x="93240" y="13212"/>
                  <a:pt x="96410" y="1551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2" name="Text 30"/>
          <p:cNvSpPr/>
          <p:nvPr/>
        </p:nvSpPr>
        <p:spPr>
          <a:xfrm>
            <a:off x="6556785" y="3471761"/>
            <a:ext cx="5079410" cy="151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应用场景：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新闻摘要、市场分析、舆情监测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Shape 31"/>
          <p:cNvSpPr/>
          <p:nvPr/>
        </p:nvSpPr>
        <p:spPr>
          <a:xfrm>
            <a:off x="382123" y="3906256"/>
            <a:ext cx="11423970" cy="2693779"/>
          </a:xfrm>
          <a:custGeom>
            <a:avLst/>
            <a:gdLst/>
            <a:ahLst/>
            <a:cxnLst/>
            <a:rect l="l" t="t" r="r" b="b"/>
            <a:pathLst>
              <a:path w="11423970" h="2693779">
                <a:moveTo>
                  <a:pt x="75668" y="0"/>
                </a:moveTo>
                <a:lnTo>
                  <a:pt x="11348302" y="0"/>
                </a:lnTo>
                <a:cubicBezTo>
                  <a:pt x="11390092" y="0"/>
                  <a:pt x="11423970" y="33878"/>
                  <a:pt x="11423970" y="75668"/>
                </a:cubicBezTo>
                <a:lnTo>
                  <a:pt x="11423970" y="2618111"/>
                </a:lnTo>
                <a:cubicBezTo>
                  <a:pt x="11423970" y="2659902"/>
                  <a:pt x="11390092" y="2693779"/>
                  <a:pt x="11348302" y="2693779"/>
                </a:cubicBezTo>
                <a:lnTo>
                  <a:pt x="75668" y="2693779"/>
                </a:lnTo>
                <a:cubicBezTo>
                  <a:pt x="33878" y="2693779"/>
                  <a:pt x="0" y="2659902"/>
                  <a:pt x="0" y="2618111"/>
                </a:cubicBezTo>
                <a:lnTo>
                  <a:pt x="0" y="75668"/>
                </a:lnTo>
                <a:cubicBezTo>
                  <a:pt x="0" y="33906"/>
                  <a:pt x="33906" y="0"/>
                  <a:pt x="75668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4" name="Shape 32"/>
          <p:cNvSpPr/>
          <p:nvPr/>
        </p:nvSpPr>
        <p:spPr>
          <a:xfrm>
            <a:off x="549066" y="4099212"/>
            <a:ext cx="212816" cy="189170"/>
          </a:xfrm>
          <a:custGeom>
            <a:avLst/>
            <a:gdLst/>
            <a:ahLst/>
            <a:cxnLst/>
            <a:rect l="l" t="t" r="r" b="b"/>
            <a:pathLst>
              <a:path w="212816" h="189170">
                <a:moveTo>
                  <a:pt x="114352" y="-6983"/>
                </a:moveTo>
                <a:cubicBezTo>
                  <a:pt x="112837" y="-9939"/>
                  <a:pt x="109770" y="-11823"/>
                  <a:pt x="106445" y="-11823"/>
                </a:cubicBezTo>
                <a:cubicBezTo>
                  <a:pt x="103120" y="-11823"/>
                  <a:pt x="100053" y="-9939"/>
                  <a:pt x="98538" y="-6983"/>
                </a:cubicBezTo>
                <a:lnTo>
                  <a:pt x="71345" y="46295"/>
                </a:lnTo>
                <a:lnTo>
                  <a:pt x="12266" y="55679"/>
                </a:lnTo>
                <a:cubicBezTo>
                  <a:pt x="8978" y="56197"/>
                  <a:pt x="6244" y="58524"/>
                  <a:pt x="5210" y="61702"/>
                </a:cubicBezTo>
                <a:cubicBezTo>
                  <a:pt x="4175" y="64879"/>
                  <a:pt x="5025" y="68352"/>
                  <a:pt x="7353" y="70717"/>
                </a:cubicBezTo>
                <a:lnTo>
                  <a:pt x="49620" y="113022"/>
                </a:lnTo>
                <a:lnTo>
                  <a:pt x="40309" y="172100"/>
                </a:lnTo>
                <a:cubicBezTo>
                  <a:pt x="39792" y="175389"/>
                  <a:pt x="41159" y="178714"/>
                  <a:pt x="43856" y="180672"/>
                </a:cubicBezTo>
                <a:cubicBezTo>
                  <a:pt x="46554" y="182630"/>
                  <a:pt x="50100" y="182926"/>
                  <a:pt x="53093" y="181411"/>
                </a:cubicBezTo>
                <a:lnTo>
                  <a:pt x="106445" y="154292"/>
                </a:lnTo>
                <a:lnTo>
                  <a:pt x="159760" y="181411"/>
                </a:lnTo>
                <a:cubicBezTo>
                  <a:pt x="162716" y="182926"/>
                  <a:pt x="166300" y="182630"/>
                  <a:pt x="168997" y="180672"/>
                </a:cubicBezTo>
                <a:cubicBezTo>
                  <a:pt x="171694" y="178714"/>
                  <a:pt x="173061" y="175426"/>
                  <a:pt x="172544" y="172100"/>
                </a:cubicBezTo>
                <a:lnTo>
                  <a:pt x="163196" y="113022"/>
                </a:lnTo>
                <a:lnTo>
                  <a:pt x="205464" y="70717"/>
                </a:lnTo>
                <a:cubicBezTo>
                  <a:pt x="207828" y="68352"/>
                  <a:pt x="208641" y="64879"/>
                  <a:pt x="207607" y="61702"/>
                </a:cubicBezTo>
                <a:cubicBezTo>
                  <a:pt x="206572" y="58524"/>
                  <a:pt x="203875" y="56197"/>
                  <a:pt x="200550" y="55679"/>
                </a:cubicBezTo>
                <a:lnTo>
                  <a:pt x="141508" y="46295"/>
                </a:lnTo>
                <a:lnTo>
                  <a:pt x="114352" y="-698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5" name="Text 33"/>
          <p:cNvSpPr/>
          <p:nvPr/>
        </p:nvSpPr>
        <p:spPr>
          <a:xfrm>
            <a:off x="773705" y="4061378"/>
            <a:ext cx="10971854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标杆企业案例与量化效果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6" name="Shape 34"/>
          <p:cNvSpPr/>
          <p:nvPr/>
        </p:nvSpPr>
        <p:spPr>
          <a:xfrm>
            <a:off x="556159" y="4439718"/>
            <a:ext cx="3613145" cy="945849"/>
          </a:xfrm>
          <a:custGeom>
            <a:avLst/>
            <a:gdLst/>
            <a:ahLst/>
            <a:cxnLst/>
            <a:rect l="l" t="t" r="r" b="b"/>
            <a:pathLst>
              <a:path w="3613145" h="945849">
                <a:moveTo>
                  <a:pt x="37834" y="0"/>
                </a:moveTo>
                <a:lnTo>
                  <a:pt x="3537477" y="0"/>
                </a:lnTo>
                <a:cubicBezTo>
                  <a:pt x="3579267" y="0"/>
                  <a:pt x="3613145" y="33878"/>
                  <a:pt x="3613145" y="75668"/>
                </a:cubicBezTo>
                <a:lnTo>
                  <a:pt x="3613145" y="870182"/>
                </a:lnTo>
                <a:cubicBezTo>
                  <a:pt x="3613145" y="911944"/>
                  <a:pt x="3579239" y="945849"/>
                  <a:pt x="3537477" y="945849"/>
                </a:cubicBez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7" name="Shape 35"/>
          <p:cNvSpPr/>
          <p:nvPr/>
        </p:nvSpPr>
        <p:spPr>
          <a:xfrm>
            <a:off x="556159" y="4439718"/>
            <a:ext cx="37834" cy="945849"/>
          </a:xfrm>
          <a:custGeom>
            <a:avLst/>
            <a:gdLst/>
            <a:ahLst/>
            <a:cxnLst/>
            <a:rect l="l" t="t" r="r" b="b"/>
            <a:pathLst>
              <a:path w="37834" h="945849">
                <a:moveTo>
                  <a:pt x="37834" y="0"/>
                </a:moveTo>
                <a:lnTo>
                  <a:pt x="37834" y="0"/>
                </a:lnTo>
                <a:lnTo>
                  <a:pt x="37834" y="945849"/>
                </a:ln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8" name="Shape 36"/>
          <p:cNvSpPr/>
          <p:nvPr/>
        </p:nvSpPr>
        <p:spPr>
          <a:xfrm>
            <a:off x="707495" y="4591054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9458" y="9458"/>
                </a:moveTo>
                <a:cubicBezTo>
                  <a:pt x="4227" y="9458"/>
                  <a:pt x="0" y="13685"/>
                  <a:pt x="0" y="18917"/>
                </a:cubicBezTo>
                <a:lnTo>
                  <a:pt x="0" y="127690"/>
                </a:lnTo>
                <a:cubicBezTo>
                  <a:pt x="0" y="135522"/>
                  <a:pt x="6355" y="141877"/>
                  <a:pt x="14188" y="141877"/>
                </a:cubicBezTo>
                <a:lnTo>
                  <a:pt x="137148" y="141877"/>
                </a:lnTo>
                <a:cubicBezTo>
                  <a:pt x="144981" y="141877"/>
                  <a:pt x="151336" y="135522"/>
                  <a:pt x="151336" y="127690"/>
                </a:cubicBezTo>
                <a:lnTo>
                  <a:pt x="151336" y="44987"/>
                </a:lnTo>
                <a:cubicBezTo>
                  <a:pt x="151336" y="39607"/>
                  <a:pt x="145602" y="36208"/>
                  <a:pt x="140872" y="38750"/>
                </a:cubicBezTo>
                <a:lnTo>
                  <a:pt x="94585" y="63667"/>
                </a:lnTo>
                <a:lnTo>
                  <a:pt x="94585" y="44987"/>
                </a:lnTo>
                <a:cubicBezTo>
                  <a:pt x="94585" y="39607"/>
                  <a:pt x="88851" y="36208"/>
                  <a:pt x="84121" y="38750"/>
                </a:cubicBezTo>
                <a:lnTo>
                  <a:pt x="37834" y="63667"/>
                </a:lnTo>
                <a:lnTo>
                  <a:pt x="37834" y="18917"/>
                </a:lnTo>
                <a:cubicBezTo>
                  <a:pt x="37834" y="13685"/>
                  <a:pt x="33607" y="9458"/>
                  <a:pt x="28375" y="9458"/>
                </a:cubicBezTo>
                <a:lnTo>
                  <a:pt x="9458" y="945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9" name="Text 37"/>
          <p:cNvSpPr/>
          <p:nvPr/>
        </p:nvSpPr>
        <p:spPr>
          <a:xfrm>
            <a:off x="953135" y="4552950"/>
            <a:ext cx="1137285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Siemens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0" name="Text 38"/>
          <p:cNvSpPr/>
          <p:nvPr/>
        </p:nvSpPr>
        <p:spPr>
          <a:xfrm>
            <a:off x="688578" y="4855892"/>
            <a:ext cx="343343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知识管理平台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1" name="Shape 39"/>
          <p:cNvSpPr/>
          <p:nvPr/>
        </p:nvSpPr>
        <p:spPr>
          <a:xfrm>
            <a:off x="716954" y="5139527"/>
            <a:ext cx="85126" cy="113502"/>
          </a:xfrm>
          <a:custGeom>
            <a:avLst/>
            <a:gdLst/>
            <a:ahLst/>
            <a:cxnLst/>
            <a:rect l="l" t="t" r="r" b="b"/>
            <a:pathLst>
              <a:path w="85126" h="113502">
                <a:moveTo>
                  <a:pt x="47573" y="3857"/>
                </a:moveTo>
                <a:cubicBezTo>
                  <a:pt x="44802" y="1086"/>
                  <a:pt x="40302" y="1086"/>
                  <a:pt x="37531" y="3857"/>
                </a:cubicBezTo>
                <a:lnTo>
                  <a:pt x="2062" y="39327"/>
                </a:lnTo>
                <a:cubicBezTo>
                  <a:pt x="-709" y="42098"/>
                  <a:pt x="-709" y="46598"/>
                  <a:pt x="2062" y="49369"/>
                </a:cubicBezTo>
                <a:cubicBezTo>
                  <a:pt x="4833" y="52140"/>
                  <a:pt x="9333" y="52140"/>
                  <a:pt x="12104" y="49369"/>
                </a:cubicBezTo>
                <a:lnTo>
                  <a:pt x="35469" y="26003"/>
                </a:lnTo>
                <a:lnTo>
                  <a:pt x="35469" y="108182"/>
                </a:lnTo>
                <a:cubicBezTo>
                  <a:pt x="35469" y="112105"/>
                  <a:pt x="38639" y="115275"/>
                  <a:pt x="42563" y="115275"/>
                </a:cubicBezTo>
                <a:cubicBezTo>
                  <a:pt x="46487" y="115275"/>
                  <a:pt x="49657" y="112105"/>
                  <a:pt x="49657" y="108182"/>
                </a:cubicBezTo>
                <a:lnTo>
                  <a:pt x="49657" y="26003"/>
                </a:lnTo>
                <a:lnTo>
                  <a:pt x="73023" y="49369"/>
                </a:lnTo>
                <a:cubicBezTo>
                  <a:pt x="75794" y="52140"/>
                  <a:pt x="80294" y="52140"/>
                  <a:pt x="83065" y="49369"/>
                </a:cubicBezTo>
                <a:cubicBezTo>
                  <a:pt x="85836" y="46598"/>
                  <a:pt x="85836" y="42098"/>
                  <a:pt x="83065" y="39327"/>
                </a:cubicBezTo>
                <a:lnTo>
                  <a:pt x="47595" y="385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2" name="Text 40"/>
          <p:cNvSpPr/>
          <p:nvPr/>
        </p:nvSpPr>
        <p:spPr>
          <a:xfrm>
            <a:off x="906145" y="5120640"/>
            <a:ext cx="1295400" cy="151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响应时间 ↓ 40%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hape 41"/>
          <p:cNvSpPr/>
          <p:nvPr/>
        </p:nvSpPr>
        <p:spPr>
          <a:xfrm>
            <a:off x="4299477" y="4439718"/>
            <a:ext cx="3613145" cy="945849"/>
          </a:xfrm>
          <a:custGeom>
            <a:avLst/>
            <a:gdLst/>
            <a:ahLst/>
            <a:cxnLst/>
            <a:rect l="l" t="t" r="r" b="b"/>
            <a:pathLst>
              <a:path w="3613145" h="945849">
                <a:moveTo>
                  <a:pt x="37834" y="0"/>
                </a:moveTo>
                <a:lnTo>
                  <a:pt x="3537477" y="0"/>
                </a:lnTo>
                <a:cubicBezTo>
                  <a:pt x="3579267" y="0"/>
                  <a:pt x="3613145" y="33878"/>
                  <a:pt x="3613145" y="75668"/>
                </a:cubicBezTo>
                <a:lnTo>
                  <a:pt x="3613145" y="870182"/>
                </a:lnTo>
                <a:cubicBezTo>
                  <a:pt x="3613145" y="911944"/>
                  <a:pt x="3579239" y="945849"/>
                  <a:pt x="3537477" y="945849"/>
                </a:cubicBez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64" name="Shape 42"/>
          <p:cNvSpPr/>
          <p:nvPr/>
        </p:nvSpPr>
        <p:spPr>
          <a:xfrm>
            <a:off x="4299477" y="4439718"/>
            <a:ext cx="37834" cy="945849"/>
          </a:xfrm>
          <a:custGeom>
            <a:avLst/>
            <a:gdLst/>
            <a:ahLst/>
            <a:cxnLst/>
            <a:rect l="l" t="t" r="r" b="b"/>
            <a:pathLst>
              <a:path w="37834" h="945849">
                <a:moveTo>
                  <a:pt x="37834" y="0"/>
                </a:moveTo>
                <a:lnTo>
                  <a:pt x="37834" y="0"/>
                </a:lnTo>
                <a:lnTo>
                  <a:pt x="37834" y="945849"/>
                </a:ln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5" name="Shape 43"/>
          <p:cNvSpPr/>
          <p:nvPr/>
        </p:nvSpPr>
        <p:spPr>
          <a:xfrm>
            <a:off x="4450813" y="4591054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80368" y="5971"/>
                </a:moveTo>
                <a:cubicBezTo>
                  <a:pt x="77471" y="4315"/>
                  <a:pt x="73894" y="4315"/>
                  <a:pt x="70968" y="5971"/>
                </a:cubicBezTo>
                <a:lnTo>
                  <a:pt x="4759" y="43805"/>
                </a:lnTo>
                <a:cubicBezTo>
                  <a:pt x="1035" y="45933"/>
                  <a:pt x="-798" y="50307"/>
                  <a:pt x="296" y="54445"/>
                </a:cubicBezTo>
                <a:cubicBezTo>
                  <a:pt x="1389" y="58584"/>
                  <a:pt x="5173" y="61480"/>
                  <a:pt x="9458" y="61480"/>
                </a:cubicBezTo>
                <a:lnTo>
                  <a:pt x="18917" y="61480"/>
                </a:lnTo>
                <a:lnTo>
                  <a:pt x="18917" y="122960"/>
                </a:lnTo>
                <a:lnTo>
                  <a:pt x="18917" y="122960"/>
                </a:lnTo>
                <a:lnTo>
                  <a:pt x="3783" y="134311"/>
                </a:lnTo>
                <a:cubicBezTo>
                  <a:pt x="1389" y="136084"/>
                  <a:pt x="0" y="138892"/>
                  <a:pt x="0" y="141877"/>
                </a:cubicBezTo>
                <a:cubicBezTo>
                  <a:pt x="0" y="147109"/>
                  <a:pt x="4227" y="151336"/>
                  <a:pt x="9458" y="151336"/>
                </a:cubicBezTo>
                <a:lnTo>
                  <a:pt x="141877" y="151336"/>
                </a:lnTo>
                <a:cubicBezTo>
                  <a:pt x="147109" y="151336"/>
                  <a:pt x="151336" y="147109"/>
                  <a:pt x="151336" y="141877"/>
                </a:cubicBezTo>
                <a:cubicBezTo>
                  <a:pt x="151336" y="138892"/>
                  <a:pt x="149947" y="136084"/>
                  <a:pt x="147553" y="134311"/>
                </a:cubicBezTo>
                <a:lnTo>
                  <a:pt x="132419" y="122960"/>
                </a:lnTo>
                <a:lnTo>
                  <a:pt x="132419" y="61480"/>
                </a:lnTo>
                <a:lnTo>
                  <a:pt x="141877" y="61480"/>
                </a:lnTo>
                <a:cubicBezTo>
                  <a:pt x="146163" y="61480"/>
                  <a:pt x="149917" y="58584"/>
                  <a:pt x="151011" y="54445"/>
                </a:cubicBezTo>
                <a:cubicBezTo>
                  <a:pt x="152104" y="50307"/>
                  <a:pt x="150272" y="45933"/>
                  <a:pt x="146548" y="43805"/>
                </a:cubicBezTo>
                <a:lnTo>
                  <a:pt x="80338" y="5971"/>
                </a:lnTo>
                <a:close/>
                <a:moveTo>
                  <a:pt x="118231" y="61480"/>
                </a:moveTo>
                <a:lnTo>
                  <a:pt x="118231" y="122960"/>
                </a:lnTo>
                <a:lnTo>
                  <a:pt x="99314" y="122960"/>
                </a:lnTo>
                <a:lnTo>
                  <a:pt x="99314" y="61480"/>
                </a:lnTo>
                <a:lnTo>
                  <a:pt x="118231" y="61480"/>
                </a:lnTo>
                <a:close/>
                <a:moveTo>
                  <a:pt x="85126" y="61480"/>
                </a:moveTo>
                <a:lnTo>
                  <a:pt x="85126" y="122960"/>
                </a:lnTo>
                <a:lnTo>
                  <a:pt x="66209" y="122960"/>
                </a:lnTo>
                <a:lnTo>
                  <a:pt x="66209" y="61480"/>
                </a:lnTo>
                <a:lnTo>
                  <a:pt x="85126" y="61480"/>
                </a:lnTo>
                <a:close/>
                <a:moveTo>
                  <a:pt x="52022" y="61480"/>
                </a:moveTo>
                <a:lnTo>
                  <a:pt x="52022" y="122960"/>
                </a:lnTo>
                <a:lnTo>
                  <a:pt x="33105" y="122960"/>
                </a:lnTo>
                <a:lnTo>
                  <a:pt x="33105" y="61480"/>
                </a:lnTo>
                <a:lnTo>
                  <a:pt x="52022" y="61480"/>
                </a:lnTo>
                <a:close/>
                <a:moveTo>
                  <a:pt x="75668" y="28375"/>
                </a:moveTo>
                <a:cubicBezTo>
                  <a:pt x="80888" y="28375"/>
                  <a:pt x="85126" y="32614"/>
                  <a:pt x="85126" y="37834"/>
                </a:cubicBezTo>
                <a:cubicBezTo>
                  <a:pt x="85126" y="43054"/>
                  <a:pt x="80888" y="47292"/>
                  <a:pt x="75668" y="47292"/>
                </a:cubicBezTo>
                <a:cubicBezTo>
                  <a:pt x="70448" y="47292"/>
                  <a:pt x="66209" y="43054"/>
                  <a:pt x="66209" y="37834"/>
                </a:cubicBezTo>
                <a:cubicBezTo>
                  <a:pt x="66209" y="32614"/>
                  <a:pt x="70448" y="28375"/>
                  <a:pt x="75668" y="2837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6" name="Text 44"/>
          <p:cNvSpPr/>
          <p:nvPr/>
        </p:nvSpPr>
        <p:spPr>
          <a:xfrm>
            <a:off x="4696460" y="4552950"/>
            <a:ext cx="1860550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Morgan Stanley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7" name="Text 45"/>
          <p:cNvSpPr/>
          <p:nvPr/>
        </p:nvSpPr>
        <p:spPr>
          <a:xfrm>
            <a:off x="4431896" y="4855892"/>
            <a:ext cx="343343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财富管理RAG系统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Shape 46"/>
          <p:cNvSpPr/>
          <p:nvPr/>
        </p:nvSpPr>
        <p:spPr>
          <a:xfrm>
            <a:off x="4460272" y="5139527"/>
            <a:ext cx="85126" cy="113502"/>
          </a:xfrm>
          <a:custGeom>
            <a:avLst/>
            <a:gdLst/>
            <a:ahLst/>
            <a:cxnLst/>
            <a:rect l="l" t="t" r="r" b="b"/>
            <a:pathLst>
              <a:path w="85126" h="113502">
                <a:moveTo>
                  <a:pt x="47573" y="3857"/>
                </a:moveTo>
                <a:cubicBezTo>
                  <a:pt x="44802" y="1086"/>
                  <a:pt x="40302" y="1086"/>
                  <a:pt x="37531" y="3857"/>
                </a:cubicBezTo>
                <a:lnTo>
                  <a:pt x="2062" y="39327"/>
                </a:lnTo>
                <a:cubicBezTo>
                  <a:pt x="-709" y="42098"/>
                  <a:pt x="-709" y="46598"/>
                  <a:pt x="2062" y="49369"/>
                </a:cubicBezTo>
                <a:cubicBezTo>
                  <a:pt x="4833" y="52140"/>
                  <a:pt x="9333" y="52140"/>
                  <a:pt x="12104" y="49369"/>
                </a:cubicBezTo>
                <a:lnTo>
                  <a:pt x="35469" y="26003"/>
                </a:lnTo>
                <a:lnTo>
                  <a:pt x="35469" y="108182"/>
                </a:lnTo>
                <a:cubicBezTo>
                  <a:pt x="35469" y="112105"/>
                  <a:pt x="38639" y="115275"/>
                  <a:pt x="42563" y="115275"/>
                </a:cubicBezTo>
                <a:cubicBezTo>
                  <a:pt x="46487" y="115275"/>
                  <a:pt x="49657" y="112105"/>
                  <a:pt x="49657" y="108182"/>
                </a:cubicBezTo>
                <a:lnTo>
                  <a:pt x="49657" y="26003"/>
                </a:lnTo>
                <a:lnTo>
                  <a:pt x="73023" y="49369"/>
                </a:lnTo>
                <a:cubicBezTo>
                  <a:pt x="75794" y="52140"/>
                  <a:pt x="80294" y="52140"/>
                  <a:pt x="83065" y="49369"/>
                </a:cubicBezTo>
                <a:cubicBezTo>
                  <a:pt x="85836" y="46598"/>
                  <a:pt x="85836" y="42098"/>
                  <a:pt x="83065" y="39327"/>
                </a:cubicBezTo>
                <a:lnTo>
                  <a:pt x="47595" y="385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9" name="Text 47"/>
          <p:cNvSpPr/>
          <p:nvPr/>
        </p:nvSpPr>
        <p:spPr>
          <a:xfrm>
            <a:off x="4649470" y="5120640"/>
            <a:ext cx="1297940" cy="151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顾问效率 ↑ 35%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Shape 48"/>
          <p:cNvSpPr/>
          <p:nvPr/>
        </p:nvSpPr>
        <p:spPr>
          <a:xfrm>
            <a:off x="8042795" y="4439718"/>
            <a:ext cx="3613145" cy="945849"/>
          </a:xfrm>
          <a:custGeom>
            <a:avLst/>
            <a:gdLst/>
            <a:ahLst/>
            <a:cxnLst/>
            <a:rect l="l" t="t" r="r" b="b"/>
            <a:pathLst>
              <a:path w="3613145" h="945849">
                <a:moveTo>
                  <a:pt x="37834" y="0"/>
                </a:moveTo>
                <a:lnTo>
                  <a:pt x="3537477" y="0"/>
                </a:lnTo>
                <a:cubicBezTo>
                  <a:pt x="3579267" y="0"/>
                  <a:pt x="3613145" y="33878"/>
                  <a:pt x="3613145" y="75668"/>
                </a:cubicBezTo>
                <a:lnTo>
                  <a:pt x="3613145" y="870182"/>
                </a:lnTo>
                <a:cubicBezTo>
                  <a:pt x="3613145" y="911944"/>
                  <a:pt x="3579239" y="945849"/>
                  <a:pt x="3537477" y="945849"/>
                </a:cubicBez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1" name="Shape 49"/>
          <p:cNvSpPr/>
          <p:nvPr/>
        </p:nvSpPr>
        <p:spPr>
          <a:xfrm>
            <a:off x="8042795" y="4439718"/>
            <a:ext cx="37834" cy="945849"/>
          </a:xfrm>
          <a:custGeom>
            <a:avLst/>
            <a:gdLst/>
            <a:ahLst/>
            <a:cxnLst/>
            <a:rect l="l" t="t" r="r" b="b"/>
            <a:pathLst>
              <a:path w="37834" h="945849">
                <a:moveTo>
                  <a:pt x="37834" y="0"/>
                </a:moveTo>
                <a:lnTo>
                  <a:pt x="37834" y="0"/>
                </a:lnTo>
                <a:lnTo>
                  <a:pt x="37834" y="945849"/>
                </a:ln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2" name="Shape 50"/>
          <p:cNvSpPr/>
          <p:nvPr/>
        </p:nvSpPr>
        <p:spPr>
          <a:xfrm>
            <a:off x="8175214" y="4591054"/>
            <a:ext cx="189170" cy="151336"/>
          </a:xfrm>
          <a:custGeom>
            <a:avLst/>
            <a:gdLst/>
            <a:ahLst/>
            <a:cxnLst/>
            <a:rect l="l" t="t" r="r" b="b"/>
            <a:pathLst>
              <a:path w="189170" h="151336">
                <a:moveTo>
                  <a:pt x="7094" y="-4729"/>
                </a:moveTo>
                <a:cubicBezTo>
                  <a:pt x="3163" y="-4729"/>
                  <a:pt x="0" y="-1567"/>
                  <a:pt x="0" y="2365"/>
                </a:cubicBezTo>
                <a:cubicBezTo>
                  <a:pt x="0" y="6296"/>
                  <a:pt x="3163" y="9458"/>
                  <a:pt x="7094" y="9458"/>
                </a:cubicBezTo>
                <a:lnTo>
                  <a:pt x="20484" y="9458"/>
                </a:lnTo>
                <a:cubicBezTo>
                  <a:pt x="21636" y="9458"/>
                  <a:pt x="22612" y="10286"/>
                  <a:pt x="22819" y="11409"/>
                </a:cubicBezTo>
                <a:lnTo>
                  <a:pt x="38218" y="96033"/>
                </a:lnTo>
                <a:cubicBezTo>
                  <a:pt x="40051" y="106142"/>
                  <a:pt x="48859" y="113502"/>
                  <a:pt x="59145" y="113502"/>
                </a:cubicBezTo>
                <a:lnTo>
                  <a:pt x="134784" y="113502"/>
                </a:lnTo>
                <a:cubicBezTo>
                  <a:pt x="138715" y="113502"/>
                  <a:pt x="141877" y="110339"/>
                  <a:pt x="141877" y="106408"/>
                </a:cubicBezTo>
                <a:cubicBezTo>
                  <a:pt x="141877" y="102477"/>
                  <a:pt x="138715" y="99314"/>
                  <a:pt x="134784" y="99314"/>
                </a:cubicBezTo>
                <a:lnTo>
                  <a:pt x="59145" y="99314"/>
                </a:lnTo>
                <a:cubicBezTo>
                  <a:pt x="55716" y="99314"/>
                  <a:pt x="52790" y="96861"/>
                  <a:pt x="52170" y="93491"/>
                </a:cubicBezTo>
                <a:lnTo>
                  <a:pt x="50662" y="85126"/>
                </a:lnTo>
                <a:lnTo>
                  <a:pt x="140400" y="85126"/>
                </a:lnTo>
                <a:cubicBezTo>
                  <a:pt x="149503" y="85126"/>
                  <a:pt x="157307" y="78653"/>
                  <a:pt x="158991" y="69697"/>
                </a:cubicBezTo>
                <a:lnTo>
                  <a:pt x="168154" y="20661"/>
                </a:lnTo>
                <a:cubicBezTo>
                  <a:pt x="169248" y="14838"/>
                  <a:pt x="164785" y="9458"/>
                  <a:pt x="158844" y="9458"/>
                </a:cubicBezTo>
                <a:lnTo>
                  <a:pt x="36859" y="9458"/>
                </a:lnTo>
                <a:lnTo>
                  <a:pt x="36740" y="8867"/>
                </a:lnTo>
                <a:cubicBezTo>
                  <a:pt x="35322" y="1005"/>
                  <a:pt x="28464" y="-4729"/>
                  <a:pt x="20454" y="-4729"/>
                </a:cubicBezTo>
                <a:lnTo>
                  <a:pt x="7094" y="-4729"/>
                </a:lnTo>
                <a:close/>
                <a:moveTo>
                  <a:pt x="61480" y="151336"/>
                </a:moveTo>
                <a:cubicBezTo>
                  <a:pt x="69311" y="151336"/>
                  <a:pt x="75668" y="144979"/>
                  <a:pt x="75668" y="137148"/>
                </a:cubicBezTo>
                <a:cubicBezTo>
                  <a:pt x="75668" y="129318"/>
                  <a:pt x="69311" y="122960"/>
                  <a:pt x="61480" y="122960"/>
                </a:cubicBezTo>
                <a:cubicBezTo>
                  <a:pt x="53650" y="122960"/>
                  <a:pt x="47292" y="129318"/>
                  <a:pt x="47292" y="137148"/>
                </a:cubicBezTo>
                <a:cubicBezTo>
                  <a:pt x="47292" y="144979"/>
                  <a:pt x="53650" y="151336"/>
                  <a:pt x="61480" y="151336"/>
                </a:cubicBezTo>
                <a:close/>
                <a:moveTo>
                  <a:pt x="127690" y="151336"/>
                </a:moveTo>
                <a:cubicBezTo>
                  <a:pt x="135520" y="151336"/>
                  <a:pt x="141877" y="144979"/>
                  <a:pt x="141877" y="137148"/>
                </a:cubicBezTo>
                <a:cubicBezTo>
                  <a:pt x="141877" y="129318"/>
                  <a:pt x="135520" y="122960"/>
                  <a:pt x="127690" y="122960"/>
                </a:cubicBezTo>
                <a:cubicBezTo>
                  <a:pt x="119859" y="122960"/>
                  <a:pt x="113502" y="129318"/>
                  <a:pt x="113502" y="137148"/>
                </a:cubicBezTo>
                <a:cubicBezTo>
                  <a:pt x="113502" y="144979"/>
                  <a:pt x="119859" y="151336"/>
                  <a:pt x="127690" y="15133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3" name="Text 51"/>
          <p:cNvSpPr/>
          <p:nvPr/>
        </p:nvSpPr>
        <p:spPr>
          <a:xfrm>
            <a:off x="8439785" y="4552950"/>
            <a:ext cx="1330325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Amazon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4" name="Text 52"/>
          <p:cNvSpPr/>
          <p:nvPr/>
        </p:nvSpPr>
        <p:spPr>
          <a:xfrm>
            <a:off x="8175214" y="4855892"/>
            <a:ext cx="343343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电商推荐引擎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5" name="Shape 53"/>
          <p:cNvSpPr/>
          <p:nvPr/>
        </p:nvSpPr>
        <p:spPr>
          <a:xfrm>
            <a:off x="8203589" y="5139527"/>
            <a:ext cx="85126" cy="113502"/>
          </a:xfrm>
          <a:custGeom>
            <a:avLst/>
            <a:gdLst/>
            <a:ahLst/>
            <a:cxnLst/>
            <a:rect l="l" t="t" r="r" b="b"/>
            <a:pathLst>
              <a:path w="85126" h="113502">
                <a:moveTo>
                  <a:pt x="47573" y="3857"/>
                </a:moveTo>
                <a:cubicBezTo>
                  <a:pt x="44802" y="1086"/>
                  <a:pt x="40302" y="1086"/>
                  <a:pt x="37531" y="3857"/>
                </a:cubicBezTo>
                <a:lnTo>
                  <a:pt x="2062" y="39327"/>
                </a:lnTo>
                <a:cubicBezTo>
                  <a:pt x="-709" y="42098"/>
                  <a:pt x="-709" y="46598"/>
                  <a:pt x="2062" y="49369"/>
                </a:cubicBezTo>
                <a:cubicBezTo>
                  <a:pt x="4833" y="52140"/>
                  <a:pt x="9333" y="52140"/>
                  <a:pt x="12104" y="49369"/>
                </a:cubicBezTo>
                <a:lnTo>
                  <a:pt x="35469" y="26003"/>
                </a:lnTo>
                <a:lnTo>
                  <a:pt x="35469" y="108182"/>
                </a:lnTo>
                <a:cubicBezTo>
                  <a:pt x="35469" y="112105"/>
                  <a:pt x="38639" y="115275"/>
                  <a:pt x="42563" y="115275"/>
                </a:cubicBezTo>
                <a:cubicBezTo>
                  <a:pt x="46487" y="115275"/>
                  <a:pt x="49657" y="112105"/>
                  <a:pt x="49657" y="108182"/>
                </a:cubicBezTo>
                <a:lnTo>
                  <a:pt x="49657" y="26003"/>
                </a:lnTo>
                <a:lnTo>
                  <a:pt x="73023" y="49369"/>
                </a:lnTo>
                <a:cubicBezTo>
                  <a:pt x="75794" y="52140"/>
                  <a:pt x="80294" y="52140"/>
                  <a:pt x="83065" y="49369"/>
                </a:cubicBezTo>
                <a:cubicBezTo>
                  <a:pt x="85836" y="46598"/>
                  <a:pt x="85836" y="42098"/>
                  <a:pt x="83065" y="39327"/>
                </a:cubicBezTo>
                <a:lnTo>
                  <a:pt x="47595" y="385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6" name="Text 54"/>
          <p:cNvSpPr/>
          <p:nvPr/>
        </p:nvSpPr>
        <p:spPr>
          <a:xfrm>
            <a:off x="8392795" y="5120640"/>
            <a:ext cx="1065530" cy="151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转化率 ↑ 25%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Shape 55"/>
          <p:cNvSpPr/>
          <p:nvPr/>
        </p:nvSpPr>
        <p:spPr>
          <a:xfrm>
            <a:off x="556159" y="5498949"/>
            <a:ext cx="3613145" cy="945849"/>
          </a:xfrm>
          <a:custGeom>
            <a:avLst/>
            <a:gdLst/>
            <a:ahLst/>
            <a:cxnLst/>
            <a:rect l="l" t="t" r="r" b="b"/>
            <a:pathLst>
              <a:path w="3613145" h="945849">
                <a:moveTo>
                  <a:pt x="37834" y="0"/>
                </a:moveTo>
                <a:lnTo>
                  <a:pt x="3537477" y="0"/>
                </a:lnTo>
                <a:cubicBezTo>
                  <a:pt x="3579267" y="0"/>
                  <a:pt x="3613145" y="33878"/>
                  <a:pt x="3613145" y="75668"/>
                </a:cubicBezTo>
                <a:lnTo>
                  <a:pt x="3613145" y="870182"/>
                </a:lnTo>
                <a:cubicBezTo>
                  <a:pt x="3613145" y="911944"/>
                  <a:pt x="3579239" y="945849"/>
                  <a:pt x="3537477" y="945849"/>
                </a:cubicBez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8" name="Shape 56"/>
          <p:cNvSpPr/>
          <p:nvPr/>
        </p:nvSpPr>
        <p:spPr>
          <a:xfrm>
            <a:off x="556159" y="5498949"/>
            <a:ext cx="37834" cy="945849"/>
          </a:xfrm>
          <a:custGeom>
            <a:avLst/>
            <a:gdLst/>
            <a:ahLst/>
            <a:cxnLst/>
            <a:rect l="l" t="t" r="r" b="b"/>
            <a:pathLst>
              <a:path w="37834" h="945849">
                <a:moveTo>
                  <a:pt x="37834" y="0"/>
                </a:moveTo>
                <a:lnTo>
                  <a:pt x="37834" y="0"/>
                </a:lnTo>
                <a:lnTo>
                  <a:pt x="37834" y="945849"/>
                </a:ln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9" name="Shape 57"/>
          <p:cNvSpPr/>
          <p:nvPr/>
        </p:nvSpPr>
        <p:spPr>
          <a:xfrm>
            <a:off x="707495" y="5650285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75668" y="31893"/>
                </a:moveTo>
                <a:lnTo>
                  <a:pt x="71234" y="25745"/>
                </a:lnTo>
                <a:cubicBezTo>
                  <a:pt x="63845" y="15518"/>
                  <a:pt x="51992" y="9458"/>
                  <a:pt x="39341" y="9458"/>
                </a:cubicBezTo>
                <a:cubicBezTo>
                  <a:pt x="17616" y="9458"/>
                  <a:pt x="0" y="27075"/>
                  <a:pt x="0" y="48800"/>
                </a:cubicBezTo>
                <a:lnTo>
                  <a:pt x="0" y="49568"/>
                </a:lnTo>
                <a:cubicBezTo>
                  <a:pt x="0" y="56544"/>
                  <a:pt x="1833" y="63756"/>
                  <a:pt x="4907" y="70939"/>
                </a:cubicBezTo>
                <a:lnTo>
                  <a:pt x="36238" y="70939"/>
                </a:lnTo>
                <a:cubicBezTo>
                  <a:pt x="37184" y="70939"/>
                  <a:pt x="38041" y="70377"/>
                  <a:pt x="38425" y="69490"/>
                </a:cubicBezTo>
                <a:lnTo>
                  <a:pt x="47825" y="46938"/>
                </a:lnTo>
                <a:cubicBezTo>
                  <a:pt x="48918" y="44337"/>
                  <a:pt x="51460" y="42622"/>
                  <a:pt x="54268" y="42563"/>
                </a:cubicBezTo>
                <a:cubicBezTo>
                  <a:pt x="57076" y="42504"/>
                  <a:pt x="59677" y="44159"/>
                  <a:pt x="60830" y="46731"/>
                </a:cubicBezTo>
                <a:lnTo>
                  <a:pt x="75993" y="80397"/>
                </a:lnTo>
                <a:lnTo>
                  <a:pt x="88230" y="55923"/>
                </a:lnTo>
                <a:cubicBezTo>
                  <a:pt x="89442" y="53529"/>
                  <a:pt x="91895" y="51992"/>
                  <a:pt x="94585" y="51992"/>
                </a:cubicBezTo>
                <a:cubicBezTo>
                  <a:pt x="97275" y="51992"/>
                  <a:pt x="99728" y="53500"/>
                  <a:pt x="100940" y="55923"/>
                </a:cubicBezTo>
                <a:lnTo>
                  <a:pt x="107797" y="69609"/>
                </a:lnTo>
                <a:cubicBezTo>
                  <a:pt x="108211" y="70407"/>
                  <a:pt x="109009" y="70909"/>
                  <a:pt x="109925" y="70909"/>
                </a:cubicBezTo>
                <a:lnTo>
                  <a:pt x="146459" y="70909"/>
                </a:lnTo>
                <a:cubicBezTo>
                  <a:pt x="149562" y="63727"/>
                  <a:pt x="151365" y="56515"/>
                  <a:pt x="151365" y="49539"/>
                </a:cubicBezTo>
                <a:lnTo>
                  <a:pt x="151365" y="48770"/>
                </a:lnTo>
                <a:cubicBezTo>
                  <a:pt x="151336" y="27075"/>
                  <a:pt x="133719" y="9458"/>
                  <a:pt x="111994" y="9458"/>
                </a:cubicBezTo>
                <a:cubicBezTo>
                  <a:pt x="99373" y="9458"/>
                  <a:pt x="87491" y="15518"/>
                  <a:pt x="80102" y="25745"/>
                </a:cubicBezTo>
                <a:lnTo>
                  <a:pt x="75668" y="31863"/>
                </a:lnTo>
                <a:close/>
                <a:moveTo>
                  <a:pt x="138803" y="85126"/>
                </a:moveTo>
                <a:lnTo>
                  <a:pt x="109896" y="85126"/>
                </a:lnTo>
                <a:cubicBezTo>
                  <a:pt x="103630" y="85126"/>
                  <a:pt x="97895" y="81580"/>
                  <a:pt x="95087" y="75964"/>
                </a:cubicBezTo>
                <a:lnTo>
                  <a:pt x="94585" y="74959"/>
                </a:lnTo>
                <a:lnTo>
                  <a:pt x="82023" y="100112"/>
                </a:lnTo>
                <a:cubicBezTo>
                  <a:pt x="80811" y="102566"/>
                  <a:pt x="78269" y="104103"/>
                  <a:pt x="75520" y="104043"/>
                </a:cubicBezTo>
                <a:cubicBezTo>
                  <a:pt x="72771" y="103984"/>
                  <a:pt x="70318" y="102359"/>
                  <a:pt x="69195" y="99876"/>
                </a:cubicBezTo>
                <a:lnTo>
                  <a:pt x="54623" y="67510"/>
                </a:lnTo>
                <a:lnTo>
                  <a:pt x="51519" y="74959"/>
                </a:lnTo>
                <a:cubicBezTo>
                  <a:pt x="48948" y="81136"/>
                  <a:pt x="42918" y="85156"/>
                  <a:pt x="36238" y="85156"/>
                </a:cubicBezTo>
                <a:lnTo>
                  <a:pt x="12533" y="85156"/>
                </a:lnTo>
                <a:cubicBezTo>
                  <a:pt x="26484" y="106970"/>
                  <a:pt x="48889" y="127039"/>
                  <a:pt x="62899" y="137739"/>
                </a:cubicBezTo>
                <a:cubicBezTo>
                  <a:pt x="66564" y="140518"/>
                  <a:pt x="71057" y="141907"/>
                  <a:pt x="75638" y="141907"/>
                </a:cubicBezTo>
                <a:cubicBezTo>
                  <a:pt x="80220" y="141907"/>
                  <a:pt x="84742" y="140547"/>
                  <a:pt x="88378" y="137739"/>
                </a:cubicBezTo>
                <a:cubicBezTo>
                  <a:pt x="102447" y="127010"/>
                  <a:pt x="124852" y="106940"/>
                  <a:pt x="138803" y="8512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0" name="Text 58"/>
          <p:cNvSpPr/>
          <p:nvPr/>
        </p:nvSpPr>
        <p:spPr>
          <a:xfrm>
            <a:off x="953135" y="5612765"/>
            <a:ext cx="1514475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IBM Watson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1" name="Text 59"/>
          <p:cNvSpPr/>
          <p:nvPr/>
        </p:nvSpPr>
        <p:spPr>
          <a:xfrm>
            <a:off x="688578" y="5915123"/>
            <a:ext cx="343343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医疗诊断辅助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2" name="Shape 60"/>
          <p:cNvSpPr/>
          <p:nvPr/>
        </p:nvSpPr>
        <p:spPr>
          <a:xfrm>
            <a:off x="716954" y="6198758"/>
            <a:ext cx="85126" cy="113502"/>
          </a:xfrm>
          <a:custGeom>
            <a:avLst/>
            <a:gdLst/>
            <a:ahLst/>
            <a:cxnLst/>
            <a:rect l="l" t="t" r="r" b="b"/>
            <a:pathLst>
              <a:path w="85126" h="113502">
                <a:moveTo>
                  <a:pt x="47573" y="3857"/>
                </a:moveTo>
                <a:cubicBezTo>
                  <a:pt x="44802" y="1086"/>
                  <a:pt x="40302" y="1086"/>
                  <a:pt x="37531" y="3857"/>
                </a:cubicBezTo>
                <a:lnTo>
                  <a:pt x="2062" y="39327"/>
                </a:lnTo>
                <a:cubicBezTo>
                  <a:pt x="-709" y="42098"/>
                  <a:pt x="-709" y="46598"/>
                  <a:pt x="2062" y="49369"/>
                </a:cubicBezTo>
                <a:cubicBezTo>
                  <a:pt x="4833" y="52140"/>
                  <a:pt x="9333" y="52140"/>
                  <a:pt x="12104" y="49369"/>
                </a:cubicBezTo>
                <a:lnTo>
                  <a:pt x="35469" y="26003"/>
                </a:lnTo>
                <a:lnTo>
                  <a:pt x="35469" y="108182"/>
                </a:lnTo>
                <a:cubicBezTo>
                  <a:pt x="35469" y="112105"/>
                  <a:pt x="38639" y="115275"/>
                  <a:pt x="42563" y="115275"/>
                </a:cubicBezTo>
                <a:cubicBezTo>
                  <a:pt x="46487" y="115275"/>
                  <a:pt x="49657" y="112105"/>
                  <a:pt x="49657" y="108182"/>
                </a:cubicBezTo>
                <a:lnTo>
                  <a:pt x="49657" y="26003"/>
                </a:lnTo>
                <a:lnTo>
                  <a:pt x="73023" y="49369"/>
                </a:lnTo>
                <a:cubicBezTo>
                  <a:pt x="75794" y="52140"/>
                  <a:pt x="80294" y="52140"/>
                  <a:pt x="83065" y="49369"/>
                </a:cubicBezTo>
                <a:cubicBezTo>
                  <a:pt x="85836" y="46598"/>
                  <a:pt x="85836" y="42098"/>
                  <a:pt x="83065" y="39327"/>
                </a:cubicBezTo>
                <a:lnTo>
                  <a:pt x="47595" y="385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3" name="Text 61"/>
          <p:cNvSpPr/>
          <p:nvPr/>
        </p:nvSpPr>
        <p:spPr>
          <a:xfrm>
            <a:off x="906145" y="6179820"/>
            <a:ext cx="1561465" cy="151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诊断准确率 96.4%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Shape 62"/>
          <p:cNvSpPr/>
          <p:nvPr/>
        </p:nvSpPr>
        <p:spPr>
          <a:xfrm>
            <a:off x="4299477" y="5498949"/>
            <a:ext cx="3613145" cy="945849"/>
          </a:xfrm>
          <a:custGeom>
            <a:avLst/>
            <a:gdLst/>
            <a:ahLst/>
            <a:cxnLst/>
            <a:rect l="l" t="t" r="r" b="b"/>
            <a:pathLst>
              <a:path w="3613145" h="945849">
                <a:moveTo>
                  <a:pt x="37834" y="0"/>
                </a:moveTo>
                <a:lnTo>
                  <a:pt x="3537477" y="0"/>
                </a:lnTo>
                <a:cubicBezTo>
                  <a:pt x="3579267" y="0"/>
                  <a:pt x="3613145" y="33878"/>
                  <a:pt x="3613145" y="75668"/>
                </a:cubicBezTo>
                <a:lnTo>
                  <a:pt x="3613145" y="870182"/>
                </a:lnTo>
                <a:cubicBezTo>
                  <a:pt x="3613145" y="911944"/>
                  <a:pt x="3579239" y="945849"/>
                  <a:pt x="3537477" y="945849"/>
                </a:cubicBez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5" name="Shape 63"/>
          <p:cNvSpPr/>
          <p:nvPr/>
        </p:nvSpPr>
        <p:spPr>
          <a:xfrm>
            <a:off x="4299477" y="5498949"/>
            <a:ext cx="37834" cy="945849"/>
          </a:xfrm>
          <a:custGeom>
            <a:avLst/>
            <a:gdLst/>
            <a:ahLst/>
            <a:cxnLst/>
            <a:rect l="l" t="t" r="r" b="b"/>
            <a:pathLst>
              <a:path w="37834" h="945849">
                <a:moveTo>
                  <a:pt x="37834" y="0"/>
                </a:moveTo>
                <a:lnTo>
                  <a:pt x="37834" y="0"/>
                </a:lnTo>
                <a:lnTo>
                  <a:pt x="37834" y="945849"/>
                </a:ln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6" name="Shape 64"/>
          <p:cNvSpPr/>
          <p:nvPr/>
        </p:nvSpPr>
        <p:spPr>
          <a:xfrm>
            <a:off x="4441355" y="5650285"/>
            <a:ext cx="170253" cy="151336"/>
          </a:xfrm>
          <a:custGeom>
            <a:avLst/>
            <a:gdLst/>
            <a:ahLst/>
            <a:cxnLst/>
            <a:rect l="l" t="t" r="r" b="b"/>
            <a:pathLst>
              <a:path w="170253" h="151336">
                <a:moveTo>
                  <a:pt x="0" y="28375"/>
                </a:moveTo>
                <a:cubicBezTo>
                  <a:pt x="0" y="17942"/>
                  <a:pt x="8483" y="9458"/>
                  <a:pt x="18917" y="9458"/>
                </a:cubicBezTo>
                <a:lnTo>
                  <a:pt x="104043" y="9458"/>
                </a:lnTo>
                <a:cubicBezTo>
                  <a:pt x="114477" y="9458"/>
                  <a:pt x="122960" y="17942"/>
                  <a:pt x="122960" y="28375"/>
                </a:cubicBezTo>
                <a:lnTo>
                  <a:pt x="122960" y="37834"/>
                </a:lnTo>
                <a:lnTo>
                  <a:pt x="137946" y="37834"/>
                </a:lnTo>
                <a:cubicBezTo>
                  <a:pt x="142971" y="37834"/>
                  <a:pt x="147789" y="39814"/>
                  <a:pt x="151336" y="43361"/>
                </a:cubicBezTo>
                <a:lnTo>
                  <a:pt x="164726" y="56751"/>
                </a:lnTo>
                <a:cubicBezTo>
                  <a:pt x="168273" y="60298"/>
                  <a:pt x="170253" y="65116"/>
                  <a:pt x="170253" y="70141"/>
                </a:cubicBezTo>
                <a:lnTo>
                  <a:pt x="170253" y="113502"/>
                </a:lnTo>
                <a:cubicBezTo>
                  <a:pt x="170253" y="123936"/>
                  <a:pt x="161770" y="132419"/>
                  <a:pt x="151336" y="132419"/>
                </a:cubicBezTo>
                <a:lnTo>
                  <a:pt x="150361" y="132419"/>
                </a:lnTo>
                <a:cubicBezTo>
                  <a:pt x="147287" y="143326"/>
                  <a:pt x="137237" y="151336"/>
                  <a:pt x="125325" y="151336"/>
                </a:cubicBezTo>
                <a:cubicBezTo>
                  <a:pt x="113413" y="151336"/>
                  <a:pt x="103393" y="143326"/>
                  <a:pt x="100290" y="132419"/>
                </a:cubicBezTo>
                <a:lnTo>
                  <a:pt x="69963" y="132419"/>
                </a:lnTo>
                <a:cubicBezTo>
                  <a:pt x="66889" y="143326"/>
                  <a:pt x="56840" y="151336"/>
                  <a:pt x="44928" y="151336"/>
                </a:cubicBezTo>
                <a:cubicBezTo>
                  <a:pt x="33016" y="151336"/>
                  <a:pt x="22996" y="143326"/>
                  <a:pt x="19892" y="132419"/>
                </a:cubicBezTo>
                <a:lnTo>
                  <a:pt x="18917" y="132419"/>
                </a:lnTo>
                <a:cubicBezTo>
                  <a:pt x="8483" y="132419"/>
                  <a:pt x="0" y="123936"/>
                  <a:pt x="0" y="113502"/>
                </a:cubicBezTo>
                <a:lnTo>
                  <a:pt x="0" y="28375"/>
                </a:lnTo>
                <a:close/>
                <a:moveTo>
                  <a:pt x="151336" y="85126"/>
                </a:moveTo>
                <a:lnTo>
                  <a:pt x="151336" y="70141"/>
                </a:lnTo>
                <a:lnTo>
                  <a:pt x="137946" y="56751"/>
                </a:lnTo>
                <a:lnTo>
                  <a:pt x="122960" y="56751"/>
                </a:lnTo>
                <a:lnTo>
                  <a:pt x="122960" y="85126"/>
                </a:lnTo>
                <a:lnTo>
                  <a:pt x="151336" y="85126"/>
                </a:lnTo>
                <a:close/>
                <a:moveTo>
                  <a:pt x="56751" y="125325"/>
                </a:moveTo>
                <a:cubicBezTo>
                  <a:pt x="56751" y="118800"/>
                  <a:pt x="51453" y="113502"/>
                  <a:pt x="44928" y="113502"/>
                </a:cubicBezTo>
                <a:cubicBezTo>
                  <a:pt x="38402" y="113502"/>
                  <a:pt x="33105" y="118800"/>
                  <a:pt x="33105" y="125325"/>
                </a:cubicBezTo>
                <a:cubicBezTo>
                  <a:pt x="33105" y="131850"/>
                  <a:pt x="38402" y="137148"/>
                  <a:pt x="44928" y="137148"/>
                </a:cubicBezTo>
                <a:cubicBezTo>
                  <a:pt x="51453" y="137148"/>
                  <a:pt x="56751" y="131850"/>
                  <a:pt x="56751" y="125325"/>
                </a:cubicBezTo>
                <a:close/>
                <a:moveTo>
                  <a:pt x="125325" y="137148"/>
                </a:moveTo>
                <a:cubicBezTo>
                  <a:pt x="131850" y="137148"/>
                  <a:pt x="137148" y="131850"/>
                  <a:pt x="137148" y="125325"/>
                </a:cubicBezTo>
                <a:cubicBezTo>
                  <a:pt x="137148" y="118800"/>
                  <a:pt x="131850" y="113502"/>
                  <a:pt x="125325" y="113502"/>
                </a:cubicBezTo>
                <a:cubicBezTo>
                  <a:pt x="118800" y="113502"/>
                  <a:pt x="113502" y="118800"/>
                  <a:pt x="113502" y="125325"/>
                </a:cubicBezTo>
                <a:cubicBezTo>
                  <a:pt x="113502" y="131850"/>
                  <a:pt x="118800" y="137148"/>
                  <a:pt x="125325" y="13714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7" name="Text 65"/>
          <p:cNvSpPr/>
          <p:nvPr/>
        </p:nvSpPr>
        <p:spPr>
          <a:xfrm>
            <a:off x="4696460" y="5612765"/>
            <a:ext cx="1184275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DoorDash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8" name="Text 66"/>
          <p:cNvSpPr/>
          <p:nvPr/>
        </p:nvSpPr>
        <p:spPr>
          <a:xfrm>
            <a:off x="4431896" y="5915123"/>
            <a:ext cx="343343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司机支持聊天机器人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9" name="Shape 67"/>
          <p:cNvSpPr/>
          <p:nvPr/>
        </p:nvSpPr>
        <p:spPr>
          <a:xfrm>
            <a:off x="4460272" y="6198758"/>
            <a:ext cx="85126" cy="113502"/>
          </a:xfrm>
          <a:custGeom>
            <a:avLst/>
            <a:gdLst/>
            <a:ahLst/>
            <a:cxnLst/>
            <a:rect l="l" t="t" r="r" b="b"/>
            <a:pathLst>
              <a:path w="85126" h="113502">
                <a:moveTo>
                  <a:pt x="47573" y="3857"/>
                </a:moveTo>
                <a:cubicBezTo>
                  <a:pt x="44802" y="1086"/>
                  <a:pt x="40302" y="1086"/>
                  <a:pt x="37531" y="3857"/>
                </a:cubicBezTo>
                <a:lnTo>
                  <a:pt x="2062" y="39327"/>
                </a:lnTo>
                <a:cubicBezTo>
                  <a:pt x="-709" y="42098"/>
                  <a:pt x="-709" y="46598"/>
                  <a:pt x="2062" y="49369"/>
                </a:cubicBezTo>
                <a:cubicBezTo>
                  <a:pt x="4833" y="52140"/>
                  <a:pt x="9333" y="52140"/>
                  <a:pt x="12104" y="49369"/>
                </a:cubicBezTo>
                <a:lnTo>
                  <a:pt x="35469" y="26003"/>
                </a:lnTo>
                <a:lnTo>
                  <a:pt x="35469" y="108182"/>
                </a:lnTo>
                <a:cubicBezTo>
                  <a:pt x="35469" y="112105"/>
                  <a:pt x="38639" y="115275"/>
                  <a:pt x="42563" y="115275"/>
                </a:cubicBezTo>
                <a:cubicBezTo>
                  <a:pt x="46487" y="115275"/>
                  <a:pt x="49657" y="112105"/>
                  <a:pt x="49657" y="108182"/>
                </a:cubicBezTo>
                <a:lnTo>
                  <a:pt x="49657" y="26003"/>
                </a:lnTo>
                <a:lnTo>
                  <a:pt x="73023" y="49369"/>
                </a:lnTo>
                <a:cubicBezTo>
                  <a:pt x="75794" y="52140"/>
                  <a:pt x="80294" y="52140"/>
                  <a:pt x="83065" y="49369"/>
                </a:cubicBezTo>
                <a:cubicBezTo>
                  <a:pt x="85836" y="46598"/>
                  <a:pt x="85836" y="42098"/>
                  <a:pt x="83065" y="39327"/>
                </a:cubicBezTo>
                <a:lnTo>
                  <a:pt x="47595" y="385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90" name="Text 68"/>
          <p:cNvSpPr/>
          <p:nvPr/>
        </p:nvSpPr>
        <p:spPr>
          <a:xfrm>
            <a:off x="4649470" y="6179820"/>
            <a:ext cx="1344930" cy="151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问题解决率 ↑ 60%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Shape 69"/>
          <p:cNvSpPr/>
          <p:nvPr/>
        </p:nvSpPr>
        <p:spPr>
          <a:xfrm>
            <a:off x="8042795" y="5498949"/>
            <a:ext cx="3613145" cy="945849"/>
          </a:xfrm>
          <a:custGeom>
            <a:avLst/>
            <a:gdLst/>
            <a:ahLst/>
            <a:cxnLst/>
            <a:rect l="l" t="t" r="r" b="b"/>
            <a:pathLst>
              <a:path w="3613145" h="945849">
                <a:moveTo>
                  <a:pt x="37834" y="0"/>
                </a:moveTo>
                <a:lnTo>
                  <a:pt x="3537477" y="0"/>
                </a:lnTo>
                <a:cubicBezTo>
                  <a:pt x="3579267" y="0"/>
                  <a:pt x="3613145" y="33878"/>
                  <a:pt x="3613145" y="75668"/>
                </a:cubicBezTo>
                <a:lnTo>
                  <a:pt x="3613145" y="870182"/>
                </a:lnTo>
                <a:cubicBezTo>
                  <a:pt x="3613145" y="911944"/>
                  <a:pt x="3579239" y="945849"/>
                  <a:pt x="3537477" y="945849"/>
                </a:cubicBez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2" name="Shape 70"/>
          <p:cNvSpPr/>
          <p:nvPr/>
        </p:nvSpPr>
        <p:spPr>
          <a:xfrm>
            <a:off x="8042795" y="5498949"/>
            <a:ext cx="37834" cy="945849"/>
          </a:xfrm>
          <a:custGeom>
            <a:avLst/>
            <a:gdLst/>
            <a:ahLst/>
            <a:cxnLst/>
            <a:rect l="l" t="t" r="r" b="b"/>
            <a:pathLst>
              <a:path w="37834" h="945849">
                <a:moveTo>
                  <a:pt x="37834" y="0"/>
                </a:moveTo>
                <a:lnTo>
                  <a:pt x="37834" y="0"/>
                </a:lnTo>
                <a:lnTo>
                  <a:pt x="37834" y="945849"/>
                </a:lnTo>
                <a:lnTo>
                  <a:pt x="37834" y="945849"/>
                </a:lnTo>
                <a:cubicBezTo>
                  <a:pt x="16939" y="945849"/>
                  <a:pt x="0" y="928911"/>
                  <a:pt x="0" y="908016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3" name="Shape 71"/>
          <p:cNvSpPr/>
          <p:nvPr/>
        </p:nvSpPr>
        <p:spPr>
          <a:xfrm>
            <a:off x="8194131" y="5650285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9479" y="67540"/>
                </a:moveTo>
                <a:cubicBezTo>
                  <a:pt x="23410" y="40051"/>
                  <a:pt x="47086" y="18917"/>
                  <a:pt x="75668" y="18917"/>
                </a:cubicBezTo>
                <a:cubicBezTo>
                  <a:pt x="91334" y="18917"/>
                  <a:pt x="105521" y="25272"/>
                  <a:pt x="115807" y="35528"/>
                </a:cubicBezTo>
                <a:cubicBezTo>
                  <a:pt x="115867" y="35588"/>
                  <a:pt x="115926" y="35647"/>
                  <a:pt x="115985" y="35706"/>
                </a:cubicBezTo>
                <a:lnTo>
                  <a:pt x="118231" y="37834"/>
                </a:lnTo>
                <a:lnTo>
                  <a:pt x="104073" y="37834"/>
                </a:lnTo>
                <a:cubicBezTo>
                  <a:pt x="98841" y="37834"/>
                  <a:pt x="94615" y="42061"/>
                  <a:pt x="94615" y="47292"/>
                </a:cubicBezTo>
                <a:cubicBezTo>
                  <a:pt x="94615" y="52524"/>
                  <a:pt x="98841" y="56751"/>
                  <a:pt x="104073" y="56751"/>
                </a:cubicBezTo>
                <a:lnTo>
                  <a:pt x="141907" y="56751"/>
                </a:lnTo>
                <a:cubicBezTo>
                  <a:pt x="147139" y="56751"/>
                  <a:pt x="151365" y="52524"/>
                  <a:pt x="151365" y="47292"/>
                </a:cubicBezTo>
                <a:lnTo>
                  <a:pt x="151365" y="9458"/>
                </a:lnTo>
                <a:cubicBezTo>
                  <a:pt x="151365" y="4227"/>
                  <a:pt x="147139" y="0"/>
                  <a:pt x="141907" y="0"/>
                </a:cubicBezTo>
                <a:cubicBezTo>
                  <a:pt x="136675" y="0"/>
                  <a:pt x="132448" y="4227"/>
                  <a:pt x="132448" y="9458"/>
                </a:cubicBezTo>
                <a:lnTo>
                  <a:pt x="132448" y="25242"/>
                </a:lnTo>
                <a:lnTo>
                  <a:pt x="129108" y="22080"/>
                </a:lnTo>
                <a:cubicBezTo>
                  <a:pt x="115423" y="8454"/>
                  <a:pt x="96506" y="0"/>
                  <a:pt x="75668" y="0"/>
                </a:cubicBezTo>
                <a:cubicBezTo>
                  <a:pt x="37538" y="0"/>
                  <a:pt x="6000" y="28198"/>
                  <a:pt x="769" y="64879"/>
                </a:cubicBezTo>
                <a:cubicBezTo>
                  <a:pt x="30" y="70052"/>
                  <a:pt x="3606" y="74840"/>
                  <a:pt x="8779" y="75579"/>
                </a:cubicBezTo>
                <a:cubicBezTo>
                  <a:pt x="13951" y="76318"/>
                  <a:pt x="18740" y="72712"/>
                  <a:pt x="19479" y="67569"/>
                </a:cubicBezTo>
                <a:close/>
                <a:moveTo>
                  <a:pt x="150567" y="86457"/>
                </a:moveTo>
                <a:cubicBezTo>
                  <a:pt x="151306" y="81284"/>
                  <a:pt x="147700" y="76496"/>
                  <a:pt x="142557" y="75757"/>
                </a:cubicBezTo>
                <a:cubicBezTo>
                  <a:pt x="137414" y="75018"/>
                  <a:pt x="132596" y="78624"/>
                  <a:pt x="131857" y="83767"/>
                </a:cubicBezTo>
                <a:cubicBezTo>
                  <a:pt x="127926" y="111256"/>
                  <a:pt x="104250" y="132389"/>
                  <a:pt x="75668" y="132389"/>
                </a:cubicBezTo>
                <a:cubicBezTo>
                  <a:pt x="60002" y="132389"/>
                  <a:pt x="45815" y="126034"/>
                  <a:pt x="35528" y="115778"/>
                </a:cubicBezTo>
                <a:cubicBezTo>
                  <a:pt x="35469" y="115719"/>
                  <a:pt x="35410" y="115660"/>
                  <a:pt x="35351" y="115601"/>
                </a:cubicBezTo>
                <a:lnTo>
                  <a:pt x="33105" y="113472"/>
                </a:lnTo>
                <a:lnTo>
                  <a:pt x="47263" y="113472"/>
                </a:lnTo>
                <a:cubicBezTo>
                  <a:pt x="52495" y="113472"/>
                  <a:pt x="56721" y="109246"/>
                  <a:pt x="56721" y="104014"/>
                </a:cubicBezTo>
                <a:cubicBezTo>
                  <a:pt x="56721" y="98782"/>
                  <a:pt x="52495" y="94555"/>
                  <a:pt x="47263" y="94555"/>
                </a:cubicBezTo>
                <a:lnTo>
                  <a:pt x="9458" y="94585"/>
                </a:lnTo>
                <a:cubicBezTo>
                  <a:pt x="6946" y="94585"/>
                  <a:pt x="4522" y="95590"/>
                  <a:pt x="2749" y="97393"/>
                </a:cubicBezTo>
                <a:cubicBezTo>
                  <a:pt x="975" y="99196"/>
                  <a:pt x="-30" y="101590"/>
                  <a:pt x="0" y="104132"/>
                </a:cubicBezTo>
                <a:lnTo>
                  <a:pt x="296" y="141671"/>
                </a:lnTo>
                <a:cubicBezTo>
                  <a:pt x="325" y="146902"/>
                  <a:pt x="4611" y="151099"/>
                  <a:pt x="9843" y="151040"/>
                </a:cubicBezTo>
                <a:cubicBezTo>
                  <a:pt x="15074" y="150981"/>
                  <a:pt x="19272" y="146725"/>
                  <a:pt x="19213" y="141493"/>
                </a:cubicBezTo>
                <a:lnTo>
                  <a:pt x="19094" y="126271"/>
                </a:lnTo>
                <a:lnTo>
                  <a:pt x="22257" y="129256"/>
                </a:lnTo>
                <a:cubicBezTo>
                  <a:pt x="35942" y="142882"/>
                  <a:pt x="54830" y="151336"/>
                  <a:pt x="75668" y="151336"/>
                </a:cubicBezTo>
                <a:cubicBezTo>
                  <a:pt x="113798" y="151336"/>
                  <a:pt x="145336" y="123138"/>
                  <a:pt x="150567" y="8645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4" name="Text 72"/>
          <p:cNvSpPr/>
          <p:nvPr/>
        </p:nvSpPr>
        <p:spPr>
          <a:xfrm>
            <a:off x="8439785" y="5612765"/>
            <a:ext cx="1330325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LinkedIn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95" name="Text 73"/>
          <p:cNvSpPr/>
          <p:nvPr/>
        </p:nvSpPr>
        <p:spPr>
          <a:xfrm>
            <a:off x="8175214" y="5915123"/>
            <a:ext cx="343343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内部支持助手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6" name="Shape 74"/>
          <p:cNvSpPr/>
          <p:nvPr/>
        </p:nvSpPr>
        <p:spPr>
          <a:xfrm>
            <a:off x="8203589" y="6198758"/>
            <a:ext cx="85126" cy="113502"/>
          </a:xfrm>
          <a:custGeom>
            <a:avLst/>
            <a:gdLst/>
            <a:ahLst/>
            <a:cxnLst/>
            <a:rect l="l" t="t" r="r" b="b"/>
            <a:pathLst>
              <a:path w="85126" h="113502">
                <a:moveTo>
                  <a:pt x="47573" y="3857"/>
                </a:moveTo>
                <a:cubicBezTo>
                  <a:pt x="44802" y="1086"/>
                  <a:pt x="40302" y="1086"/>
                  <a:pt x="37531" y="3857"/>
                </a:cubicBezTo>
                <a:lnTo>
                  <a:pt x="2062" y="39327"/>
                </a:lnTo>
                <a:cubicBezTo>
                  <a:pt x="-709" y="42098"/>
                  <a:pt x="-709" y="46598"/>
                  <a:pt x="2062" y="49369"/>
                </a:cubicBezTo>
                <a:cubicBezTo>
                  <a:pt x="4833" y="52140"/>
                  <a:pt x="9333" y="52140"/>
                  <a:pt x="12104" y="49369"/>
                </a:cubicBezTo>
                <a:lnTo>
                  <a:pt x="35469" y="26003"/>
                </a:lnTo>
                <a:lnTo>
                  <a:pt x="35469" y="108182"/>
                </a:lnTo>
                <a:cubicBezTo>
                  <a:pt x="35469" y="112105"/>
                  <a:pt x="38639" y="115275"/>
                  <a:pt x="42563" y="115275"/>
                </a:cubicBezTo>
                <a:cubicBezTo>
                  <a:pt x="46487" y="115275"/>
                  <a:pt x="49657" y="112105"/>
                  <a:pt x="49657" y="108182"/>
                </a:cubicBezTo>
                <a:lnTo>
                  <a:pt x="49657" y="26003"/>
                </a:lnTo>
                <a:lnTo>
                  <a:pt x="73023" y="49369"/>
                </a:lnTo>
                <a:cubicBezTo>
                  <a:pt x="75794" y="52140"/>
                  <a:pt x="80294" y="52140"/>
                  <a:pt x="83065" y="49369"/>
                </a:cubicBezTo>
                <a:cubicBezTo>
                  <a:pt x="85836" y="46598"/>
                  <a:pt x="85836" y="42098"/>
                  <a:pt x="83065" y="39327"/>
                </a:cubicBezTo>
                <a:lnTo>
                  <a:pt x="47595" y="385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97" name="Text 75"/>
          <p:cNvSpPr/>
          <p:nvPr/>
        </p:nvSpPr>
        <p:spPr>
          <a:xfrm>
            <a:off x="8392795" y="6179820"/>
            <a:ext cx="1536700" cy="151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解决时间 ↓ 28.6%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训练范式与实战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94944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技术范式演进：从参数化知识到检索增强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>
            <p:custDataLst>
              <p:tags r:id="rId1"/>
            </p:custDataLst>
          </p:nvPr>
        </p:nvSpPr>
        <p:spPr>
          <a:xfrm>
            <a:off x="388620" y="1417320"/>
            <a:ext cx="2758440" cy="1510665"/>
          </a:xfrm>
          <a:custGeom>
            <a:avLst/>
            <a:gdLst/>
            <a:ahLst/>
            <a:cxnLst/>
            <a:rect l="l" t="t" r="r" b="b"/>
            <a:pathLst>
              <a:path w="2758440" h="1510665">
                <a:moveTo>
                  <a:pt x="76198" y="0"/>
                </a:moveTo>
                <a:lnTo>
                  <a:pt x="2682242" y="0"/>
                </a:lnTo>
                <a:cubicBezTo>
                  <a:pt x="2724325" y="0"/>
                  <a:pt x="2758440" y="34115"/>
                  <a:pt x="2758440" y="76198"/>
                </a:cubicBezTo>
                <a:lnTo>
                  <a:pt x="2758440" y="1434467"/>
                </a:lnTo>
                <a:cubicBezTo>
                  <a:pt x="2758440" y="1476550"/>
                  <a:pt x="2724325" y="1510665"/>
                  <a:pt x="2682242" y="1510665"/>
                </a:cubicBezTo>
                <a:lnTo>
                  <a:pt x="76198" y="1510665"/>
                </a:lnTo>
                <a:cubicBezTo>
                  <a:pt x="34115" y="1510665"/>
                  <a:pt x="0" y="1476550"/>
                  <a:pt x="0" y="143446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 w="20320">
            <a:solidFill>
              <a:srgbClr val="B10015"/>
            </a:solidFill>
            <a:prstDash val="solid"/>
          </a:ln>
        </p:spPr>
      </p:sp>
      <p:sp>
        <p:nvSpPr>
          <p:cNvPr id="23" name="Shape 4"/>
          <p:cNvSpPr/>
          <p:nvPr>
            <p:custDataLst>
              <p:tags r:id="rId2"/>
            </p:custDataLst>
          </p:nvPr>
        </p:nvSpPr>
        <p:spPr>
          <a:xfrm>
            <a:off x="548640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4" name="Text 5"/>
          <p:cNvSpPr/>
          <p:nvPr>
            <p:custDataLst>
              <p:tags r:id="rId3"/>
            </p:custDataLst>
          </p:nvPr>
        </p:nvSpPr>
        <p:spPr>
          <a:xfrm>
            <a:off x="515303" y="1565911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5" name="Text 6"/>
          <p:cNvSpPr/>
          <p:nvPr>
            <p:custDataLst>
              <p:tags r:id="rId4"/>
            </p:custDataLst>
          </p:nvPr>
        </p:nvSpPr>
        <p:spPr>
          <a:xfrm>
            <a:off x="929640" y="1615441"/>
            <a:ext cx="77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检索+模板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7"/>
          <p:cNvSpPr/>
          <p:nvPr>
            <p:custDataLst>
              <p:tags r:id="rId5"/>
            </p:custDataLst>
          </p:nvPr>
        </p:nvSpPr>
        <p:spPr>
          <a:xfrm>
            <a:off x="548640" y="1996441"/>
            <a:ext cx="2505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基于关键词和规则模板，逻辑简单但语义理解能力差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7" name="Shape 8"/>
          <p:cNvSpPr/>
          <p:nvPr>
            <p:custDataLst>
              <p:tags r:id="rId6"/>
            </p:custDataLst>
          </p:nvPr>
        </p:nvSpPr>
        <p:spPr>
          <a:xfrm>
            <a:off x="548640" y="2495551"/>
            <a:ext cx="2438400" cy="7620"/>
          </a:xfrm>
          <a:custGeom>
            <a:avLst/>
            <a:gdLst/>
            <a:ahLst/>
            <a:cxnLst/>
            <a:rect l="l" t="t" r="r" b="b"/>
            <a:pathLst>
              <a:path w="2438400" h="7620">
                <a:moveTo>
                  <a:pt x="0" y="0"/>
                </a:moveTo>
                <a:lnTo>
                  <a:pt x="2438400" y="0"/>
                </a:lnTo>
                <a:lnTo>
                  <a:pt x="2438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28" name="Shape 9"/>
          <p:cNvSpPr/>
          <p:nvPr>
            <p:custDataLst>
              <p:tags r:id="rId7"/>
            </p:custDataLst>
          </p:nvPr>
        </p:nvSpPr>
        <p:spPr>
          <a:xfrm>
            <a:off x="562928" y="2628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505" y="51792"/>
                </a:moveTo>
                <a:lnTo>
                  <a:pt x="76795" y="51792"/>
                </a:lnTo>
                <a:cubicBezTo>
                  <a:pt x="79764" y="51792"/>
                  <a:pt x="82153" y="54181"/>
                  <a:pt x="82153" y="57150"/>
                </a:cubicBezTo>
                <a:cubicBezTo>
                  <a:pt x="82153" y="60119"/>
                  <a:pt x="79764" y="62508"/>
                  <a:pt x="76795" y="62508"/>
                </a:cubicBezTo>
                <a:lnTo>
                  <a:pt x="37505" y="62508"/>
                </a:lnTo>
                <a:cubicBezTo>
                  <a:pt x="34536" y="62508"/>
                  <a:pt x="32147" y="60119"/>
                  <a:pt x="32147" y="57150"/>
                </a:cubicBezTo>
                <a:cubicBezTo>
                  <a:pt x="32147" y="54181"/>
                  <a:pt x="34536" y="51792"/>
                  <a:pt x="37505" y="5179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Text 10"/>
          <p:cNvSpPr/>
          <p:nvPr>
            <p:custDataLst>
              <p:tags r:id="rId8"/>
            </p:custDataLst>
          </p:nvPr>
        </p:nvSpPr>
        <p:spPr>
          <a:xfrm>
            <a:off x="720090" y="2613661"/>
            <a:ext cx="23241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局限性：无法理解语义</a:t>
            </a:r>
            <a:endParaRPr 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0" name="Shape 11"/>
          <p:cNvSpPr/>
          <p:nvPr>
            <p:custDataLst>
              <p:tags r:id="rId9"/>
            </p:custDataLst>
          </p:nvPr>
        </p:nvSpPr>
        <p:spPr>
          <a:xfrm>
            <a:off x="3274695" y="1417320"/>
            <a:ext cx="2758440" cy="1510665"/>
          </a:xfrm>
          <a:custGeom>
            <a:avLst/>
            <a:gdLst/>
            <a:ahLst/>
            <a:cxnLst/>
            <a:rect l="l" t="t" r="r" b="b"/>
            <a:pathLst>
              <a:path w="2758440" h="1510665">
                <a:moveTo>
                  <a:pt x="76198" y="0"/>
                </a:moveTo>
                <a:lnTo>
                  <a:pt x="2682242" y="0"/>
                </a:lnTo>
                <a:cubicBezTo>
                  <a:pt x="2724325" y="0"/>
                  <a:pt x="2758440" y="34115"/>
                  <a:pt x="2758440" y="76198"/>
                </a:cubicBezTo>
                <a:lnTo>
                  <a:pt x="2758440" y="1434467"/>
                </a:lnTo>
                <a:cubicBezTo>
                  <a:pt x="2758440" y="1476550"/>
                  <a:pt x="2724325" y="1510665"/>
                  <a:pt x="2682242" y="1510665"/>
                </a:cubicBezTo>
                <a:lnTo>
                  <a:pt x="76198" y="1510665"/>
                </a:lnTo>
                <a:cubicBezTo>
                  <a:pt x="34115" y="1510665"/>
                  <a:pt x="0" y="1476550"/>
                  <a:pt x="0" y="143446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 w="20320">
            <a:solidFill>
              <a:srgbClr val="B10015"/>
            </a:solidFill>
            <a:prstDash val="solid"/>
          </a:ln>
        </p:spPr>
      </p:sp>
      <p:sp>
        <p:nvSpPr>
          <p:cNvPr id="31" name="Shape 12"/>
          <p:cNvSpPr/>
          <p:nvPr>
            <p:custDataLst>
              <p:tags r:id="rId10"/>
            </p:custDataLst>
          </p:nvPr>
        </p:nvSpPr>
        <p:spPr>
          <a:xfrm>
            <a:off x="3434715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2" name="Text 13"/>
          <p:cNvSpPr/>
          <p:nvPr>
            <p:custDataLst>
              <p:tags r:id="rId11"/>
            </p:custDataLst>
          </p:nvPr>
        </p:nvSpPr>
        <p:spPr>
          <a:xfrm>
            <a:off x="3401378" y="1577341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Text 14"/>
          <p:cNvSpPr/>
          <p:nvPr>
            <p:custDataLst>
              <p:tags r:id="rId12"/>
            </p:custDataLst>
          </p:nvPr>
        </p:nvSpPr>
        <p:spPr>
          <a:xfrm>
            <a:off x="3815715" y="1615441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端到端阅读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4" name="Text 15"/>
          <p:cNvSpPr/>
          <p:nvPr>
            <p:custDataLst>
              <p:tags r:id="rId13"/>
            </p:custDataLst>
          </p:nvPr>
        </p:nvSpPr>
        <p:spPr>
          <a:xfrm>
            <a:off x="3434715" y="1996441"/>
            <a:ext cx="2505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能从给定文本中抽取答案，但知识覆盖受上下文长度限制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Shape 16"/>
          <p:cNvSpPr/>
          <p:nvPr>
            <p:custDataLst>
              <p:tags r:id="rId14"/>
            </p:custDataLst>
          </p:nvPr>
        </p:nvSpPr>
        <p:spPr>
          <a:xfrm>
            <a:off x="3434715" y="2495551"/>
            <a:ext cx="2438400" cy="7620"/>
          </a:xfrm>
          <a:custGeom>
            <a:avLst/>
            <a:gdLst/>
            <a:ahLst/>
            <a:cxnLst/>
            <a:rect l="l" t="t" r="r" b="b"/>
            <a:pathLst>
              <a:path w="2438400" h="7620">
                <a:moveTo>
                  <a:pt x="0" y="0"/>
                </a:moveTo>
                <a:lnTo>
                  <a:pt x="2438400" y="0"/>
                </a:lnTo>
                <a:lnTo>
                  <a:pt x="2438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36" name="Shape 17"/>
          <p:cNvSpPr/>
          <p:nvPr>
            <p:custDataLst>
              <p:tags r:id="rId15"/>
            </p:custDataLst>
          </p:nvPr>
        </p:nvSpPr>
        <p:spPr>
          <a:xfrm>
            <a:off x="3449003" y="2628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505" y="51792"/>
                </a:moveTo>
                <a:lnTo>
                  <a:pt x="76795" y="51792"/>
                </a:lnTo>
                <a:cubicBezTo>
                  <a:pt x="79764" y="51792"/>
                  <a:pt x="82153" y="54181"/>
                  <a:pt x="82153" y="57150"/>
                </a:cubicBezTo>
                <a:cubicBezTo>
                  <a:pt x="82153" y="60119"/>
                  <a:pt x="79764" y="62508"/>
                  <a:pt x="76795" y="62508"/>
                </a:cubicBezTo>
                <a:lnTo>
                  <a:pt x="37505" y="62508"/>
                </a:lnTo>
                <a:cubicBezTo>
                  <a:pt x="34536" y="62508"/>
                  <a:pt x="32147" y="60119"/>
                  <a:pt x="32147" y="57150"/>
                </a:cubicBezTo>
                <a:cubicBezTo>
                  <a:pt x="32147" y="54181"/>
                  <a:pt x="34536" y="51792"/>
                  <a:pt x="37505" y="5179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Text 18"/>
          <p:cNvSpPr/>
          <p:nvPr>
            <p:custDataLst>
              <p:tags r:id="rId16"/>
            </p:custDataLst>
          </p:nvPr>
        </p:nvSpPr>
        <p:spPr>
          <a:xfrm>
            <a:off x="3606165" y="2613661"/>
            <a:ext cx="23241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局限性：上下文窗口限制</a:t>
            </a:r>
            <a:endParaRPr 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8" name="Shape 19"/>
          <p:cNvSpPr/>
          <p:nvPr>
            <p:custDataLst>
              <p:tags r:id="rId17"/>
            </p:custDataLst>
          </p:nvPr>
        </p:nvSpPr>
        <p:spPr>
          <a:xfrm>
            <a:off x="6160770" y="1417320"/>
            <a:ext cx="2758440" cy="1510665"/>
          </a:xfrm>
          <a:custGeom>
            <a:avLst/>
            <a:gdLst/>
            <a:ahLst/>
            <a:cxnLst/>
            <a:rect l="l" t="t" r="r" b="b"/>
            <a:pathLst>
              <a:path w="2758440" h="1510665">
                <a:moveTo>
                  <a:pt x="76198" y="0"/>
                </a:moveTo>
                <a:lnTo>
                  <a:pt x="2682242" y="0"/>
                </a:lnTo>
                <a:cubicBezTo>
                  <a:pt x="2724325" y="0"/>
                  <a:pt x="2758440" y="34115"/>
                  <a:pt x="2758440" y="76198"/>
                </a:cubicBezTo>
                <a:lnTo>
                  <a:pt x="2758440" y="1434467"/>
                </a:lnTo>
                <a:cubicBezTo>
                  <a:pt x="2758440" y="1476550"/>
                  <a:pt x="2724325" y="1510665"/>
                  <a:pt x="2682242" y="1510665"/>
                </a:cubicBezTo>
                <a:lnTo>
                  <a:pt x="76198" y="1510665"/>
                </a:lnTo>
                <a:cubicBezTo>
                  <a:pt x="34115" y="1510665"/>
                  <a:pt x="0" y="1476550"/>
                  <a:pt x="0" y="143446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 w="20320">
            <a:solidFill>
              <a:srgbClr val="B10015"/>
            </a:solidFill>
            <a:prstDash val="solid"/>
          </a:ln>
        </p:spPr>
      </p:sp>
      <p:sp>
        <p:nvSpPr>
          <p:cNvPr id="40" name="Shape 20"/>
          <p:cNvSpPr/>
          <p:nvPr>
            <p:custDataLst>
              <p:tags r:id="rId18"/>
            </p:custDataLst>
          </p:nvPr>
        </p:nvSpPr>
        <p:spPr>
          <a:xfrm>
            <a:off x="6320790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1" name="Text 21"/>
          <p:cNvSpPr/>
          <p:nvPr>
            <p:custDataLst>
              <p:tags r:id="rId19"/>
            </p:custDataLst>
          </p:nvPr>
        </p:nvSpPr>
        <p:spPr>
          <a:xfrm>
            <a:off x="6287453" y="1565911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Text 22"/>
          <p:cNvSpPr/>
          <p:nvPr>
            <p:custDataLst>
              <p:tags r:id="rId20"/>
            </p:custDataLst>
          </p:nvPr>
        </p:nvSpPr>
        <p:spPr>
          <a:xfrm>
            <a:off x="6701790" y="1615441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封闭书大模型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3" name="Text 23"/>
          <p:cNvSpPr/>
          <p:nvPr>
            <p:custDataLst>
              <p:tags r:id="rId21"/>
            </p:custDataLst>
          </p:nvPr>
        </p:nvSpPr>
        <p:spPr>
          <a:xfrm>
            <a:off x="6320790" y="1996441"/>
            <a:ext cx="2505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无需检索直接生成，但存在知识滞后和幻觉问题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Shape 24"/>
          <p:cNvSpPr/>
          <p:nvPr>
            <p:custDataLst>
              <p:tags r:id="rId22"/>
            </p:custDataLst>
          </p:nvPr>
        </p:nvSpPr>
        <p:spPr>
          <a:xfrm>
            <a:off x="6320790" y="2495551"/>
            <a:ext cx="2438400" cy="7620"/>
          </a:xfrm>
          <a:custGeom>
            <a:avLst/>
            <a:gdLst/>
            <a:ahLst/>
            <a:cxnLst/>
            <a:rect l="l" t="t" r="r" b="b"/>
            <a:pathLst>
              <a:path w="2438400" h="7620">
                <a:moveTo>
                  <a:pt x="0" y="0"/>
                </a:moveTo>
                <a:lnTo>
                  <a:pt x="2438400" y="0"/>
                </a:lnTo>
                <a:lnTo>
                  <a:pt x="2438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45" name="Shape 25"/>
          <p:cNvSpPr/>
          <p:nvPr>
            <p:custDataLst>
              <p:tags r:id="rId23"/>
            </p:custDataLst>
          </p:nvPr>
        </p:nvSpPr>
        <p:spPr>
          <a:xfrm>
            <a:off x="6335078" y="2628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37505" y="51792"/>
                </a:moveTo>
                <a:lnTo>
                  <a:pt x="76795" y="51792"/>
                </a:lnTo>
                <a:cubicBezTo>
                  <a:pt x="79764" y="51792"/>
                  <a:pt x="82153" y="54181"/>
                  <a:pt x="82153" y="57150"/>
                </a:cubicBezTo>
                <a:cubicBezTo>
                  <a:pt x="82153" y="60119"/>
                  <a:pt x="79764" y="62508"/>
                  <a:pt x="76795" y="62508"/>
                </a:cubicBezTo>
                <a:lnTo>
                  <a:pt x="37505" y="62508"/>
                </a:lnTo>
                <a:cubicBezTo>
                  <a:pt x="34536" y="62508"/>
                  <a:pt x="32147" y="60119"/>
                  <a:pt x="32147" y="57150"/>
                </a:cubicBezTo>
                <a:cubicBezTo>
                  <a:pt x="32147" y="54181"/>
                  <a:pt x="34536" y="51792"/>
                  <a:pt x="37505" y="5179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6" name="Text 26"/>
          <p:cNvSpPr/>
          <p:nvPr>
            <p:custDataLst>
              <p:tags r:id="rId24"/>
            </p:custDataLst>
          </p:nvPr>
        </p:nvSpPr>
        <p:spPr>
          <a:xfrm>
            <a:off x="6492240" y="2613661"/>
            <a:ext cx="23241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局限性：幻觉+知识滞后</a:t>
            </a:r>
            <a:endParaRPr 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Shape 27"/>
          <p:cNvSpPr/>
          <p:nvPr>
            <p:custDataLst>
              <p:tags r:id="rId25"/>
            </p:custDataLst>
          </p:nvPr>
        </p:nvSpPr>
        <p:spPr>
          <a:xfrm>
            <a:off x="9046845" y="1417320"/>
            <a:ext cx="2758440" cy="1510665"/>
          </a:xfrm>
          <a:custGeom>
            <a:avLst/>
            <a:gdLst/>
            <a:ahLst/>
            <a:cxnLst/>
            <a:rect l="l" t="t" r="r" b="b"/>
            <a:pathLst>
              <a:path w="2758440" h="1510665">
                <a:moveTo>
                  <a:pt x="76198" y="0"/>
                </a:moveTo>
                <a:lnTo>
                  <a:pt x="2682242" y="0"/>
                </a:lnTo>
                <a:cubicBezTo>
                  <a:pt x="2724325" y="0"/>
                  <a:pt x="2758440" y="34115"/>
                  <a:pt x="2758440" y="76198"/>
                </a:cubicBezTo>
                <a:lnTo>
                  <a:pt x="2758440" y="1434467"/>
                </a:lnTo>
                <a:cubicBezTo>
                  <a:pt x="2758440" y="1476550"/>
                  <a:pt x="2724325" y="1510665"/>
                  <a:pt x="2682242" y="1510665"/>
                </a:cubicBezTo>
                <a:lnTo>
                  <a:pt x="76198" y="1510665"/>
                </a:lnTo>
                <a:cubicBezTo>
                  <a:pt x="34115" y="1510665"/>
                  <a:pt x="0" y="1476550"/>
                  <a:pt x="0" y="143446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B10015">
              <a:alpha val="20000"/>
            </a:srgbClr>
          </a:solidFill>
          <a:ln w="20320">
            <a:solidFill>
              <a:srgbClr val="B10015"/>
            </a:solidFill>
            <a:prstDash val="solid"/>
          </a:ln>
        </p:spPr>
      </p:sp>
      <p:sp>
        <p:nvSpPr>
          <p:cNvPr id="48" name="Shape 28"/>
          <p:cNvSpPr/>
          <p:nvPr>
            <p:custDataLst>
              <p:tags r:id="rId26"/>
            </p:custDataLst>
          </p:nvPr>
        </p:nvSpPr>
        <p:spPr>
          <a:xfrm>
            <a:off x="11605260" y="13106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464"/>
          </a:solidFill>
        </p:spPr>
      </p:sp>
      <p:sp>
        <p:nvSpPr>
          <p:cNvPr id="49" name="Shape 29"/>
          <p:cNvSpPr/>
          <p:nvPr>
            <p:custDataLst>
              <p:tags r:id="rId27"/>
            </p:custDataLst>
          </p:nvPr>
        </p:nvSpPr>
        <p:spPr>
          <a:xfrm>
            <a:off x="11685032" y="139636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50" name="Shape 30"/>
          <p:cNvSpPr/>
          <p:nvPr>
            <p:custDataLst>
              <p:tags r:id="rId28"/>
            </p:custDataLst>
          </p:nvPr>
        </p:nvSpPr>
        <p:spPr>
          <a:xfrm>
            <a:off x="9206865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1" name="Text 31"/>
          <p:cNvSpPr/>
          <p:nvPr>
            <p:custDataLst>
              <p:tags r:id="rId29"/>
            </p:custDataLst>
          </p:nvPr>
        </p:nvSpPr>
        <p:spPr>
          <a:xfrm>
            <a:off x="9173528" y="1577341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Text 32"/>
          <p:cNvSpPr/>
          <p:nvPr>
            <p:custDataLst>
              <p:tags r:id="rId30"/>
            </p:custDataLst>
          </p:nvPr>
        </p:nvSpPr>
        <p:spPr>
          <a:xfrm>
            <a:off x="9587865" y="1615441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RAG检索增强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 33"/>
          <p:cNvSpPr/>
          <p:nvPr>
            <p:custDataLst>
              <p:tags r:id="rId31"/>
            </p:custDataLst>
          </p:nvPr>
        </p:nvSpPr>
        <p:spPr>
          <a:xfrm>
            <a:off x="9206865" y="1996441"/>
            <a:ext cx="2505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融合检索与生成</a:t>
            </a:r>
            <a:r>
              <a:rPr lang="en-US" sz="105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，实时调用外部知识，大幅提升准确性与可信度</a:t>
            </a:r>
            <a:endParaRPr lang="en-US" sz="105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Shape 34"/>
          <p:cNvSpPr/>
          <p:nvPr>
            <p:custDataLst>
              <p:tags r:id="rId32"/>
            </p:custDataLst>
          </p:nvPr>
        </p:nvSpPr>
        <p:spPr>
          <a:xfrm>
            <a:off x="9206865" y="2495551"/>
            <a:ext cx="2438400" cy="7620"/>
          </a:xfrm>
          <a:custGeom>
            <a:avLst/>
            <a:gdLst/>
            <a:ahLst/>
            <a:cxnLst/>
            <a:rect l="l" t="t" r="r" b="b"/>
            <a:pathLst>
              <a:path w="2438400" h="7620">
                <a:moveTo>
                  <a:pt x="0" y="0"/>
                </a:moveTo>
                <a:lnTo>
                  <a:pt x="2438400" y="0"/>
                </a:lnTo>
                <a:lnTo>
                  <a:pt x="2438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7C82">
              <a:alpha val="30196"/>
            </a:srgbClr>
          </a:solidFill>
        </p:spPr>
      </p:sp>
      <p:sp>
        <p:nvSpPr>
          <p:cNvPr id="55" name="Shape 35"/>
          <p:cNvSpPr/>
          <p:nvPr>
            <p:custDataLst>
              <p:tags r:id="rId33"/>
            </p:custDataLst>
          </p:nvPr>
        </p:nvSpPr>
        <p:spPr>
          <a:xfrm>
            <a:off x="9221153" y="2628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6" name="Text 36"/>
          <p:cNvSpPr/>
          <p:nvPr>
            <p:custDataLst>
              <p:tags r:id="rId34"/>
            </p:custDataLst>
          </p:nvPr>
        </p:nvSpPr>
        <p:spPr>
          <a:xfrm>
            <a:off x="9378315" y="2613661"/>
            <a:ext cx="23241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优势：准确+时效+可信</a:t>
            </a:r>
            <a:endParaRPr 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Shape 37"/>
          <p:cNvSpPr/>
          <p:nvPr/>
        </p:nvSpPr>
        <p:spPr>
          <a:xfrm>
            <a:off x="384810" y="3089791"/>
            <a:ext cx="11418570" cy="2503170"/>
          </a:xfrm>
          <a:custGeom>
            <a:avLst/>
            <a:gdLst/>
            <a:ahLst/>
            <a:cxnLst/>
            <a:rect l="l" t="t" r="r" b="b"/>
            <a:pathLst>
              <a:path w="11418570" h="2503170">
                <a:moveTo>
                  <a:pt x="76196" y="0"/>
                </a:moveTo>
                <a:lnTo>
                  <a:pt x="11342374" y="0"/>
                </a:lnTo>
                <a:cubicBezTo>
                  <a:pt x="11384456" y="0"/>
                  <a:pt x="11418570" y="34114"/>
                  <a:pt x="11418570" y="76196"/>
                </a:cubicBezTo>
                <a:lnTo>
                  <a:pt x="11418570" y="2426974"/>
                </a:lnTo>
                <a:cubicBezTo>
                  <a:pt x="11418570" y="2469056"/>
                  <a:pt x="11384456" y="2503170"/>
                  <a:pt x="11342374" y="2503170"/>
                </a:cubicBezTo>
                <a:lnTo>
                  <a:pt x="76196" y="2503170"/>
                </a:lnTo>
                <a:cubicBezTo>
                  <a:pt x="34114" y="2503170"/>
                  <a:pt x="0" y="2469056"/>
                  <a:pt x="0" y="2426974"/>
                </a:cubicBezTo>
                <a:lnTo>
                  <a:pt x="0" y="76196"/>
                </a:lnTo>
                <a:cubicBezTo>
                  <a:pt x="0" y="34143"/>
                  <a:pt x="34143" y="0"/>
                  <a:pt x="76196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8" name="Shape 38"/>
          <p:cNvSpPr/>
          <p:nvPr/>
        </p:nvSpPr>
        <p:spPr>
          <a:xfrm>
            <a:off x="602932" y="33222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9" name="Text 39"/>
          <p:cNvSpPr/>
          <p:nvPr/>
        </p:nvSpPr>
        <p:spPr>
          <a:xfrm>
            <a:off x="817245" y="3284102"/>
            <a:ext cx="1088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vs 传统LLM：本质区别</a:t>
            </a:r>
            <a:endParaRPr 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Shape 40"/>
          <p:cNvSpPr/>
          <p:nvPr/>
        </p:nvSpPr>
        <p:spPr>
          <a:xfrm>
            <a:off x="579120" y="3703202"/>
            <a:ext cx="5400675" cy="1695450"/>
          </a:xfrm>
          <a:custGeom>
            <a:avLst/>
            <a:gdLst/>
            <a:ahLst/>
            <a:cxnLst/>
            <a:rect l="l" t="t" r="r" b="b"/>
            <a:pathLst>
              <a:path w="5400675" h="1695450">
                <a:moveTo>
                  <a:pt x="76194" y="0"/>
                </a:moveTo>
                <a:lnTo>
                  <a:pt x="5324481" y="0"/>
                </a:lnTo>
                <a:cubicBezTo>
                  <a:pt x="5366562" y="0"/>
                  <a:pt x="5400675" y="34113"/>
                  <a:pt x="5400675" y="76194"/>
                </a:cubicBezTo>
                <a:lnTo>
                  <a:pt x="5400675" y="1619256"/>
                </a:lnTo>
                <a:cubicBezTo>
                  <a:pt x="5400675" y="1661337"/>
                  <a:pt x="5366562" y="1695450"/>
                  <a:pt x="5324481" y="1695450"/>
                </a:cubicBezTo>
                <a:lnTo>
                  <a:pt x="76194" y="1695450"/>
                </a:lnTo>
                <a:cubicBezTo>
                  <a:pt x="34113" y="1695450"/>
                  <a:pt x="0" y="1661337"/>
                  <a:pt x="0" y="161925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61" name="Text 41"/>
          <p:cNvSpPr/>
          <p:nvPr/>
        </p:nvSpPr>
        <p:spPr>
          <a:xfrm>
            <a:off x="731520" y="3855602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chemeClr val="tx1"/>
                </a:solidFill>
                <a:highlight>
                  <a:srgbClr val="6B7280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 </a:t>
            </a:r>
            <a:r>
              <a:rPr lang="en-US" sz="13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传统大模型</a:t>
            </a:r>
            <a:endParaRPr lang="en-US" sz="13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Shape 42"/>
          <p:cNvSpPr/>
          <p:nvPr/>
        </p:nvSpPr>
        <p:spPr>
          <a:xfrm>
            <a:off x="767239" y="427470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3" name="Text 43"/>
          <p:cNvSpPr/>
          <p:nvPr/>
        </p:nvSpPr>
        <p:spPr>
          <a:xfrm>
            <a:off x="974408" y="4236602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依赖预训练记忆，知识固定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Shape 44"/>
          <p:cNvSpPr/>
          <p:nvPr/>
        </p:nvSpPr>
        <p:spPr>
          <a:xfrm>
            <a:off x="767239" y="454140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5" name="Text 45"/>
          <p:cNvSpPr/>
          <p:nvPr/>
        </p:nvSpPr>
        <p:spPr>
          <a:xfrm>
            <a:off x="974408" y="4503302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训练数据截止后无法更新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6" name="Shape 46"/>
          <p:cNvSpPr/>
          <p:nvPr/>
        </p:nvSpPr>
        <p:spPr>
          <a:xfrm>
            <a:off x="767239" y="480810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7" name="Text 47"/>
          <p:cNvSpPr/>
          <p:nvPr/>
        </p:nvSpPr>
        <p:spPr>
          <a:xfrm>
            <a:off x="974408" y="4770002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可能生成看似合理但错误的内容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8" name="Shape 48"/>
          <p:cNvSpPr/>
          <p:nvPr/>
        </p:nvSpPr>
        <p:spPr>
          <a:xfrm>
            <a:off x="767239" y="507480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9" name="Text 49"/>
          <p:cNvSpPr/>
          <p:nvPr/>
        </p:nvSpPr>
        <p:spPr>
          <a:xfrm>
            <a:off x="974408" y="5036702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无法追溯答案来源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Shape 50"/>
          <p:cNvSpPr/>
          <p:nvPr/>
        </p:nvSpPr>
        <p:spPr>
          <a:xfrm>
            <a:off x="6214110" y="3707012"/>
            <a:ext cx="5398770" cy="1684020"/>
          </a:xfrm>
          <a:custGeom>
            <a:avLst/>
            <a:gdLst/>
            <a:ahLst/>
            <a:cxnLst/>
            <a:rect l="l" t="t" r="r" b="b"/>
            <a:pathLst>
              <a:path w="5398770" h="1684020">
                <a:moveTo>
                  <a:pt x="76202" y="0"/>
                </a:moveTo>
                <a:lnTo>
                  <a:pt x="5322568" y="0"/>
                </a:lnTo>
                <a:cubicBezTo>
                  <a:pt x="5364653" y="0"/>
                  <a:pt x="5398770" y="34117"/>
                  <a:pt x="5398770" y="76202"/>
                </a:cubicBezTo>
                <a:lnTo>
                  <a:pt x="5398770" y="1607818"/>
                </a:lnTo>
                <a:cubicBezTo>
                  <a:pt x="5398770" y="1649903"/>
                  <a:pt x="5364653" y="1684020"/>
                  <a:pt x="5322568" y="1684020"/>
                </a:cubicBezTo>
                <a:lnTo>
                  <a:pt x="76202" y="1684020"/>
                </a:lnTo>
                <a:cubicBezTo>
                  <a:pt x="34117" y="1684020"/>
                  <a:pt x="0" y="1649903"/>
                  <a:pt x="0" y="16078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1" name="Text 51"/>
          <p:cNvSpPr/>
          <p:nvPr/>
        </p:nvSpPr>
        <p:spPr>
          <a:xfrm>
            <a:off x="6370320" y="3863222"/>
            <a:ext cx="517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chemeClr val="tx1"/>
                </a:solidFill>
                <a:highlight>
                  <a:srgbClr val="C8A464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 </a:t>
            </a:r>
            <a:r>
              <a:rPr lang="en-US" sz="13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RAG增强架构</a:t>
            </a:r>
            <a:endParaRPr lang="en-US" sz="13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Shape 52"/>
          <p:cNvSpPr/>
          <p:nvPr/>
        </p:nvSpPr>
        <p:spPr>
          <a:xfrm>
            <a:off x="6397704" y="42823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3" name="Text 53"/>
          <p:cNvSpPr/>
          <p:nvPr/>
        </p:nvSpPr>
        <p:spPr>
          <a:xfrm>
            <a:off x="6613207" y="4244222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实时检索外部知识库，动态更新</a:t>
            </a:r>
            <a:endParaRPr lang="en-US" sz="105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4" name="Shape 54"/>
          <p:cNvSpPr/>
          <p:nvPr/>
        </p:nvSpPr>
        <p:spPr>
          <a:xfrm>
            <a:off x="6397704" y="45490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5" name="Text 55"/>
          <p:cNvSpPr/>
          <p:nvPr/>
        </p:nvSpPr>
        <p:spPr>
          <a:xfrm>
            <a:off x="6613207" y="4510922"/>
            <a:ext cx="2066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知识库可随时更新，无需重新训练</a:t>
            </a:r>
            <a:endParaRPr lang="en-US" sz="105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Shape 56"/>
          <p:cNvSpPr/>
          <p:nvPr/>
        </p:nvSpPr>
        <p:spPr>
          <a:xfrm>
            <a:off x="6397704" y="48157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7" name="Text 57"/>
          <p:cNvSpPr/>
          <p:nvPr/>
        </p:nvSpPr>
        <p:spPr>
          <a:xfrm>
            <a:off x="6613207" y="4777622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基于检索内容生成，事实准确</a:t>
            </a:r>
            <a:endParaRPr lang="en-US" sz="105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8" name="Shape 58"/>
          <p:cNvSpPr/>
          <p:nvPr/>
        </p:nvSpPr>
        <p:spPr>
          <a:xfrm>
            <a:off x="6397704" y="50824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9" name="Text 59"/>
          <p:cNvSpPr/>
          <p:nvPr/>
        </p:nvSpPr>
        <p:spPr>
          <a:xfrm>
            <a:off x="6613207" y="5044322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每条答案可追溯至原文档</a:t>
            </a:r>
            <a:endParaRPr lang="en-US" sz="105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0" name="Shape 60"/>
          <p:cNvSpPr/>
          <p:nvPr/>
        </p:nvSpPr>
        <p:spPr>
          <a:xfrm>
            <a:off x="400050" y="5745361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476251"/>
                </a:lnTo>
                <a:cubicBezTo>
                  <a:pt x="11410950" y="518334"/>
                  <a:pt x="11376834" y="552450"/>
                  <a:pt x="11334751" y="552450"/>
                </a:cubicBez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1" name="Shape 61"/>
          <p:cNvSpPr/>
          <p:nvPr/>
        </p:nvSpPr>
        <p:spPr>
          <a:xfrm>
            <a:off x="400050" y="5745361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2" name="Shape 62"/>
          <p:cNvSpPr/>
          <p:nvPr/>
        </p:nvSpPr>
        <p:spPr>
          <a:xfrm>
            <a:off x="600075" y="59358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3" name="Text 63"/>
          <p:cNvSpPr/>
          <p:nvPr/>
        </p:nvSpPr>
        <p:spPr>
          <a:xfrm>
            <a:off x="819150" y="5897761"/>
            <a:ext cx="109156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核心洞察：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RAG不是替代大模型，而是为其提供"外部大脑"，让模型从"背诵知识"转变为"查阅资料+推理生成"，实现知识动态化、答案可追溯、结果可验证。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能力扩展与评估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42468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核心应用模式与部署实践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B10015">
              <a:alpha val="10000"/>
            </a:srgbClr>
          </a:solidFill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7" name="AutoShape 5"/>
          <p:cNvSpPr/>
          <p:nvPr/>
        </p:nvSpPr>
        <p:spPr>
          <a:xfrm>
            <a:off x="1397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核心应用模式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6"/>
          <p:cNvCxnSpPr/>
          <p:nvPr/>
        </p:nvCxnSpPr>
        <p:spPr>
          <a:xfrm rot="-9291">
            <a:off x="1016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1001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29180"/>
            <a:ext cx="304800" cy="304800"/>
          </a:xfrm>
          <a:prstGeom prst="rect">
            <a:avLst/>
          </a:prstGeom>
        </p:spPr>
      </p:pic>
      <p:sp>
        <p:nvSpPr>
          <p:cNvPr id="10" name="AutoShape 8"/>
          <p:cNvSpPr/>
          <p:nvPr/>
        </p:nvSpPr>
        <p:spPr>
          <a:xfrm>
            <a:off x="1397000" y="2400935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知识型问答系统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覆盖开放域与封闭域，提供精准的自然语言问答服务。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77260"/>
            <a:ext cx="304800" cy="304800"/>
          </a:xfrm>
          <a:prstGeom prst="rect">
            <a:avLst/>
          </a:prstGeom>
        </p:spPr>
      </p:pic>
      <p:sp>
        <p:nvSpPr>
          <p:cNvPr id="12" name="AutoShape 10"/>
          <p:cNvSpPr/>
          <p:nvPr/>
        </p:nvSpPr>
        <p:spPr>
          <a:xfrm>
            <a:off x="1397000" y="3549015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知识增强对话系统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赋能智能客服与机器人，实现更专业、准确的多轮对话。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71365"/>
            <a:ext cx="304800" cy="304800"/>
          </a:xfrm>
          <a:prstGeom prst="rect">
            <a:avLst/>
          </a:prstGeom>
        </p:spPr>
      </p:pic>
      <p:sp>
        <p:nvSpPr>
          <p:cNvPr id="14" name="AutoShape 12"/>
          <p:cNvSpPr/>
          <p:nvPr/>
        </p:nvSpPr>
        <p:spPr>
          <a:xfrm>
            <a:off x="1397000" y="464312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专业内容生成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辅助生成科技报告、法律文书及医疗咨询等专业文案。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B10015">
              <a:alpha val="10000"/>
            </a:srgbClr>
          </a:solidFill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1651000"/>
            <a:ext cx="304800" cy="304800"/>
          </a:xfrm>
          <a:prstGeom prst="rect">
            <a:avLst/>
          </a:prstGeom>
        </p:spPr>
      </p:pic>
      <p:sp>
        <p:nvSpPr>
          <p:cNvPr id="17" name="AutoShape 15"/>
          <p:cNvSpPr/>
          <p:nvPr/>
        </p:nvSpPr>
        <p:spPr>
          <a:xfrm>
            <a:off x="68580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系统部署流程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6"/>
          <p:cNvCxnSpPr/>
          <p:nvPr/>
        </p:nvCxnSpPr>
        <p:spPr>
          <a:xfrm rot="-9291">
            <a:off x="6477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1001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2329180"/>
            <a:ext cx="304800" cy="304800"/>
          </a:xfrm>
          <a:prstGeom prst="rect">
            <a:avLst/>
          </a:prstGeom>
        </p:spPr>
      </p:pic>
      <p:sp>
        <p:nvSpPr>
          <p:cNvPr id="20" name="AutoShape 18"/>
          <p:cNvSpPr/>
          <p:nvPr/>
        </p:nvSpPr>
        <p:spPr>
          <a:xfrm>
            <a:off x="6858000" y="2422525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01. 知识库预处理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清洗文档、智能分块，高效处理长文档上下文问题。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21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3477260"/>
            <a:ext cx="304800" cy="304800"/>
          </a:xfrm>
          <a:prstGeom prst="rect">
            <a:avLst/>
          </a:prstGeom>
        </p:spPr>
      </p:pic>
      <p:sp>
        <p:nvSpPr>
          <p:cNvPr id="22" name="AutoShape 20"/>
          <p:cNvSpPr/>
          <p:nvPr/>
        </p:nvSpPr>
        <p:spPr>
          <a:xfrm>
            <a:off x="6858000" y="3570605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02. 向量索引构建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将文档编码为Embedding向量，存入数据库并建立高效索引。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23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0" y="4571365"/>
            <a:ext cx="304800" cy="304800"/>
          </a:xfrm>
          <a:prstGeom prst="rect">
            <a:avLst/>
          </a:prstGeom>
        </p:spPr>
      </p:pic>
      <p:sp>
        <p:nvSpPr>
          <p:cNvPr id="24" name="AutoShape 22"/>
          <p:cNvSpPr/>
          <p:nvPr/>
        </p:nvSpPr>
        <p:spPr>
          <a:xfrm>
            <a:off x="6858000" y="466471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03. 服务化部署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封装检索与生成模块为API服务，提供高并发推理能力。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25538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RAG</a:t>
            </a: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性能提升：关键数据与基准测试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6151" y="1064993"/>
            <a:ext cx="5666679" cy="3568562"/>
          </a:xfrm>
          <a:custGeom>
            <a:avLst/>
            <a:gdLst/>
            <a:ahLst/>
            <a:cxnLst/>
            <a:rect l="l" t="t" r="r" b="b"/>
            <a:pathLst>
              <a:path w="5666679" h="3568562">
                <a:moveTo>
                  <a:pt x="70515" y="0"/>
                </a:moveTo>
                <a:lnTo>
                  <a:pt x="5596165" y="0"/>
                </a:lnTo>
                <a:cubicBezTo>
                  <a:pt x="5635109" y="0"/>
                  <a:pt x="5666679" y="31571"/>
                  <a:pt x="5666679" y="70515"/>
                </a:cubicBezTo>
                <a:lnTo>
                  <a:pt x="5666679" y="3498047"/>
                </a:lnTo>
                <a:cubicBezTo>
                  <a:pt x="5666679" y="3536992"/>
                  <a:pt x="5635109" y="3568562"/>
                  <a:pt x="5596165" y="3568562"/>
                </a:cubicBezTo>
                <a:lnTo>
                  <a:pt x="70515" y="3568562"/>
                </a:lnTo>
                <a:cubicBezTo>
                  <a:pt x="31571" y="3568562"/>
                  <a:pt x="0" y="3536992"/>
                  <a:pt x="0" y="3498047"/>
                </a:cubicBezTo>
                <a:lnTo>
                  <a:pt x="0" y="70515"/>
                </a:lnTo>
                <a:cubicBezTo>
                  <a:pt x="0" y="31597"/>
                  <a:pt x="31597" y="0"/>
                  <a:pt x="7051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" name="Shape 4"/>
          <p:cNvSpPr/>
          <p:nvPr/>
        </p:nvSpPr>
        <p:spPr>
          <a:xfrm>
            <a:off x="522766" y="1253645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9918" y="9918"/>
                </a:moveTo>
                <a:cubicBezTo>
                  <a:pt x="15403" y="9918"/>
                  <a:pt x="19835" y="14349"/>
                  <a:pt x="19835" y="19835"/>
                </a:cubicBezTo>
                <a:lnTo>
                  <a:pt x="19835" y="123970"/>
                </a:lnTo>
                <a:cubicBezTo>
                  <a:pt x="19835" y="126697"/>
                  <a:pt x="22067" y="128928"/>
                  <a:pt x="24794" y="128928"/>
                </a:cubicBezTo>
                <a:lnTo>
                  <a:pt x="148764" y="128928"/>
                </a:lnTo>
                <a:cubicBezTo>
                  <a:pt x="154249" y="128928"/>
                  <a:pt x="158681" y="133360"/>
                  <a:pt x="158681" y="138846"/>
                </a:cubicBezTo>
                <a:cubicBezTo>
                  <a:pt x="158681" y="144332"/>
                  <a:pt x="154249" y="148764"/>
                  <a:pt x="148764" y="148764"/>
                </a:cubicBezTo>
                <a:lnTo>
                  <a:pt x="24794" y="148764"/>
                </a:lnTo>
                <a:cubicBezTo>
                  <a:pt x="11095" y="148764"/>
                  <a:pt x="0" y="137668"/>
                  <a:pt x="0" y="123970"/>
                </a:cubicBezTo>
                <a:lnTo>
                  <a:pt x="0" y="19835"/>
                </a:lnTo>
                <a:cubicBezTo>
                  <a:pt x="0" y="14349"/>
                  <a:pt x="4432" y="9918"/>
                  <a:pt x="9918" y="9918"/>
                </a:cubicBezTo>
                <a:close/>
                <a:moveTo>
                  <a:pt x="39670" y="29753"/>
                </a:moveTo>
                <a:cubicBezTo>
                  <a:pt x="39670" y="24267"/>
                  <a:pt x="44102" y="19835"/>
                  <a:pt x="49588" y="19835"/>
                </a:cubicBezTo>
                <a:lnTo>
                  <a:pt x="109093" y="19835"/>
                </a:lnTo>
                <a:cubicBezTo>
                  <a:pt x="114579" y="19835"/>
                  <a:pt x="119011" y="24267"/>
                  <a:pt x="119011" y="29753"/>
                </a:cubicBezTo>
                <a:cubicBezTo>
                  <a:pt x="119011" y="35238"/>
                  <a:pt x="114579" y="39670"/>
                  <a:pt x="109093" y="39670"/>
                </a:cubicBezTo>
                <a:lnTo>
                  <a:pt x="49588" y="39670"/>
                </a:lnTo>
                <a:cubicBezTo>
                  <a:pt x="44102" y="39670"/>
                  <a:pt x="39670" y="35238"/>
                  <a:pt x="39670" y="29753"/>
                </a:cubicBezTo>
                <a:close/>
                <a:moveTo>
                  <a:pt x="49588" y="54547"/>
                </a:moveTo>
                <a:lnTo>
                  <a:pt x="89258" y="54547"/>
                </a:lnTo>
                <a:cubicBezTo>
                  <a:pt x="94744" y="54547"/>
                  <a:pt x="99176" y="58979"/>
                  <a:pt x="99176" y="64464"/>
                </a:cubicBezTo>
                <a:cubicBezTo>
                  <a:pt x="99176" y="69950"/>
                  <a:pt x="94744" y="74382"/>
                  <a:pt x="89258" y="74382"/>
                </a:cubicBezTo>
                <a:lnTo>
                  <a:pt x="49588" y="74382"/>
                </a:lnTo>
                <a:cubicBezTo>
                  <a:pt x="44102" y="74382"/>
                  <a:pt x="39670" y="69950"/>
                  <a:pt x="39670" y="64464"/>
                </a:cubicBezTo>
                <a:cubicBezTo>
                  <a:pt x="39670" y="58979"/>
                  <a:pt x="44102" y="54547"/>
                  <a:pt x="49588" y="54547"/>
                </a:cubicBezTo>
                <a:close/>
                <a:moveTo>
                  <a:pt x="49588" y="89258"/>
                </a:moveTo>
                <a:lnTo>
                  <a:pt x="128928" y="89258"/>
                </a:lnTo>
                <a:cubicBezTo>
                  <a:pt x="134414" y="89258"/>
                  <a:pt x="138846" y="93690"/>
                  <a:pt x="138846" y="99176"/>
                </a:cubicBezTo>
                <a:cubicBezTo>
                  <a:pt x="138846" y="104661"/>
                  <a:pt x="134414" y="109093"/>
                  <a:pt x="128928" y="109093"/>
                </a:cubicBezTo>
                <a:lnTo>
                  <a:pt x="49588" y="109093"/>
                </a:lnTo>
                <a:cubicBezTo>
                  <a:pt x="44102" y="109093"/>
                  <a:pt x="39670" y="104661"/>
                  <a:pt x="39670" y="99176"/>
                </a:cubicBezTo>
                <a:cubicBezTo>
                  <a:pt x="39670" y="93690"/>
                  <a:pt x="44102" y="89258"/>
                  <a:pt x="49588" y="8925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" name="Text 5"/>
          <p:cNvSpPr/>
          <p:nvPr/>
        </p:nvSpPr>
        <p:spPr>
          <a:xfrm>
            <a:off x="744126" y="1209567"/>
            <a:ext cx="525410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准确率提升数据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500727" y="1562192"/>
            <a:ext cx="5377527" cy="811037"/>
          </a:xfrm>
          <a:custGeom>
            <a:avLst/>
            <a:gdLst/>
            <a:ahLst/>
            <a:cxnLst/>
            <a:rect l="l" t="t" r="r" b="b"/>
            <a:pathLst>
              <a:path w="5377527" h="811037">
                <a:moveTo>
                  <a:pt x="70528" y="0"/>
                </a:moveTo>
                <a:lnTo>
                  <a:pt x="5306999" y="0"/>
                </a:lnTo>
                <a:cubicBezTo>
                  <a:pt x="5345951" y="0"/>
                  <a:pt x="5377527" y="31576"/>
                  <a:pt x="5377527" y="70528"/>
                </a:cubicBezTo>
                <a:lnTo>
                  <a:pt x="5377527" y="740509"/>
                </a:lnTo>
                <a:cubicBezTo>
                  <a:pt x="5377527" y="779461"/>
                  <a:pt x="5345951" y="811037"/>
                  <a:pt x="5306999" y="811037"/>
                </a:cubicBezTo>
                <a:lnTo>
                  <a:pt x="70528" y="811037"/>
                </a:lnTo>
                <a:cubicBezTo>
                  <a:pt x="31576" y="811037"/>
                  <a:pt x="0" y="779461"/>
                  <a:pt x="0" y="740509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6" name="Text 7"/>
          <p:cNvSpPr/>
          <p:nvPr/>
        </p:nvSpPr>
        <p:spPr>
          <a:xfrm>
            <a:off x="606425" y="1703070"/>
            <a:ext cx="149606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RAPTOR + GPT-4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139690" y="1668145"/>
            <a:ext cx="711200" cy="247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+20%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06515" y="1985342"/>
            <a:ext cx="5218846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在QuALITY基准测试中，相比传统RAG方法提升20%绝对准确率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606515" y="2196809"/>
            <a:ext cx="5165952" cy="70525"/>
          </a:xfrm>
          <a:custGeom>
            <a:avLst/>
            <a:gdLst/>
            <a:ahLst/>
            <a:cxnLst/>
            <a:rect l="l" t="t" r="r" b="b"/>
            <a:pathLst>
              <a:path w="5165952" h="70525">
                <a:moveTo>
                  <a:pt x="35262" y="0"/>
                </a:moveTo>
                <a:lnTo>
                  <a:pt x="5130690" y="0"/>
                </a:lnTo>
                <a:cubicBezTo>
                  <a:pt x="5150165" y="0"/>
                  <a:pt x="5165952" y="15788"/>
                  <a:pt x="5165952" y="35262"/>
                </a:cubicBezTo>
                <a:lnTo>
                  <a:pt x="5165952" y="35262"/>
                </a:lnTo>
                <a:cubicBezTo>
                  <a:pt x="5165952" y="54737"/>
                  <a:pt x="5150165" y="70525"/>
                  <a:pt x="5130690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30" name="Shape 11"/>
          <p:cNvSpPr/>
          <p:nvPr/>
        </p:nvSpPr>
        <p:spPr>
          <a:xfrm>
            <a:off x="606515" y="2196809"/>
            <a:ext cx="4134525" cy="70525"/>
          </a:xfrm>
          <a:custGeom>
            <a:avLst/>
            <a:gdLst/>
            <a:ahLst/>
            <a:cxnLst/>
            <a:rect l="l" t="t" r="r" b="b"/>
            <a:pathLst>
              <a:path w="4134525" h="70525">
                <a:moveTo>
                  <a:pt x="35262" y="0"/>
                </a:moveTo>
                <a:lnTo>
                  <a:pt x="4099262" y="0"/>
                </a:lnTo>
                <a:cubicBezTo>
                  <a:pt x="4118737" y="0"/>
                  <a:pt x="4134525" y="15788"/>
                  <a:pt x="4134525" y="35262"/>
                </a:cubicBezTo>
                <a:lnTo>
                  <a:pt x="4134525" y="35262"/>
                </a:lnTo>
                <a:cubicBezTo>
                  <a:pt x="4134525" y="54737"/>
                  <a:pt x="4118737" y="70525"/>
                  <a:pt x="4099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8A464"/>
          </a:solidFill>
        </p:spPr>
      </p:sp>
      <p:sp>
        <p:nvSpPr>
          <p:cNvPr id="31" name="Shape 12"/>
          <p:cNvSpPr/>
          <p:nvPr/>
        </p:nvSpPr>
        <p:spPr>
          <a:xfrm>
            <a:off x="500727" y="2478909"/>
            <a:ext cx="5377527" cy="811037"/>
          </a:xfrm>
          <a:custGeom>
            <a:avLst/>
            <a:gdLst/>
            <a:ahLst/>
            <a:cxnLst/>
            <a:rect l="l" t="t" r="r" b="b"/>
            <a:pathLst>
              <a:path w="5377527" h="811037">
                <a:moveTo>
                  <a:pt x="70528" y="0"/>
                </a:moveTo>
                <a:lnTo>
                  <a:pt x="5306999" y="0"/>
                </a:lnTo>
                <a:cubicBezTo>
                  <a:pt x="5345951" y="0"/>
                  <a:pt x="5377527" y="31576"/>
                  <a:pt x="5377527" y="70528"/>
                </a:cubicBezTo>
                <a:lnTo>
                  <a:pt x="5377527" y="740509"/>
                </a:lnTo>
                <a:cubicBezTo>
                  <a:pt x="5377527" y="779461"/>
                  <a:pt x="5345951" y="811037"/>
                  <a:pt x="5306999" y="811037"/>
                </a:cubicBezTo>
                <a:lnTo>
                  <a:pt x="70528" y="811037"/>
                </a:lnTo>
                <a:cubicBezTo>
                  <a:pt x="31576" y="811037"/>
                  <a:pt x="0" y="779461"/>
                  <a:pt x="0" y="740509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2" name="Text 13"/>
          <p:cNvSpPr/>
          <p:nvPr/>
        </p:nvSpPr>
        <p:spPr>
          <a:xfrm>
            <a:off x="606425" y="2620010"/>
            <a:ext cx="1983105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 + RAG (医疗)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5139055" y="2584450"/>
            <a:ext cx="716280" cy="247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96.4%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06515" y="2902058"/>
            <a:ext cx="5218846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在医疗诊断场景下达到96.4%准确率，接近0%幻觉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606515" y="3113526"/>
            <a:ext cx="5165952" cy="70525"/>
          </a:xfrm>
          <a:custGeom>
            <a:avLst/>
            <a:gdLst/>
            <a:ahLst/>
            <a:cxnLst/>
            <a:rect l="l" t="t" r="r" b="b"/>
            <a:pathLst>
              <a:path w="5165952" h="70525">
                <a:moveTo>
                  <a:pt x="35262" y="0"/>
                </a:moveTo>
                <a:lnTo>
                  <a:pt x="5130690" y="0"/>
                </a:lnTo>
                <a:cubicBezTo>
                  <a:pt x="5150165" y="0"/>
                  <a:pt x="5165952" y="15788"/>
                  <a:pt x="5165952" y="35262"/>
                </a:cubicBezTo>
                <a:lnTo>
                  <a:pt x="5165952" y="35262"/>
                </a:lnTo>
                <a:cubicBezTo>
                  <a:pt x="5165952" y="54737"/>
                  <a:pt x="5150165" y="70525"/>
                  <a:pt x="5130690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36" name="Shape 17"/>
          <p:cNvSpPr/>
          <p:nvPr/>
        </p:nvSpPr>
        <p:spPr>
          <a:xfrm>
            <a:off x="606515" y="3113526"/>
            <a:ext cx="4980824" cy="70525"/>
          </a:xfrm>
          <a:custGeom>
            <a:avLst/>
            <a:gdLst/>
            <a:ahLst/>
            <a:cxnLst/>
            <a:rect l="l" t="t" r="r" b="b"/>
            <a:pathLst>
              <a:path w="4980824" h="70525">
                <a:moveTo>
                  <a:pt x="35262" y="0"/>
                </a:moveTo>
                <a:lnTo>
                  <a:pt x="4945562" y="0"/>
                </a:lnTo>
                <a:cubicBezTo>
                  <a:pt x="4965037" y="0"/>
                  <a:pt x="4980824" y="15788"/>
                  <a:pt x="4980824" y="35262"/>
                </a:cubicBezTo>
                <a:lnTo>
                  <a:pt x="4980824" y="35262"/>
                </a:lnTo>
                <a:cubicBezTo>
                  <a:pt x="4980824" y="54737"/>
                  <a:pt x="4965037" y="70525"/>
                  <a:pt x="49455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7C82"/>
          </a:solidFill>
        </p:spPr>
      </p:sp>
      <p:sp>
        <p:nvSpPr>
          <p:cNvPr id="37" name="Shape 18"/>
          <p:cNvSpPr/>
          <p:nvPr/>
        </p:nvSpPr>
        <p:spPr>
          <a:xfrm>
            <a:off x="500727" y="3395625"/>
            <a:ext cx="5377527" cy="1093137"/>
          </a:xfrm>
          <a:custGeom>
            <a:avLst/>
            <a:gdLst/>
            <a:ahLst/>
            <a:cxnLst/>
            <a:rect l="l" t="t" r="r" b="b"/>
            <a:pathLst>
              <a:path w="5377527" h="1093137">
                <a:moveTo>
                  <a:pt x="70529" y="0"/>
                </a:moveTo>
                <a:lnTo>
                  <a:pt x="5306998" y="0"/>
                </a:lnTo>
                <a:cubicBezTo>
                  <a:pt x="5345950" y="0"/>
                  <a:pt x="5377527" y="31577"/>
                  <a:pt x="5377527" y="70529"/>
                </a:cubicBezTo>
                <a:lnTo>
                  <a:pt x="5377527" y="1022607"/>
                </a:lnTo>
                <a:cubicBezTo>
                  <a:pt x="5377527" y="1061560"/>
                  <a:pt x="5345950" y="1093137"/>
                  <a:pt x="5306998" y="1093137"/>
                </a:cubicBezTo>
                <a:lnTo>
                  <a:pt x="70529" y="1093137"/>
                </a:lnTo>
                <a:cubicBezTo>
                  <a:pt x="31577" y="1093137"/>
                  <a:pt x="0" y="1061560"/>
                  <a:pt x="0" y="1022607"/>
                </a:cubicBezTo>
                <a:lnTo>
                  <a:pt x="0" y="70529"/>
                </a:lnTo>
                <a:cubicBezTo>
                  <a:pt x="0" y="31603"/>
                  <a:pt x="31603" y="0"/>
                  <a:pt x="70529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8" name="Text 19"/>
          <p:cNvSpPr/>
          <p:nvPr/>
        </p:nvSpPr>
        <p:spPr>
          <a:xfrm>
            <a:off x="606425" y="3536950"/>
            <a:ext cx="174117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事实准确率提升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4900295" y="3501390"/>
            <a:ext cx="951865" cy="247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+20-30%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606515" y="3818775"/>
            <a:ext cx="5218846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从65-75%提升至85-95%，显著改善答案可靠性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606515" y="4030238"/>
            <a:ext cx="2547714" cy="352625"/>
          </a:xfrm>
          <a:custGeom>
            <a:avLst/>
            <a:gdLst/>
            <a:ahLst/>
            <a:cxnLst/>
            <a:rect l="l" t="t" r="r" b="b"/>
            <a:pathLst>
              <a:path w="2547714" h="352625">
                <a:moveTo>
                  <a:pt x="35262" y="0"/>
                </a:moveTo>
                <a:lnTo>
                  <a:pt x="2512451" y="0"/>
                </a:lnTo>
                <a:cubicBezTo>
                  <a:pt x="2531926" y="0"/>
                  <a:pt x="2547714" y="15788"/>
                  <a:pt x="2547714" y="35262"/>
                </a:cubicBezTo>
                <a:lnTo>
                  <a:pt x="2547714" y="317362"/>
                </a:lnTo>
                <a:cubicBezTo>
                  <a:pt x="2547714" y="336837"/>
                  <a:pt x="2531926" y="352625"/>
                  <a:pt x="2512451" y="352625"/>
                </a:cubicBezTo>
                <a:lnTo>
                  <a:pt x="35262" y="352625"/>
                </a:lnTo>
                <a:cubicBezTo>
                  <a:pt x="15788" y="352625"/>
                  <a:pt x="0" y="336837"/>
                  <a:pt x="0" y="3173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43" name="Text 23"/>
          <p:cNvSpPr/>
          <p:nvPr/>
        </p:nvSpPr>
        <p:spPr>
          <a:xfrm>
            <a:off x="615330" y="4065500"/>
            <a:ext cx="2530082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传统LLM</a:t>
            </a:r>
            <a:endParaRPr lang="en-US" sz="104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615330" y="4206438"/>
            <a:ext cx="2530082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65-75%</a:t>
            </a:r>
            <a:endParaRPr lang="en-US" sz="104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3224533" y="4030238"/>
            <a:ext cx="2547714" cy="352625"/>
          </a:xfrm>
          <a:custGeom>
            <a:avLst/>
            <a:gdLst/>
            <a:ahLst/>
            <a:cxnLst/>
            <a:rect l="l" t="t" r="r" b="b"/>
            <a:pathLst>
              <a:path w="2547714" h="352625">
                <a:moveTo>
                  <a:pt x="35262" y="0"/>
                </a:moveTo>
                <a:lnTo>
                  <a:pt x="2512451" y="0"/>
                </a:lnTo>
                <a:cubicBezTo>
                  <a:pt x="2531926" y="0"/>
                  <a:pt x="2547714" y="15788"/>
                  <a:pt x="2547714" y="35262"/>
                </a:cubicBezTo>
                <a:lnTo>
                  <a:pt x="2547714" y="317362"/>
                </a:lnTo>
                <a:cubicBezTo>
                  <a:pt x="2547714" y="336837"/>
                  <a:pt x="2531926" y="352625"/>
                  <a:pt x="2512451" y="352625"/>
                </a:cubicBezTo>
                <a:lnTo>
                  <a:pt x="35262" y="352625"/>
                </a:lnTo>
                <a:cubicBezTo>
                  <a:pt x="15788" y="352625"/>
                  <a:pt x="0" y="336837"/>
                  <a:pt x="0" y="3173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</p:spPr>
      </p:sp>
      <p:sp>
        <p:nvSpPr>
          <p:cNvPr id="46" name="Text 26"/>
          <p:cNvSpPr/>
          <p:nvPr/>
        </p:nvSpPr>
        <p:spPr>
          <a:xfrm>
            <a:off x="3233348" y="4065500"/>
            <a:ext cx="2530082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RAG增强</a:t>
            </a:r>
            <a:endParaRPr lang="en-US" sz="104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 27"/>
          <p:cNvSpPr/>
          <p:nvPr/>
        </p:nvSpPr>
        <p:spPr>
          <a:xfrm>
            <a:off x="3233348" y="4206438"/>
            <a:ext cx="2530082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85-95%</a:t>
            </a:r>
            <a:endParaRPr lang="en-US" sz="104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356151" y="4781103"/>
            <a:ext cx="5666679" cy="1593864"/>
          </a:xfrm>
          <a:custGeom>
            <a:avLst/>
            <a:gdLst/>
            <a:ahLst/>
            <a:cxnLst/>
            <a:rect l="l" t="t" r="r" b="b"/>
            <a:pathLst>
              <a:path w="5666679" h="1593864">
                <a:moveTo>
                  <a:pt x="70528" y="0"/>
                </a:moveTo>
                <a:lnTo>
                  <a:pt x="5596151" y="0"/>
                </a:lnTo>
                <a:cubicBezTo>
                  <a:pt x="5635103" y="0"/>
                  <a:pt x="5666679" y="31577"/>
                  <a:pt x="5666679" y="70528"/>
                </a:cubicBezTo>
                <a:lnTo>
                  <a:pt x="5666679" y="1523335"/>
                </a:lnTo>
                <a:cubicBezTo>
                  <a:pt x="5666679" y="1562287"/>
                  <a:pt x="5635103" y="1593864"/>
                  <a:pt x="5596151" y="1593864"/>
                </a:cubicBezTo>
                <a:lnTo>
                  <a:pt x="70528" y="1593864"/>
                </a:lnTo>
                <a:cubicBezTo>
                  <a:pt x="31577" y="1593864"/>
                  <a:pt x="0" y="1562287"/>
                  <a:pt x="0" y="1523335"/>
                </a:cubicBezTo>
                <a:lnTo>
                  <a:pt x="0" y="70528"/>
                </a:lnTo>
                <a:cubicBezTo>
                  <a:pt x="0" y="31577"/>
                  <a:pt x="31577" y="0"/>
                  <a:pt x="70528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9" name="Shape 29"/>
          <p:cNvSpPr/>
          <p:nvPr/>
        </p:nvSpPr>
        <p:spPr>
          <a:xfrm>
            <a:off x="522766" y="4969764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0"/>
                </a:moveTo>
                <a:cubicBezTo>
                  <a:pt x="80766" y="0"/>
                  <a:pt x="82192" y="310"/>
                  <a:pt x="83494" y="899"/>
                </a:cubicBezTo>
                <a:lnTo>
                  <a:pt x="141883" y="25662"/>
                </a:lnTo>
                <a:cubicBezTo>
                  <a:pt x="148702" y="28544"/>
                  <a:pt x="153784" y="35269"/>
                  <a:pt x="153753" y="43389"/>
                </a:cubicBezTo>
                <a:cubicBezTo>
                  <a:pt x="153598" y="74134"/>
                  <a:pt x="140953" y="130385"/>
                  <a:pt x="87554" y="155954"/>
                </a:cubicBezTo>
                <a:cubicBezTo>
                  <a:pt x="82378" y="158433"/>
                  <a:pt x="76365" y="158433"/>
                  <a:pt x="71190" y="155954"/>
                </a:cubicBezTo>
                <a:cubicBezTo>
                  <a:pt x="17759" y="130385"/>
                  <a:pt x="5145" y="74134"/>
                  <a:pt x="4990" y="43389"/>
                </a:cubicBezTo>
                <a:cubicBezTo>
                  <a:pt x="4959" y="35269"/>
                  <a:pt x="10042" y="28544"/>
                  <a:pt x="16860" y="25662"/>
                </a:cubicBezTo>
                <a:lnTo>
                  <a:pt x="75219" y="899"/>
                </a:lnTo>
                <a:cubicBezTo>
                  <a:pt x="76520" y="310"/>
                  <a:pt x="77915" y="0"/>
                  <a:pt x="79341" y="0"/>
                </a:cubicBezTo>
                <a:close/>
                <a:moveTo>
                  <a:pt x="79341" y="20703"/>
                </a:moveTo>
                <a:lnTo>
                  <a:pt x="79341" y="137885"/>
                </a:lnTo>
                <a:cubicBezTo>
                  <a:pt x="122110" y="117182"/>
                  <a:pt x="133608" y="71314"/>
                  <a:pt x="133887" y="43854"/>
                </a:cubicBezTo>
                <a:lnTo>
                  <a:pt x="79341" y="20734"/>
                </a:lnTo>
                <a:lnTo>
                  <a:pt x="79341" y="20734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0" name="Text 30"/>
          <p:cNvSpPr/>
          <p:nvPr/>
        </p:nvSpPr>
        <p:spPr>
          <a:xfrm>
            <a:off x="744126" y="4925686"/>
            <a:ext cx="525410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幻觉率降低数据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1" name="Shape 31"/>
          <p:cNvSpPr/>
          <p:nvPr/>
        </p:nvSpPr>
        <p:spPr>
          <a:xfrm>
            <a:off x="500727" y="5278311"/>
            <a:ext cx="5377527" cy="952087"/>
          </a:xfrm>
          <a:custGeom>
            <a:avLst/>
            <a:gdLst/>
            <a:ahLst/>
            <a:cxnLst/>
            <a:rect l="l" t="t" r="r" b="b"/>
            <a:pathLst>
              <a:path w="5377527" h="952087">
                <a:moveTo>
                  <a:pt x="70521" y="0"/>
                </a:moveTo>
                <a:lnTo>
                  <a:pt x="5307006" y="0"/>
                </a:lnTo>
                <a:cubicBezTo>
                  <a:pt x="5345954" y="0"/>
                  <a:pt x="5377527" y="31573"/>
                  <a:pt x="5377527" y="70521"/>
                </a:cubicBezTo>
                <a:lnTo>
                  <a:pt x="5377527" y="881566"/>
                </a:lnTo>
                <a:cubicBezTo>
                  <a:pt x="5377527" y="920513"/>
                  <a:pt x="5345954" y="952087"/>
                  <a:pt x="5307006" y="952087"/>
                </a:cubicBezTo>
                <a:lnTo>
                  <a:pt x="70521" y="952087"/>
                </a:lnTo>
                <a:cubicBezTo>
                  <a:pt x="31573" y="952087"/>
                  <a:pt x="0" y="920513"/>
                  <a:pt x="0" y="881566"/>
                </a:cubicBezTo>
                <a:lnTo>
                  <a:pt x="0" y="70521"/>
                </a:lnTo>
                <a:cubicBezTo>
                  <a:pt x="0" y="31573"/>
                  <a:pt x="31573" y="0"/>
                  <a:pt x="7052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2" name="Text 32"/>
          <p:cNvSpPr/>
          <p:nvPr/>
        </p:nvSpPr>
        <p:spPr>
          <a:xfrm>
            <a:off x="1567180" y="5384165"/>
            <a:ext cx="154432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15-30%</a:t>
            </a:r>
            <a:endParaRPr 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Text 33"/>
          <p:cNvSpPr/>
          <p:nvPr/>
        </p:nvSpPr>
        <p:spPr>
          <a:xfrm>
            <a:off x="2102194" y="5701460"/>
            <a:ext cx="969718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传统LLM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Shape 34"/>
          <p:cNvSpPr/>
          <p:nvPr/>
        </p:nvSpPr>
        <p:spPr>
          <a:xfrm>
            <a:off x="3214946" y="5507405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207690" y="115126"/>
                </a:moveTo>
                <a:cubicBezTo>
                  <a:pt x="212856" y="109961"/>
                  <a:pt x="212856" y="101572"/>
                  <a:pt x="207690" y="96407"/>
                </a:cubicBezTo>
                <a:lnTo>
                  <a:pt x="141573" y="30290"/>
                </a:lnTo>
                <a:cubicBezTo>
                  <a:pt x="136408" y="25125"/>
                  <a:pt x="128019" y="25125"/>
                  <a:pt x="122854" y="30290"/>
                </a:cubicBezTo>
                <a:cubicBezTo>
                  <a:pt x="117689" y="35455"/>
                  <a:pt x="117689" y="43844"/>
                  <a:pt x="122854" y="49009"/>
                </a:cubicBezTo>
                <a:lnTo>
                  <a:pt x="166409" y="92564"/>
                </a:lnTo>
                <a:lnTo>
                  <a:pt x="13223" y="92564"/>
                </a:lnTo>
                <a:cubicBezTo>
                  <a:pt x="5909" y="92564"/>
                  <a:pt x="0" y="98473"/>
                  <a:pt x="0" y="105787"/>
                </a:cubicBezTo>
                <a:cubicBezTo>
                  <a:pt x="0" y="113102"/>
                  <a:pt x="5909" y="119011"/>
                  <a:pt x="13223" y="119011"/>
                </a:cubicBezTo>
                <a:lnTo>
                  <a:pt x="166409" y="119011"/>
                </a:lnTo>
                <a:lnTo>
                  <a:pt x="122854" y="162566"/>
                </a:lnTo>
                <a:cubicBezTo>
                  <a:pt x="117689" y="167731"/>
                  <a:pt x="117689" y="176120"/>
                  <a:pt x="122854" y="181285"/>
                </a:cubicBezTo>
                <a:cubicBezTo>
                  <a:pt x="128019" y="186450"/>
                  <a:pt x="136408" y="186450"/>
                  <a:pt x="141573" y="181285"/>
                </a:cubicBezTo>
                <a:lnTo>
                  <a:pt x="207690" y="11516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5" name="Text 35"/>
          <p:cNvSpPr/>
          <p:nvPr/>
        </p:nvSpPr>
        <p:spPr>
          <a:xfrm>
            <a:off x="3528060" y="5384165"/>
            <a:ext cx="110744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3-8%</a:t>
            </a:r>
            <a:endParaRPr 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Text 36"/>
          <p:cNvSpPr/>
          <p:nvPr/>
        </p:nvSpPr>
        <p:spPr>
          <a:xfrm>
            <a:off x="3567570" y="5701460"/>
            <a:ext cx="705249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RAG增强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 37"/>
          <p:cNvSpPr/>
          <p:nvPr/>
        </p:nvSpPr>
        <p:spPr>
          <a:xfrm>
            <a:off x="575660" y="5948186"/>
            <a:ext cx="5227662" cy="176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降低70-85%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，显著提升答案可信度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6170492" y="1064993"/>
            <a:ext cx="5666679" cy="2880944"/>
          </a:xfrm>
          <a:custGeom>
            <a:avLst/>
            <a:gdLst/>
            <a:ahLst/>
            <a:cxnLst/>
            <a:rect l="l" t="t" r="r" b="b"/>
            <a:pathLst>
              <a:path w="5666679" h="2880944">
                <a:moveTo>
                  <a:pt x="70526" y="0"/>
                </a:moveTo>
                <a:lnTo>
                  <a:pt x="5596154" y="0"/>
                </a:lnTo>
                <a:cubicBezTo>
                  <a:pt x="5635104" y="0"/>
                  <a:pt x="5666679" y="31575"/>
                  <a:pt x="5666679" y="70526"/>
                </a:cubicBezTo>
                <a:lnTo>
                  <a:pt x="5666679" y="2810419"/>
                </a:lnTo>
                <a:cubicBezTo>
                  <a:pt x="5666679" y="2849369"/>
                  <a:pt x="5635104" y="2880944"/>
                  <a:pt x="5596154" y="2880944"/>
                </a:cubicBezTo>
                <a:lnTo>
                  <a:pt x="70526" y="2880944"/>
                </a:lnTo>
                <a:cubicBezTo>
                  <a:pt x="31575" y="2880944"/>
                  <a:pt x="0" y="2849369"/>
                  <a:pt x="0" y="2810419"/>
                </a:cubicBezTo>
                <a:lnTo>
                  <a:pt x="0" y="70526"/>
                </a:lnTo>
                <a:cubicBezTo>
                  <a:pt x="0" y="31575"/>
                  <a:pt x="31575" y="0"/>
                  <a:pt x="70526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9" name="Shape 39"/>
          <p:cNvSpPr/>
          <p:nvPr/>
        </p:nvSpPr>
        <p:spPr>
          <a:xfrm>
            <a:off x="6337107" y="1253645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44722" y="0"/>
                </a:moveTo>
                <a:lnTo>
                  <a:pt x="114145" y="0"/>
                </a:lnTo>
                <a:cubicBezTo>
                  <a:pt x="122358" y="0"/>
                  <a:pt x="129052" y="6756"/>
                  <a:pt x="128742" y="14938"/>
                </a:cubicBezTo>
                <a:cubicBezTo>
                  <a:pt x="128680" y="16581"/>
                  <a:pt x="128618" y="18224"/>
                  <a:pt x="128526" y="19835"/>
                </a:cubicBezTo>
                <a:lnTo>
                  <a:pt x="143898" y="19835"/>
                </a:lnTo>
                <a:cubicBezTo>
                  <a:pt x="151987" y="19835"/>
                  <a:pt x="159115" y="26530"/>
                  <a:pt x="158495" y="35269"/>
                </a:cubicBezTo>
                <a:cubicBezTo>
                  <a:pt x="156171" y="67408"/>
                  <a:pt x="139745" y="85074"/>
                  <a:pt x="121924" y="94310"/>
                </a:cubicBezTo>
                <a:cubicBezTo>
                  <a:pt x="117027" y="96851"/>
                  <a:pt x="112038" y="98742"/>
                  <a:pt x="107296" y="100136"/>
                </a:cubicBezTo>
                <a:cubicBezTo>
                  <a:pt x="101035" y="109000"/>
                  <a:pt x="94527" y="113680"/>
                  <a:pt x="89351" y="116191"/>
                </a:cubicBezTo>
                <a:lnTo>
                  <a:pt x="89351" y="138846"/>
                </a:lnTo>
                <a:lnTo>
                  <a:pt x="109186" y="138846"/>
                </a:lnTo>
                <a:cubicBezTo>
                  <a:pt x="114672" y="138846"/>
                  <a:pt x="119104" y="143278"/>
                  <a:pt x="119104" y="148764"/>
                </a:cubicBezTo>
                <a:cubicBezTo>
                  <a:pt x="119104" y="154249"/>
                  <a:pt x="114672" y="158681"/>
                  <a:pt x="109186" y="158681"/>
                </a:cubicBezTo>
                <a:lnTo>
                  <a:pt x="49681" y="158681"/>
                </a:lnTo>
                <a:cubicBezTo>
                  <a:pt x="44195" y="158681"/>
                  <a:pt x="39763" y="154249"/>
                  <a:pt x="39763" y="148764"/>
                </a:cubicBezTo>
                <a:cubicBezTo>
                  <a:pt x="39763" y="143278"/>
                  <a:pt x="44195" y="138846"/>
                  <a:pt x="49681" y="138846"/>
                </a:cubicBezTo>
                <a:lnTo>
                  <a:pt x="69516" y="138846"/>
                </a:lnTo>
                <a:lnTo>
                  <a:pt x="69516" y="116191"/>
                </a:lnTo>
                <a:cubicBezTo>
                  <a:pt x="64557" y="113804"/>
                  <a:pt x="58390" y="109372"/>
                  <a:pt x="52377" y="101221"/>
                </a:cubicBezTo>
                <a:cubicBezTo>
                  <a:pt x="46675" y="99734"/>
                  <a:pt x="40476" y="97471"/>
                  <a:pt x="34433" y="94062"/>
                </a:cubicBezTo>
                <a:cubicBezTo>
                  <a:pt x="17666" y="84671"/>
                  <a:pt x="2541" y="66975"/>
                  <a:pt x="372" y="35207"/>
                </a:cubicBezTo>
                <a:cubicBezTo>
                  <a:pt x="-217" y="26499"/>
                  <a:pt x="6880" y="19804"/>
                  <a:pt x="14969" y="19804"/>
                </a:cubicBezTo>
                <a:lnTo>
                  <a:pt x="30342" y="19804"/>
                </a:lnTo>
                <a:cubicBezTo>
                  <a:pt x="30249" y="18193"/>
                  <a:pt x="30187" y="16581"/>
                  <a:pt x="30125" y="14907"/>
                </a:cubicBezTo>
                <a:cubicBezTo>
                  <a:pt x="29815" y="6694"/>
                  <a:pt x="36509" y="-31"/>
                  <a:pt x="44722" y="-31"/>
                </a:cubicBezTo>
                <a:close/>
                <a:moveTo>
                  <a:pt x="31457" y="34711"/>
                </a:moveTo>
                <a:lnTo>
                  <a:pt x="15217" y="34711"/>
                </a:lnTo>
                <a:cubicBezTo>
                  <a:pt x="17139" y="60962"/>
                  <a:pt x="29195" y="74103"/>
                  <a:pt x="41623" y="81076"/>
                </a:cubicBezTo>
                <a:cubicBezTo>
                  <a:pt x="37160" y="69516"/>
                  <a:pt x="33472" y="54423"/>
                  <a:pt x="31457" y="34711"/>
                </a:cubicBezTo>
                <a:close/>
                <a:moveTo>
                  <a:pt x="117771" y="79589"/>
                </a:moveTo>
                <a:cubicBezTo>
                  <a:pt x="130323" y="72212"/>
                  <a:pt x="141666" y="59103"/>
                  <a:pt x="143588" y="34711"/>
                </a:cubicBezTo>
                <a:lnTo>
                  <a:pt x="127379" y="34711"/>
                </a:lnTo>
                <a:cubicBezTo>
                  <a:pt x="125457" y="53586"/>
                  <a:pt x="121986" y="68245"/>
                  <a:pt x="117771" y="7958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0" name="Text 40"/>
          <p:cNvSpPr/>
          <p:nvPr/>
        </p:nvSpPr>
        <p:spPr>
          <a:xfrm>
            <a:off x="6558468" y="1209567"/>
            <a:ext cx="525410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RAG系统性能对比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Shape 41"/>
          <p:cNvSpPr/>
          <p:nvPr/>
        </p:nvSpPr>
        <p:spPr>
          <a:xfrm>
            <a:off x="6318595" y="1565718"/>
            <a:ext cx="5366948" cy="677039"/>
          </a:xfrm>
          <a:custGeom>
            <a:avLst/>
            <a:gdLst/>
            <a:ahLst/>
            <a:cxnLst/>
            <a:rect l="l" t="t" r="r" b="b"/>
            <a:pathLst>
              <a:path w="5366948" h="677039">
                <a:moveTo>
                  <a:pt x="70527" y="0"/>
                </a:moveTo>
                <a:lnTo>
                  <a:pt x="5296421" y="0"/>
                </a:lnTo>
                <a:cubicBezTo>
                  <a:pt x="5335372" y="0"/>
                  <a:pt x="5366948" y="31576"/>
                  <a:pt x="5366948" y="70527"/>
                </a:cubicBezTo>
                <a:lnTo>
                  <a:pt x="5366948" y="606512"/>
                </a:lnTo>
                <a:cubicBezTo>
                  <a:pt x="5366948" y="645463"/>
                  <a:pt x="5335372" y="677039"/>
                  <a:pt x="5296421" y="677039"/>
                </a:cubicBezTo>
                <a:lnTo>
                  <a:pt x="70527" y="677039"/>
                </a:lnTo>
                <a:cubicBezTo>
                  <a:pt x="31602" y="677039"/>
                  <a:pt x="0" y="645437"/>
                  <a:pt x="0" y="606512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noFill/>
          <a:ln w="10160">
            <a:solidFill>
              <a:srgbClr val="B10015">
                <a:alpha val="50196"/>
              </a:srgbClr>
            </a:solidFill>
            <a:prstDash val="solid"/>
          </a:ln>
        </p:spPr>
      </p:sp>
      <p:sp>
        <p:nvSpPr>
          <p:cNvPr id="62" name="Text 42"/>
          <p:cNvSpPr/>
          <p:nvPr/>
        </p:nvSpPr>
        <p:spPr>
          <a:xfrm>
            <a:off x="6428105" y="1710055"/>
            <a:ext cx="1431290" cy="21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GroundX RAG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3" name="Text 43"/>
          <p:cNvSpPr/>
          <p:nvPr/>
        </p:nvSpPr>
        <p:spPr>
          <a:xfrm>
            <a:off x="10714355" y="1675130"/>
            <a:ext cx="972820" cy="281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97.83%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Shape 44"/>
          <p:cNvSpPr/>
          <p:nvPr/>
        </p:nvSpPr>
        <p:spPr>
          <a:xfrm>
            <a:off x="6427908" y="2027547"/>
            <a:ext cx="5148321" cy="105787"/>
          </a:xfrm>
          <a:custGeom>
            <a:avLst/>
            <a:gdLst/>
            <a:ahLst/>
            <a:cxnLst/>
            <a:rect l="l" t="t" r="r" b="b"/>
            <a:pathLst>
              <a:path w="5148321" h="105787">
                <a:moveTo>
                  <a:pt x="52894" y="0"/>
                </a:moveTo>
                <a:lnTo>
                  <a:pt x="5095427" y="0"/>
                </a:lnTo>
                <a:cubicBezTo>
                  <a:pt x="5124640" y="0"/>
                  <a:pt x="5148321" y="23681"/>
                  <a:pt x="5148321" y="52894"/>
                </a:cubicBezTo>
                <a:lnTo>
                  <a:pt x="5148321" y="52894"/>
                </a:lnTo>
                <a:cubicBezTo>
                  <a:pt x="5148321" y="82106"/>
                  <a:pt x="5124640" y="105787"/>
                  <a:pt x="5095427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65" name="Shape 45"/>
          <p:cNvSpPr/>
          <p:nvPr/>
        </p:nvSpPr>
        <p:spPr>
          <a:xfrm>
            <a:off x="6427908" y="2027547"/>
            <a:ext cx="5042534" cy="105787"/>
          </a:xfrm>
          <a:custGeom>
            <a:avLst/>
            <a:gdLst/>
            <a:ahLst/>
            <a:cxnLst/>
            <a:rect l="l" t="t" r="r" b="b"/>
            <a:pathLst>
              <a:path w="5042534" h="105787">
                <a:moveTo>
                  <a:pt x="52894" y="0"/>
                </a:moveTo>
                <a:lnTo>
                  <a:pt x="4989640" y="0"/>
                </a:lnTo>
                <a:cubicBezTo>
                  <a:pt x="5018852" y="0"/>
                  <a:pt x="5042534" y="23681"/>
                  <a:pt x="5042534" y="52894"/>
                </a:cubicBezTo>
                <a:lnTo>
                  <a:pt x="5042534" y="52894"/>
                </a:lnTo>
                <a:cubicBezTo>
                  <a:pt x="5042534" y="82106"/>
                  <a:pt x="5018852" y="105787"/>
                  <a:pt x="4989640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C8A464"/>
          </a:solidFill>
        </p:spPr>
      </p:sp>
      <p:sp>
        <p:nvSpPr>
          <p:cNvPr id="66" name="Shape 46"/>
          <p:cNvSpPr/>
          <p:nvPr/>
        </p:nvSpPr>
        <p:spPr>
          <a:xfrm>
            <a:off x="6315068" y="2316698"/>
            <a:ext cx="5377527" cy="599462"/>
          </a:xfrm>
          <a:custGeom>
            <a:avLst/>
            <a:gdLst/>
            <a:ahLst/>
            <a:cxnLst/>
            <a:rect l="l" t="t" r="r" b="b"/>
            <a:pathLst>
              <a:path w="5377527" h="599462">
                <a:moveTo>
                  <a:pt x="70527" y="0"/>
                </a:moveTo>
                <a:lnTo>
                  <a:pt x="5307000" y="0"/>
                </a:lnTo>
                <a:cubicBezTo>
                  <a:pt x="5345951" y="0"/>
                  <a:pt x="5377527" y="31576"/>
                  <a:pt x="5377527" y="70527"/>
                </a:cubicBezTo>
                <a:lnTo>
                  <a:pt x="5377527" y="528935"/>
                </a:lnTo>
                <a:cubicBezTo>
                  <a:pt x="5377527" y="567886"/>
                  <a:pt x="5345951" y="599462"/>
                  <a:pt x="5307000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67" name="Text 47"/>
          <p:cNvSpPr/>
          <p:nvPr/>
        </p:nvSpPr>
        <p:spPr>
          <a:xfrm>
            <a:off x="6421120" y="2457450"/>
            <a:ext cx="1802765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LangChain / Pinecone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8" name="Text 48"/>
          <p:cNvSpPr/>
          <p:nvPr/>
        </p:nvSpPr>
        <p:spPr>
          <a:xfrm>
            <a:off x="10854055" y="2422525"/>
            <a:ext cx="820420" cy="247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64.13%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9" name="Shape 49"/>
          <p:cNvSpPr/>
          <p:nvPr/>
        </p:nvSpPr>
        <p:spPr>
          <a:xfrm>
            <a:off x="6420856" y="2739847"/>
            <a:ext cx="5165952" cy="70525"/>
          </a:xfrm>
          <a:custGeom>
            <a:avLst/>
            <a:gdLst/>
            <a:ahLst/>
            <a:cxnLst/>
            <a:rect l="l" t="t" r="r" b="b"/>
            <a:pathLst>
              <a:path w="5165952" h="70525">
                <a:moveTo>
                  <a:pt x="35262" y="0"/>
                </a:moveTo>
                <a:lnTo>
                  <a:pt x="5130690" y="0"/>
                </a:lnTo>
                <a:cubicBezTo>
                  <a:pt x="5150165" y="0"/>
                  <a:pt x="5165952" y="15788"/>
                  <a:pt x="5165952" y="35262"/>
                </a:cubicBezTo>
                <a:lnTo>
                  <a:pt x="5165952" y="35262"/>
                </a:lnTo>
                <a:cubicBezTo>
                  <a:pt x="5165952" y="54737"/>
                  <a:pt x="5150165" y="70525"/>
                  <a:pt x="5130690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70" name="Shape 50"/>
          <p:cNvSpPr/>
          <p:nvPr/>
        </p:nvSpPr>
        <p:spPr>
          <a:xfrm>
            <a:off x="6420856" y="2739847"/>
            <a:ext cx="3314672" cy="70525"/>
          </a:xfrm>
          <a:custGeom>
            <a:avLst/>
            <a:gdLst/>
            <a:ahLst/>
            <a:cxnLst/>
            <a:rect l="l" t="t" r="r" b="b"/>
            <a:pathLst>
              <a:path w="3314672" h="70525">
                <a:moveTo>
                  <a:pt x="35262" y="0"/>
                </a:moveTo>
                <a:lnTo>
                  <a:pt x="3279410" y="0"/>
                </a:lnTo>
                <a:cubicBezTo>
                  <a:pt x="3298885" y="0"/>
                  <a:pt x="3314672" y="15788"/>
                  <a:pt x="3314672" y="35262"/>
                </a:cubicBezTo>
                <a:lnTo>
                  <a:pt x="3314672" y="35262"/>
                </a:lnTo>
                <a:cubicBezTo>
                  <a:pt x="3314672" y="54737"/>
                  <a:pt x="3298885" y="70525"/>
                  <a:pt x="3279410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7C82"/>
          </a:solidFill>
        </p:spPr>
      </p:sp>
      <p:sp>
        <p:nvSpPr>
          <p:cNvPr id="71" name="Shape 51"/>
          <p:cNvSpPr/>
          <p:nvPr/>
        </p:nvSpPr>
        <p:spPr>
          <a:xfrm>
            <a:off x="6315068" y="2986685"/>
            <a:ext cx="5377527" cy="599462"/>
          </a:xfrm>
          <a:custGeom>
            <a:avLst/>
            <a:gdLst/>
            <a:ahLst/>
            <a:cxnLst/>
            <a:rect l="l" t="t" r="r" b="b"/>
            <a:pathLst>
              <a:path w="5377527" h="599462">
                <a:moveTo>
                  <a:pt x="70527" y="0"/>
                </a:moveTo>
                <a:lnTo>
                  <a:pt x="5307000" y="0"/>
                </a:lnTo>
                <a:cubicBezTo>
                  <a:pt x="5345951" y="0"/>
                  <a:pt x="5377527" y="31576"/>
                  <a:pt x="5377527" y="70527"/>
                </a:cubicBezTo>
                <a:lnTo>
                  <a:pt x="5377527" y="528935"/>
                </a:lnTo>
                <a:cubicBezTo>
                  <a:pt x="5377527" y="567886"/>
                  <a:pt x="5345951" y="599462"/>
                  <a:pt x="5307000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2" name="Text 52"/>
          <p:cNvSpPr/>
          <p:nvPr/>
        </p:nvSpPr>
        <p:spPr>
          <a:xfrm>
            <a:off x="6421120" y="3128010"/>
            <a:ext cx="125476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LlamaIndex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3" name="Text 53"/>
          <p:cNvSpPr/>
          <p:nvPr/>
        </p:nvSpPr>
        <p:spPr>
          <a:xfrm>
            <a:off x="10854055" y="3092450"/>
            <a:ext cx="817245" cy="247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44.57%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4" name="Shape 54"/>
          <p:cNvSpPr/>
          <p:nvPr/>
        </p:nvSpPr>
        <p:spPr>
          <a:xfrm>
            <a:off x="6420856" y="3409839"/>
            <a:ext cx="5165952" cy="70525"/>
          </a:xfrm>
          <a:custGeom>
            <a:avLst/>
            <a:gdLst/>
            <a:ahLst/>
            <a:cxnLst/>
            <a:rect l="l" t="t" r="r" b="b"/>
            <a:pathLst>
              <a:path w="5165952" h="70525">
                <a:moveTo>
                  <a:pt x="35262" y="0"/>
                </a:moveTo>
                <a:lnTo>
                  <a:pt x="5130690" y="0"/>
                </a:lnTo>
                <a:cubicBezTo>
                  <a:pt x="5150165" y="0"/>
                  <a:pt x="5165952" y="15788"/>
                  <a:pt x="5165952" y="35262"/>
                </a:cubicBezTo>
                <a:lnTo>
                  <a:pt x="5165952" y="35262"/>
                </a:lnTo>
                <a:cubicBezTo>
                  <a:pt x="5165952" y="54737"/>
                  <a:pt x="5150165" y="70525"/>
                  <a:pt x="5130690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75" name="Shape 55"/>
          <p:cNvSpPr/>
          <p:nvPr/>
        </p:nvSpPr>
        <p:spPr>
          <a:xfrm>
            <a:off x="6420856" y="3409839"/>
            <a:ext cx="2300876" cy="70525"/>
          </a:xfrm>
          <a:custGeom>
            <a:avLst/>
            <a:gdLst/>
            <a:ahLst/>
            <a:cxnLst/>
            <a:rect l="l" t="t" r="r" b="b"/>
            <a:pathLst>
              <a:path w="2300876" h="70525">
                <a:moveTo>
                  <a:pt x="35262" y="0"/>
                </a:moveTo>
                <a:lnTo>
                  <a:pt x="2265614" y="0"/>
                </a:lnTo>
                <a:cubicBezTo>
                  <a:pt x="2285089" y="0"/>
                  <a:pt x="2300876" y="15788"/>
                  <a:pt x="2300876" y="35262"/>
                </a:cubicBezTo>
                <a:lnTo>
                  <a:pt x="2300876" y="35262"/>
                </a:lnTo>
                <a:cubicBezTo>
                  <a:pt x="2300876" y="54737"/>
                  <a:pt x="2285089" y="70525"/>
                  <a:pt x="2265614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76" name="Text 56"/>
          <p:cNvSpPr/>
          <p:nvPr/>
        </p:nvSpPr>
        <p:spPr>
          <a:xfrm>
            <a:off x="6288622" y="3656676"/>
            <a:ext cx="5430421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测试基于92个真实文档问答场景</a:t>
            </a:r>
            <a:endParaRPr lang="en-US" sz="104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Shape 57"/>
          <p:cNvSpPr/>
          <p:nvPr/>
        </p:nvSpPr>
        <p:spPr>
          <a:xfrm>
            <a:off x="6170492" y="4090291"/>
            <a:ext cx="5666679" cy="1840701"/>
          </a:xfrm>
          <a:custGeom>
            <a:avLst/>
            <a:gdLst/>
            <a:ahLst/>
            <a:cxnLst/>
            <a:rect l="l" t="t" r="r" b="b"/>
            <a:pathLst>
              <a:path w="5666679" h="1840701">
                <a:moveTo>
                  <a:pt x="70517" y="0"/>
                </a:moveTo>
                <a:lnTo>
                  <a:pt x="5596162" y="0"/>
                </a:lnTo>
                <a:cubicBezTo>
                  <a:pt x="5635108" y="0"/>
                  <a:pt x="5666679" y="31572"/>
                  <a:pt x="5666679" y="70517"/>
                </a:cubicBezTo>
                <a:lnTo>
                  <a:pt x="5666679" y="1770184"/>
                </a:lnTo>
                <a:cubicBezTo>
                  <a:pt x="5666679" y="1809129"/>
                  <a:pt x="5635108" y="1840701"/>
                  <a:pt x="5596162" y="1840701"/>
                </a:cubicBezTo>
                <a:lnTo>
                  <a:pt x="70517" y="1840701"/>
                </a:lnTo>
                <a:cubicBezTo>
                  <a:pt x="31572" y="1840701"/>
                  <a:pt x="0" y="1809129"/>
                  <a:pt x="0" y="1770184"/>
                </a:cubicBezTo>
                <a:lnTo>
                  <a:pt x="0" y="70517"/>
                </a:lnTo>
                <a:cubicBezTo>
                  <a:pt x="0" y="31572"/>
                  <a:pt x="31572" y="0"/>
                  <a:pt x="7051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6337107" y="4278943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39670" y="99176"/>
                </a:moveTo>
                <a:lnTo>
                  <a:pt x="7593" y="99176"/>
                </a:lnTo>
                <a:cubicBezTo>
                  <a:pt x="-124" y="99176"/>
                  <a:pt x="-4866" y="90777"/>
                  <a:pt x="-899" y="84144"/>
                </a:cubicBezTo>
                <a:lnTo>
                  <a:pt x="15496" y="56809"/>
                </a:lnTo>
                <a:cubicBezTo>
                  <a:pt x="18193" y="52315"/>
                  <a:pt x="23027" y="49588"/>
                  <a:pt x="28265" y="49588"/>
                </a:cubicBezTo>
                <a:lnTo>
                  <a:pt x="57708" y="49588"/>
                </a:lnTo>
                <a:cubicBezTo>
                  <a:pt x="81293" y="9639"/>
                  <a:pt x="116469" y="7624"/>
                  <a:pt x="139993" y="11064"/>
                </a:cubicBezTo>
                <a:cubicBezTo>
                  <a:pt x="143960" y="11653"/>
                  <a:pt x="147059" y="14752"/>
                  <a:pt x="147617" y="18688"/>
                </a:cubicBezTo>
                <a:cubicBezTo>
                  <a:pt x="151057" y="42212"/>
                  <a:pt x="149042" y="77388"/>
                  <a:pt x="109093" y="100973"/>
                </a:cubicBezTo>
                <a:lnTo>
                  <a:pt x="109093" y="130416"/>
                </a:lnTo>
                <a:cubicBezTo>
                  <a:pt x="109093" y="135654"/>
                  <a:pt x="106366" y="140489"/>
                  <a:pt x="101872" y="143185"/>
                </a:cubicBezTo>
                <a:lnTo>
                  <a:pt x="74537" y="159580"/>
                </a:lnTo>
                <a:cubicBezTo>
                  <a:pt x="67935" y="163547"/>
                  <a:pt x="59505" y="158774"/>
                  <a:pt x="59505" y="151088"/>
                </a:cubicBezTo>
                <a:lnTo>
                  <a:pt x="59505" y="119011"/>
                </a:lnTo>
                <a:cubicBezTo>
                  <a:pt x="59505" y="108071"/>
                  <a:pt x="50611" y="99176"/>
                  <a:pt x="39670" y="99176"/>
                </a:cubicBezTo>
                <a:lnTo>
                  <a:pt x="39639" y="99176"/>
                </a:lnTo>
                <a:close/>
                <a:moveTo>
                  <a:pt x="123970" y="49588"/>
                </a:moveTo>
                <a:cubicBezTo>
                  <a:pt x="123970" y="41377"/>
                  <a:pt x="117304" y="34711"/>
                  <a:pt x="109093" y="34711"/>
                </a:cubicBezTo>
                <a:cubicBezTo>
                  <a:pt x="100883" y="34711"/>
                  <a:pt x="94217" y="41377"/>
                  <a:pt x="94217" y="49588"/>
                </a:cubicBezTo>
                <a:cubicBezTo>
                  <a:pt x="94217" y="57798"/>
                  <a:pt x="100883" y="64464"/>
                  <a:pt x="109093" y="64464"/>
                </a:cubicBezTo>
                <a:cubicBezTo>
                  <a:pt x="117304" y="64464"/>
                  <a:pt x="123970" y="57798"/>
                  <a:pt x="123970" y="4958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9" name="Text 59"/>
          <p:cNvSpPr/>
          <p:nvPr/>
        </p:nvSpPr>
        <p:spPr>
          <a:xfrm>
            <a:off x="6558468" y="4234865"/>
            <a:ext cx="5254108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企业部署效果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0" name="Shape 60"/>
          <p:cNvSpPr/>
          <p:nvPr/>
        </p:nvSpPr>
        <p:spPr>
          <a:xfrm>
            <a:off x="6315068" y="4587490"/>
            <a:ext cx="2653501" cy="564200"/>
          </a:xfrm>
          <a:custGeom>
            <a:avLst/>
            <a:gdLst/>
            <a:ahLst/>
            <a:cxnLst/>
            <a:rect l="l" t="t" r="r" b="b"/>
            <a:pathLst>
              <a:path w="2653501" h="564200">
                <a:moveTo>
                  <a:pt x="70525" y="0"/>
                </a:moveTo>
                <a:lnTo>
                  <a:pt x="2582976" y="0"/>
                </a:lnTo>
                <a:cubicBezTo>
                  <a:pt x="2621926" y="0"/>
                  <a:pt x="2653501" y="31575"/>
                  <a:pt x="2653501" y="70525"/>
                </a:cubicBezTo>
                <a:lnTo>
                  <a:pt x="2653501" y="493675"/>
                </a:lnTo>
                <a:cubicBezTo>
                  <a:pt x="2653501" y="532624"/>
                  <a:pt x="2621926" y="564200"/>
                  <a:pt x="2582976" y="564200"/>
                </a:cubicBezTo>
                <a:lnTo>
                  <a:pt x="70525" y="564200"/>
                </a:lnTo>
                <a:cubicBezTo>
                  <a:pt x="31575" y="564200"/>
                  <a:pt x="0" y="532624"/>
                  <a:pt x="0" y="4936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1" name="Text 61"/>
          <p:cNvSpPr/>
          <p:nvPr/>
        </p:nvSpPr>
        <p:spPr>
          <a:xfrm>
            <a:off x="6332700" y="4658015"/>
            <a:ext cx="2618239" cy="28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60%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2" name="Text 62"/>
          <p:cNvSpPr/>
          <p:nvPr/>
        </p:nvSpPr>
        <p:spPr>
          <a:xfrm>
            <a:off x="6359147" y="4940011"/>
            <a:ext cx="2565345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响应时间减少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3" name="Shape 63"/>
          <p:cNvSpPr/>
          <p:nvPr/>
        </p:nvSpPr>
        <p:spPr>
          <a:xfrm>
            <a:off x="9038874" y="4587490"/>
            <a:ext cx="2653501" cy="564200"/>
          </a:xfrm>
          <a:custGeom>
            <a:avLst/>
            <a:gdLst/>
            <a:ahLst/>
            <a:cxnLst/>
            <a:rect l="l" t="t" r="r" b="b"/>
            <a:pathLst>
              <a:path w="2653501" h="564200">
                <a:moveTo>
                  <a:pt x="70525" y="0"/>
                </a:moveTo>
                <a:lnTo>
                  <a:pt x="2582976" y="0"/>
                </a:lnTo>
                <a:cubicBezTo>
                  <a:pt x="2621926" y="0"/>
                  <a:pt x="2653501" y="31575"/>
                  <a:pt x="2653501" y="70525"/>
                </a:cubicBezTo>
                <a:lnTo>
                  <a:pt x="2653501" y="493675"/>
                </a:lnTo>
                <a:cubicBezTo>
                  <a:pt x="2653501" y="532624"/>
                  <a:pt x="2621926" y="564200"/>
                  <a:pt x="2582976" y="564200"/>
                </a:cubicBezTo>
                <a:lnTo>
                  <a:pt x="70525" y="564200"/>
                </a:lnTo>
                <a:cubicBezTo>
                  <a:pt x="31575" y="564200"/>
                  <a:pt x="0" y="532624"/>
                  <a:pt x="0" y="4936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4" name="Text 64"/>
          <p:cNvSpPr/>
          <p:nvPr/>
        </p:nvSpPr>
        <p:spPr>
          <a:xfrm>
            <a:off x="9056506" y="4658015"/>
            <a:ext cx="2618239" cy="28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85%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5" name="Text 65"/>
          <p:cNvSpPr/>
          <p:nvPr/>
        </p:nvSpPr>
        <p:spPr>
          <a:xfrm>
            <a:off x="9082952" y="4940011"/>
            <a:ext cx="2565345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准确率提升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6" name="Shape 66"/>
          <p:cNvSpPr/>
          <p:nvPr/>
        </p:nvSpPr>
        <p:spPr>
          <a:xfrm>
            <a:off x="6315068" y="5221999"/>
            <a:ext cx="2653501" cy="564200"/>
          </a:xfrm>
          <a:custGeom>
            <a:avLst/>
            <a:gdLst/>
            <a:ahLst/>
            <a:cxnLst/>
            <a:rect l="l" t="t" r="r" b="b"/>
            <a:pathLst>
              <a:path w="2653501" h="564200">
                <a:moveTo>
                  <a:pt x="70525" y="0"/>
                </a:moveTo>
                <a:lnTo>
                  <a:pt x="2582976" y="0"/>
                </a:lnTo>
                <a:cubicBezTo>
                  <a:pt x="2621926" y="0"/>
                  <a:pt x="2653501" y="31575"/>
                  <a:pt x="2653501" y="70525"/>
                </a:cubicBezTo>
                <a:lnTo>
                  <a:pt x="2653501" y="493675"/>
                </a:lnTo>
                <a:cubicBezTo>
                  <a:pt x="2653501" y="532624"/>
                  <a:pt x="2621926" y="564200"/>
                  <a:pt x="2582976" y="564200"/>
                </a:cubicBezTo>
                <a:lnTo>
                  <a:pt x="70525" y="564200"/>
                </a:lnTo>
                <a:cubicBezTo>
                  <a:pt x="31575" y="564200"/>
                  <a:pt x="0" y="532624"/>
                  <a:pt x="0" y="4936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7" name="Text 67"/>
          <p:cNvSpPr/>
          <p:nvPr/>
        </p:nvSpPr>
        <p:spPr>
          <a:xfrm>
            <a:off x="6332700" y="5292524"/>
            <a:ext cx="2618239" cy="28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28.6%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8" name="Text 68"/>
          <p:cNvSpPr/>
          <p:nvPr/>
        </p:nvSpPr>
        <p:spPr>
          <a:xfrm>
            <a:off x="6359147" y="5574512"/>
            <a:ext cx="2565345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LinkedIn解决时间↓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Shape 69"/>
          <p:cNvSpPr/>
          <p:nvPr/>
        </p:nvSpPr>
        <p:spPr>
          <a:xfrm>
            <a:off x="9038874" y="5221999"/>
            <a:ext cx="2653501" cy="564200"/>
          </a:xfrm>
          <a:custGeom>
            <a:avLst/>
            <a:gdLst/>
            <a:ahLst/>
            <a:cxnLst/>
            <a:rect l="l" t="t" r="r" b="b"/>
            <a:pathLst>
              <a:path w="2653501" h="564200">
                <a:moveTo>
                  <a:pt x="70525" y="0"/>
                </a:moveTo>
                <a:lnTo>
                  <a:pt x="2582976" y="0"/>
                </a:lnTo>
                <a:cubicBezTo>
                  <a:pt x="2621926" y="0"/>
                  <a:pt x="2653501" y="31575"/>
                  <a:pt x="2653501" y="70525"/>
                </a:cubicBezTo>
                <a:lnTo>
                  <a:pt x="2653501" y="493675"/>
                </a:lnTo>
                <a:cubicBezTo>
                  <a:pt x="2653501" y="532624"/>
                  <a:pt x="2621926" y="564200"/>
                  <a:pt x="2582976" y="564200"/>
                </a:cubicBezTo>
                <a:lnTo>
                  <a:pt x="70525" y="564200"/>
                </a:lnTo>
                <a:cubicBezTo>
                  <a:pt x="31575" y="564200"/>
                  <a:pt x="0" y="532624"/>
                  <a:pt x="0" y="4936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0" name="Text 70"/>
          <p:cNvSpPr/>
          <p:nvPr/>
        </p:nvSpPr>
        <p:spPr>
          <a:xfrm>
            <a:off x="9056506" y="5292524"/>
            <a:ext cx="2618239" cy="28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49%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1" name="Text 71"/>
          <p:cNvSpPr/>
          <p:nvPr/>
        </p:nvSpPr>
        <p:spPr>
          <a:xfrm>
            <a:off x="9082952" y="5574512"/>
            <a:ext cx="2565345" cy="141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Aquant服务时间↓</a:t>
            </a:r>
            <a:endParaRPr lang="en-US" sz="104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Shape 72"/>
          <p:cNvSpPr/>
          <p:nvPr/>
        </p:nvSpPr>
        <p:spPr>
          <a:xfrm>
            <a:off x="6184597" y="6075126"/>
            <a:ext cx="5659627" cy="617093"/>
          </a:xfrm>
          <a:custGeom>
            <a:avLst/>
            <a:gdLst/>
            <a:ahLst/>
            <a:cxnLst/>
            <a:rect l="l" t="t" r="r" b="b"/>
            <a:pathLst>
              <a:path w="5659627" h="617093">
                <a:moveTo>
                  <a:pt x="0" y="0"/>
                </a:moveTo>
                <a:lnTo>
                  <a:pt x="5589099" y="0"/>
                </a:lnTo>
                <a:cubicBezTo>
                  <a:pt x="5628051" y="0"/>
                  <a:pt x="5659627" y="31576"/>
                  <a:pt x="5659627" y="70528"/>
                </a:cubicBezTo>
                <a:lnTo>
                  <a:pt x="5659627" y="546566"/>
                </a:lnTo>
                <a:cubicBezTo>
                  <a:pt x="5659627" y="585517"/>
                  <a:pt x="5628051" y="617093"/>
                  <a:pt x="5589099" y="617093"/>
                </a:cubicBezTo>
                <a:lnTo>
                  <a:pt x="0" y="617093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3" name="Shape 73"/>
          <p:cNvSpPr/>
          <p:nvPr/>
        </p:nvSpPr>
        <p:spPr>
          <a:xfrm>
            <a:off x="6184597" y="6075126"/>
            <a:ext cx="35262" cy="617093"/>
          </a:xfrm>
          <a:custGeom>
            <a:avLst/>
            <a:gdLst/>
            <a:ahLst/>
            <a:cxnLst/>
            <a:rect l="l" t="t" r="r" b="b"/>
            <a:pathLst>
              <a:path w="35262" h="617093">
                <a:moveTo>
                  <a:pt x="0" y="0"/>
                </a:moveTo>
                <a:lnTo>
                  <a:pt x="35262" y="0"/>
                </a:lnTo>
                <a:lnTo>
                  <a:pt x="35262" y="617093"/>
                </a:lnTo>
                <a:lnTo>
                  <a:pt x="0" y="617093"/>
                </a:lnTo>
                <a:lnTo>
                  <a:pt x="0" y="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94" name="Shape 74"/>
          <p:cNvSpPr/>
          <p:nvPr/>
        </p:nvSpPr>
        <p:spPr>
          <a:xfrm>
            <a:off x="6341074" y="6209125"/>
            <a:ext cx="92564" cy="123419"/>
          </a:xfrm>
          <a:custGeom>
            <a:avLst/>
            <a:gdLst/>
            <a:ahLst/>
            <a:cxnLst/>
            <a:rect l="l" t="t" r="r" b="b"/>
            <a:pathLst>
              <a:path w="92564" h="123419">
                <a:moveTo>
                  <a:pt x="70604" y="92564"/>
                </a:moveTo>
                <a:cubicBezTo>
                  <a:pt x="72364" y="87189"/>
                  <a:pt x="75883" y="82319"/>
                  <a:pt x="79861" y="78125"/>
                </a:cubicBezTo>
                <a:cubicBezTo>
                  <a:pt x="87743" y="69833"/>
                  <a:pt x="92564" y="58624"/>
                  <a:pt x="92564" y="46282"/>
                </a:cubicBezTo>
                <a:cubicBezTo>
                  <a:pt x="92564" y="20730"/>
                  <a:pt x="71834" y="0"/>
                  <a:pt x="46282" y="0"/>
                </a:cubicBezTo>
                <a:cubicBezTo>
                  <a:pt x="20730" y="0"/>
                  <a:pt x="0" y="20730"/>
                  <a:pt x="0" y="46282"/>
                </a:cubicBezTo>
                <a:cubicBezTo>
                  <a:pt x="0" y="58624"/>
                  <a:pt x="4821" y="69833"/>
                  <a:pt x="12703" y="78125"/>
                </a:cubicBezTo>
                <a:cubicBezTo>
                  <a:pt x="16681" y="82319"/>
                  <a:pt x="20224" y="87189"/>
                  <a:pt x="21960" y="92564"/>
                </a:cubicBezTo>
                <a:lnTo>
                  <a:pt x="70580" y="92564"/>
                </a:lnTo>
                <a:close/>
                <a:moveTo>
                  <a:pt x="69423" y="104134"/>
                </a:moveTo>
                <a:lnTo>
                  <a:pt x="23141" y="104134"/>
                </a:lnTo>
                <a:lnTo>
                  <a:pt x="23141" y="107991"/>
                </a:lnTo>
                <a:cubicBezTo>
                  <a:pt x="23141" y="118646"/>
                  <a:pt x="31771" y="127275"/>
                  <a:pt x="42425" y="127275"/>
                </a:cubicBezTo>
                <a:lnTo>
                  <a:pt x="50139" y="127275"/>
                </a:lnTo>
                <a:cubicBezTo>
                  <a:pt x="60793" y="127275"/>
                  <a:pt x="69423" y="118646"/>
                  <a:pt x="69423" y="107991"/>
                </a:cubicBezTo>
                <a:lnTo>
                  <a:pt x="69423" y="104134"/>
                </a:lnTo>
                <a:close/>
                <a:moveTo>
                  <a:pt x="44354" y="26998"/>
                </a:moveTo>
                <a:cubicBezTo>
                  <a:pt x="34760" y="26998"/>
                  <a:pt x="26998" y="34760"/>
                  <a:pt x="26998" y="44354"/>
                </a:cubicBezTo>
                <a:cubicBezTo>
                  <a:pt x="26998" y="47560"/>
                  <a:pt x="24419" y="50139"/>
                  <a:pt x="21213" y="50139"/>
                </a:cubicBezTo>
                <a:cubicBezTo>
                  <a:pt x="18007" y="50139"/>
                  <a:pt x="15427" y="47560"/>
                  <a:pt x="15427" y="44354"/>
                </a:cubicBezTo>
                <a:cubicBezTo>
                  <a:pt x="15427" y="28372"/>
                  <a:pt x="28372" y="15427"/>
                  <a:pt x="44354" y="15427"/>
                </a:cubicBezTo>
                <a:cubicBezTo>
                  <a:pt x="47560" y="15427"/>
                  <a:pt x="50139" y="18007"/>
                  <a:pt x="50139" y="21213"/>
                </a:cubicBezTo>
                <a:cubicBezTo>
                  <a:pt x="50139" y="24419"/>
                  <a:pt x="47560" y="26998"/>
                  <a:pt x="44354" y="2699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5" name="Text 75"/>
          <p:cNvSpPr/>
          <p:nvPr/>
        </p:nvSpPr>
        <p:spPr>
          <a:xfrm>
            <a:off x="6515651" y="6180913"/>
            <a:ext cx="5284495" cy="405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关键洞察：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RAG不仅提升准确率，更在</a:t>
            </a:r>
            <a:r>
              <a:rPr lang="en-US" sz="120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医疗、金融、客服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等高要求场景下实现接近人类专家水平的性能表现。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挑战、前沿与总结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891" y="441479"/>
            <a:ext cx="509714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RAG</a:t>
            </a: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核心技术挑战与优化路径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451179" y="1076960"/>
            <a:ext cx="5651970" cy="2114785"/>
          </a:xfrm>
          <a:custGeom>
            <a:avLst/>
            <a:gdLst/>
            <a:ahLst/>
            <a:cxnLst/>
            <a:rect l="l" t="t" r="r" b="b"/>
            <a:pathLst>
              <a:path w="5651970" h="2114785">
                <a:moveTo>
                  <a:pt x="75265" y="0"/>
                </a:moveTo>
                <a:lnTo>
                  <a:pt x="5576705" y="0"/>
                </a:lnTo>
                <a:cubicBezTo>
                  <a:pt x="5618273" y="0"/>
                  <a:pt x="5651970" y="33697"/>
                  <a:pt x="5651970" y="75265"/>
                </a:cubicBezTo>
                <a:lnTo>
                  <a:pt x="5651970" y="2039520"/>
                </a:lnTo>
                <a:cubicBezTo>
                  <a:pt x="5651970" y="2081088"/>
                  <a:pt x="5618273" y="2114785"/>
                  <a:pt x="5576705" y="2114785"/>
                </a:cubicBezTo>
                <a:lnTo>
                  <a:pt x="75265" y="2114785"/>
                </a:lnTo>
                <a:cubicBezTo>
                  <a:pt x="33697" y="2114785"/>
                  <a:pt x="0" y="2081088"/>
                  <a:pt x="0" y="2039520"/>
                </a:cubicBezTo>
                <a:lnTo>
                  <a:pt x="0" y="75265"/>
                </a:lnTo>
                <a:cubicBezTo>
                  <a:pt x="0" y="33725"/>
                  <a:pt x="33725" y="0"/>
                  <a:pt x="7526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7" name="Shape 4"/>
          <p:cNvSpPr/>
          <p:nvPr/>
        </p:nvSpPr>
        <p:spPr>
          <a:xfrm>
            <a:off x="605461" y="1231249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8" name="Shape 5"/>
          <p:cNvSpPr/>
          <p:nvPr/>
        </p:nvSpPr>
        <p:spPr>
          <a:xfrm>
            <a:off x="699535" y="1325323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94074" y="188148"/>
                </a:moveTo>
                <a:cubicBezTo>
                  <a:pt x="145995" y="188148"/>
                  <a:pt x="188148" y="145995"/>
                  <a:pt x="188148" y="94074"/>
                </a:cubicBezTo>
                <a:cubicBezTo>
                  <a:pt x="188148" y="42153"/>
                  <a:pt x="145995" y="0"/>
                  <a:pt x="94074" y="0"/>
                </a:cubicBezTo>
                <a:cubicBezTo>
                  <a:pt x="42153" y="0"/>
                  <a:pt x="0" y="42153"/>
                  <a:pt x="0" y="94074"/>
                </a:cubicBezTo>
                <a:cubicBezTo>
                  <a:pt x="0" y="145995"/>
                  <a:pt x="42153" y="188148"/>
                  <a:pt x="94074" y="188148"/>
                </a:cubicBezTo>
                <a:close/>
                <a:moveTo>
                  <a:pt x="94074" y="49977"/>
                </a:moveTo>
                <a:cubicBezTo>
                  <a:pt x="98962" y="49977"/>
                  <a:pt x="102894" y="53909"/>
                  <a:pt x="102894" y="58796"/>
                </a:cubicBezTo>
                <a:lnTo>
                  <a:pt x="102894" y="99954"/>
                </a:lnTo>
                <a:cubicBezTo>
                  <a:pt x="102894" y="104841"/>
                  <a:pt x="98962" y="108773"/>
                  <a:pt x="94074" y="108773"/>
                </a:cubicBezTo>
                <a:cubicBezTo>
                  <a:pt x="89187" y="108773"/>
                  <a:pt x="85255" y="104841"/>
                  <a:pt x="85255" y="99954"/>
                </a:cubicBezTo>
                <a:lnTo>
                  <a:pt x="85255" y="58796"/>
                </a:lnTo>
                <a:cubicBezTo>
                  <a:pt x="85255" y="53909"/>
                  <a:pt x="89187" y="49977"/>
                  <a:pt x="94074" y="49977"/>
                </a:cubicBezTo>
                <a:close/>
                <a:moveTo>
                  <a:pt x="84262" y="129352"/>
                </a:moveTo>
                <a:cubicBezTo>
                  <a:pt x="84039" y="125710"/>
                  <a:pt x="85855" y="122245"/>
                  <a:pt x="88978" y="120356"/>
                </a:cubicBezTo>
                <a:cubicBezTo>
                  <a:pt x="92100" y="118468"/>
                  <a:pt x="96012" y="118468"/>
                  <a:pt x="99134" y="120356"/>
                </a:cubicBezTo>
                <a:cubicBezTo>
                  <a:pt x="102256" y="122245"/>
                  <a:pt x="104072" y="125710"/>
                  <a:pt x="103849" y="129352"/>
                </a:cubicBezTo>
                <a:cubicBezTo>
                  <a:pt x="104072" y="132994"/>
                  <a:pt x="102256" y="136459"/>
                  <a:pt x="99134" y="138347"/>
                </a:cubicBezTo>
                <a:cubicBezTo>
                  <a:pt x="96012" y="140236"/>
                  <a:pt x="92100" y="140236"/>
                  <a:pt x="88978" y="138347"/>
                </a:cubicBezTo>
                <a:cubicBezTo>
                  <a:pt x="85855" y="136459"/>
                  <a:pt x="84039" y="132994"/>
                  <a:pt x="84262" y="129352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19" name="Text 6"/>
          <p:cNvSpPr/>
          <p:nvPr/>
        </p:nvSpPr>
        <p:spPr>
          <a:xfrm>
            <a:off x="1057275" y="1287780"/>
            <a:ext cx="2239010" cy="263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检索准确性问题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05461" y="1720434"/>
            <a:ext cx="540925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"检索错则生成错"，若检索到无关或错误文档，生成结果将直接出错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624276" y="2021471"/>
            <a:ext cx="5324593" cy="1016000"/>
          </a:xfrm>
          <a:custGeom>
            <a:avLst/>
            <a:gdLst/>
            <a:ahLst/>
            <a:cxnLst/>
            <a:rect l="l" t="t" r="r" b="b"/>
            <a:pathLst>
              <a:path w="5324593" h="1016000">
                <a:moveTo>
                  <a:pt x="37630" y="0"/>
                </a:moveTo>
                <a:lnTo>
                  <a:pt x="5249337" y="0"/>
                </a:lnTo>
                <a:cubicBezTo>
                  <a:pt x="5290900" y="0"/>
                  <a:pt x="5324593" y="33693"/>
                  <a:pt x="5324593" y="75255"/>
                </a:cubicBezTo>
                <a:lnTo>
                  <a:pt x="5324593" y="940745"/>
                </a:lnTo>
                <a:cubicBezTo>
                  <a:pt x="5324593" y="982307"/>
                  <a:pt x="5290900" y="1016000"/>
                  <a:pt x="5249337" y="1016000"/>
                </a:cubicBez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8" name="Shape 9"/>
          <p:cNvSpPr/>
          <p:nvPr/>
        </p:nvSpPr>
        <p:spPr>
          <a:xfrm>
            <a:off x="624276" y="2021471"/>
            <a:ext cx="37630" cy="1016000"/>
          </a:xfrm>
          <a:custGeom>
            <a:avLst/>
            <a:gdLst/>
            <a:ahLst/>
            <a:cxnLst/>
            <a:rect l="l" t="t" r="r" b="b"/>
            <a:pathLst>
              <a:path w="37630" h="1016000">
                <a:moveTo>
                  <a:pt x="37630" y="0"/>
                </a:moveTo>
                <a:lnTo>
                  <a:pt x="37630" y="0"/>
                </a:lnTo>
                <a:lnTo>
                  <a:pt x="37630" y="1016000"/>
                </a:ln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Shape 10"/>
          <p:cNvSpPr/>
          <p:nvPr/>
        </p:nvSpPr>
        <p:spPr>
          <a:xfrm>
            <a:off x="766563" y="2162582"/>
            <a:ext cx="148167" cy="131704"/>
          </a:xfrm>
          <a:custGeom>
            <a:avLst/>
            <a:gdLst/>
            <a:ahLst/>
            <a:cxnLst/>
            <a:rect l="l" t="t" r="r" b="b"/>
            <a:pathLst>
              <a:path w="148167" h="131704">
                <a:moveTo>
                  <a:pt x="131035" y="25363"/>
                </a:moveTo>
                <a:cubicBezTo>
                  <a:pt x="132990" y="23408"/>
                  <a:pt x="136257" y="23897"/>
                  <a:pt x="137234" y="26469"/>
                </a:cubicBezTo>
                <a:cubicBezTo>
                  <a:pt x="138983" y="31022"/>
                  <a:pt x="139935" y="35987"/>
                  <a:pt x="139935" y="41157"/>
                </a:cubicBezTo>
                <a:cubicBezTo>
                  <a:pt x="139935" y="63897"/>
                  <a:pt x="121517" y="82315"/>
                  <a:pt x="98778" y="82315"/>
                </a:cubicBezTo>
                <a:cubicBezTo>
                  <a:pt x="94276" y="82315"/>
                  <a:pt x="89929" y="81595"/>
                  <a:pt x="85865" y="80257"/>
                </a:cubicBezTo>
                <a:lnTo>
                  <a:pt x="37788" y="128334"/>
                </a:lnTo>
                <a:cubicBezTo>
                  <a:pt x="30559" y="135562"/>
                  <a:pt x="18830" y="135562"/>
                  <a:pt x="11601" y="128334"/>
                </a:cubicBezTo>
                <a:cubicBezTo>
                  <a:pt x="4373" y="121106"/>
                  <a:pt x="4373" y="109376"/>
                  <a:pt x="11601" y="102148"/>
                </a:cubicBezTo>
                <a:lnTo>
                  <a:pt x="59678" y="54071"/>
                </a:lnTo>
                <a:cubicBezTo>
                  <a:pt x="58341" y="50006"/>
                  <a:pt x="57620" y="45685"/>
                  <a:pt x="57620" y="41157"/>
                </a:cubicBezTo>
                <a:cubicBezTo>
                  <a:pt x="57620" y="18418"/>
                  <a:pt x="76038" y="0"/>
                  <a:pt x="98778" y="0"/>
                </a:cubicBezTo>
                <a:cubicBezTo>
                  <a:pt x="103948" y="0"/>
                  <a:pt x="108913" y="952"/>
                  <a:pt x="113466" y="2701"/>
                </a:cubicBezTo>
                <a:cubicBezTo>
                  <a:pt x="116038" y="3678"/>
                  <a:pt x="116501" y="6945"/>
                  <a:pt x="114572" y="8900"/>
                </a:cubicBezTo>
                <a:lnTo>
                  <a:pt x="91755" y="31717"/>
                </a:lnTo>
                <a:cubicBezTo>
                  <a:pt x="90984" y="32489"/>
                  <a:pt x="90546" y="33543"/>
                  <a:pt x="90546" y="34624"/>
                </a:cubicBezTo>
                <a:lnTo>
                  <a:pt x="90546" y="45273"/>
                </a:lnTo>
                <a:cubicBezTo>
                  <a:pt x="90546" y="47537"/>
                  <a:pt x="92398" y="49389"/>
                  <a:pt x="94662" y="49389"/>
                </a:cubicBezTo>
                <a:lnTo>
                  <a:pt x="105312" y="49389"/>
                </a:lnTo>
                <a:cubicBezTo>
                  <a:pt x="106392" y="49389"/>
                  <a:pt x="107447" y="48952"/>
                  <a:pt x="108218" y="48180"/>
                </a:cubicBezTo>
                <a:lnTo>
                  <a:pt x="131035" y="2536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30" name="Text 11"/>
          <p:cNvSpPr/>
          <p:nvPr/>
        </p:nvSpPr>
        <p:spPr>
          <a:xfrm>
            <a:off x="925313" y="2134360"/>
            <a:ext cx="497651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优化策略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777146" y="2416582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2" name="Text 13"/>
          <p:cNvSpPr/>
          <p:nvPr/>
        </p:nvSpPr>
        <p:spPr>
          <a:xfrm>
            <a:off x="972185" y="2397760"/>
            <a:ext cx="3898900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稀疏+稠密混合检索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策略，兼顾关键词匹配与语义理解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777146" y="2604611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4" name="Text 15"/>
          <p:cNvSpPr/>
          <p:nvPr/>
        </p:nvSpPr>
        <p:spPr>
          <a:xfrm>
            <a:off x="972185" y="2585720"/>
            <a:ext cx="4605655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重排序模块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（Cross-Encoder），提升Top-K文档相关性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777146" y="2792640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6" name="Text 17"/>
          <p:cNvSpPr/>
          <p:nvPr/>
        </p:nvSpPr>
        <p:spPr>
          <a:xfrm>
            <a:off x="972185" y="2773680"/>
            <a:ext cx="2795905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使用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查询扩展与改写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技术，增强检索覆盖率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6227327" y="1076960"/>
            <a:ext cx="5651970" cy="2114785"/>
          </a:xfrm>
          <a:custGeom>
            <a:avLst/>
            <a:gdLst/>
            <a:ahLst/>
            <a:cxnLst/>
            <a:rect l="l" t="t" r="r" b="b"/>
            <a:pathLst>
              <a:path w="5651970" h="2114785">
                <a:moveTo>
                  <a:pt x="75265" y="0"/>
                </a:moveTo>
                <a:lnTo>
                  <a:pt x="5576705" y="0"/>
                </a:lnTo>
                <a:cubicBezTo>
                  <a:pt x="5618273" y="0"/>
                  <a:pt x="5651970" y="33697"/>
                  <a:pt x="5651970" y="75265"/>
                </a:cubicBezTo>
                <a:lnTo>
                  <a:pt x="5651970" y="2039520"/>
                </a:lnTo>
                <a:cubicBezTo>
                  <a:pt x="5651970" y="2081088"/>
                  <a:pt x="5618273" y="2114785"/>
                  <a:pt x="5576705" y="2114785"/>
                </a:cubicBezTo>
                <a:lnTo>
                  <a:pt x="75265" y="2114785"/>
                </a:lnTo>
                <a:cubicBezTo>
                  <a:pt x="33697" y="2114785"/>
                  <a:pt x="0" y="2081088"/>
                  <a:pt x="0" y="2039520"/>
                </a:cubicBezTo>
                <a:lnTo>
                  <a:pt x="0" y="75265"/>
                </a:lnTo>
                <a:cubicBezTo>
                  <a:pt x="0" y="33725"/>
                  <a:pt x="33725" y="0"/>
                  <a:pt x="7526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8" name="Shape 19"/>
          <p:cNvSpPr/>
          <p:nvPr/>
        </p:nvSpPr>
        <p:spPr>
          <a:xfrm>
            <a:off x="6381609" y="1231249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0" name="Shape 20"/>
          <p:cNvSpPr/>
          <p:nvPr/>
        </p:nvSpPr>
        <p:spPr>
          <a:xfrm>
            <a:off x="6475683" y="1325323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82315" y="0"/>
                </a:moveTo>
                <a:cubicBezTo>
                  <a:pt x="95287" y="0"/>
                  <a:pt x="105833" y="7901"/>
                  <a:pt x="105833" y="17639"/>
                </a:cubicBezTo>
                <a:cubicBezTo>
                  <a:pt x="105833" y="21461"/>
                  <a:pt x="104216" y="24988"/>
                  <a:pt x="101424" y="27891"/>
                </a:cubicBezTo>
                <a:cubicBezTo>
                  <a:pt x="98998" y="30427"/>
                  <a:pt x="97014" y="33514"/>
                  <a:pt x="97014" y="37042"/>
                </a:cubicBezTo>
                <a:cubicBezTo>
                  <a:pt x="97014" y="42554"/>
                  <a:pt x="101497" y="47037"/>
                  <a:pt x="107009" y="47037"/>
                </a:cubicBezTo>
                <a:lnTo>
                  <a:pt x="123472" y="47037"/>
                </a:lnTo>
                <a:cubicBezTo>
                  <a:pt x="133210" y="47037"/>
                  <a:pt x="141111" y="54938"/>
                  <a:pt x="141111" y="64676"/>
                </a:cubicBezTo>
                <a:lnTo>
                  <a:pt x="141111" y="81139"/>
                </a:lnTo>
                <a:cubicBezTo>
                  <a:pt x="141111" y="86651"/>
                  <a:pt x="145594" y="91134"/>
                  <a:pt x="151106" y="91134"/>
                </a:cubicBezTo>
                <a:cubicBezTo>
                  <a:pt x="154598" y="91134"/>
                  <a:pt x="157721" y="89150"/>
                  <a:pt x="160257" y="86725"/>
                </a:cubicBezTo>
                <a:cubicBezTo>
                  <a:pt x="163160" y="83968"/>
                  <a:pt x="166688" y="82315"/>
                  <a:pt x="170509" y="82315"/>
                </a:cubicBezTo>
                <a:cubicBezTo>
                  <a:pt x="180247" y="82315"/>
                  <a:pt x="188148" y="92861"/>
                  <a:pt x="188148" y="105833"/>
                </a:cubicBezTo>
                <a:cubicBezTo>
                  <a:pt x="188148" y="118805"/>
                  <a:pt x="180247" y="129352"/>
                  <a:pt x="170509" y="129352"/>
                </a:cubicBezTo>
                <a:cubicBezTo>
                  <a:pt x="166688" y="129352"/>
                  <a:pt x="163123" y="127735"/>
                  <a:pt x="160257" y="124942"/>
                </a:cubicBezTo>
                <a:cubicBezTo>
                  <a:pt x="157721" y="122517"/>
                  <a:pt x="154634" y="120532"/>
                  <a:pt x="151106" y="120532"/>
                </a:cubicBezTo>
                <a:cubicBezTo>
                  <a:pt x="145594" y="120532"/>
                  <a:pt x="141111" y="125016"/>
                  <a:pt x="141111" y="130528"/>
                </a:cubicBezTo>
                <a:lnTo>
                  <a:pt x="141111" y="170509"/>
                </a:lnTo>
                <a:cubicBezTo>
                  <a:pt x="141111" y="180247"/>
                  <a:pt x="133210" y="188148"/>
                  <a:pt x="123472" y="188148"/>
                </a:cubicBezTo>
                <a:lnTo>
                  <a:pt x="102600" y="188148"/>
                </a:lnTo>
                <a:cubicBezTo>
                  <a:pt x="97896" y="188148"/>
                  <a:pt x="94074" y="184326"/>
                  <a:pt x="94074" y="179623"/>
                </a:cubicBezTo>
                <a:cubicBezTo>
                  <a:pt x="94074" y="176242"/>
                  <a:pt x="96205" y="173265"/>
                  <a:pt x="98925" y="171244"/>
                </a:cubicBezTo>
                <a:cubicBezTo>
                  <a:pt x="103188" y="168047"/>
                  <a:pt x="105833" y="163637"/>
                  <a:pt x="105833" y="158750"/>
                </a:cubicBezTo>
                <a:cubicBezTo>
                  <a:pt x="105833" y="149012"/>
                  <a:pt x="95287" y="141111"/>
                  <a:pt x="82315" y="141111"/>
                </a:cubicBezTo>
                <a:cubicBezTo>
                  <a:pt x="69343" y="141111"/>
                  <a:pt x="58796" y="149012"/>
                  <a:pt x="58796" y="158750"/>
                </a:cubicBezTo>
                <a:cubicBezTo>
                  <a:pt x="58796" y="163637"/>
                  <a:pt x="61442" y="168047"/>
                  <a:pt x="65705" y="171244"/>
                </a:cubicBezTo>
                <a:cubicBezTo>
                  <a:pt x="68424" y="173265"/>
                  <a:pt x="70556" y="176205"/>
                  <a:pt x="70556" y="179623"/>
                </a:cubicBezTo>
                <a:cubicBezTo>
                  <a:pt x="70556" y="184326"/>
                  <a:pt x="66734" y="188148"/>
                  <a:pt x="62030" y="188148"/>
                </a:cubicBezTo>
                <a:lnTo>
                  <a:pt x="17639" y="188148"/>
                </a:lnTo>
                <a:cubicBezTo>
                  <a:pt x="7901" y="188148"/>
                  <a:pt x="0" y="180247"/>
                  <a:pt x="0" y="170509"/>
                </a:cubicBezTo>
                <a:lnTo>
                  <a:pt x="0" y="126118"/>
                </a:lnTo>
                <a:cubicBezTo>
                  <a:pt x="0" y="121414"/>
                  <a:pt x="3822" y="117593"/>
                  <a:pt x="8525" y="117593"/>
                </a:cubicBezTo>
                <a:cubicBezTo>
                  <a:pt x="11906" y="117593"/>
                  <a:pt x="14883" y="119724"/>
                  <a:pt x="16904" y="122443"/>
                </a:cubicBezTo>
                <a:cubicBezTo>
                  <a:pt x="20101" y="126706"/>
                  <a:pt x="24511" y="129352"/>
                  <a:pt x="29398" y="129352"/>
                </a:cubicBezTo>
                <a:cubicBezTo>
                  <a:pt x="39136" y="129352"/>
                  <a:pt x="47037" y="118805"/>
                  <a:pt x="47037" y="105833"/>
                </a:cubicBezTo>
                <a:cubicBezTo>
                  <a:pt x="47037" y="92861"/>
                  <a:pt x="39136" y="82315"/>
                  <a:pt x="29398" y="82315"/>
                </a:cubicBezTo>
                <a:cubicBezTo>
                  <a:pt x="24511" y="82315"/>
                  <a:pt x="20101" y="84961"/>
                  <a:pt x="16904" y="89223"/>
                </a:cubicBezTo>
                <a:cubicBezTo>
                  <a:pt x="14883" y="91943"/>
                  <a:pt x="11943" y="94074"/>
                  <a:pt x="8525" y="94074"/>
                </a:cubicBezTo>
                <a:cubicBezTo>
                  <a:pt x="3822" y="94074"/>
                  <a:pt x="0" y="90252"/>
                  <a:pt x="0" y="85549"/>
                </a:cubicBezTo>
                <a:lnTo>
                  <a:pt x="0" y="64676"/>
                </a:lnTo>
                <a:cubicBezTo>
                  <a:pt x="0" y="54938"/>
                  <a:pt x="7901" y="47037"/>
                  <a:pt x="17639" y="47037"/>
                </a:cubicBezTo>
                <a:lnTo>
                  <a:pt x="57620" y="47037"/>
                </a:lnTo>
                <a:cubicBezTo>
                  <a:pt x="63133" y="47037"/>
                  <a:pt x="67616" y="42554"/>
                  <a:pt x="67616" y="37042"/>
                </a:cubicBezTo>
                <a:cubicBezTo>
                  <a:pt x="67616" y="33551"/>
                  <a:pt x="65631" y="30427"/>
                  <a:pt x="63206" y="27891"/>
                </a:cubicBezTo>
                <a:cubicBezTo>
                  <a:pt x="60450" y="24988"/>
                  <a:pt x="58796" y="21461"/>
                  <a:pt x="58796" y="17639"/>
                </a:cubicBezTo>
                <a:cubicBezTo>
                  <a:pt x="58796" y="7901"/>
                  <a:pt x="69343" y="0"/>
                  <a:pt x="82315" y="0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41" name="Text 21"/>
          <p:cNvSpPr/>
          <p:nvPr/>
        </p:nvSpPr>
        <p:spPr>
          <a:xfrm>
            <a:off x="6833235" y="1287780"/>
            <a:ext cx="2363470" cy="263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多文档融合难题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6381609" y="1720434"/>
            <a:ext cx="540925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难以有效整合多源信息，易遗漏关键内容或产生逻辑矛盾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6400424" y="2021471"/>
            <a:ext cx="5324593" cy="1016000"/>
          </a:xfrm>
          <a:custGeom>
            <a:avLst/>
            <a:gdLst/>
            <a:ahLst/>
            <a:cxnLst/>
            <a:rect l="l" t="t" r="r" b="b"/>
            <a:pathLst>
              <a:path w="5324593" h="1016000">
                <a:moveTo>
                  <a:pt x="37630" y="0"/>
                </a:moveTo>
                <a:lnTo>
                  <a:pt x="5249337" y="0"/>
                </a:lnTo>
                <a:cubicBezTo>
                  <a:pt x="5290900" y="0"/>
                  <a:pt x="5324593" y="33693"/>
                  <a:pt x="5324593" y="75255"/>
                </a:cubicBezTo>
                <a:lnTo>
                  <a:pt x="5324593" y="940745"/>
                </a:lnTo>
                <a:cubicBezTo>
                  <a:pt x="5324593" y="982307"/>
                  <a:pt x="5290900" y="1016000"/>
                  <a:pt x="5249337" y="1016000"/>
                </a:cubicBez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4" name="Shape 24"/>
          <p:cNvSpPr/>
          <p:nvPr/>
        </p:nvSpPr>
        <p:spPr>
          <a:xfrm>
            <a:off x="6400424" y="2021471"/>
            <a:ext cx="37630" cy="1016000"/>
          </a:xfrm>
          <a:custGeom>
            <a:avLst/>
            <a:gdLst/>
            <a:ahLst/>
            <a:cxnLst/>
            <a:rect l="l" t="t" r="r" b="b"/>
            <a:pathLst>
              <a:path w="37630" h="1016000">
                <a:moveTo>
                  <a:pt x="37630" y="0"/>
                </a:moveTo>
                <a:lnTo>
                  <a:pt x="37630" y="0"/>
                </a:lnTo>
                <a:lnTo>
                  <a:pt x="37630" y="1016000"/>
                </a:ln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5" name="Shape 25"/>
          <p:cNvSpPr/>
          <p:nvPr/>
        </p:nvSpPr>
        <p:spPr>
          <a:xfrm>
            <a:off x="6542711" y="2162582"/>
            <a:ext cx="148167" cy="131704"/>
          </a:xfrm>
          <a:custGeom>
            <a:avLst/>
            <a:gdLst/>
            <a:ahLst/>
            <a:cxnLst/>
            <a:rect l="l" t="t" r="r" b="b"/>
            <a:pathLst>
              <a:path w="148167" h="131704">
                <a:moveTo>
                  <a:pt x="131035" y="25363"/>
                </a:moveTo>
                <a:cubicBezTo>
                  <a:pt x="132990" y="23408"/>
                  <a:pt x="136257" y="23897"/>
                  <a:pt x="137234" y="26469"/>
                </a:cubicBezTo>
                <a:cubicBezTo>
                  <a:pt x="138983" y="31022"/>
                  <a:pt x="139935" y="35987"/>
                  <a:pt x="139935" y="41157"/>
                </a:cubicBezTo>
                <a:cubicBezTo>
                  <a:pt x="139935" y="63897"/>
                  <a:pt x="121517" y="82315"/>
                  <a:pt x="98778" y="82315"/>
                </a:cubicBezTo>
                <a:cubicBezTo>
                  <a:pt x="94276" y="82315"/>
                  <a:pt x="89929" y="81595"/>
                  <a:pt x="85865" y="80257"/>
                </a:cubicBezTo>
                <a:lnTo>
                  <a:pt x="37788" y="128334"/>
                </a:lnTo>
                <a:cubicBezTo>
                  <a:pt x="30559" y="135562"/>
                  <a:pt x="18830" y="135562"/>
                  <a:pt x="11601" y="128334"/>
                </a:cubicBezTo>
                <a:cubicBezTo>
                  <a:pt x="4373" y="121106"/>
                  <a:pt x="4373" y="109376"/>
                  <a:pt x="11601" y="102148"/>
                </a:cubicBezTo>
                <a:lnTo>
                  <a:pt x="59678" y="54071"/>
                </a:lnTo>
                <a:cubicBezTo>
                  <a:pt x="58341" y="50006"/>
                  <a:pt x="57620" y="45685"/>
                  <a:pt x="57620" y="41157"/>
                </a:cubicBezTo>
                <a:cubicBezTo>
                  <a:pt x="57620" y="18418"/>
                  <a:pt x="76038" y="0"/>
                  <a:pt x="98778" y="0"/>
                </a:cubicBezTo>
                <a:cubicBezTo>
                  <a:pt x="103948" y="0"/>
                  <a:pt x="108913" y="952"/>
                  <a:pt x="113466" y="2701"/>
                </a:cubicBezTo>
                <a:cubicBezTo>
                  <a:pt x="116038" y="3678"/>
                  <a:pt x="116501" y="6945"/>
                  <a:pt x="114572" y="8900"/>
                </a:cubicBezTo>
                <a:lnTo>
                  <a:pt x="91755" y="31717"/>
                </a:lnTo>
                <a:cubicBezTo>
                  <a:pt x="90984" y="32489"/>
                  <a:pt x="90546" y="33543"/>
                  <a:pt x="90546" y="34624"/>
                </a:cubicBezTo>
                <a:lnTo>
                  <a:pt x="90546" y="45273"/>
                </a:lnTo>
                <a:cubicBezTo>
                  <a:pt x="90546" y="47537"/>
                  <a:pt x="92398" y="49389"/>
                  <a:pt x="94662" y="49389"/>
                </a:cubicBezTo>
                <a:lnTo>
                  <a:pt x="105312" y="49389"/>
                </a:lnTo>
                <a:cubicBezTo>
                  <a:pt x="106392" y="49389"/>
                  <a:pt x="107447" y="48952"/>
                  <a:pt x="108218" y="48180"/>
                </a:cubicBezTo>
                <a:lnTo>
                  <a:pt x="131035" y="2536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6" name="Text 26"/>
          <p:cNvSpPr/>
          <p:nvPr/>
        </p:nvSpPr>
        <p:spPr>
          <a:xfrm>
            <a:off x="6701461" y="2134360"/>
            <a:ext cx="497651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优化策略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7" name="Shape 27"/>
          <p:cNvSpPr/>
          <p:nvPr/>
        </p:nvSpPr>
        <p:spPr>
          <a:xfrm>
            <a:off x="6553294" y="2416582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8" name="Text 28"/>
          <p:cNvSpPr/>
          <p:nvPr/>
        </p:nvSpPr>
        <p:spPr>
          <a:xfrm>
            <a:off x="6748780" y="2397760"/>
            <a:ext cx="3553460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Prompt工程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引导模型整合信息，明确多文档关系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Shape 29"/>
          <p:cNvSpPr/>
          <p:nvPr/>
        </p:nvSpPr>
        <p:spPr>
          <a:xfrm>
            <a:off x="6553294" y="2604611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0" name="Text 30"/>
          <p:cNvSpPr/>
          <p:nvPr/>
        </p:nvSpPr>
        <p:spPr>
          <a:xfrm>
            <a:off x="6748780" y="2585720"/>
            <a:ext cx="2731135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对检索结果进行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摘要预处理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，压缩冗余信息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1" name="Shape 31"/>
          <p:cNvSpPr/>
          <p:nvPr/>
        </p:nvSpPr>
        <p:spPr>
          <a:xfrm>
            <a:off x="6553294" y="2792640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2" name="Text 32"/>
          <p:cNvSpPr/>
          <p:nvPr/>
        </p:nvSpPr>
        <p:spPr>
          <a:xfrm>
            <a:off x="6748780" y="2773680"/>
            <a:ext cx="3938270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层次化检索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（如RAPTOR树结构），提供不同粒度信息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Shape 33"/>
          <p:cNvSpPr/>
          <p:nvPr/>
        </p:nvSpPr>
        <p:spPr>
          <a:xfrm>
            <a:off x="451179" y="3311807"/>
            <a:ext cx="5651970" cy="2114785"/>
          </a:xfrm>
          <a:custGeom>
            <a:avLst/>
            <a:gdLst/>
            <a:ahLst/>
            <a:cxnLst/>
            <a:rect l="l" t="t" r="r" b="b"/>
            <a:pathLst>
              <a:path w="5651970" h="2114785">
                <a:moveTo>
                  <a:pt x="75265" y="0"/>
                </a:moveTo>
                <a:lnTo>
                  <a:pt x="5576705" y="0"/>
                </a:lnTo>
                <a:cubicBezTo>
                  <a:pt x="5618273" y="0"/>
                  <a:pt x="5651970" y="33697"/>
                  <a:pt x="5651970" y="75265"/>
                </a:cubicBezTo>
                <a:lnTo>
                  <a:pt x="5651970" y="2039520"/>
                </a:lnTo>
                <a:cubicBezTo>
                  <a:pt x="5651970" y="2081088"/>
                  <a:pt x="5618273" y="2114785"/>
                  <a:pt x="5576705" y="2114785"/>
                </a:cubicBezTo>
                <a:lnTo>
                  <a:pt x="75265" y="2114785"/>
                </a:lnTo>
                <a:cubicBezTo>
                  <a:pt x="33697" y="2114785"/>
                  <a:pt x="0" y="2081088"/>
                  <a:pt x="0" y="2039520"/>
                </a:cubicBezTo>
                <a:lnTo>
                  <a:pt x="0" y="75265"/>
                </a:lnTo>
                <a:cubicBezTo>
                  <a:pt x="0" y="33725"/>
                  <a:pt x="33725" y="0"/>
                  <a:pt x="7526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4" name="Shape 34"/>
          <p:cNvSpPr/>
          <p:nvPr/>
        </p:nvSpPr>
        <p:spPr>
          <a:xfrm>
            <a:off x="605461" y="3466096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5" name="Shape 35"/>
          <p:cNvSpPr/>
          <p:nvPr/>
        </p:nvSpPr>
        <p:spPr>
          <a:xfrm>
            <a:off x="699535" y="3560170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0" y="94074"/>
                </a:moveTo>
                <a:cubicBezTo>
                  <a:pt x="0" y="42153"/>
                  <a:pt x="42153" y="0"/>
                  <a:pt x="94074" y="0"/>
                </a:cubicBezTo>
                <a:cubicBezTo>
                  <a:pt x="145995" y="0"/>
                  <a:pt x="188148" y="42153"/>
                  <a:pt x="188148" y="94074"/>
                </a:cubicBezTo>
                <a:cubicBezTo>
                  <a:pt x="188148" y="145995"/>
                  <a:pt x="145995" y="188148"/>
                  <a:pt x="94074" y="188148"/>
                </a:cubicBezTo>
                <a:cubicBezTo>
                  <a:pt x="42153" y="188148"/>
                  <a:pt x="0" y="145995"/>
                  <a:pt x="0" y="94074"/>
                </a:cubicBezTo>
                <a:close/>
                <a:moveTo>
                  <a:pt x="105833" y="35278"/>
                </a:moveTo>
                <a:cubicBezTo>
                  <a:pt x="105833" y="28788"/>
                  <a:pt x="100564" y="23519"/>
                  <a:pt x="94074" y="23519"/>
                </a:cubicBezTo>
                <a:cubicBezTo>
                  <a:pt x="87584" y="23519"/>
                  <a:pt x="82315" y="28788"/>
                  <a:pt x="82315" y="35278"/>
                </a:cubicBezTo>
                <a:cubicBezTo>
                  <a:pt x="82315" y="41768"/>
                  <a:pt x="87584" y="47037"/>
                  <a:pt x="94074" y="47037"/>
                </a:cubicBezTo>
                <a:cubicBezTo>
                  <a:pt x="100564" y="47037"/>
                  <a:pt x="105833" y="41768"/>
                  <a:pt x="105833" y="35278"/>
                </a:cubicBezTo>
                <a:close/>
                <a:moveTo>
                  <a:pt x="94074" y="152870"/>
                </a:moveTo>
                <a:cubicBezTo>
                  <a:pt x="107046" y="152870"/>
                  <a:pt x="117593" y="142324"/>
                  <a:pt x="117593" y="129352"/>
                </a:cubicBezTo>
                <a:cubicBezTo>
                  <a:pt x="117593" y="123399"/>
                  <a:pt x="115388" y="117923"/>
                  <a:pt x="111713" y="113808"/>
                </a:cubicBezTo>
                <a:lnTo>
                  <a:pt x="137253" y="62765"/>
                </a:lnTo>
                <a:cubicBezTo>
                  <a:pt x="139421" y="58392"/>
                  <a:pt x="137657" y="53100"/>
                  <a:pt x="133321" y="50932"/>
                </a:cubicBezTo>
                <a:cubicBezTo>
                  <a:pt x="128984" y="48764"/>
                  <a:pt x="123656" y="50528"/>
                  <a:pt x="121488" y="54864"/>
                </a:cubicBezTo>
                <a:lnTo>
                  <a:pt x="95948" y="105907"/>
                </a:lnTo>
                <a:cubicBezTo>
                  <a:pt x="95323" y="105870"/>
                  <a:pt x="94699" y="105833"/>
                  <a:pt x="94074" y="105833"/>
                </a:cubicBezTo>
                <a:cubicBezTo>
                  <a:pt x="81102" y="105833"/>
                  <a:pt x="70556" y="116380"/>
                  <a:pt x="70556" y="129352"/>
                </a:cubicBezTo>
                <a:cubicBezTo>
                  <a:pt x="70556" y="142324"/>
                  <a:pt x="81102" y="152870"/>
                  <a:pt x="94074" y="152870"/>
                </a:cubicBezTo>
                <a:close/>
                <a:moveTo>
                  <a:pt x="64676" y="52917"/>
                </a:moveTo>
                <a:cubicBezTo>
                  <a:pt x="64676" y="46427"/>
                  <a:pt x="59407" y="41157"/>
                  <a:pt x="52917" y="41157"/>
                </a:cubicBezTo>
                <a:cubicBezTo>
                  <a:pt x="46427" y="41157"/>
                  <a:pt x="41157" y="46427"/>
                  <a:pt x="41157" y="52917"/>
                </a:cubicBezTo>
                <a:cubicBezTo>
                  <a:pt x="41157" y="59407"/>
                  <a:pt x="46427" y="64676"/>
                  <a:pt x="52917" y="64676"/>
                </a:cubicBezTo>
                <a:cubicBezTo>
                  <a:pt x="59407" y="64676"/>
                  <a:pt x="64676" y="59407"/>
                  <a:pt x="64676" y="52917"/>
                </a:cubicBezTo>
                <a:close/>
                <a:moveTo>
                  <a:pt x="35278" y="105833"/>
                </a:moveTo>
                <a:cubicBezTo>
                  <a:pt x="41768" y="105833"/>
                  <a:pt x="47037" y="100564"/>
                  <a:pt x="47037" y="94074"/>
                </a:cubicBezTo>
                <a:cubicBezTo>
                  <a:pt x="47037" y="87584"/>
                  <a:pt x="41768" y="82315"/>
                  <a:pt x="35278" y="82315"/>
                </a:cubicBezTo>
                <a:cubicBezTo>
                  <a:pt x="28788" y="82315"/>
                  <a:pt x="23519" y="87584"/>
                  <a:pt x="23519" y="94074"/>
                </a:cubicBezTo>
                <a:cubicBezTo>
                  <a:pt x="23519" y="100564"/>
                  <a:pt x="28788" y="105833"/>
                  <a:pt x="35278" y="105833"/>
                </a:cubicBezTo>
                <a:close/>
                <a:moveTo>
                  <a:pt x="164630" y="94074"/>
                </a:moveTo>
                <a:cubicBezTo>
                  <a:pt x="164630" y="87584"/>
                  <a:pt x="159360" y="82315"/>
                  <a:pt x="152870" y="82315"/>
                </a:cubicBezTo>
                <a:cubicBezTo>
                  <a:pt x="146380" y="82315"/>
                  <a:pt x="141111" y="87584"/>
                  <a:pt x="141111" y="94074"/>
                </a:cubicBezTo>
                <a:cubicBezTo>
                  <a:pt x="141111" y="100564"/>
                  <a:pt x="146380" y="105833"/>
                  <a:pt x="152870" y="105833"/>
                </a:cubicBezTo>
                <a:cubicBezTo>
                  <a:pt x="159360" y="105833"/>
                  <a:pt x="164630" y="100564"/>
                  <a:pt x="164630" y="94074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56" name="Text 36"/>
          <p:cNvSpPr/>
          <p:nvPr/>
        </p:nvSpPr>
        <p:spPr>
          <a:xfrm>
            <a:off x="1057275" y="3522345"/>
            <a:ext cx="1842135" cy="263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系统效率瓶颈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7" name="Text 37"/>
          <p:cNvSpPr/>
          <p:nvPr/>
        </p:nvSpPr>
        <p:spPr>
          <a:xfrm>
            <a:off x="605461" y="3955281"/>
            <a:ext cx="540925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串行流程导致推理速度慢，且向量索引对硬件资源要求较高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624276" y="4256318"/>
            <a:ext cx="5324593" cy="1016000"/>
          </a:xfrm>
          <a:custGeom>
            <a:avLst/>
            <a:gdLst/>
            <a:ahLst/>
            <a:cxnLst/>
            <a:rect l="l" t="t" r="r" b="b"/>
            <a:pathLst>
              <a:path w="5324593" h="1016000">
                <a:moveTo>
                  <a:pt x="37630" y="0"/>
                </a:moveTo>
                <a:lnTo>
                  <a:pt x="5249337" y="0"/>
                </a:lnTo>
                <a:cubicBezTo>
                  <a:pt x="5290900" y="0"/>
                  <a:pt x="5324593" y="33693"/>
                  <a:pt x="5324593" y="75255"/>
                </a:cubicBezTo>
                <a:lnTo>
                  <a:pt x="5324593" y="940745"/>
                </a:lnTo>
                <a:cubicBezTo>
                  <a:pt x="5324593" y="982307"/>
                  <a:pt x="5290900" y="1016000"/>
                  <a:pt x="5249337" y="1016000"/>
                </a:cubicBez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9" name="Shape 39"/>
          <p:cNvSpPr/>
          <p:nvPr/>
        </p:nvSpPr>
        <p:spPr>
          <a:xfrm>
            <a:off x="624276" y="4256318"/>
            <a:ext cx="37630" cy="1016000"/>
          </a:xfrm>
          <a:custGeom>
            <a:avLst/>
            <a:gdLst/>
            <a:ahLst/>
            <a:cxnLst/>
            <a:rect l="l" t="t" r="r" b="b"/>
            <a:pathLst>
              <a:path w="37630" h="1016000">
                <a:moveTo>
                  <a:pt x="37630" y="0"/>
                </a:moveTo>
                <a:lnTo>
                  <a:pt x="37630" y="0"/>
                </a:lnTo>
                <a:lnTo>
                  <a:pt x="37630" y="1016000"/>
                </a:ln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0" name="Shape 40"/>
          <p:cNvSpPr/>
          <p:nvPr/>
        </p:nvSpPr>
        <p:spPr>
          <a:xfrm>
            <a:off x="766563" y="4397429"/>
            <a:ext cx="148167" cy="131704"/>
          </a:xfrm>
          <a:custGeom>
            <a:avLst/>
            <a:gdLst/>
            <a:ahLst/>
            <a:cxnLst/>
            <a:rect l="l" t="t" r="r" b="b"/>
            <a:pathLst>
              <a:path w="148167" h="131704">
                <a:moveTo>
                  <a:pt x="131035" y="25363"/>
                </a:moveTo>
                <a:cubicBezTo>
                  <a:pt x="132990" y="23408"/>
                  <a:pt x="136257" y="23897"/>
                  <a:pt x="137234" y="26469"/>
                </a:cubicBezTo>
                <a:cubicBezTo>
                  <a:pt x="138983" y="31022"/>
                  <a:pt x="139935" y="35987"/>
                  <a:pt x="139935" y="41157"/>
                </a:cubicBezTo>
                <a:cubicBezTo>
                  <a:pt x="139935" y="63897"/>
                  <a:pt x="121517" y="82315"/>
                  <a:pt x="98778" y="82315"/>
                </a:cubicBezTo>
                <a:cubicBezTo>
                  <a:pt x="94276" y="82315"/>
                  <a:pt x="89929" y="81595"/>
                  <a:pt x="85865" y="80257"/>
                </a:cubicBezTo>
                <a:lnTo>
                  <a:pt x="37788" y="128334"/>
                </a:lnTo>
                <a:cubicBezTo>
                  <a:pt x="30559" y="135562"/>
                  <a:pt x="18830" y="135562"/>
                  <a:pt x="11601" y="128334"/>
                </a:cubicBezTo>
                <a:cubicBezTo>
                  <a:pt x="4373" y="121106"/>
                  <a:pt x="4373" y="109376"/>
                  <a:pt x="11601" y="102148"/>
                </a:cubicBezTo>
                <a:lnTo>
                  <a:pt x="59678" y="54071"/>
                </a:lnTo>
                <a:cubicBezTo>
                  <a:pt x="58341" y="50006"/>
                  <a:pt x="57620" y="45685"/>
                  <a:pt x="57620" y="41157"/>
                </a:cubicBezTo>
                <a:cubicBezTo>
                  <a:pt x="57620" y="18418"/>
                  <a:pt x="76038" y="0"/>
                  <a:pt x="98778" y="0"/>
                </a:cubicBezTo>
                <a:cubicBezTo>
                  <a:pt x="103948" y="0"/>
                  <a:pt x="108913" y="952"/>
                  <a:pt x="113466" y="2701"/>
                </a:cubicBezTo>
                <a:cubicBezTo>
                  <a:pt x="116038" y="3678"/>
                  <a:pt x="116501" y="6945"/>
                  <a:pt x="114572" y="8900"/>
                </a:cubicBezTo>
                <a:lnTo>
                  <a:pt x="91755" y="31717"/>
                </a:lnTo>
                <a:cubicBezTo>
                  <a:pt x="90984" y="32489"/>
                  <a:pt x="90546" y="33543"/>
                  <a:pt x="90546" y="34624"/>
                </a:cubicBezTo>
                <a:lnTo>
                  <a:pt x="90546" y="45273"/>
                </a:lnTo>
                <a:cubicBezTo>
                  <a:pt x="90546" y="47537"/>
                  <a:pt x="92398" y="49389"/>
                  <a:pt x="94662" y="49389"/>
                </a:cubicBezTo>
                <a:lnTo>
                  <a:pt x="105312" y="49389"/>
                </a:lnTo>
                <a:cubicBezTo>
                  <a:pt x="106392" y="49389"/>
                  <a:pt x="107447" y="48952"/>
                  <a:pt x="108218" y="48180"/>
                </a:cubicBezTo>
                <a:lnTo>
                  <a:pt x="131035" y="2536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1" name="Text 41"/>
          <p:cNvSpPr/>
          <p:nvPr/>
        </p:nvSpPr>
        <p:spPr>
          <a:xfrm>
            <a:off x="925313" y="4369207"/>
            <a:ext cx="497651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优化策略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2" name="Shape 42"/>
          <p:cNvSpPr/>
          <p:nvPr/>
        </p:nvSpPr>
        <p:spPr>
          <a:xfrm>
            <a:off x="777146" y="4651429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3" name="Text 43"/>
          <p:cNvSpPr/>
          <p:nvPr/>
        </p:nvSpPr>
        <p:spPr>
          <a:xfrm>
            <a:off x="972185" y="4632325"/>
            <a:ext cx="3048000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利用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向量数据库分布式部署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，提升并发处理能力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Shape 44"/>
          <p:cNvSpPr/>
          <p:nvPr/>
        </p:nvSpPr>
        <p:spPr>
          <a:xfrm>
            <a:off x="777146" y="4839458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5" name="Text 45"/>
          <p:cNvSpPr/>
          <p:nvPr/>
        </p:nvSpPr>
        <p:spPr>
          <a:xfrm>
            <a:off x="972185" y="4820920"/>
            <a:ext cx="4016375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索引压缩与量化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技术（如HNSW、IVF），降低存储成本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Shape 46"/>
          <p:cNvSpPr/>
          <p:nvPr/>
        </p:nvSpPr>
        <p:spPr>
          <a:xfrm>
            <a:off x="777146" y="5027487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7" name="Text 47"/>
          <p:cNvSpPr/>
          <p:nvPr/>
        </p:nvSpPr>
        <p:spPr>
          <a:xfrm>
            <a:off x="972185" y="5008880"/>
            <a:ext cx="2962275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实施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语义缓存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策略，减少重复查询开销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8" name="Shape 48"/>
          <p:cNvSpPr/>
          <p:nvPr/>
        </p:nvSpPr>
        <p:spPr>
          <a:xfrm>
            <a:off x="6227327" y="3311807"/>
            <a:ext cx="5651970" cy="2114785"/>
          </a:xfrm>
          <a:custGeom>
            <a:avLst/>
            <a:gdLst/>
            <a:ahLst/>
            <a:cxnLst/>
            <a:rect l="l" t="t" r="r" b="b"/>
            <a:pathLst>
              <a:path w="5651970" h="2114785">
                <a:moveTo>
                  <a:pt x="75265" y="0"/>
                </a:moveTo>
                <a:lnTo>
                  <a:pt x="5576705" y="0"/>
                </a:lnTo>
                <a:cubicBezTo>
                  <a:pt x="5618273" y="0"/>
                  <a:pt x="5651970" y="33697"/>
                  <a:pt x="5651970" y="75265"/>
                </a:cubicBezTo>
                <a:lnTo>
                  <a:pt x="5651970" y="2039520"/>
                </a:lnTo>
                <a:cubicBezTo>
                  <a:pt x="5651970" y="2081088"/>
                  <a:pt x="5618273" y="2114785"/>
                  <a:pt x="5576705" y="2114785"/>
                </a:cubicBezTo>
                <a:lnTo>
                  <a:pt x="75265" y="2114785"/>
                </a:lnTo>
                <a:cubicBezTo>
                  <a:pt x="33697" y="2114785"/>
                  <a:pt x="0" y="2081088"/>
                  <a:pt x="0" y="2039520"/>
                </a:cubicBezTo>
                <a:lnTo>
                  <a:pt x="0" y="75265"/>
                </a:lnTo>
                <a:cubicBezTo>
                  <a:pt x="0" y="33725"/>
                  <a:pt x="33725" y="0"/>
                  <a:pt x="7526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9" name="Shape 49"/>
          <p:cNvSpPr/>
          <p:nvPr/>
        </p:nvSpPr>
        <p:spPr>
          <a:xfrm>
            <a:off x="6381609" y="3466096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0" name="Shape 50"/>
          <p:cNvSpPr/>
          <p:nvPr/>
        </p:nvSpPr>
        <p:spPr>
          <a:xfrm>
            <a:off x="6475683" y="3560170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176426" y="70556"/>
                </a:moveTo>
                <a:lnTo>
                  <a:pt x="179329" y="70556"/>
                </a:lnTo>
                <a:cubicBezTo>
                  <a:pt x="184216" y="70556"/>
                  <a:pt x="188148" y="66624"/>
                  <a:pt x="188148" y="61736"/>
                </a:cubicBezTo>
                <a:lnTo>
                  <a:pt x="188148" y="8819"/>
                </a:lnTo>
                <a:cubicBezTo>
                  <a:pt x="188148" y="5255"/>
                  <a:pt x="186017" y="2021"/>
                  <a:pt x="182709" y="661"/>
                </a:cubicBezTo>
                <a:cubicBezTo>
                  <a:pt x="179402" y="-698"/>
                  <a:pt x="175617" y="73"/>
                  <a:pt x="173082" y="2572"/>
                </a:cubicBezTo>
                <a:lnTo>
                  <a:pt x="154083" y="21608"/>
                </a:lnTo>
                <a:cubicBezTo>
                  <a:pt x="137804" y="8121"/>
                  <a:pt x="116858" y="0"/>
                  <a:pt x="94074" y="0"/>
                </a:cubicBezTo>
                <a:cubicBezTo>
                  <a:pt x="46670" y="0"/>
                  <a:pt x="7460" y="35057"/>
                  <a:pt x="955" y="80661"/>
                </a:cubicBezTo>
                <a:cubicBezTo>
                  <a:pt x="37" y="87092"/>
                  <a:pt x="4483" y="93045"/>
                  <a:pt x="10914" y="93964"/>
                </a:cubicBezTo>
                <a:cubicBezTo>
                  <a:pt x="17345" y="94883"/>
                  <a:pt x="23298" y="90399"/>
                  <a:pt x="24217" y="84005"/>
                </a:cubicBezTo>
                <a:cubicBezTo>
                  <a:pt x="29104" y="49793"/>
                  <a:pt x="58539" y="23519"/>
                  <a:pt x="94074" y="23519"/>
                </a:cubicBezTo>
                <a:cubicBezTo>
                  <a:pt x="110390" y="23519"/>
                  <a:pt x="125383" y="29031"/>
                  <a:pt x="137326" y="38328"/>
                </a:cubicBezTo>
                <a:lnTo>
                  <a:pt x="120165" y="55489"/>
                </a:lnTo>
                <a:cubicBezTo>
                  <a:pt x="117629" y="58025"/>
                  <a:pt x="116894" y="61810"/>
                  <a:pt x="118254" y="65117"/>
                </a:cubicBezTo>
                <a:cubicBezTo>
                  <a:pt x="119614" y="68424"/>
                  <a:pt x="122848" y="70556"/>
                  <a:pt x="126412" y="70556"/>
                </a:cubicBezTo>
                <a:lnTo>
                  <a:pt x="176426" y="70556"/>
                </a:lnTo>
                <a:close/>
                <a:moveTo>
                  <a:pt x="187229" y="107487"/>
                </a:moveTo>
                <a:cubicBezTo>
                  <a:pt x="188148" y="101056"/>
                  <a:pt x="183665" y="95103"/>
                  <a:pt x="177271" y="94184"/>
                </a:cubicBezTo>
                <a:cubicBezTo>
                  <a:pt x="170877" y="93266"/>
                  <a:pt x="164887" y="97749"/>
                  <a:pt x="163968" y="104143"/>
                </a:cubicBezTo>
                <a:cubicBezTo>
                  <a:pt x="159081" y="138318"/>
                  <a:pt x="129646" y="164593"/>
                  <a:pt x="94111" y="164593"/>
                </a:cubicBezTo>
                <a:cubicBezTo>
                  <a:pt x="77795" y="164593"/>
                  <a:pt x="62802" y="159081"/>
                  <a:pt x="50859" y="149784"/>
                </a:cubicBezTo>
                <a:lnTo>
                  <a:pt x="67983" y="132659"/>
                </a:lnTo>
                <a:cubicBezTo>
                  <a:pt x="70519" y="130124"/>
                  <a:pt x="71254" y="126339"/>
                  <a:pt x="69894" y="123031"/>
                </a:cubicBezTo>
                <a:cubicBezTo>
                  <a:pt x="68534" y="119724"/>
                  <a:pt x="65301" y="117593"/>
                  <a:pt x="61736" y="117593"/>
                </a:cubicBezTo>
                <a:lnTo>
                  <a:pt x="8819" y="117593"/>
                </a:lnTo>
                <a:cubicBezTo>
                  <a:pt x="3932" y="117593"/>
                  <a:pt x="0" y="121525"/>
                  <a:pt x="0" y="126412"/>
                </a:cubicBezTo>
                <a:lnTo>
                  <a:pt x="0" y="179329"/>
                </a:lnTo>
                <a:cubicBezTo>
                  <a:pt x="0" y="182893"/>
                  <a:pt x="2131" y="186127"/>
                  <a:pt x="5439" y="187487"/>
                </a:cubicBezTo>
                <a:cubicBezTo>
                  <a:pt x="8746" y="188846"/>
                  <a:pt x="12531" y="188075"/>
                  <a:pt x="15067" y="185576"/>
                </a:cubicBezTo>
                <a:lnTo>
                  <a:pt x="34102" y="166541"/>
                </a:lnTo>
                <a:cubicBezTo>
                  <a:pt x="50344" y="180027"/>
                  <a:pt x="71291" y="188148"/>
                  <a:pt x="94074" y="188148"/>
                </a:cubicBezTo>
                <a:cubicBezTo>
                  <a:pt x="141479" y="188148"/>
                  <a:pt x="180688" y="153091"/>
                  <a:pt x="187193" y="107487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71" name="Text 51"/>
          <p:cNvSpPr/>
          <p:nvPr/>
        </p:nvSpPr>
        <p:spPr>
          <a:xfrm>
            <a:off x="6833235" y="3522345"/>
            <a:ext cx="2574925" cy="263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知识时效性与更新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2" name="Text 52"/>
          <p:cNvSpPr/>
          <p:nvPr/>
        </p:nvSpPr>
        <p:spPr>
          <a:xfrm>
            <a:off x="6381609" y="3955281"/>
            <a:ext cx="540925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知识库需持续更新以避免内容过时，但更新过程复杂且成本高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3" name="Shape 53"/>
          <p:cNvSpPr/>
          <p:nvPr/>
        </p:nvSpPr>
        <p:spPr>
          <a:xfrm>
            <a:off x="6400424" y="4256318"/>
            <a:ext cx="5324593" cy="1016000"/>
          </a:xfrm>
          <a:custGeom>
            <a:avLst/>
            <a:gdLst/>
            <a:ahLst/>
            <a:cxnLst/>
            <a:rect l="l" t="t" r="r" b="b"/>
            <a:pathLst>
              <a:path w="5324593" h="1016000">
                <a:moveTo>
                  <a:pt x="37630" y="0"/>
                </a:moveTo>
                <a:lnTo>
                  <a:pt x="5249337" y="0"/>
                </a:lnTo>
                <a:cubicBezTo>
                  <a:pt x="5290900" y="0"/>
                  <a:pt x="5324593" y="33693"/>
                  <a:pt x="5324593" y="75255"/>
                </a:cubicBezTo>
                <a:lnTo>
                  <a:pt x="5324593" y="940745"/>
                </a:lnTo>
                <a:cubicBezTo>
                  <a:pt x="5324593" y="982307"/>
                  <a:pt x="5290900" y="1016000"/>
                  <a:pt x="5249337" y="1016000"/>
                </a:cubicBez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4" name="Shape 54"/>
          <p:cNvSpPr/>
          <p:nvPr/>
        </p:nvSpPr>
        <p:spPr>
          <a:xfrm>
            <a:off x="6400424" y="4256318"/>
            <a:ext cx="37630" cy="1016000"/>
          </a:xfrm>
          <a:custGeom>
            <a:avLst/>
            <a:gdLst/>
            <a:ahLst/>
            <a:cxnLst/>
            <a:rect l="l" t="t" r="r" b="b"/>
            <a:pathLst>
              <a:path w="37630" h="1016000">
                <a:moveTo>
                  <a:pt x="37630" y="0"/>
                </a:moveTo>
                <a:lnTo>
                  <a:pt x="37630" y="0"/>
                </a:lnTo>
                <a:lnTo>
                  <a:pt x="37630" y="1016000"/>
                </a:lnTo>
                <a:lnTo>
                  <a:pt x="37630" y="1016000"/>
                </a:lnTo>
                <a:cubicBezTo>
                  <a:pt x="16861" y="1016000"/>
                  <a:pt x="0" y="999139"/>
                  <a:pt x="0" y="97837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5" name="Shape 55"/>
          <p:cNvSpPr/>
          <p:nvPr/>
        </p:nvSpPr>
        <p:spPr>
          <a:xfrm>
            <a:off x="6542711" y="4397429"/>
            <a:ext cx="148167" cy="131704"/>
          </a:xfrm>
          <a:custGeom>
            <a:avLst/>
            <a:gdLst/>
            <a:ahLst/>
            <a:cxnLst/>
            <a:rect l="l" t="t" r="r" b="b"/>
            <a:pathLst>
              <a:path w="148167" h="131704">
                <a:moveTo>
                  <a:pt x="131035" y="25363"/>
                </a:moveTo>
                <a:cubicBezTo>
                  <a:pt x="132990" y="23408"/>
                  <a:pt x="136257" y="23897"/>
                  <a:pt x="137234" y="26469"/>
                </a:cubicBezTo>
                <a:cubicBezTo>
                  <a:pt x="138983" y="31022"/>
                  <a:pt x="139935" y="35987"/>
                  <a:pt x="139935" y="41157"/>
                </a:cubicBezTo>
                <a:cubicBezTo>
                  <a:pt x="139935" y="63897"/>
                  <a:pt x="121517" y="82315"/>
                  <a:pt x="98778" y="82315"/>
                </a:cubicBezTo>
                <a:cubicBezTo>
                  <a:pt x="94276" y="82315"/>
                  <a:pt x="89929" y="81595"/>
                  <a:pt x="85865" y="80257"/>
                </a:cubicBezTo>
                <a:lnTo>
                  <a:pt x="37788" y="128334"/>
                </a:lnTo>
                <a:cubicBezTo>
                  <a:pt x="30559" y="135562"/>
                  <a:pt x="18830" y="135562"/>
                  <a:pt x="11601" y="128334"/>
                </a:cubicBezTo>
                <a:cubicBezTo>
                  <a:pt x="4373" y="121106"/>
                  <a:pt x="4373" y="109376"/>
                  <a:pt x="11601" y="102148"/>
                </a:cubicBezTo>
                <a:lnTo>
                  <a:pt x="59678" y="54071"/>
                </a:lnTo>
                <a:cubicBezTo>
                  <a:pt x="58341" y="50006"/>
                  <a:pt x="57620" y="45685"/>
                  <a:pt x="57620" y="41157"/>
                </a:cubicBezTo>
                <a:cubicBezTo>
                  <a:pt x="57620" y="18418"/>
                  <a:pt x="76038" y="0"/>
                  <a:pt x="98778" y="0"/>
                </a:cubicBezTo>
                <a:cubicBezTo>
                  <a:pt x="103948" y="0"/>
                  <a:pt x="108913" y="952"/>
                  <a:pt x="113466" y="2701"/>
                </a:cubicBezTo>
                <a:cubicBezTo>
                  <a:pt x="116038" y="3678"/>
                  <a:pt x="116501" y="6945"/>
                  <a:pt x="114572" y="8900"/>
                </a:cubicBezTo>
                <a:lnTo>
                  <a:pt x="91755" y="31717"/>
                </a:lnTo>
                <a:cubicBezTo>
                  <a:pt x="90984" y="32489"/>
                  <a:pt x="90546" y="33543"/>
                  <a:pt x="90546" y="34624"/>
                </a:cubicBezTo>
                <a:lnTo>
                  <a:pt x="90546" y="45273"/>
                </a:lnTo>
                <a:cubicBezTo>
                  <a:pt x="90546" y="47537"/>
                  <a:pt x="92398" y="49389"/>
                  <a:pt x="94662" y="49389"/>
                </a:cubicBezTo>
                <a:lnTo>
                  <a:pt x="105312" y="49389"/>
                </a:lnTo>
                <a:cubicBezTo>
                  <a:pt x="106392" y="49389"/>
                  <a:pt x="107447" y="48952"/>
                  <a:pt x="108218" y="48180"/>
                </a:cubicBezTo>
                <a:lnTo>
                  <a:pt x="131035" y="2536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6" name="Text 56"/>
          <p:cNvSpPr/>
          <p:nvPr/>
        </p:nvSpPr>
        <p:spPr>
          <a:xfrm>
            <a:off x="6701461" y="4369207"/>
            <a:ext cx="497651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优化策略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7" name="Shape 57"/>
          <p:cNvSpPr/>
          <p:nvPr/>
        </p:nvSpPr>
        <p:spPr>
          <a:xfrm>
            <a:off x="6553294" y="4651429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8" name="Text 58"/>
          <p:cNvSpPr/>
          <p:nvPr/>
        </p:nvSpPr>
        <p:spPr>
          <a:xfrm>
            <a:off x="6748780" y="4632325"/>
            <a:ext cx="3027045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构建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自动化知识库更新流水线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，实现增量更新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9" name="Shape 59"/>
          <p:cNvSpPr/>
          <p:nvPr/>
        </p:nvSpPr>
        <p:spPr>
          <a:xfrm>
            <a:off x="6553294" y="4839458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0" name="Text 60"/>
          <p:cNvSpPr/>
          <p:nvPr/>
        </p:nvSpPr>
        <p:spPr>
          <a:xfrm>
            <a:off x="6748780" y="4820920"/>
            <a:ext cx="3295650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采用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实时索引动态更新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机制，保持知识新鲜度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1" name="Shape 61"/>
          <p:cNvSpPr/>
          <p:nvPr/>
        </p:nvSpPr>
        <p:spPr>
          <a:xfrm>
            <a:off x="6553294" y="5027487"/>
            <a:ext cx="98778" cy="112889"/>
          </a:xfrm>
          <a:custGeom>
            <a:avLst/>
            <a:gdLst/>
            <a:ahLst/>
            <a:cxnLst/>
            <a:rect l="l" t="t" r="r" b="b"/>
            <a:pathLst>
              <a:path w="98778" h="112889">
                <a:moveTo>
                  <a:pt x="95867" y="15456"/>
                </a:moveTo>
                <a:cubicBezTo>
                  <a:pt x="99020" y="17749"/>
                  <a:pt x="99726" y="22159"/>
                  <a:pt x="97433" y="25312"/>
                </a:cubicBezTo>
                <a:lnTo>
                  <a:pt x="40988" y="102923"/>
                </a:lnTo>
                <a:cubicBezTo>
                  <a:pt x="39776" y="104599"/>
                  <a:pt x="37902" y="105635"/>
                  <a:pt x="35829" y="105811"/>
                </a:cubicBezTo>
                <a:cubicBezTo>
                  <a:pt x="33756" y="105988"/>
                  <a:pt x="31750" y="105216"/>
                  <a:pt x="30295" y="103761"/>
                </a:cubicBezTo>
                <a:lnTo>
                  <a:pt x="2073" y="75539"/>
                </a:lnTo>
                <a:cubicBezTo>
                  <a:pt x="-684" y="72782"/>
                  <a:pt x="-684" y="68307"/>
                  <a:pt x="2073" y="65551"/>
                </a:cubicBezTo>
                <a:cubicBezTo>
                  <a:pt x="4829" y="62794"/>
                  <a:pt x="9305" y="62794"/>
                  <a:pt x="12061" y="65551"/>
                </a:cubicBezTo>
                <a:lnTo>
                  <a:pt x="34440" y="87930"/>
                </a:lnTo>
                <a:lnTo>
                  <a:pt x="86034" y="16999"/>
                </a:lnTo>
                <a:cubicBezTo>
                  <a:pt x="88327" y="13847"/>
                  <a:pt x="92736" y="13141"/>
                  <a:pt x="95889" y="1543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2" name="Text 62"/>
          <p:cNvSpPr/>
          <p:nvPr/>
        </p:nvSpPr>
        <p:spPr>
          <a:xfrm>
            <a:off x="6748780" y="5008880"/>
            <a:ext cx="2987675" cy="15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建立</a:t>
            </a:r>
            <a:r>
              <a:rPr lang="en-US" sz="109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版本控制与回滚</a:t>
            </a:r>
            <a:r>
              <a:rPr lang="en-US" sz="109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机制，确保更新安全性</a:t>
            </a:r>
            <a:endParaRPr lang="en-US" sz="109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3" name="Shape 63"/>
          <p:cNvSpPr/>
          <p:nvPr/>
        </p:nvSpPr>
        <p:spPr>
          <a:xfrm>
            <a:off x="466231" y="5542891"/>
            <a:ext cx="11420593" cy="1072444"/>
          </a:xfrm>
          <a:custGeom>
            <a:avLst/>
            <a:gdLst/>
            <a:ahLst/>
            <a:cxnLst/>
            <a:rect l="l" t="t" r="r" b="b"/>
            <a:pathLst>
              <a:path w="11420593" h="1072444">
                <a:moveTo>
                  <a:pt x="0" y="0"/>
                </a:moveTo>
                <a:lnTo>
                  <a:pt x="11345328" y="0"/>
                </a:lnTo>
                <a:cubicBezTo>
                  <a:pt x="11386896" y="0"/>
                  <a:pt x="11420593" y="33697"/>
                  <a:pt x="11420593" y="75264"/>
                </a:cubicBezTo>
                <a:lnTo>
                  <a:pt x="11420593" y="997180"/>
                </a:lnTo>
                <a:cubicBezTo>
                  <a:pt x="11420593" y="1038748"/>
                  <a:pt x="11386896" y="1072444"/>
                  <a:pt x="11345328" y="1072444"/>
                </a:cubicBezTo>
                <a:lnTo>
                  <a:pt x="0" y="107244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4" name="Shape 64"/>
          <p:cNvSpPr/>
          <p:nvPr/>
        </p:nvSpPr>
        <p:spPr>
          <a:xfrm>
            <a:off x="466231" y="5542891"/>
            <a:ext cx="37630" cy="1072444"/>
          </a:xfrm>
          <a:custGeom>
            <a:avLst/>
            <a:gdLst/>
            <a:ahLst/>
            <a:cxnLst/>
            <a:rect l="l" t="t" r="r" b="b"/>
            <a:pathLst>
              <a:path w="37630" h="1072444">
                <a:moveTo>
                  <a:pt x="0" y="0"/>
                </a:moveTo>
                <a:lnTo>
                  <a:pt x="37630" y="0"/>
                </a:lnTo>
                <a:lnTo>
                  <a:pt x="37630" y="1072444"/>
                </a:lnTo>
                <a:lnTo>
                  <a:pt x="0" y="1072444"/>
                </a:lnTo>
                <a:lnTo>
                  <a:pt x="0" y="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5" name="Shape 65"/>
          <p:cNvSpPr/>
          <p:nvPr/>
        </p:nvSpPr>
        <p:spPr>
          <a:xfrm>
            <a:off x="644972" y="5731040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12889" y="0"/>
                </a:moveTo>
                <a:cubicBezTo>
                  <a:pt x="114917" y="0"/>
                  <a:pt x="116946" y="441"/>
                  <a:pt x="118798" y="1279"/>
                </a:cubicBezTo>
                <a:lnTo>
                  <a:pt x="201877" y="36513"/>
                </a:lnTo>
                <a:cubicBezTo>
                  <a:pt x="211578" y="40614"/>
                  <a:pt x="218810" y="50183"/>
                  <a:pt x="218766" y="61736"/>
                </a:cubicBezTo>
                <a:cubicBezTo>
                  <a:pt x="218546" y="105481"/>
                  <a:pt x="200554" y="185517"/>
                  <a:pt x="124575" y="221897"/>
                </a:cubicBezTo>
                <a:cubicBezTo>
                  <a:pt x="117210" y="225425"/>
                  <a:pt x="108656" y="225425"/>
                  <a:pt x="101291" y="221897"/>
                </a:cubicBezTo>
                <a:cubicBezTo>
                  <a:pt x="25268" y="185517"/>
                  <a:pt x="7320" y="105481"/>
                  <a:pt x="7100" y="61736"/>
                </a:cubicBezTo>
                <a:cubicBezTo>
                  <a:pt x="7056" y="50183"/>
                  <a:pt x="14287" y="40614"/>
                  <a:pt x="23989" y="36513"/>
                </a:cubicBezTo>
                <a:lnTo>
                  <a:pt x="107024" y="1279"/>
                </a:lnTo>
                <a:cubicBezTo>
                  <a:pt x="108876" y="441"/>
                  <a:pt x="110860" y="0"/>
                  <a:pt x="112889" y="0"/>
                </a:cubicBezTo>
                <a:close/>
                <a:moveTo>
                  <a:pt x="112889" y="29457"/>
                </a:moveTo>
                <a:lnTo>
                  <a:pt x="112889" y="196189"/>
                </a:lnTo>
                <a:cubicBezTo>
                  <a:pt x="173743" y="166732"/>
                  <a:pt x="190103" y="101468"/>
                  <a:pt x="190500" y="62398"/>
                </a:cubicBezTo>
                <a:lnTo>
                  <a:pt x="112889" y="29501"/>
                </a:lnTo>
                <a:lnTo>
                  <a:pt x="112889" y="29501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6" name="Text 66"/>
          <p:cNvSpPr/>
          <p:nvPr/>
        </p:nvSpPr>
        <p:spPr>
          <a:xfrm>
            <a:off x="990106" y="5693410"/>
            <a:ext cx="10827926" cy="26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可信度与可追溯性保障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7" name="Text 67"/>
          <p:cNvSpPr/>
          <p:nvPr/>
        </p:nvSpPr>
        <p:spPr>
          <a:xfrm>
            <a:off x="990106" y="6032077"/>
            <a:ext cx="10809111" cy="4327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模型仍可能基于检索结果进行错误推理，且自动生成引用的精度有待提升。建立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"生成+校验"闭环机制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，明确标注信息来源，有效过滤幻觉与错误内容，提升结果可信度。采用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多源验证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置信度评分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，确保答案可靠性。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985" y="441325"/>
            <a:ext cx="631063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RAG</a:t>
            </a: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未来发展方向与技术前沿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4810" y="1266190"/>
            <a:ext cx="3722370" cy="2446020"/>
          </a:xfrm>
          <a:custGeom>
            <a:avLst/>
            <a:gdLst/>
            <a:ahLst/>
            <a:cxnLst/>
            <a:rect l="l" t="t" r="r" b="b"/>
            <a:pathLst>
              <a:path w="3722370" h="2446020">
                <a:moveTo>
                  <a:pt x="76194" y="0"/>
                </a:moveTo>
                <a:lnTo>
                  <a:pt x="3646176" y="0"/>
                </a:lnTo>
                <a:cubicBezTo>
                  <a:pt x="3688257" y="0"/>
                  <a:pt x="3722370" y="34113"/>
                  <a:pt x="3722370" y="76194"/>
                </a:cubicBezTo>
                <a:lnTo>
                  <a:pt x="3722370" y="2369826"/>
                </a:lnTo>
                <a:cubicBezTo>
                  <a:pt x="3722370" y="2411907"/>
                  <a:pt x="3688257" y="2446020"/>
                  <a:pt x="3646176" y="2446020"/>
                </a:cubicBezTo>
                <a:lnTo>
                  <a:pt x="76194" y="2446020"/>
                </a:lnTo>
                <a:cubicBezTo>
                  <a:pt x="34113" y="2446020"/>
                  <a:pt x="0" y="2411907"/>
                  <a:pt x="0" y="236982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4223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" name="Shape 5"/>
          <p:cNvSpPr/>
          <p:nvPr/>
        </p:nvSpPr>
        <p:spPr>
          <a:xfrm>
            <a:off x="626745" y="153669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74420" y="1517648"/>
            <a:ext cx="1133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Agentic RAG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" name="Text 7"/>
          <p:cNvSpPr/>
          <p:nvPr/>
        </p:nvSpPr>
        <p:spPr>
          <a:xfrm>
            <a:off x="541020" y="1993898"/>
            <a:ext cx="3476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从基础RAG向Agentic RAG发展，实现自主决策与多智能体协作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8"/>
          <p:cNvSpPr/>
          <p:nvPr/>
        </p:nvSpPr>
        <p:spPr>
          <a:xfrm>
            <a:off x="541020" y="2489198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28" name="Shape 9"/>
          <p:cNvSpPr/>
          <p:nvPr/>
        </p:nvSpPr>
        <p:spPr>
          <a:xfrm>
            <a:off x="638651" y="25806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Text 10"/>
          <p:cNvSpPr/>
          <p:nvPr/>
        </p:nvSpPr>
        <p:spPr>
          <a:xfrm>
            <a:off x="788670" y="2565398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自主规划与推理能力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541020" y="2870077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31" name="Shape 12"/>
          <p:cNvSpPr/>
          <p:nvPr/>
        </p:nvSpPr>
        <p:spPr>
          <a:xfrm>
            <a:off x="638651" y="296151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2" name="Text 13"/>
          <p:cNvSpPr/>
          <p:nvPr/>
        </p:nvSpPr>
        <p:spPr>
          <a:xfrm>
            <a:off x="788670" y="2946277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多智能体协同工作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541020" y="3250956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34" name="Shape 15"/>
          <p:cNvSpPr/>
          <p:nvPr/>
        </p:nvSpPr>
        <p:spPr>
          <a:xfrm>
            <a:off x="638651" y="334240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5" name="Text 16"/>
          <p:cNvSpPr/>
          <p:nvPr/>
        </p:nvSpPr>
        <p:spPr>
          <a:xfrm>
            <a:off x="788670" y="3327156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工具调用与API集成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4232910" y="1266190"/>
            <a:ext cx="3722370" cy="2446020"/>
          </a:xfrm>
          <a:custGeom>
            <a:avLst/>
            <a:gdLst/>
            <a:ahLst/>
            <a:cxnLst/>
            <a:rect l="l" t="t" r="r" b="b"/>
            <a:pathLst>
              <a:path w="3722370" h="2446020">
                <a:moveTo>
                  <a:pt x="76194" y="0"/>
                </a:moveTo>
                <a:lnTo>
                  <a:pt x="3646176" y="0"/>
                </a:lnTo>
                <a:cubicBezTo>
                  <a:pt x="3688257" y="0"/>
                  <a:pt x="3722370" y="34113"/>
                  <a:pt x="3722370" y="76194"/>
                </a:cubicBezTo>
                <a:lnTo>
                  <a:pt x="3722370" y="2369826"/>
                </a:lnTo>
                <a:cubicBezTo>
                  <a:pt x="3722370" y="2411907"/>
                  <a:pt x="3688257" y="2446020"/>
                  <a:pt x="3646176" y="2446020"/>
                </a:cubicBezTo>
                <a:lnTo>
                  <a:pt x="76194" y="2446020"/>
                </a:lnTo>
                <a:cubicBezTo>
                  <a:pt x="34113" y="2446020"/>
                  <a:pt x="0" y="2411907"/>
                  <a:pt x="0" y="236982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7" name="Shape 18"/>
          <p:cNvSpPr/>
          <p:nvPr/>
        </p:nvSpPr>
        <p:spPr>
          <a:xfrm>
            <a:off x="4389120" y="14223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8" name="Shape 19"/>
          <p:cNvSpPr/>
          <p:nvPr/>
        </p:nvSpPr>
        <p:spPr>
          <a:xfrm>
            <a:off x="4503420" y="15366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0" name="Text 20"/>
          <p:cNvSpPr/>
          <p:nvPr/>
        </p:nvSpPr>
        <p:spPr>
          <a:xfrm>
            <a:off x="4922520" y="1517648"/>
            <a:ext cx="952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GraphRAG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4389120" y="1963420"/>
            <a:ext cx="3476625" cy="476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增强关系推理能力，基于知识图谱构建更强大的检索系统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4389120" y="2471418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43" name="Shape 23"/>
          <p:cNvSpPr/>
          <p:nvPr/>
        </p:nvSpPr>
        <p:spPr>
          <a:xfrm>
            <a:off x="4486751" y="256285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4" name="Text 24"/>
          <p:cNvSpPr/>
          <p:nvPr/>
        </p:nvSpPr>
        <p:spPr>
          <a:xfrm>
            <a:off x="4636770" y="2547618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实体关系深度理解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4389120" y="2852297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46" name="Shape 26"/>
          <p:cNvSpPr/>
          <p:nvPr/>
        </p:nvSpPr>
        <p:spPr>
          <a:xfrm>
            <a:off x="4486751" y="294373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7" name="Text 27"/>
          <p:cNvSpPr/>
          <p:nvPr/>
        </p:nvSpPr>
        <p:spPr>
          <a:xfrm>
            <a:off x="4636770" y="2928497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多跳推理能力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4389120" y="3233176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49" name="Shape 29"/>
          <p:cNvSpPr/>
          <p:nvPr/>
        </p:nvSpPr>
        <p:spPr>
          <a:xfrm>
            <a:off x="4486751" y="332462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0" name="Text 30"/>
          <p:cNvSpPr/>
          <p:nvPr/>
        </p:nvSpPr>
        <p:spPr>
          <a:xfrm>
            <a:off x="4636770" y="3309376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结构化知识融合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1" name="Shape 31"/>
          <p:cNvSpPr/>
          <p:nvPr/>
        </p:nvSpPr>
        <p:spPr>
          <a:xfrm>
            <a:off x="8081010" y="1266190"/>
            <a:ext cx="3722370" cy="2446020"/>
          </a:xfrm>
          <a:custGeom>
            <a:avLst/>
            <a:gdLst/>
            <a:ahLst/>
            <a:cxnLst/>
            <a:rect l="l" t="t" r="r" b="b"/>
            <a:pathLst>
              <a:path w="3722370" h="2446020">
                <a:moveTo>
                  <a:pt x="76194" y="0"/>
                </a:moveTo>
                <a:lnTo>
                  <a:pt x="3646176" y="0"/>
                </a:lnTo>
                <a:cubicBezTo>
                  <a:pt x="3688257" y="0"/>
                  <a:pt x="3722370" y="34113"/>
                  <a:pt x="3722370" y="76194"/>
                </a:cubicBezTo>
                <a:lnTo>
                  <a:pt x="3722370" y="2369826"/>
                </a:lnTo>
                <a:cubicBezTo>
                  <a:pt x="3722370" y="2411907"/>
                  <a:pt x="3688257" y="2446020"/>
                  <a:pt x="3646176" y="2446020"/>
                </a:cubicBezTo>
                <a:lnTo>
                  <a:pt x="76194" y="2446020"/>
                </a:lnTo>
                <a:cubicBezTo>
                  <a:pt x="34113" y="2446020"/>
                  <a:pt x="0" y="2411907"/>
                  <a:pt x="0" y="236982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2" name="Shape 32"/>
          <p:cNvSpPr/>
          <p:nvPr/>
        </p:nvSpPr>
        <p:spPr>
          <a:xfrm>
            <a:off x="8237220" y="14223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3" name="Shape 33"/>
          <p:cNvSpPr/>
          <p:nvPr/>
        </p:nvSpPr>
        <p:spPr>
          <a:xfrm>
            <a:off x="8337232" y="153669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42863"/>
                </a:moveTo>
                <a:cubicBezTo>
                  <a:pt x="42863" y="27102"/>
                  <a:pt x="55677" y="14288"/>
                  <a:pt x="71438" y="14288"/>
                </a:cubicBezTo>
                <a:lnTo>
                  <a:pt x="214313" y="14288"/>
                </a:lnTo>
                <a:cubicBezTo>
                  <a:pt x="230073" y="14288"/>
                  <a:pt x="242888" y="27102"/>
                  <a:pt x="242888" y="42863"/>
                </a:cubicBezTo>
                <a:lnTo>
                  <a:pt x="242888" y="157163"/>
                </a:lnTo>
                <a:cubicBezTo>
                  <a:pt x="242888" y="172923"/>
                  <a:pt x="230073" y="185738"/>
                  <a:pt x="214313" y="185738"/>
                </a:cubicBezTo>
                <a:lnTo>
                  <a:pt x="71438" y="185738"/>
                </a:lnTo>
                <a:cubicBezTo>
                  <a:pt x="55677" y="185738"/>
                  <a:pt x="42863" y="172923"/>
                  <a:pt x="42863" y="157163"/>
                </a:cubicBezTo>
                <a:lnTo>
                  <a:pt x="42863" y="42863"/>
                </a:lnTo>
                <a:close/>
                <a:moveTo>
                  <a:pt x="10716" y="57150"/>
                </a:moveTo>
                <a:cubicBezTo>
                  <a:pt x="16654" y="57150"/>
                  <a:pt x="21431" y="61927"/>
                  <a:pt x="21431" y="67866"/>
                </a:cubicBezTo>
                <a:lnTo>
                  <a:pt x="21431" y="200025"/>
                </a:lnTo>
                <a:cubicBezTo>
                  <a:pt x="21431" y="203954"/>
                  <a:pt x="24646" y="207169"/>
                  <a:pt x="28575" y="207169"/>
                </a:cubicBezTo>
                <a:lnTo>
                  <a:pt x="189309" y="207169"/>
                </a:lnTo>
                <a:cubicBezTo>
                  <a:pt x="195248" y="207169"/>
                  <a:pt x="200025" y="211946"/>
                  <a:pt x="200025" y="217884"/>
                </a:cubicBezTo>
                <a:cubicBezTo>
                  <a:pt x="200025" y="223823"/>
                  <a:pt x="195248" y="228600"/>
                  <a:pt x="189309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67866"/>
                </a:lnTo>
                <a:cubicBezTo>
                  <a:pt x="0" y="61927"/>
                  <a:pt x="4777" y="57150"/>
                  <a:pt x="10716" y="57150"/>
                </a:cubicBezTo>
                <a:close/>
                <a:moveTo>
                  <a:pt x="85725" y="71438"/>
                </a:moveTo>
                <a:cubicBezTo>
                  <a:pt x="93610" y="71438"/>
                  <a:pt x="100013" y="65035"/>
                  <a:pt x="100013" y="57150"/>
                </a:cubicBezTo>
                <a:cubicBezTo>
                  <a:pt x="100013" y="49265"/>
                  <a:pt x="93610" y="42863"/>
                  <a:pt x="85725" y="42863"/>
                </a:cubicBezTo>
                <a:cubicBezTo>
                  <a:pt x="77840" y="42863"/>
                  <a:pt x="71438" y="49265"/>
                  <a:pt x="71438" y="57150"/>
                </a:cubicBezTo>
                <a:cubicBezTo>
                  <a:pt x="71438" y="65035"/>
                  <a:pt x="77840" y="71438"/>
                  <a:pt x="85725" y="71438"/>
                </a:cubicBezTo>
                <a:close/>
                <a:moveTo>
                  <a:pt x="173459" y="76572"/>
                </a:moveTo>
                <a:cubicBezTo>
                  <a:pt x="171495" y="73402"/>
                  <a:pt x="168057" y="71438"/>
                  <a:pt x="164306" y="71438"/>
                </a:cubicBezTo>
                <a:cubicBezTo>
                  <a:pt x="160556" y="71438"/>
                  <a:pt x="157118" y="73402"/>
                  <a:pt x="155153" y="76572"/>
                </a:cubicBezTo>
                <a:lnTo>
                  <a:pt x="130016" y="117693"/>
                </a:lnTo>
                <a:lnTo>
                  <a:pt x="119077" y="104031"/>
                </a:lnTo>
                <a:cubicBezTo>
                  <a:pt x="117024" y="101486"/>
                  <a:pt x="113987" y="100013"/>
                  <a:pt x="110728" y="100013"/>
                </a:cubicBezTo>
                <a:cubicBezTo>
                  <a:pt x="107469" y="100013"/>
                  <a:pt x="104388" y="101486"/>
                  <a:pt x="102379" y="104031"/>
                </a:cubicBezTo>
                <a:lnTo>
                  <a:pt x="73804" y="139750"/>
                </a:lnTo>
                <a:cubicBezTo>
                  <a:pt x="71214" y="142964"/>
                  <a:pt x="70723" y="147384"/>
                  <a:pt x="72509" y="151090"/>
                </a:cubicBezTo>
                <a:cubicBezTo>
                  <a:pt x="74295" y="154796"/>
                  <a:pt x="78045" y="157163"/>
                  <a:pt x="82153" y="157163"/>
                </a:cubicBezTo>
                <a:lnTo>
                  <a:pt x="203597" y="157163"/>
                </a:lnTo>
                <a:cubicBezTo>
                  <a:pt x="207481" y="157163"/>
                  <a:pt x="211053" y="155064"/>
                  <a:pt x="212928" y="151671"/>
                </a:cubicBezTo>
                <a:cubicBezTo>
                  <a:pt x="214804" y="148277"/>
                  <a:pt x="214759" y="144170"/>
                  <a:pt x="212705" y="140821"/>
                </a:cubicBezTo>
                <a:lnTo>
                  <a:pt x="173415" y="7652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4" name="Text 34"/>
          <p:cNvSpPr/>
          <p:nvPr/>
        </p:nvSpPr>
        <p:spPr>
          <a:xfrm>
            <a:off x="8770620" y="1517648"/>
            <a:ext cx="96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多模态RAG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 35"/>
          <p:cNvSpPr/>
          <p:nvPr/>
        </p:nvSpPr>
        <p:spPr>
          <a:xfrm>
            <a:off x="8237220" y="1993898"/>
            <a:ext cx="3476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融合文本、图像、音频等多种模态，实现跨模态检索与生成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Shape 36"/>
          <p:cNvSpPr/>
          <p:nvPr/>
        </p:nvSpPr>
        <p:spPr>
          <a:xfrm>
            <a:off x="8237220" y="2489198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57" name="Shape 37"/>
          <p:cNvSpPr/>
          <p:nvPr/>
        </p:nvSpPr>
        <p:spPr>
          <a:xfrm>
            <a:off x="8334851" y="25806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8" name="Text 38"/>
          <p:cNvSpPr/>
          <p:nvPr/>
        </p:nvSpPr>
        <p:spPr>
          <a:xfrm>
            <a:off x="8484870" y="2565398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图文混合检索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Shape 39"/>
          <p:cNvSpPr/>
          <p:nvPr/>
        </p:nvSpPr>
        <p:spPr>
          <a:xfrm>
            <a:off x="8237220" y="2870077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60" name="Shape 40"/>
          <p:cNvSpPr/>
          <p:nvPr/>
        </p:nvSpPr>
        <p:spPr>
          <a:xfrm>
            <a:off x="8334851" y="296151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1" name="Text 41"/>
          <p:cNvSpPr/>
          <p:nvPr/>
        </p:nvSpPr>
        <p:spPr>
          <a:xfrm>
            <a:off x="8484870" y="2946277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视频内容理解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2" name="Shape 42"/>
          <p:cNvSpPr/>
          <p:nvPr/>
        </p:nvSpPr>
        <p:spPr>
          <a:xfrm>
            <a:off x="8237220" y="3250956"/>
            <a:ext cx="3409950" cy="304800"/>
          </a:xfrm>
          <a:custGeom>
            <a:avLst/>
            <a:gdLst/>
            <a:ahLst/>
            <a:cxnLst/>
            <a:rect l="l" t="t" r="r" b="b"/>
            <a:pathLst>
              <a:path w="3409950" h="3048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266700"/>
                </a:lnTo>
                <a:cubicBezTo>
                  <a:pt x="3409950" y="287728"/>
                  <a:pt x="3392878" y="304800"/>
                  <a:pt x="33718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63" name="Shape 43"/>
          <p:cNvSpPr/>
          <p:nvPr/>
        </p:nvSpPr>
        <p:spPr>
          <a:xfrm>
            <a:off x="8334851" y="334240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4" name="Text 44"/>
          <p:cNvSpPr/>
          <p:nvPr/>
        </p:nvSpPr>
        <p:spPr>
          <a:xfrm>
            <a:off x="8484870" y="3327156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跨模态语义对齐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Shape 45"/>
          <p:cNvSpPr/>
          <p:nvPr/>
        </p:nvSpPr>
        <p:spPr>
          <a:xfrm>
            <a:off x="384810" y="3833773"/>
            <a:ext cx="5646420" cy="1493520"/>
          </a:xfrm>
          <a:custGeom>
            <a:avLst/>
            <a:gdLst/>
            <a:ahLst/>
            <a:cxnLst/>
            <a:rect l="l" t="t" r="r" b="b"/>
            <a:pathLst>
              <a:path w="5646420" h="1493520">
                <a:moveTo>
                  <a:pt x="76199" y="0"/>
                </a:moveTo>
                <a:lnTo>
                  <a:pt x="5570221" y="0"/>
                </a:lnTo>
                <a:cubicBezTo>
                  <a:pt x="5612304" y="0"/>
                  <a:pt x="5646420" y="34116"/>
                  <a:pt x="5646420" y="76199"/>
                </a:cubicBezTo>
                <a:lnTo>
                  <a:pt x="5646420" y="1417321"/>
                </a:lnTo>
                <a:cubicBezTo>
                  <a:pt x="5646420" y="1459404"/>
                  <a:pt x="5612304" y="1493520"/>
                  <a:pt x="5570221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6" name="Shape 46"/>
          <p:cNvSpPr/>
          <p:nvPr/>
        </p:nvSpPr>
        <p:spPr>
          <a:xfrm>
            <a:off x="541020" y="39899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7" name="Shape 47"/>
          <p:cNvSpPr/>
          <p:nvPr/>
        </p:nvSpPr>
        <p:spPr>
          <a:xfrm>
            <a:off x="624364" y="408523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8" name="Text 48"/>
          <p:cNvSpPr/>
          <p:nvPr/>
        </p:nvSpPr>
        <p:spPr>
          <a:xfrm>
            <a:off x="998220" y="4047131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端到端联合训练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9" name="Text 49"/>
          <p:cNvSpPr/>
          <p:nvPr/>
        </p:nvSpPr>
        <p:spPr>
          <a:xfrm>
            <a:off x="541020" y="4485281"/>
            <a:ext cx="5400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检索器与生成器共享训练流程，联合优化参数，实现协同工作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Shape 50"/>
          <p:cNvSpPr/>
          <p:nvPr/>
        </p:nvSpPr>
        <p:spPr>
          <a:xfrm>
            <a:off x="560070" y="4790081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38100" y="0"/>
                </a:moveTo>
                <a:lnTo>
                  <a:pt x="5276850" y="0"/>
                </a:lnTo>
                <a:cubicBezTo>
                  <a:pt x="5297878" y="0"/>
                  <a:pt x="5314950" y="17072"/>
                  <a:pt x="5314950" y="38100"/>
                </a:cubicBezTo>
                <a:lnTo>
                  <a:pt x="5314950" y="342900"/>
                </a:lnTo>
                <a:cubicBezTo>
                  <a:pt x="5314950" y="363928"/>
                  <a:pt x="5297878" y="381000"/>
                  <a:pt x="52768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</p:spPr>
      </p:sp>
      <p:sp>
        <p:nvSpPr>
          <p:cNvPr id="71" name="Shape 51"/>
          <p:cNvSpPr/>
          <p:nvPr/>
        </p:nvSpPr>
        <p:spPr>
          <a:xfrm>
            <a:off x="560070" y="4790081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2" name="Shape 52"/>
          <p:cNvSpPr/>
          <p:nvPr/>
        </p:nvSpPr>
        <p:spPr>
          <a:xfrm>
            <a:off x="721995" y="4919617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65388" y="85725"/>
                </a:moveTo>
                <a:cubicBezTo>
                  <a:pt x="67017" y="80747"/>
                  <a:pt x="70277" y="76237"/>
                  <a:pt x="73960" y="72353"/>
                </a:cubicBezTo>
                <a:cubicBezTo>
                  <a:pt x="81260" y="64673"/>
                  <a:pt x="85725" y="54293"/>
                  <a:pt x="85725" y="42863"/>
                </a:cubicBezTo>
                <a:cubicBezTo>
                  <a:pt x="85725" y="19199"/>
                  <a:pt x="66526" y="0"/>
                  <a:pt x="42862" y="0"/>
                </a:cubicBezTo>
                <a:cubicBezTo>
                  <a:pt x="19199" y="0"/>
                  <a:pt x="0" y="19199"/>
                  <a:pt x="0" y="42863"/>
                </a:cubicBezTo>
                <a:cubicBezTo>
                  <a:pt x="0" y="54293"/>
                  <a:pt x="4465" y="64673"/>
                  <a:pt x="11765" y="72353"/>
                </a:cubicBezTo>
                <a:cubicBezTo>
                  <a:pt x="15448" y="76237"/>
                  <a:pt x="18730" y="80747"/>
                  <a:pt x="20337" y="85725"/>
                </a:cubicBezTo>
                <a:lnTo>
                  <a:pt x="65365" y="85725"/>
                </a:lnTo>
                <a:close/>
                <a:moveTo>
                  <a:pt x="64294" y="96441"/>
                </a:moveTo>
                <a:lnTo>
                  <a:pt x="21431" y="96441"/>
                </a:lnTo>
                <a:lnTo>
                  <a:pt x="21431" y="100013"/>
                </a:lnTo>
                <a:cubicBezTo>
                  <a:pt x="21431" y="109880"/>
                  <a:pt x="29423" y="117872"/>
                  <a:pt x="39291" y="117872"/>
                </a:cubicBezTo>
                <a:lnTo>
                  <a:pt x="46434" y="117872"/>
                </a:lnTo>
                <a:cubicBezTo>
                  <a:pt x="56302" y="117872"/>
                  <a:pt x="64294" y="109880"/>
                  <a:pt x="64294" y="100013"/>
                </a:cubicBezTo>
                <a:lnTo>
                  <a:pt x="64294" y="96441"/>
                </a:lnTo>
                <a:close/>
                <a:moveTo>
                  <a:pt x="41077" y="25003"/>
                </a:moveTo>
                <a:cubicBezTo>
                  <a:pt x="32192" y="25003"/>
                  <a:pt x="25003" y="32192"/>
                  <a:pt x="25003" y="41077"/>
                </a:cubicBezTo>
                <a:cubicBezTo>
                  <a:pt x="25003" y="44046"/>
                  <a:pt x="22614" y="46434"/>
                  <a:pt x="19645" y="46434"/>
                </a:cubicBezTo>
                <a:cubicBezTo>
                  <a:pt x="16676" y="46434"/>
                  <a:pt x="14288" y="44046"/>
                  <a:pt x="14288" y="41077"/>
                </a:cubicBezTo>
                <a:cubicBezTo>
                  <a:pt x="14288" y="26276"/>
                  <a:pt x="26276" y="14288"/>
                  <a:pt x="41077" y="14288"/>
                </a:cubicBezTo>
                <a:cubicBezTo>
                  <a:pt x="44046" y="14288"/>
                  <a:pt x="46434" y="16676"/>
                  <a:pt x="46434" y="19645"/>
                </a:cubicBezTo>
                <a:cubicBezTo>
                  <a:pt x="46434" y="22614"/>
                  <a:pt x="44046" y="25003"/>
                  <a:pt x="41077" y="2500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3" name="Text 53"/>
          <p:cNvSpPr/>
          <p:nvPr/>
        </p:nvSpPr>
        <p:spPr>
          <a:xfrm>
            <a:off x="864870" y="4904381"/>
            <a:ext cx="4953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让检索器精准召回对生成最有帮助的文档，生成器利用文档产出最优答案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4" name="Shape 54"/>
          <p:cNvSpPr/>
          <p:nvPr/>
        </p:nvSpPr>
        <p:spPr>
          <a:xfrm>
            <a:off x="6156960" y="3833773"/>
            <a:ext cx="5646420" cy="1493520"/>
          </a:xfrm>
          <a:custGeom>
            <a:avLst/>
            <a:gdLst/>
            <a:ahLst/>
            <a:cxnLst/>
            <a:rect l="l" t="t" r="r" b="b"/>
            <a:pathLst>
              <a:path w="5646420" h="1493520">
                <a:moveTo>
                  <a:pt x="76199" y="0"/>
                </a:moveTo>
                <a:lnTo>
                  <a:pt x="5570221" y="0"/>
                </a:lnTo>
                <a:cubicBezTo>
                  <a:pt x="5612304" y="0"/>
                  <a:pt x="5646420" y="34116"/>
                  <a:pt x="5646420" y="76199"/>
                </a:cubicBezTo>
                <a:lnTo>
                  <a:pt x="5646420" y="1417321"/>
                </a:lnTo>
                <a:cubicBezTo>
                  <a:pt x="5646420" y="1459404"/>
                  <a:pt x="5612304" y="1493520"/>
                  <a:pt x="5570221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5" name="Shape 55"/>
          <p:cNvSpPr/>
          <p:nvPr/>
        </p:nvSpPr>
        <p:spPr>
          <a:xfrm>
            <a:off x="6313170" y="39899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6" name="Shape 56"/>
          <p:cNvSpPr/>
          <p:nvPr/>
        </p:nvSpPr>
        <p:spPr>
          <a:xfrm>
            <a:off x="6420326" y="408523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77" name="Text 57"/>
          <p:cNvSpPr/>
          <p:nvPr/>
        </p:nvSpPr>
        <p:spPr>
          <a:xfrm>
            <a:off x="6770370" y="4046855"/>
            <a:ext cx="231584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+ Fine-tuning融合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 58"/>
          <p:cNvSpPr/>
          <p:nvPr/>
        </p:nvSpPr>
        <p:spPr>
          <a:xfrm>
            <a:off x="6313170" y="4485281"/>
            <a:ext cx="5400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结合RAG的外部知识检索能力与Fine-tuning的领域适配性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Shape 59"/>
          <p:cNvSpPr/>
          <p:nvPr/>
        </p:nvSpPr>
        <p:spPr>
          <a:xfrm>
            <a:off x="6332220" y="4790081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38100" y="0"/>
                </a:moveTo>
                <a:lnTo>
                  <a:pt x="5276850" y="0"/>
                </a:lnTo>
                <a:cubicBezTo>
                  <a:pt x="5297878" y="0"/>
                  <a:pt x="5314950" y="17072"/>
                  <a:pt x="5314950" y="38100"/>
                </a:cubicBezTo>
                <a:lnTo>
                  <a:pt x="5314950" y="342900"/>
                </a:lnTo>
                <a:cubicBezTo>
                  <a:pt x="5314950" y="363928"/>
                  <a:pt x="5297878" y="381000"/>
                  <a:pt x="52768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</p:spPr>
      </p:sp>
      <p:sp>
        <p:nvSpPr>
          <p:cNvPr id="80" name="Shape 60"/>
          <p:cNvSpPr/>
          <p:nvPr/>
        </p:nvSpPr>
        <p:spPr>
          <a:xfrm>
            <a:off x="6332220" y="4790081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1" name="Shape 61"/>
          <p:cNvSpPr/>
          <p:nvPr/>
        </p:nvSpPr>
        <p:spPr>
          <a:xfrm>
            <a:off x="6494145" y="4919617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65388" y="85725"/>
                </a:moveTo>
                <a:cubicBezTo>
                  <a:pt x="67017" y="80747"/>
                  <a:pt x="70277" y="76237"/>
                  <a:pt x="73960" y="72353"/>
                </a:cubicBezTo>
                <a:cubicBezTo>
                  <a:pt x="81260" y="64673"/>
                  <a:pt x="85725" y="54293"/>
                  <a:pt x="85725" y="42863"/>
                </a:cubicBezTo>
                <a:cubicBezTo>
                  <a:pt x="85725" y="19199"/>
                  <a:pt x="66526" y="0"/>
                  <a:pt x="42862" y="0"/>
                </a:cubicBezTo>
                <a:cubicBezTo>
                  <a:pt x="19199" y="0"/>
                  <a:pt x="0" y="19199"/>
                  <a:pt x="0" y="42863"/>
                </a:cubicBezTo>
                <a:cubicBezTo>
                  <a:pt x="0" y="54293"/>
                  <a:pt x="4465" y="64673"/>
                  <a:pt x="11765" y="72353"/>
                </a:cubicBezTo>
                <a:cubicBezTo>
                  <a:pt x="15448" y="76237"/>
                  <a:pt x="18730" y="80747"/>
                  <a:pt x="20337" y="85725"/>
                </a:cubicBezTo>
                <a:lnTo>
                  <a:pt x="65365" y="85725"/>
                </a:lnTo>
                <a:close/>
                <a:moveTo>
                  <a:pt x="64294" y="96441"/>
                </a:moveTo>
                <a:lnTo>
                  <a:pt x="21431" y="96441"/>
                </a:lnTo>
                <a:lnTo>
                  <a:pt x="21431" y="100013"/>
                </a:lnTo>
                <a:cubicBezTo>
                  <a:pt x="21431" y="109880"/>
                  <a:pt x="29423" y="117872"/>
                  <a:pt x="39291" y="117872"/>
                </a:cubicBezTo>
                <a:lnTo>
                  <a:pt x="46434" y="117872"/>
                </a:lnTo>
                <a:cubicBezTo>
                  <a:pt x="56302" y="117872"/>
                  <a:pt x="64294" y="109880"/>
                  <a:pt x="64294" y="100013"/>
                </a:cubicBezTo>
                <a:lnTo>
                  <a:pt x="64294" y="96441"/>
                </a:lnTo>
                <a:close/>
                <a:moveTo>
                  <a:pt x="41077" y="25003"/>
                </a:moveTo>
                <a:cubicBezTo>
                  <a:pt x="32192" y="25003"/>
                  <a:pt x="25003" y="32192"/>
                  <a:pt x="25003" y="41077"/>
                </a:cubicBezTo>
                <a:cubicBezTo>
                  <a:pt x="25003" y="44046"/>
                  <a:pt x="22614" y="46434"/>
                  <a:pt x="19645" y="46434"/>
                </a:cubicBezTo>
                <a:cubicBezTo>
                  <a:pt x="16676" y="46434"/>
                  <a:pt x="14288" y="44046"/>
                  <a:pt x="14288" y="41077"/>
                </a:cubicBezTo>
                <a:cubicBezTo>
                  <a:pt x="14288" y="26276"/>
                  <a:pt x="26276" y="14288"/>
                  <a:pt x="41077" y="14288"/>
                </a:cubicBezTo>
                <a:cubicBezTo>
                  <a:pt x="44046" y="14288"/>
                  <a:pt x="46434" y="16676"/>
                  <a:pt x="46434" y="19645"/>
                </a:cubicBezTo>
                <a:cubicBezTo>
                  <a:pt x="46434" y="22614"/>
                  <a:pt x="44046" y="25003"/>
                  <a:pt x="41077" y="2500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2" name="Text 62"/>
          <p:cNvSpPr/>
          <p:nvPr/>
        </p:nvSpPr>
        <p:spPr>
          <a:xfrm>
            <a:off x="6637020" y="4904381"/>
            <a:ext cx="4953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在特定领域场景下，先Fine-tuning提升基础能力，再通过RAG引入实时知识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Shape 63"/>
          <p:cNvSpPr/>
          <p:nvPr/>
        </p:nvSpPr>
        <p:spPr>
          <a:xfrm>
            <a:off x="400050" y="5445278"/>
            <a:ext cx="11410950" cy="1085850"/>
          </a:xfrm>
          <a:custGeom>
            <a:avLst/>
            <a:gdLst/>
            <a:ahLst/>
            <a:cxnLst/>
            <a:rect l="l" t="t" r="r" b="b"/>
            <a:pathLst>
              <a:path w="11410950" h="1085850">
                <a:moveTo>
                  <a:pt x="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009645"/>
                </a:lnTo>
                <a:cubicBezTo>
                  <a:pt x="11410950" y="1051732"/>
                  <a:pt x="11376832" y="1085850"/>
                  <a:pt x="11334745" y="1085850"/>
                </a:cubicBez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4" name="Shape 64"/>
          <p:cNvSpPr/>
          <p:nvPr/>
        </p:nvSpPr>
        <p:spPr>
          <a:xfrm>
            <a:off x="400050" y="5445278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5" name="Shape 65"/>
          <p:cNvSpPr/>
          <p:nvPr/>
        </p:nvSpPr>
        <p:spPr>
          <a:xfrm>
            <a:off x="571500" y="563577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6" name="Text 66"/>
          <p:cNvSpPr/>
          <p:nvPr/>
        </p:nvSpPr>
        <p:spPr>
          <a:xfrm>
            <a:off x="914400" y="5597678"/>
            <a:ext cx="10829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RAG：大模型外部知识支撑的主流架构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 67"/>
          <p:cNvSpPr/>
          <p:nvPr/>
        </p:nvSpPr>
        <p:spPr>
          <a:xfrm>
            <a:off x="914400" y="5940578"/>
            <a:ext cx="10810875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RAG作为大模型外部知识支撑场景下的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主流可靠架构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，将持续推动AI应用向更高准确性、更强可信度的方向发展。从基础RAG到Agentic RAG、GraphRAG、多模态RAG，技术演进将不断拓展RAG的应用边界，实现从简单信息检索到复杂知识推理的跨越。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343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总结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29493" y="1824641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矩形: 单圆角 61"/>
          <p:cNvSpPr/>
          <p:nvPr/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8192" y="2180876"/>
            <a:ext cx="79195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核心是融合信息检索与文本生成技术，重构大模型内容生成逻辑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29493" y="353464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: 单圆角 65"/>
          <p:cNvSpPr/>
          <p:nvPr/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48192" y="3867705"/>
            <a:ext cx="79195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精准解决大模型幻觉、知识滞后、知识覆盖不足三大核心痛点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45903" y="5197895"/>
            <a:ext cx="10100194" cy="1219200"/>
            <a:chOff x="1045903" y="5197895"/>
            <a:chExt cx="10100194" cy="1219200"/>
          </a:xfrm>
        </p:grpSpPr>
        <p:sp>
          <p:nvSpPr>
            <p:cNvPr id="14" name="矩形 13"/>
            <p:cNvSpPr/>
            <p:nvPr/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5" name="矩形: 单圆角 69"/>
            <p:cNvSpPr/>
            <p:nvPr/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948192" y="5561750"/>
              <a:ext cx="791959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成为大模型外部知识支撑场景下的主流可靠应用架构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74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75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76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77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78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79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0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1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2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3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4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5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6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7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8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89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0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1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2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3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4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5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6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7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8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99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0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1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2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3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4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5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6.xml><?xml version="1.0" encoding="utf-8"?>
<p:tagLst xmlns:p="http://schemas.openxmlformats.org/presentationml/2006/main">
  <p:tag name="KSO_WM_DIAGRAM_VIRTUALLY_FRAME" val="{&quot;height&quot;:133.34992125984252,&quot;left&quot;:30.6,&quot;top&quot;:97.20007874015748,&quot;width&quot;:907.2}"/>
</p:tagLst>
</file>

<file path=ppt/tags/tag107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4673</Words>
  <Application>WPS 演示</Application>
  <PresentationFormat>宽屏</PresentationFormat>
  <Paragraphs>654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Microsoft Sans Serif</vt:lpstr>
      <vt:lpstr>Alimama ShuHeiTi</vt:lpstr>
      <vt:lpstr>MingLiU-ExtB</vt:lpstr>
      <vt:lpstr>MiSans</vt:lpstr>
      <vt:lpstr>Liter</vt:lpstr>
      <vt:lpstr>Noto Sans SC</vt:lpstr>
      <vt:lpstr>Arial Unicode MS</vt:lpstr>
      <vt:lpstr>Calibri</vt:lpstr>
      <vt:lpstr>PMingLiU-ExtB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Sakura</cp:lastModifiedBy>
  <cp:revision>325</cp:revision>
  <dcterms:created xsi:type="dcterms:W3CDTF">2026-01-27T07:46:00Z</dcterms:created>
  <dcterms:modified xsi:type="dcterms:W3CDTF">2026-02-07T14:56:16Z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701AA4C48013488B977DC9A5A4D98531_13</vt:lpwstr>
  </property>
</Properties>
</file>