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492" r:id="rId5"/>
    <p:sldId id="518" r:id="rId6"/>
    <p:sldId id="493" r:id="rId7"/>
    <p:sldId id="569" r:id="rId8"/>
    <p:sldId id="542" r:id="rId9"/>
    <p:sldId id="521" r:id="rId10"/>
    <p:sldId id="543" r:id="rId11"/>
    <p:sldId id="547" r:id="rId12"/>
    <p:sldId id="548" r:id="rId13"/>
    <p:sldId id="573" r:id="rId14"/>
    <p:sldId id="555" r:id="rId15"/>
    <p:sldId id="568" r:id="rId16"/>
    <p:sldId id="556" r:id="rId17"/>
    <p:sldId id="558" r:id="rId18"/>
    <p:sldId id="559" r:id="rId19"/>
    <p:sldId id="560" r:id="rId20"/>
    <p:sldId id="567" r:id="rId21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6" userDrawn="1">
          <p15:clr>
            <a:srgbClr val="A4A3A4"/>
          </p15:clr>
        </p15:guide>
        <p15:guide id="2" pos="379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嘉莉 曾" initials="嘉莉" lastIdx="2" clrIdx="0"/>
  <p:cmAuthor id="2" name="作者" initials="A" lastIdx="1" clrIdx="1"/>
  <p:cmAuthor id="3" name="25108" initials="2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B10015"/>
    <a:srgbClr val="F5E7E7"/>
    <a:srgbClr val="9B1313"/>
    <a:srgbClr val="FFF0F2"/>
    <a:srgbClr val="FFC5CD"/>
    <a:srgbClr val="FD005D"/>
    <a:srgbClr val="FEF1F2"/>
    <a:srgbClr val="FAC9CD"/>
    <a:srgbClr val="E03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78" autoAdjust="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120" y="1164"/>
      </p:cViewPr>
      <p:guideLst>
        <p:guide orient="horz" pos="2076"/>
        <p:guide pos="379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gs" Target="tags/tag86.xml"/><Relationship Id="rId25" Type="http://schemas.openxmlformats.org/officeDocument/2006/relationships/commentAuthors" Target="commentAuthors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jpeg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474830"/>
            <a:ext cx="2743200" cy="365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409912"/>
            <a:ext cx="166480" cy="512866"/>
          </a:xfrm>
          <a:prstGeom prst="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674" tIns="27337" rIns="54674" bIns="27337" rtlCol="0" anchor="ctr"/>
          <a:lstStyle/>
          <a:p>
            <a:pPr algn="ctr" defTabSz="576580"/>
            <a:endParaRPr lang="zh-CN" altLang="en-US" sz="1120">
              <a:solidFill>
                <a:srgbClr val="E7E6E6">
                  <a:lumMod val="50000"/>
                </a:srgbClr>
              </a:solidFill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1701" y="400263"/>
            <a:ext cx="1686046" cy="308257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 userDrawn="1"/>
        </p:nvPicPr>
        <p:blipFill>
          <a:blip r:embed="rId4"/>
          <a:srcRect t="36843" b="36463"/>
          <a:stretch>
            <a:fillRect/>
          </a:stretch>
        </p:blipFill>
        <p:spPr>
          <a:xfrm>
            <a:off x="8264525" y="297180"/>
            <a:ext cx="1647825" cy="44005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3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image" Target="../media/image4.jpeg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notesSlide" Target="../notesSlides/notesSlide1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72.xml"/><Relationship Id="rId14" Type="http://schemas.openxmlformats.org/officeDocument/2006/relationships/image" Target="../media/image2.jpeg"/><Relationship Id="rId13" Type="http://schemas.openxmlformats.org/officeDocument/2006/relationships/image" Target="../media/image7.png"/><Relationship Id="rId12" Type="http://schemas.openxmlformats.org/officeDocument/2006/relationships/image" Target="../media/image6.jpeg"/><Relationship Id="rId11" Type="http://schemas.openxmlformats.org/officeDocument/2006/relationships/tags" Target="../tags/tag71.xml"/><Relationship Id="rId10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image" Target="../media/image23.svg"/><Relationship Id="rId7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9" Type="http://schemas.openxmlformats.org/officeDocument/2006/relationships/slideLayout" Target="../slideLayouts/slideLayout12.xml"/><Relationship Id="rId18" Type="http://schemas.openxmlformats.org/officeDocument/2006/relationships/image" Target="../media/image33.svg"/><Relationship Id="rId17" Type="http://schemas.openxmlformats.org/officeDocument/2006/relationships/image" Target="../media/image32.png"/><Relationship Id="rId16" Type="http://schemas.openxmlformats.org/officeDocument/2006/relationships/image" Target="../media/image31.svg"/><Relationship Id="rId15" Type="http://schemas.openxmlformats.org/officeDocument/2006/relationships/image" Target="../media/image30.png"/><Relationship Id="rId14" Type="http://schemas.openxmlformats.org/officeDocument/2006/relationships/image" Target="../media/image29.svg"/><Relationship Id="rId13" Type="http://schemas.openxmlformats.org/officeDocument/2006/relationships/image" Target="../media/image28.png"/><Relationship Id="rId12" Type="http://schemas.openxmlformats.org/officeDocument/2006/relationships/image" Target="../media/image27.svg"/><Relationship Id="rId11" Type="http://schemas.openxmlformats.org/officeDocument/2006/relationships/image" Target="../media/image26.png"/><Relationship Id="rId10" Type="http://schemas.openxmlformats.org/officeDocument/2006/relationships/image" Target="../media/image25.sv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4" Type="http://schemas.openxmlformats.org/officeDocument/2006/relationships/slideLayout" Target="../slideLayouts/slideLayout12.xml"/><Relationship Id="rId13" Type="http://schemas.openxmlformats.org/officeDocument/2006/relationships/tags" Target="../tags/tag85.xml"/><Relationship Id="rId12" Type="http://schemas.openxmlformats.org/officeDocument/2006/relationships/tags" Target="../tags/tag84.xml"/><Relationship Id="rId11" Type="http://schemas.openxmlformats.org/officeDocument/2006/relationships/tags" Target="../tags/tag83.xml"/><Relationship Id="rId10" Type="http://schemas.openxmlformats.org/officeDocument/2006/relationships/tags" Target="../tags/tag82.xml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-4528" y="6677822"/>
            <a:ext cx="12201060" cy="179990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708397" y="122907"/>
            <a:ext cx="2330246" cy="1402662"/>
          </a:xfrm>
          <a:prstGeom prst="rect">
            <a:avLst/>
          </a:prstGeom>
        </p:spPr>
      </p:pic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1638611" y="3998"/>
            <a:ext cx="549245" cy="1605827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sp>
        <p:nvSpPr>
          <p:cNvPr id="4" name="矩形 3"/>
          <p:cNvSpPr/>
          <p:nvPr>
            <p:custDataLst>
              <p:tags r:id="rId3"/>
            </p:custDataLst>
          </p:nvPr>
        </p:nvSpPr>
        <p:spPr>
          <a:xfrm>
            <a:off x="-16892" y="-316"/>
            <a:ext cx="4677259" cy="1605481"/>
          </a:xfrm>
          <a:prstGeom prst="rect">
            <a:avLst/>
          </a:prstGeom>
          <a:solidFill>
            <a:srgbClr val="99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0" tIns="45715" rIns="91430" bIns="45715" anchor="ctr"/>
          <a:lstStyle/>
          <a:p>
            <a:pPr algn="ctr">
              <a:defRPr/>
            </a:pPr>
            <a:endParaRPr lang="zh-CN" altLang="en-US" sz="1705"/>
          </a:p>
        </p:txBody>
      </p:sp>
      <p:grpSp>
        <p:nvGrpSpPr>
          <p:cNvPr id="13" name="组合 12"/>
          <p:cNvGrpSpPr/>
          <p:nvPr/>
        </p:nvGrpSpPr>
        <p:grpSpPr>
          <a:xfrm>
            <a:off x="2453640" y="3613150"/>
            <a:ext cx="6861175" cy="2144395"/>
            <a:chOff x="3770" y="4978"/>
            <a:chExt cx="10805" cy="3377"/>
          </a:xfrm>
        </p:grpSpPr>
        <p:sp>
          <p:nvSpPr>
            <p:cNvPr id="6" name="矩形 5"/>
            <p:cNvSpPr/>
            <p:nvPr>
              <p:custDataLst>
                <p:tags r:id="rId4"/>
              </p:custDataLst>
            </p:nvPr>
          </p:nvSpPr>
          <p:spPr>
            <a:xfrm>
              <a:off x="3770" y="4978"/>
              <a:ext cx="10805" cy="845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  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第</a:t>
              </a:r>
              <a:r>
                <a:rPr lang="en-US" altLang="zh-CN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11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章：文本生成</a:t>
              </a:r>
              <a:r>
                <a:rPr lang="zh-CN" altLang="en-US" sz="3600" b="1" dirty="0">
                  <a:solidFill>
                    <a:srgbClr val="B10015"/>
                  </a:solidFill>
                  <a:latin typeface="微软雅黑" panose="020B0503020204020204" charset="-122"/>
                  <a:ea typeface="微软雅黑" panose="020B0503020204020204" charset="-122"/>
                </a:rPr>
                <a:t>任务</a:t>
              </a:r>
              <a:endParaRPr lang="zh-CN" altLang="en-US" sz="3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5"/>
              </p:custDataLst>
            </p:nvPr>
          </p:nvSpPr>
          <p:spPr>
            <a:xfrm>
              <a:off x="3771" y="7078"/>
              <a:ext cx="10804" cy="1277"/>
            </a:xfrm>
            <a:prstGeom prst="rect">
              <a:avLst/>
            </a:prstGeom>
          </p:spPr>
          <p:txBody>
            <a:bodyPr wrap="square" lIns="91430" tIns="45715" rIns="91430" bIns="45715">
              <a:noAutofit/>
            </a:bodyPr>
            <a:lstStyle/>
            <a:p>
              <a:pPr indent="0" algn="ctr">
                <a:spcBef>
                  <a:spcPts val="600"/>
                </a:spcBef>
                <a:spcAft>
                  <a:spcPts val="600"/>
                </a:spcAft>
                <a:buFont typeface="Arial" panose="020B0604020202020204" pitchFamily="34" charset="0"/>
                <a:buNone/>
              </a:pPr>
              <a:endParaRPr lang="en-US" altLang="zh-CN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>
            <p:custDataLst>
              <p:tags r:id="rId6"/>
            </p:custDataLst>
          </p:nvPr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84"/>
          <a:stretch>
            <a:fillRect/>
          </a:stretch>
        </p:blipFill>
        <p:spPr>
          <a:xfrm>
            <a:off x="828811" y="243322"/>
            <a:ext cx="2330246" cy="14026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 bwMode="auto">
          <a:xfrm>
            <a:off x="4689552" y="-8702"/>
            <a:ext cx="2233808" cy="16140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0" name="图片 99"/>
          <p:cNvPicPr/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314688" y="11628"/>
            <a:ext cx="2288484" cy="159429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967201" y="3801"/>
            <a:ext cx="2299923" cy="161596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9" descr="透明底"/>
          <p:cNvPicPr>
            <a:picLocks noChangeAspect="1"/>
          </p:cNvPicPr>
          <p:nvPr/>
        </p:nvPicPr>
        <p:blipFill>
          <a:blip r:embed="rId13"/>
          <a:srcRect l="10822" t="13549" r="9928" b="12441"/>
          <a:stretch>
            <a:fillRect/>
          </a:stretch>
        </p:blipFill>
        <p:spPr>
          <a:xfrm>
            <a:off x="8549640" y="2045335"/>
            <a:ext cx="925195" cy="820420"/>
          </a:xfrm>
          <a:prstGeom prst="rect">
            <a:avLst/>
          </a:prstGeom>
        </p:spPr>
      </p:pic>
      <p:pic>
        <p:nvPicPr>
          <p:cNvPr id="11" name="图片 10" descr="Lychee定稿_画板 1"/>
          <p:cNvPicPr>
            <a:picLocks noChangeAspect="1"/>
          </p:cNvPicPr>
          <p:nvPr/>
        </p:nvPicPr>
        <p:blipFill>
          <a:blip r:embed="rId14"/>
          <a:srcRect t="36843" b="36463"/>
          <a:stretch>
            <a:fillRect/>
          </a:stretch>
        </p:blipFill>
        <p:spPr>
          <a:xfrm>
            <a:off x="1033780" y="2044700"/>
            <a:ext cx="3077210" cy="82169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6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just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学习目标与主线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270700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学习目标与主线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829493" y="1842317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" name="矩形: 单圆角 61"/>
          <p:cNvSpPr/>
          <p:nvPr/>
        </p:nvSpPr>
        <p:spPr>
          <a:xfrm>
            <a:off x="1045903" y="205186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5903" y="212875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48192" y="1979685"/>
            <a:ext cx="79195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掌握文本生成从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通用续写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任务导向生成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的范式转换，理解机器翻译、智能问答的核心语义对齐逻辑，吃透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指令微调在任务生成中的核心思想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829493" y="3534647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矩形: 单圆角 65"/>
          <p:cNvSpPr/>
          <p:nvPr/>
        </p:nvSpPr>
        <p:spPr>
          <a:xfrm>
            <a:off x="1045903" y="374419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5903" y="382108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948192" y="3358803"/>
            <a:ext cx="791959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拆解机器翻译、智能问答的任务专属架构适配方案，理清从通用大模型到任务微调的参数优化路径与数据流转逻辑，衔接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分类微调、指令微调的完整流程</a:t>
            </a: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045903" y="5145190"/>
            <a:ext cx="10100194" cy="1291590"/>
            <a:chOff x="1045903" y="5145190"/>
            <a:chExt cx="10100194" cy="1291590"/>
          </a:xfrm>
        </p:grpSpPr>
        <p:sp>
          <p:nvSpPr>
            <p:cNvPr id="14" name="矩形 13"/>
            <p:cNvSpPr/>
            <p:nvPr/>
          </p:nvSpPr>
          <p:spPr>
            <a:xfrm>
              <a:off x="1829493" y="5197895"/>
              <a:ext cx="9316604" cy="1219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5" name="矩形: 单圆角 69"/>
            <p:cNvSpPr/>
            <p:nvPr/>
          </p:nvSpPr>
          <p:spPr>
            <a:xfrm>
              <a:off x="1045903" y="5407445"/>
              <a:ext cx="1427700" cy="80010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045903" y="5484330"/>
              <a:ext cx="1231419" cy="646331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948192" y="5145190"/>
              <a:ext cx="7919595" cy="12915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落地机器翻译与智能问答的典型技术细节，针对性解决语义保真、意图理解、答案准确性、生成幻觉等核心应用痛点，掌握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解码策略与指令遵循评估的实践方法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311"/>
            <a:ext cx="9044357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引言与全景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347472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核心定义与技术演进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413385" y="1656080"/>
            <a:ext cx="5682615" cy="1113790"/>
          </a:xfrm>
          <a:prstGeom prst="rect">
            <a:avLst/>
          </a:prstGeom>
          <a:noFill/>
          <a:ln>
            <a:solidFill>
              <a:srgbClr val="9B1313"/>
            </a:solidFill>
          </a:ln>
        </p:spPr>
        <p:txBody>
          <a:bodyPr wrap="square">
            <a:noAutofit/>
          </a:bodyPr>
          <a:lstStyle/>
          <a:p>
            <a:pPr marL="285750" marR="0" lvl="0" indent="-28575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文本生成任务的本质是基于对输入文本的深度语义理解，生成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符合特定任务规则、逻辑连贯且内容精准的目标文本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，是大语言模型最核心的应用方向之一。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85" name="组合 84"/>
          <p:cNvGrpSpPr/>
          <p:nvPr/>
        </p:nvGrpSpPr>
        <p:grpSpPr>
          <a:xfrm rot="0">
            <a:off x="413385" y="1097915"/>
            <a:ext cx="2693670" cy="461645"/>
            <a:chOff x="798505" y="1478577"/>
            <a:chExt cx="3034294" cy="461665"/>
          </a:xfrm>
        </p:grpSpPr>
        <p:sp>
          <p:nvSpPr>
            <p:cNvPr id="90" name="矩形: 圆角 89"/>
            <p:cNvSpPr/>
            <p:nvPr/>
          </p:nvSpPr>
          <p:spPr>
            <a:xfrm flipV="1">
              <a:off x="798505" y="1478577"/>
              <a:ext cx="3034294" cy="461665"/>
            </a:xfrm>
            <a:prstGeom prst="roundRect">
              <a:avLst>
                <a:gd name="adj" fmla="val 50000"/>
              </a:avLst>
            </a:prstGeom>
            <a:solidFill>
              <a:srgbClr val="9B1313"/>
            </a:solidFill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1051057" y="1524743"/>
              <a:ext cx="2445777" cy="398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核心定义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70" name="文本框 69"/>
          <p:cNvSpPr txBox="1"/>
          <p:nvPr/>
        </p:nvSpPr>
        <p:spPr>
          <a:xfrm flipH="1">
            <a:off x="418465" y="3385820"/>
            <a:ext cx="5669280" cy="1977390"/>
          </a:xfrm>
          <a:prstGeom prst="rect">
            <a:avLst/>
          </a:prstGeom>
          <a:noFill/>
          <a:ln>
            <a:solidFill>
              <a:srgbClr val="9B1313"/>
            </a:solidFill>
          </a:ln>
        </p:spPr>
        <p:txBody>
          <a:bodyPr wrap="square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一是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任务约束性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，不同生成任务有明确的规则边界，如机器翻译的双语对应、智能问答的意图匹配；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二是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语义一致性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，输入与输出的核心语义无偏差、不扭曲，保证信息传递的准确性；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  <a:p>
            <a:pPr marL="0" marR="0" lvl="0" indent="0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三是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格式规范性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，生成文本需贴合目标任务的格式要求，适配不同应用场景的使用需求。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71" name="组合 70"/>
          <p:cNvGrpSpPr/>
          <p:nvPr/>
        </p:nvGrpSpPr>
        <p:grpSpPr>
          <a:xfrm rot="0" flipH="1">
            <a:off x="339090" y="2842895"/>
            <a:ext cx="2693670" cy="461645"/>
            <a:chOff x="1013745" y="1478577"/>
            <a:chExt cx="3034294" cy="461665"/>
          </a:xfrm>
        </p:grpSpPr>
        <p:sp>
          <p:nvSpPr>
            <p:cNvPr id="82" name="矩形: 圆角 81"/>
            <p:cNvSpPr/>
            <p:nvPr/>
          </p:nvSpPr>
          <p:spPr>
            <a:xfrm flipV="1">
              <a:off x="1013745" y="1478577"/>
              <a:ext cx="3034294" cy="461665"/>
            </a:xfrm>
            <a:prstGeom prst="roundRect">
              <a:avLst>
                <a:gd name="adj" fmla="val 50000"/>
              </a:avLst>
            </a:prstGeom>
            <a:solidFill>
              <a:srgbClr val="9B1313"/>
            </a:solidFill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83" name="文本框 82"/>
            <p:cNvSpPr txBox="1"/>
            <p:nvPr/>
          </p:nvSpPr>
          <p:spPr>
            <a:xfrm>
              <a:off x="1266295" y="1524743"/>
              <a:ext cx="2445777" cy="398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核心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特征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 flipH="1">
            <a:off x="415925" y="6052820"/>
            <a:ext cx="5679440" cy="706755"/>
          </a:xfrm>
          <a:prstGeom prst="rect">
            <a:avLst/>
          </a:prstGeom>
          <a:noFill/>
          <a:ln>
            <a:solidFill>
              <a:srgbClr val="9B1313"/>
            </a:solidFill>
          </a:ln>
        </p:spPr>
        <p:txBody>
          <a:bodyPr wrap="square">
            <a:spAutoFit/>
          </a:bodyPr>
          <a:lstStyle/>
          <a:p>
            <a:pPr marL="285750" marR="0" lvl="0" indent="-285750" algn="l" defTabSz="91440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涵盖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机器翻译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、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智能问答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、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文本摘要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、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对话生成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、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文案创作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等，覆盖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个人学习、企业运营、公共服务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rPr>
              <a:t>等多个领域。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  <a:sym typeface="汉仪旗黑-55简" panose="00020600040101010101" pitchFamily="18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 rot="0" flipH="1">
            <a:off x="365125" y="5476240"/>
            <a:ext cx="2694305" cy="461645"/>
            <a:chOff x="1013745" y="1478577"/>
            <a:chExt cx="3034294" cy="461665"/>
          </a:xfrm>
        </p:grpSpPr>
        <p:sp>
          <p:nvSpPr>
            <p:cNvPr id="4" name="矩形: 圆角 67"/>
            <p:cNvSpPr/>
            <p:nvPr/>
          </p:nvSpPr>
          <p:spPr>
            <a:xfrm flipV="1">
              <a:off x="1013745" y="1478577"/>
              <a:ext cx="3034294" cy="461665"/>
            </a:xfrm>
            <a:prstGeom prst="roundRect">
              <a:avLst>
                <a:gd name="adj" fmla="val 50000"/>
              </a:avLst>
            </a:prstGeom>
            <a:solidFill>
              <a:srgbClr val="9B1313"/>
            </a:solidFill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1293115" y="1524743"/>
              <a:ext cx="2445777" cy="398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典型</a:t>
              </a: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场景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  <p:sp>
        <p:nvSpPr>
          <p:cNvPr id="25" name="Shape 23"/>
          <p:cNvSpPr/>
          <p:nvPr/>
        </p:nvSpPr>
        <p:spPr>
          <a:xfrm>
            <a:off x="6419850" y="1656080"/>
            <a:ext cx="5589270" cy="5102860"/>
          </a:xfrm>
          <a:prstGeom prst="rect">
            <a:avLst/>
          </a:pr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21780" y="2114550"/>
            <a:ext cx="15240" cy="647700"/>
          </a:xfrm>
          <a:custGeom>
            <a:avLst/>
            <a:gdLst/>
            <a:ahLst/>
            <a:cxnLst/>
            <a:rect l="l" t="t" r="r" b="b"/>
            <a:pathLst>
              <a:path w="15240" h="647700">
                <a:moveTo>
                  <a:pt x="0" y="0"/>
                </a:moveTo>
                <a:lnTo>
                  <a:pt x="15240" y="0"/>
                </a:lnTo>
                <a:lnTo>
                  <a:pt x="1524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778DA9">
              <a:alpha val="30196"/>
            </a:srgbClr>
          </a:solidFill>
          <a:ln>
            <a:solidFill>
              <a:srgbClr val="B10015"/>
            </a:solidFill>
          </a:ln>
        </p:spPr>
      </p:sp>
      <p:sp>
        <p:nvSpPr>
          <p:cNvPr id="29" name="Shape 27"/>
          <p:cNvSpPr/>
          <p:nvPr/>
        </p:nvSpPr>
        <p:spPr>
          <a:xfrm>
            <a:off x="6574155" y="21526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0" name="Text 28"/>
          <p:cNvSpPr/>
          <p:nvPr/>
        </p:nvSpPr>
        <p:spPr>
          <a:xfrm>
            <a:off x="6858000" y="2114550"/>
            <a:ext cx="503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规则/模板驱动阶段</a:t>
            </a:r>
            <a:endParaRPr lang="en-US" sz="20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858000" y="2552700"/>
            <a:ext cx="5029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基于人工语法规则构建，简单快速、可控性强，但灵活性差，适配复杂场景的能力极差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621780" y="3550920"/>
            <a:ext cx="15240" cy="647700"/>
          </a:xfrm>
          <a:custGeom>
            <a:avLst/>
            <a:gdLst/>
            <a:ahLst/>
            <a:cxnLst/>
            <a:rect l="l" t="t" r="r" b="b"/>
            <a:pathLst>
              <a:path w="15240" h="647700">
                <a:moveTo>
                  <a:pt x="0" y="0"/>
                </a:moveTo>
                <a:lnTo>
                  <a:pt x="15240" y="0"/>
                </a:lnTo>
                <a:lnTo>
                  <a:pt x="1524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B10015">
              <a:alpha val="30000"/>
            </a:srgbClr>
          </a:solidFill>
          <a:ln>
            <a:solidFill>
              <a:srgbClr val="B10015"/>
            </a:solidFill>
          </a:ln>
        </p:spPr>
      </p:sp>
      <p:sp>
        <p:nvSpPr>
          <p:cNvPr id="33" name="Shape 31"/>
          <p:cNvSpPr/>
          <p:nvPr/>
        </p:nvSpPr>
        <p:spPr>
          <a:xfrm>
            <a:off x="6574155" y="358902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4" name="Text 32"/>
          <p:cNvSpPr/>
          <p:nvPr/>
        </p:nvSpPr>
        <p:spPr>
          <a:xfrm>
            <a:off x="6858000" y="3470910"/>
            <a:ext cx="503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统计生成时代</a:t>
            </a:r>
            <a:endParaRPr lang="en-US" sz="20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858000" y="3851910"/>
            <a:ext cx="50292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引入n-gram、HMM等统计模型，生成文本初具连贯性，但模型容量有限，难以捕捉长距离依赖关系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621780" y="4964430"/>
            <a:ext cx="15240" cy="647700"/>
          </a:xfrm>
          <a:custGeom>
            <a:avLst/>
            <a:gdLst/>
            <a:ahLst/>
            <a:cxnLst/>
            <a:rect l="l" t="t" r="r" b="b"/>
            <a:pathLst>
              <a:path w="15240" h="647700">
                <a:moveTo>
                  <a:pt x="0" y="0"/>
                </a:moveTo>
                <a:lnTo>
                  <a:pt x="15240" y="0"/>
                </a:lnTo>
                <a:lnTo>
                  <a:pt x="1524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B10015"/>
          </a:solidFill>
          <a:ln>
            <a:solidFill>
              <a:srgbClr val="B10015"/>
            </a:solidFill>
          </a:ln>
        </p:spPr>
      </p:sp>
      <p:sp>
        <p:nvSpPr>
          <p:cNvPr id="37" name="Shape 35"/>
          <p:cNvSpPr/>
          <p:nvPr/>
        </p:nvSpPr>
        <p:spPr>
          <a:xfrm>
            <a:off x="6574155" y="50025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8" name="Text 36"/>
          <p:cNvSpPr/>
          <p:nvPr/>
        </p:nvSpPr>
        <p:spPr>
          <a:xfrm>
            <a:off x="6858000" y="4895850"/>
            <a:ext cx="503872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神经生成时代 </a:t>
            </a:r>
            <a:r>
              <a:rPr lang="en-US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（GPT系列推动）</a:t>
            </a:r>
            <a:endParaRPr lang="en-US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37"/>
          <p:cNvSpPr/>
          <p:nvPr/>
        </p:nvSpPr>
        <p:spPr>
          <a:xfrm>
            <a:off x="6858000" y="5059680"/>
            <a:ext cx="5029200" cy="1122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基于Transformer架构与预训练-微调范式，实现端到端生成。具备强大的上下文理解能力，是当前大模型的技术基石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 rot="0">
            <a:off x="6452870" y="1097915"/>
            <a:ext cx="2693670" cy="461645"/>
            <a:chOff x="798505" y="1478577"/>
            <a:chExt cx="3034294" cy="461665"/>
          </a:xfrm>
        </p:grpSpPr>
        <p:sp>
          <p:nvSpPr>
            <p:cNvPr id="8" name="矩形: 圆角 89"/>
            <p:cNvSpPr/>
            <p:nvPr/>
          </p:nvSpPr>
          <p:spPr>
            <a:xfrm flipV="1">
              <a:off x="798505" y="1478577"/>
              <a:ext cx="3034294" cy="461665"/>
            </a:xfrm>
            <a:prstGeom prst="roundRect">
              <a:avLst>
                <a:gd name="adj" fmla="val 50000"/>
              </a:avLst>
            </a:prstGeom>
            <a:solidFill>
              <a:srgbClr val="9B1313"/>
            </a:solidFill>
            <a:ln w="12700" cap="flat" cmpd="sng" algn="ctr">
              <a:solidFill>
                <a:srgbClr val="9B1313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051057" y="1524743"/>
              <a:ext cx="2445777" cy="3987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ea"/>
                  <a:sym typeface="汉仪旗黑-55简" panose="00020600040101010101" pitchFamily="18" charset="-122"/>
                </a:rPr>
                <a:t>核心定义</a:t>
              </a:r>
              <a:endPara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  <a:sym typeface="汉仪旗黑-55简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311"/>
            <a:ext cx="9044357" cy="707886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核心架构设计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623951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通用架构范式（基于</a:t>
            </a: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Transformer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）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Shape 4"/>
          <p:cNvSpPr/>
          <p:nvPr/>
        </p:nvSpPr>
        <p:spPr>
          <a:xfrm>
            <a:off x="384810" y="1070610"/>
            <a:ext cx="3703320" cy="2103120"/>
          </a:xfrm>
          <a:prstGeom prst="rect">
            <a:avLst/>
          </a:pr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8" name="Shape 5"/>
          <p:cNvSpPr/>
          <p:nvPr/>
        </p:nvSpPr>
        <p:spPr>
          <a:xfrm>
            <a:off x="579120" y="122745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9" name="Shape 6"/>
          <p:cNvSpPr/>
          <p:nvPr/>
        </p:nvSpPr>
        <p:spPr>
          <a:xfrm>
            <a:off x="700564" y="1360805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E0E1DD"/>
          </a:solidFill>
        </p:spPr>
      </p:sp>
      <p:sp>
        <p:nvSpPr>
          <p:cNvPr id="20" name="Text 7"/>
          <p:cNvSpPr/>
          <p:nvPr/>
        </p:nvSpPr>
        <p:spPr>
          <a:xfrm>
            <a:off x="1150620" y="1189355"/>
            <a:ext cx="2495550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Text Encoder</a:t>
            </a:r>
            <a:endParaRPr 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文本编码器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8"/>
          <p:cNvSpPr/>
          <p:nvPr/>
        </p:nvSpPr>
        <p:spPr>
          <a:xfrm>
            <a:off x="579120" y="1837055"/>
            <a:ext cx="3390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解析输入语义，将自然语言转化为机器可理解的特征向量</a:t>
            </a:r>
            <a:endParaRPr lang="en-US" sz="16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2" name="Shape 9"/>
          <p:cNvSpPr/>
          <p:nvPr/>
        </p:nvSpPr>
        <p:spPr>
          <a:xfrm>
            <a:off x="598170" y="261239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3" name="Text 10"/>
          <p:cNvSpPr/>
          <p:nvPr/>
        </p:nvSpPr>
        <p:spPr>
          <a:xfrm>
            <a:off x="822325" y="2583815"/>
            <a:ext cx="306324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BERT：双向编码，深度理解上下文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Shape 11"/>
          <p:cNvSpPr/>
          <p:nvPr/>
        </p:nvSpPr>
        <p:spPr>
          <a:xfrm>
            <a:off x="598170" y="287909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5" name="Text 12"/>
          <p:cNvSpPr/>
          <p:nvPr/>
        </p:nvSpPr>
        <p:spPr>
          <a:xfrm>
            <a:off x="822325" y="2850515"/>
            <a:ext cx="2133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mBERT：多语言统一处理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13"/>
          <p:cNvSpPr/>
          <p:nvPr/>
        </p:nvSpPr>
        <p:spPr>
          <a:xfrm>
            <a:off x="4245531" y="1070610"/>
            <a:ext cx="3703320" cy="2103120"/>
          </a:xfrm>
          <a:prstGeom prst="rect">
            <a:avLst/>
          </a:pr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7" name="Shape 14"/>
          <p:cNvSpPr/>
          <p:nvPr/>
        </p:nvSpPr>
        <p:spPr>
          <a:xfrm>
            <a:off x="4439841" y="122745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8" name="Shape 15"/>
          <p:cNvSpPr/>
          <p:nvPr/>
        </p:nvSpPr>
        <p:spPr>
          <a:xfrm>
            <a:off x="4573191" y="13608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E0E1DD"/>
          </a:solidFill>
        </p:spPr>
      </p:sp>
      <p:sp>
        <p:nvSpPr>
          <p:cNvPr id="29" name="Text 16"/>
          <p:cNvSpPr/>
          <p:nvPr/>
        </p:nvSpPr>
        <p:spPr>
          <a:xfrm>
            <a:off x="5011420" y="1189355"/>
            <a:ext cx="179641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Task Adapter</a:t>
            </a:r>
            <a:endParaRPr 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任务适配层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 17"/>
          <p:cNvSpPr/>
          <p:nvPr/>
        </p:nvSpPr>
        <p:spPr>
          <a:xfrm>
            <a:off x="4439841" y="1837055"/>
            <a:ext cx="3390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轻量化适配模块，连接编码与解码，实现低成本微调</a:t>
            </a:r>
            <a:endParaRPr lang="en-US" sz="16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Shape 18"/>
          <p:cNvSpPr/>
          <p:nvPr/>
        </p:nvSpPr>
        <p:spPr>
          <a:xfrm>
            <a:off x="4458891" y="261239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2" name="Text 19"/>
          <p:cNvSpPr/>
          <p:nvPr/>
        </p:nvSpPr>
        <p:spPr>
          <a:xfrm>
            <a:off x="4682490" y="2583815"/>
            <a:ext cx="277749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LoRA：低秩适配，训练0.38%参数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Shape 20"/>
          <p:cNvSpPr/>
          <p:nvPr/>
        </p:nvSpPr>
        <p:spPr>
          <a:xfrm>
            <a:off x="4458891" y="287909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4" name="Text 21"/>
          <p:cNvSpPr/>
          <p:nvPr/>
        </p:nvSpPr>
        <p:spPr>
          <a:xfrm>
            <a:off x="4682490" y="2850515"/>
            <a:ext cx="234251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Prefix Tuning：前缀微调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Shape 22"/>
          <p:cNvSpPr/>
          <p:nvPr/>
        </p:nvSpPr>
        <p:spPr>
          <a:xfrm>
            <a:off x="8106371" y="1070610"/>
            <a:ext cx="3703320" cy="2103120"/>
          </a:xfrm>
          <a:prstGeom prst="rect">
            <a:avLst/>
          </a:pr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6" name="Shape 23"/>
          <p:cNvSpPr/>
          <p:nvPr/>
        </p:nvSpPr>
        <p:spPr>
          <a:xfrm>
            <a:off x="8300681" y="122745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7" name="Shape 24"/>
          <p:cNvSpPr/>
          <p:nvPr/>
        </p:nvSpPr>
        <p:spPr>
          <a:xfrm>
            <a:off x="8434031" y="136080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48270" y="4539"/>
                </a:moveTo>
                <a:lnTo>
                  <a:pt x="115453" y="37356"/>
                </a:lnTo>
                <a:lnTo>
                  <a:pt x="153144" y="75047"/>
                </a:lnTo>
                <a:lnTo>
                  <a:pt x="185961" y="42230"/>
                </a:lnTo>
                <a:cubicBezTo>
                  <a:pt x="188863" y="39291"/>
                  <a:pt x="190500" y="35347"/>
                  <a:pt x="190500" y="31254"/>
                </a:cubicBezTo>
                <a:cubicBezTo>
                  <a:pt x="190500" y="27161"/>
                  <a:pt x="188863" y="23217"/>
                  <a:pt x="185961" y="20278"/>
                </a:cubicBezTo>
                <a:lnTo>
                  <a:pt x="170222" y="4539"/>
                </a:lnTo>
                <a:cubicBezTo>
                  <a:pt x="167283" y="1637"/>
                  <a:pt x="163339" y="0"/>
                  <a:pt x="159246" y="0"/>
                </a:cubicBezTo>
                <a:cubicBezTo>
                  <a:pt x="155153" y="0"/>
                  <a:pt x="151209" y="1637"/>
                  <a:pt x="148270" y="4539"/>
                </a:cubicBezTo>
                <a:close/>
                <a:moveTo>
                  <a:pt x="102840" y="49969"/>
                </a:moveTo>
                <a:lnTo>
                  <a:pt x="4539" y="148270"/>
                </a:lnTo>
                <a:cubicBezTo>
                  <a:pt x="1637" y="151209"/>
                  <a:pt x="0" y="155153"/>
                  <a:pt x="0" y="159246"/>
                </a:cubicBezTo>
                <a:cubicBezTo>
                  <a:pt x="0" y="163339"/>
                  <a:pt x="1637" y="167283"/>
                  <a:pt x="4539" y="170222"/>
                </a:cubicBezTo>
                <a:lnTo>
                  <a:pt x="20278" y="185961"/>
                </a:lnTo>
                <a:cubicBezTo>
                  <a:pt x="23217" y="188863"/>
                  <a:pt x="27161" y="190500"/>
                  <a:pt x="31254" y="190500"/>
                </a:cubicBezTo>
                <a:cubicBezTo>
                  <a:pt x="35347" y="190500"/>
                  <a:pt x="39291" y="188863"/>
                  <a:pt x="42230" y="185961"/>
                </a:cubicBezTo>
                <a:lnTo>
                  <a:pt x="140531" y="87660"/>
                </a:lnTo>
                <a:lnTo>
                  <a:pt x="102840" y="49969"/>
                </a:lnTo>
                <a:close/>
              </a:path>
            </a:pathLst>
          </a:custGeom>
          <a:solidFill>
            <a:srgbClr val="E0E1DD"/>
          </a:solidFill>
        </p:spPr>
      </p:sp>
      <p:sp>
        <p:nvSpPr>
          <p:cNvPr id="38" name="Text 25"/>
          <p:cNvSpPr/>
          <p:nvPr/>
        </p:nvSpPr>
        <p:spPr>
          <a:xfrm>
            <a:off x="8872220" y="1189355"/>
            <a:ext cx="2461895" cy="533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Generation Decoder</a:t>
            </a:r>
            <a:endParaRPr lang="en-US" sz="20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生成解码器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 26"/>
          <p:cNvSpPr/>
          <p:nvPr/>
        </p:nvSpPr>
        <p:spPr>
          <a:xfrm>
            <a:off x="8300681" y="1837055"/>
            <a:ext cx="339090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基于自回归机制生成目标文本序列，GPT系列核心组件</a:t>
            </a:r>
            <a:endParaRPr lang="en-US" sz="16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Shape 27"/>
          <p:cNvSpPr/>
          <p:nvPr/>
        </p:nvSpPr>
        <p:spPr>
          <a:xfrm>
            <a:off x="8319731" y="261239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2" name="Text 28"/>
          <p:cNvSpPr/>
          <p:nvPr/>
        </p:nvSpPr>
        <p:spPr>
          <a:xfrm>
            <a:off x="8543290" y="2583815"/>
            <a:ext cx="19304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自回归生成：逐词预测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Shape 29"/>
          <p:cNvSpPr/>
          <p:nvPr/>
        </p:nvSpPr>
        <p:spPr>
          <a:xfrm>
            <a:off x="8319731" y="2879090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4" name="Text 30"/>
          <p:cNvSpPr/>
          <p:nvPr/>
        </p:nvSpPr>
        <p:spPr>
          <a:xfrm>
            <a:off x="8543290" y="2850515"/>
            <a:ext cx="236029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束搜索解码：保留最优路径</a:t>
            </a:r>
            <a:endParaRPr lang="en-US" sz="1400" dirty="0">
              <a:solidFill>
                <a:schemeClr val="tx1">
                  <a:alpha val="8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5" name="Shape 31"/>
          <p:cNvSpPr/>
          <p:nvPr/>
        </p:nvSpPr>
        <p:spPr>
          <a:xfrm>
            <a:off x="384810" y="3333751"/>
            <a:ext cx="11418570" cy="3141345"/>
          </a:xfrm>
          <a:prstGeom prst="rect">
            <a:avLst/>
          </a:pr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6" name="Shape 32"/>
          <p:cNvSpPr/>
          <p:nvPr/>
        </p:nvSpPr>
        <p:spPr>
          <a:xfrm>
            <a:off x="602932" y="35661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47" name="Text 33"/>
          <p:cNvSpPr/>
          <p:nvPr/>
        </p:nvSpPr>
        <p:spPr>
          <a:xfrm>
            <a:off x="817245" y="3528061"/>
            <a:ext cx="10887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端到端数据流向</a:t>
            </a:r>
            <a:endParaRPr lang="en-US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8" name="Shape 34"/>
          <p:cNvSpPr/>
          <p:nvPr/>
        </p:nvSpPr>
        <p:spPr>
          <a:xfrm>
            <a:off x="582930" y="4331970"/>
            <a:ext cx="2312670" cy="979170"/>
          </a:xfrm>
          <a:custGeom>
            <a:avLst/>
            <a:gdLst/>
            <a:ahLst/>
            <a:cxnLst/>
            <a:rect l="l" t="t" r="r" b="b"/>
            <a:pathLst>
              <a:path w="2312670" h="883920">
                <a:moveTo>
                  <a:pt x="76203" y="0"/>
                </a:moveTo>
                <a:lnTo>
                  <a:pt x="2236467" y="0"/>
                </a:lnTo>
                <a:cubicBezTo>
                  <a:pt x="2278553" y="0"/>
                  <a:pt x="2312670" y="34117"/>
                  <a:pt x="2312670" y="76203"/>
                </a:cubicBezTo>
                <a:lnTo>
                  <a:pt x="2312670" y="807717"/>
                </a:lnTo>
                <a:cubicBezTo>
                  <a:pt x="2312670" y="849803"/>
                  <a:pt x="2278553" y="883920"/>
                  <a:pt x="22364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B10015">
              <a:alpha val="50000"/>
            </a:srgbClr>
          </a:solidFill>
          <a:ln w="10160">
            <a:solidFill>
              <a:srgbClr val="B10015">
                <a:alpha val="30196"/>
              </a:srgbClr>
            </a:solidFill>
            <a:prstDash val="solid"/>
          </a:ln>
        </p:spPr>
      </p:sp>
      <p:sp>
        <p:nvSpPr>
          <p:cNvPr id="49" name="Shape 35"/>
          <p:cNvSpPr/>
          <p:nvPr/>
        </p:nvSpPr>
        <p:spPr>
          <a:xfrm>
            <a:off x="708660" y="44881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78DA9">
              <a:alpha val="30196"/>
            </a:srgbClr>
          </a:solidFill>
        </p:spPr>
      </p:sp>
      <p:sp>
        <p:nvSpPr>
          <p:cNvPr id="50" name="Text 36"/>
          <p:cNvSpPr/>
          <p:nvPr/>
        </p:nvSpPr>
        <p:spPr>
          <a:xfrm>
            <a:off x="834390" y="4545330"/>
            <a:ext cx="1238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1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51" name="Text 37"/>
          <p:cNvSpPr/>
          <p:nvPr/>
        </p:nvSpPr>
        <p:spPr>
          <a:xfrm>
            <a:off x="1089660" y="4526280"/>
            <a:ext cx="12954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输入文本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2" name="Text 38"/>
          <p:cNvSpPr/>
          <p:nvPr/>
        </p:nvSpPr>
        <p:spPr>
          <a:xfrm>
            <a:off x="739140" y="4968240"/>
            <a:ext cx="2066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原始输入序列，待处理数据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3" name="Shape 39"/>
          <p:cNvSpPr/>
          <p:nvPr/>
        </p:nvSpPr>
        <p:spPr>
          <a:xfrm>
            <a:off x="3075622" y="465963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78DA9"/>
          </a:solidFill>
        </p:spPr>
      </p:sp>
      <p:sp>
        <p:nvSpPr>
          <p:cNvPr id="54" name="Shape 40"/>
          <p:cNvSpPr/>
          <p:nvPr/>
        </p:nvSpPr>
        <p:spPr>
          <a:xfrm>
            <a:off x="3489007" y="4236721"/>
            <a:ext cx="2312670" cy="1074420"/>
          </a:xfrm>
          <a:custGeom>
            <a:avLst/>
            <a:gdLst/>
            <a:ahLst/>
            <a:cxnLst/>
            <a:rect l="l" t="t" r="r" b="b"/>
            <a:pathLst>
              <a:path w="2312670" h="1074420">
                <a:moveTo>
                  <a:pt x="76198" y="0"/>
                </a:moveTo>
                <a:lnTo>
                  <a:pt x="2236472" y="0"/>
                </a:lnTo>
                <a:cubicBezTo>
                  <a:pt x="2278555" y="0"/>
                  <a:pt x="2312670" y="34115"/>
                  <a:pt x="2312670" y="76198"/>
                </a:cubicBezTo>
                <a:lnTo>
                  <a:pt x="2312670" y="998222"/>
                </a:lnTo>
                <a:cubicBezTo>
                  <a:pt x="2312670" y="1040305"/>
                  <a:pt x="2278555" y="1074420"/>
                  <a:pt x="2236472" y="1074420"/>
                </a:cubicBezTo>
                <a:lnTo>
                  <a:pt x="76198" y="1074420"/>
                </a:lnTo>
                <a:cubicBezTo>
                  <a:pt x="34115" y="1074420"/>
                  <a:pt x="0" y="1040305"/>
                  <a:pt x="0" y="99822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B10015">
              <a:alpha val="50000"/>
            </a:srgbClr>
          </a:solidFill>
          <a:ln w="10160">
            <a:solidFill>
              <a:srgbClr val="B10015">
                <a:alpha val="30196"/>
              </a:srgbClr>
            </a:solidFill>
            <a:prstDash val="solid"/>
          </a:ln>
        </p:spPr>
      </p:sp>
      <p:sp>
        <p:nvSpPr>
          <p:cNvPr id="55" name="Shape 41"/>
          <p:cNvSpPr/>
          <p:nvPr/>
        </p:nvSpPr>
        <p:spPr>
          <a:xfrm>
            <a:off x="3629978" y="439293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78DA9">
              <a:alpha val="30196"/>
            </a:srgbClr>
          </a:solidFill>
        </p:spPr>
      </p:sp>
      <p:sp>
        <p:nvSpPr>
          <p:cNvPr id="56" name="Text 42"/>
          <p:cNvSpPr/>
          <p:nvPr/>
        </p:nvSpPr>
        <p:spPr>
          <a:xfrm>
            <a:off x="3743563" y="445008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2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57" name="Text 43"/>
          <p:cNvSpPr/>
          <p:nvPr/>
        </p:nvSpPr>
        <p:spPr>
          <a:xfrm>
            <a:off x="4011295" y="4431030"/>
            <a:ext cx="142684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Text Encoder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Text 44"/>
          <p:cNvSpPr/>
          <p:nvPr/>
        </p:nvSpPr>
        <p:spPr>
          <a:xfrm>
            <a:off x="3645218" y="4773930"/>
            <a:ext cx="2066925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语义特征提取，将文本转化为向量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9" name="Shape 45"/>
          <p:cNvSpPr/>
          <p:nvPr/>
        </p:nvSpPr>
        <p:spPr>
          <a:xfrm>
            <a:off x="5981700" y="465963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78DA9"/>
          </a:solidFill>
        </p:spPr>
      </p:sp>
      <p:sp>
        <p:nvSpPr>
          <p:cNvPr id="60" name="Shape 46"/>
          <p:cNvSpPr/>
          <p:nvPr/>
        </p:nvSpPr>
        <p:spPr>
          <a:xfrm>
            <a:off x="6395085" y="4331970"/>
            <a:ext cx="2312670" cy="979170"/>
          </a:xfrm>
          <a:custGeom>
            <a:avLst/>
            <a:gdLst/>
            <a:ahLst/>
            <a:cxnLst/>
            <a:rect l="l" t="t" r="r" b="b"/>
            <a:pathLst>
              <a:path w="2312670" h="883920">
                <a:moveTo>
                  <a:pt x="76203" y="0"/>
                </a:moveTo>
                <a:lnTo>
                  <a:pt x="2236467" y="0"/>
                </a:lnTo>
                <a:cubicBezTo>
                  <a:pt x="2278553" y="0"/>
                  <a:pt x="2312670" y="34117"/>
                  <a:pt x="2312670" y="76203"/>
                </a:cubicBezTo>
                <a:lnTo>
                  <a:pt x="2312670" y="807717"/>
                </a:lnTo>
                <a:cubicBezTo>
                  <a:pt x="2312670" y="849803"/>
                  <a:pt x="2278553" y="883920"/>
                  <a:pt x="22364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B10015">
              <a:alpha val="50000"/>
            </a:srgbClr>
          </a:solidFill>
          <a:ln w="10160">
            <a:solidFill>
              <a:srgbClr val="B10015">
                <a:alpha val="30196"/>
              </a:srgbClr>
            </a:solidFill>
            <a:prstDash val="solid"/>
          </a:ln>
        </p:spPr>
      </p:sp>
      <p:sp>
        <p:nvSpPr>
          <p:cNvPr id="61" name="Shape 47"/>
          <p:cNvSpPr/>
          <p:nvPr/>
        </p:nvSpPr>
        <p:spPr>
          <a:xfrm>
            <a:off x="6482715" y="44043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78DA9">
              <a:alpha val="30196"/>
            </a:srgbClr>
          </a:solidFill>
        </p:spPr>
      </p:sp>
      <p:sp>
        <p:nvSpPr>
          <p:cNvPr id="62" name="Text 48"/>
          <p:cNvSpPr/>
          <p:nvPr/>
        </p:nvSpPr>
        <p:spPr>
          <a:xfrm>
            <a:off x="6595706" y="446151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3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63" name="Text 49"/>
          <p:cNvSpPr/>
          <p:nvPr/>
        </p:nvSpPr>
        <p:spPr>
          <a:xfrm>
            <a:off x="6863715" y="4442460"/>
            <a:ext cx="17754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Task Adapter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4" name="Text 50"/>
          <p:cNvSpPr/>
          <p:nvPr/>
        </p:nvSpPr>
        <p:spPr>
          <a:xfrm>
            <a:off x="6551295" y="4869180"/>
            <a:ext cx="20669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任务对齐适配，特征空间转换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Shape 51"/>
          <p:cNvSpPr/>
          <p:nvPr/>
        </p:nvSpPr>
        <p:spPr>
          <a:xfrm>
            <a:off x="8887778" y="465963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124391"/>
                </a:moveTo>
                <a:cubicBezTo>
                  <a:pt x="229984" y="118809"/>
                  <a:pt x="229984" y="109746"/>
                  <a:pt x="224403" y="104165"/>
                </a:cubicBezTo>
                <a:lnTo>
                  <a:pt x="152966" y="32727"/>
                </a:lnTo>
                <a:cubicBezTo>
                  <a:pt x="147384" y="27146"/>
                  <a:pt x="138321" y="27146"/>
                  <a:pt x="132740" y="32727"/>
                </a:cubicBezTo>
                <a:cubicBezTo>
                  <a:pt x="127159" y="38308"/>
                  <a:pt x="127159" y="47372"/>
                  <a:pt x="132740" y="52953"/>
                </a:cubicBezTo>
                <a:lnTo>
                  <a:pt x="179799" y="100013"/>
                </a:lnTo>
                <a:lnTo>
                  <a:pt x="14288" y="100013"/>
                </a:ln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79799" y="128588"/>
                </a:lnTo>
                <a:lnTo>
                  <a:pt x="132740" y="175647"/>
                </a:lnTo>
                <a:cubicBezTo>
                  <a:pt x="127159" y="181228"/>
                  <a:pt x="127159" y="190292"/>
                  <a:pt x="132740" y="195873"/>
                </a:cubicBezTo>
                <a:cubicBezTo>
                  <a:pt x="138321" y="201454"/>
                  <a:pt x="147384" y="201454"/>
                  <a:pt x="152966" y="195873"/>
                </a:cubicBezTo>
                <a:lnTo>
                  <a:pt x="224403" y="124435"/>
                </a:lnTo>
                <a:close/>
              </a:path>
            </a:pathLst>
          </a:custGeom>
          <a:solidFill>
            <a:srgbClr val="778DA9"/>
          </a:solidFill>
        </p:spPr>
      </p:sp>
      <p:sp>
        <p:nvSpPr>
          <p:cNvPr id="66" name="Shape 52"/>
          <p:cNvSpPr/>
          <p:nvPr/>
        </p:nvSpPr>
        <p:spPr>
          <a:xfrm>
            <a:off x="9189720" y="4331970"/>
            <a:ext cx="2502535" cy="979170"/>
          </a:xfrm>
          <a:custGeom>
            <a:avLst/>
            <a:gdLst/>
            <a:ahLst/>
            <a:cxnLst/>
            <a:rect l="l" t="t" r="r" b="b"/>
            <a:pathLst>
              <a:path w="2312670" h="883920">
                <a:moveTo>
                  <a:pt x="76203" y="0"/>
                </a:moveTo>
                <a:lnTo>
                  <a:pt x="2236467" y="0"/>
                </a:lnTo>
                <a:cubicBezTo>
                  <a:pt x="2278553" y="0"/>
                  <a:pt x="2312670" y="34117"/>
                  <a:pt x="2312670" y="76203"/>
                </a:cubicBezTo>
                <a:lnTo>
                  <a:pt x="2312670" y="807717"/>
                </a:lnTo>
                <a:cubicBezTo>
                  <a:pt x="2312670" y="849803"/>
                  <a:pt x="2278553" y="883920"/>
                  <a:pt x="2236467" y="883920"/>
                </a:cubicBezTo>
                <a:lnTo>
                  <a:pt x="76203" y="883920"/>
                </a:lnTo>
                <a:cubicBezTo>
                  <a:pt x="34145" y="883920"/>
                  <a:pt x="0" y="849775"/>
                  <a:pt x="0" y="80771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B10015">
              <a:alpha val="50000"/>
            </a:srgbClr>
          </a:solidFill>
          <a:ln w="10160">
            <a:solidFill>
              <a:srgbClr val="B10015">
                <a:alpha val="30196"/>
              </a:srgbClr>
            </a:solidFill>
            <a:prstDash val="solid"/>
          </a:ln>
        </p:spPr>
      </p:sp>
      <p:sp>
        <p:nvSpPr>
          <p:cNvPr id="67" name="Shape 53"/>
          <p:cNvSpPr/>
          <p:nvPr/>
        </p:nvSpPr>
        <p:spPr>
          <a:xfrm>
            <a:off x="9246553" y="448818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78DA9">
              <a:alpha val="30196"/>
            </a:srgbClr>
          </a:solidFill>
        </p:spPr>
      </p:sp>
      <p:sp>
        <p:nvSpPr>
          <p:cNvPr id="68" name="Text 54"/>
          <p:cNvSpPr/>
          <p:nvPr/>
        </p:nvSpPr>
        <p:spPr>
          <a:xfrm>
            <a:off x="9359662" y="4545330"/>
            <a:ext cx="14287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4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69" name="Text 55"/>
          <p:cNvSpPr/>
          <p:nvPr/>
        </p:nvSpPr>
        <p:spPr>
          <a:xfrm>
            <a:off x="9566910" y="4526280"/>
            <a:ext cx="238887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Generation Decoder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0" name="Text 56"/>
          <p:cNvSpPr/>
          <p:nvPr/>
        </p:nvSpPr>
        <p:spPr>
          <a:xfrm>
            <a:off x="9345930" y="4937760"/>
            <a:ext cx="226568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自回归生成，逐词生成目标文本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1" name="Shape 57"/>
          <p:cNvSpPr/>
          <p:nvPr/>
        </p:nvSpPr>
        <p:spPr>
          <a:xfrm>
            <a:off x="582930" y="5699760"/>
            <a:ext cx="11028045" cy="464820"/>
          </a:xfrm>
          <a:custGeom>
            <a:avLst/>
            <a:gdLst/>
            <a:ahLst/>
            <a:cxnLst/>
            <a:rect l="l" t="t" r="r" b="b"/>
            <a:pathLst>
              <a:path w="11028045" h="464820">
                <a:moveTo>
                  <a:pt x="76198" y="0"/>
                </a:moveTo>
                <a:lnTo>
                  <a:pt x="10951847" y="0"/>
                </a:lnTo>
                <a:cubicBezTo>
                  <a:pt x="10993930" y="0"/>
                  <a:pt x="11028045" y="34115"/>
                  <a:pt x="11028045" y="76198"/>
                </a:cubicBezTo>
                <a:lnTo>
                  <a:pt x="11028045" y="388622"/>
                </a:lnTo>
                <a:cubicBezTo>
                  <a:pt x="11028045" y="430705"/>
                  <a:pt x="10993930" y="464820"/>
                  <a:pt x="10951847" y="464820"/>
                </a:cubicBezTo>
                <a:lnTo>
                  <a:pt x="76198" y="464820"/>
                </a:lnTo>
                <a:cubicBezTo>
                  <a:pt x="34115" y="464820"/>
                  <a:pt x="0" y="430705"/>
                  <a:pt x="0" y="38862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  <a:ln w="10160">
            <a:solidFill>
              <a:srgbClr val="B10015"/>
            </a:solidFill>
            <a:prstDash val="solid"/>
          </a:ln>
        </p:spPr>
      </p:sp>
      <p:sp>
        <p:nvSpPr>
          <p:cNvPr id="73" name="Text 59"/>
          <p:cNvSpPr/>
          <p:nvPr/>
        </p:nvSpPr>
        <p:spPr>
          <a:xfrm>
            <a:off x="910590" y="5817870"/>
            <a:ext cx="106203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端到端流程：</a:t>
            </a:r>
            <a:r>
              <a:rPr lang="en-US" sz="16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输入文本经过编码、适配、解码三个核心步骤，最终生成目标结果</a:t>
            </a:r>
            <a:endParaRPr lang="en-US" sz="16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5809615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en-US" altLang="zh-CN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GPT</a:t>
            </a:r>
            <a:r>
              <a:rPr lang="zh-CN" altLang="en-US" sz="3035" b="1" dirty="0">
                <a:solidFill>
                  <a:schemeClr val="tx1"/>
                </a:solidFill>
                <a:latin typeface="+mj-ea"/>
                <a:ea typeface="+mj-ea"/>
                <a:cs typeface="+mn-ea"/>
                <a:sym typeface="Microsoft Sans Serif" panose="020B0604020202020204" pitchFamily="34" charset="0"/>
              </a:rPr>
              <a:t>系列模型性能对比：数据说话</a:t>
            </a:r>
            <a:endParaRPr lang="zh-CN" altLang="en-US" sz="3035" b="1" dirty="0">
              <a:solidFill>
                <a:schemeClr val="tx1"/>
              </a:solidFill>
              <a:latin typeface="+mj-ea"/>
              <a:ea typeface="+mj-ea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810" y="1032510"/>
            <a:ext cx="5132070" cy="2674620"/>
          </a:xfrm>
          <a:prstGeom prst="rect">
            <a:avLst/>
          </a:pr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2932" y="12649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" name="Text 6"/>
          <p:cNvSpPr/>
          <p:nvPr/>
        </p:nvSpPr>
        <p:spPr>
          <a:xfrm>
            <a:off x="931545" y="1226820"/>
            <a:ext cx="46005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模型规模演进</a:t>
            </a:r>
            <a:endParaRPr lang="en-US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84810" y="3867388"/>
            <a:ext cx="5132070" cy="1522095"/>
          </a:xfrm>
          <a:prstGeom prst="rect">
            <a:avLst/>
          </a:pr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739" y="406169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2" name="Text 9"/>
          <p:cNvSpPr/>
          <p:nvPr/>
        </p:nvSpPr>
        <p:spPr>
          <a:xfrm>
            <a:off x="893445" y="4023360"/>
            <a:ext cx="282702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训练数据规模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1020" y="4404599"/>
            <a:ext cx="1533525" cy="828675"/>
          </a:xfrm>
          <a:custGeom>
            <a:avLst/>
            <a:gdLst/>
            <a:ahLst/>
            <a:cxnLst/>
            <a:rect l="l" t="t" r="r" b="b"/>
            <a:pathLst>
              <a:path w="1533525" h="828675">
                <a:moveTo>
                  <a:pt x="76197" y="0"/>
                </a:moveTo>
                <a:lnTo>
                  <a:pt x="1457328" y="0"/>
                </a:lnTo>
                <a:cubicBezTo>
                  <a:pt x="1499411" y="0"/>
                  <a:pt x="1533525" y="34114"/>
                  <a:pt x="1533525" y="76197"/>
                </a:cubicBezTo>
                <a:lnTo>
                  <a:pt x="1533525" y="752478"/>
                </a:lnTo>
                <a:cubicBezTo>
                  <a:pt x="1533525" y="794561"/>
                  <a:pt x="1499411" y="828675"/>
                  <a:pt x="1457328" y="828675"/>
                </a:cubicBezTo>
                <a:lnTo>
                  <a:pt x="76197" y="828675"/>
                </a:lnTo>
                <a:cubicBezTo>
                  <a:pt x="34114" y="828675"/>
                  <a:pt x="0" y="794561"/>
                  <a:pt x="0" y="75247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B10015">
              <a:alpha val="50000"/>
            </a:srgbClr>
          </a:solidFill>
          <a:ln>
            <a:solidFill>
              <a:srgbClr val="B10015"/>
            </a:solidFill>
          </a:ln>
        </p:spPr>
      </p:sp>
      <p:sp>
        <p:nvSpPr>
          <p:cNvPr id="16" name="Shape 13"/>
          <p:cNvSpPr/>
          <p:nvPr/>
        </p:nvSpPr>
        <p:spPr>
          <a:xfrm>
            <a:off x="2186940" y="4404599"/>
            <a:ext cx="1533525" cy="828675"/>
          </a:xfrm>
          <a:custGeom>
            <a:avLst/>
            <a:gdLst/>
            <a:ahLst/>
            <a:cxnLst/>
            <a:rect l="l" t="t" r="r" b="b"/>
            <a:pathLst>
              <a:path w="1533525" h="828675">
                <a:moveTo>
                  <a:pt x="76197" y="0"/>
                </a:moveTo>
                <a:lnTo>
                  <a:pt x="1457328" y="0"/>
                </a:lnTo>
                <a:cubicBezTo>
                  <a:pt x="1499411" y="0"/>
                  <a:pt x="1533525" y="34114"/>
                  <a:pt x="1533525" y="76197"/>
                </a:cubicBezTo>
                <a:lnTo>
                  <a:pt x="1533525" y="752478"/>
                </a:lnTo>
                <a:cubicBezTo>
                  <a:pt x="1533525" y="794561"/>
                  <a:pt x="1499411" y="828675"/>
                  <a:pt x="1457328" y="828675"/>
                </a:cubicBezTo>
                <a:lnTo>
                  <a:pt x="76197" y="828675"/>
                </a:lnTo>
                <a:cubicBezTo>
                  <a:pt x="34114" y="828675"/>
                  <a:pt x="0" y="794561"/>
                  <a:pt x="0" y="752478"/>
                </a:cubicBezTo>
                <a:lnTo>
                  <a:pt x="0" y="76197"/>
                </a:lnTo>
                <a:cubicBezTo>
                  <a:pt x="0" y="34114"/>
                  <a:pt x="34114" y="0"/>
                  <a:pt x="76197" y="0"/>
                </a:cubicBezTo>
                <a:close/>
              </a:path>
            </a:pathLst>
          </a:custGeom>
          <a:solidFill>
            <a:srgbClr val="B10015">
              <a:alpha val="50000"/>
            </a:srgbClr>
          </a:solidFill>
          <a:ln>
            <a:solidFill>
              <a:srgbClr val="B10015"/>
            </a:solidFill>
          </a:ln>
        </p:spPr>
      </p:sp>
      <p:sp>
        <p:nvSpPr>
          <p:cNvPr id="17" name="Text 14"/>
          <p:cNvSpPr/>
          <p:nvPr/>
        </p:nvSpPr>
        <p:spPr>
          <a:xfrm>
            <a:off x="594043" y="4518899"/>
            <a:ext cx="14478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~30GB</a:t>
            </a:r>
            <a:endParaRPr lang="en-US" sz="22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2143" y="4899899"/>
            <a:ext cx="1371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GPT-3.5</a:t>
            </a:r>
            <a:endParaRPr lang="en-US" sz="10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3840480" y="4412219"/>
            <a:ext cx="1520190" cy="815340"/>
          </a:xfrm>
          <a:custGeom>
            <a:avLst/>
            <a:gdLst/>
            <a:ahLst/>
            <a:cxnLst/>
            <a:rect l="l" t="t" r="r" b="b"/>
            <a:pathLst>
              <a:path w="1520190" h="815340">
                <a:moveTo>
                  <a:pt x="76202" y="0"/>
                </a:moveTo>
                <a:lnTo>
                  <a:pt x="1443988" y="0"/>
                </a:lnTo>
                <a:cubicBezTo>
                  <a:pt x="1486073" y="0"/>
                  <a:pt x="1520190" y="34117"/>
                  <a:pt x="1520190" y="76202"/>
                </a:cubicBezTo>
                <a:lnTo>
                  <a:pt x="1520190" y="739138"/>
                </a:lnTo>
                <a:cubicBezTo>
                  <a:pt x="1520190" y="781223"/>
                  <a:pt x="1486073" y="815340"/>
                  <a:pt x="1443988" y="815340"/>
                </a:cubicBezTo>
                <a:lnTo>
                  <a:pt x="76202" y="815340"/>
                </a:lnTo>
                <a:cubicBezTo>
                  <a:pt x="34145" y="815340"/>
                  <a:pt x="0" y="781195"/>
                  <a:pt x="0" y="73913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B10015">
              <a:alpha val="50000"/>
            </a:srgbClr>
          </a:solidFill>
          <a:ln w="20320">
            <a:solidFill>
              <a:srgbClr val="B1001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90962" y="4534140"/>
            <a:ext cx="14192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200GB+</a:t>
            </a:r>
            <a:endParaRPr lang="en-US" sz="22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4" name="Text 18"/>
          <p:cNvSpPr/>
          <p:nvPr/>
        </p:nvSpPr>
        <p:spPr>
          <a:xfrm>
            <a:off x="3929063" y="4915140"/>
            <a:ext cx="134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GPT-5</a:t>
            </a:r>
            <a:endParaRPr lang="en-US" sz="10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Shape 19"/>
          <p:cNvSpPr/>
          <p:nvPr/>
        </p:nvSpPr>
        <p:spPr>
          <a:xfrm>
            <a:off x="5718810" y="1032510"/>
            <a:ext cx="6084570" cy="2103120"/>
          </a:xfrm>
          <a:prstGeom prst="rect">
            <a:avLst/>
          </a:pr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6" name="Shape 20"/>
          <p:cNvSpPr/>
          <p:nvPr/>
        </p:nvSpPr>
        <p:spPr>
          <a:xfrm>
            <a:off x="5936932" y="126492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7" name="Text 21"/>
          <p:cNvSpPr/>
          <p:nvPr/>
        </p:nvSpPr>
        <p:spPr>
          <a:xfrm>
            <a:off x="6265545" y="1226820"/>
            <a:ext cx="5553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问答准确率</a:t>
            </a:r>
            <a:r>
              <a:rPr 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对比</a:t>
            </a:r>
            <a:endParaRPr 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9" name="Shape 22"/>
          <p:cNvSpPr/>
          <p:nvPr/>
        </p:nvSpPr>
        <p:spPr>
          <a:xfrm>
            <a:off x="5718810" y="3295651"/>
            <a:ext cx="6084570" cy="2093595"/>
          </a:xfrm>
          <a:prstGeom prst="rect">
            <a:avLst/>
          </a:pr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0" name="Shape 23"/>
          <p:cNvSpPr/>
          <p:nvPr/>
        </p:nvSpPr>
        <p:spPr>
          <a:xfrm>
            <a:off x="5936932" y="352806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1" name="Text 24"/>
          <p:cNvSpPr/>
          <p:nvPr/>
        </p:nvSpPr>
        <p:spPr>
          <a:xfrm>
            <a:off x="6265545" y="3489961"/>
            <a:ext cx="55530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幻觉率对比</a:t>
            </a:r>
            <a:endParaRPr lang="en-US" sz="20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3" name="Shape 25"/>
          <p:cNvSpPr/>
          <p:nvPr/>
        </p:nvSpPr>
        <p:spPr>
          <a:xfrm>
            <a:off x="384810" y="5513309"/>
            <a:ext cx="2760345" cy="960120"/>
          </a:xfrm>
          <a:custGeom>
            <a:avLst/>
            <a:gdLst/>
            <a:ahLst/>
            <a:cxnLst/>
            <a:rect l="l" t="t" r="r" b="b"/>
            <a:pathLst>
              <a:path w="2760345" h="960120">
                <a:moveTo>
                  <a:pt x="76205" y="0"/>
                </a:moveTo>
                <a:lnTo>
                  <a:pt x="2684140" y="0"/>
                </a:lnTo>
                <a:cubicBezTo>
                  <a:pt x="2726227" y="0"/>
                  <a:pt x="2760345" y="34118"/>
                  <a:pt x="2760345" y="76205"/>
                </a:cubicBezTo>
                <a:lnTo>
                  <a:pt x="2760345" y="883915"/>
                </a:lnTo>
                <a:cubicBezTo>
                  <a:pt x="2760345" y="926002"/>
                  <a:pt x="2726227" y="960120"/>
                  <a:pt x="26841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B10015"/>
          </a:solidFill>
          <a:ln w="1016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54" name="Text 26"/>
          <p:cNvSpPr/>
          <p:nvPr/>
        </p:nvSpPr>
        <p:spPr>
          <a:xfrm>
            <a:off x="469582" y="5631419"/>
            <a:ext cx="2590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GPT-5 vs GPT-4</a:t>
            </a:r>
            <a:endParaRPr 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5" name="Text 27"/>
          <p:cNvSpPr/>
          <p:nvPr/>
        </p:nvSpPr>
        <p:spPr>
          <a:xfrm>
            <a:off x="445770" y="5860019"/>
            <a:ext cx="26384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+12.7%</a:t>
            </a:r>
            <a:endParaRPr 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56" name="Text 28"/>
          <p:cNvSpPr/>
          <p:nvPr/>
        </p:nvSpPr>
        <p:spPr>
          <a:xfrm>
            <a:off x="474345" y="6202800"/>
            <a:ext cx="25812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准确率提升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7" name="Shape 29"/>
          <p:cNvSpPr/>
          <p:nvPr/>
        </p:nvSpPr>
        <p:spPr>
          <a:xfrm>
            <a:off x="3270885" y="5513309"/>
            <a:ext cx="2760345" cy="960120"/>
          </a:xfrm>
          <a:custGeom>
            <a:avLst/>
            <a:gdLst/>
            <a:ahLst/>
            <a:cxnLst/>
            <a:rect l="l" t="t" r="r" b="b"/>
            <a:pathLst>
              <a:path w="2760345" h="960120">
                <a:moveTo>
                  <a:pt x="76205" y="0"/>
                </a:moveTo>
                <a:lnTo>
                  <a:pt x="2684140" y="0"/>
                </a:lnTo>
                <a:cubicBezTo>
                  <a:pt x="2726227" y="0"/>
                  <a:pt x="2760345" y="34118"/>
                  <a:pt x="2760345" y="76205"/>
                </a:cubicBezTo>
                <a:lnTo>
                  <a:pt x="2760345" y="883915"/>
                </a:lnTo>
                <a:cubicBezTo>
                  <a:pt x="2760345" y="926002"/>
                  <a:pt x="2726227" y="960120"/>
                  <a:pt x="26841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B10015"/>
          </a:solidFill>
          <a:ln w="1016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58" name="Text 30"/>
          <p:cNvSpPr/>
          <p:nvPr/>
        </p:nvSpPr>
        <p:spPr>
          <a:xfrm>
            <a:off x="3355658" y="5631419"/>
            <a:ext cx="2590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幻觉率降低</a:t>
            </a:r>
            <a:endParaRPr 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9" name="Text 31"/>
          <p:cNvSpPr/>
          <p:nvPr/>
        </p:nvSpPr>
        <p:spPr>
          <a:xfrm>
            <a:off x="3331845" y="5860019"/>
            <a:ext cx="26384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-52%</a:t>
            </a:r>
            <a:endParaRPr 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60" name="Text 32"/>
          <p:cNvSpPr/>
          <p:nvPr/>
        </p:nvSpPr>
        <p:spPr>
          <a:xfrm>
            <a:off x="3360420" y="6202800"/>
            <a:ext cx="25812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GPT-5 vs GPT-4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1" name="Shape 33"/>
          <p:cNvSpPr/>
          <p:nvPr/>
        </p:nvSpPr>
        <p:spPr>
          <a:xfrm>
            <a:off x="6156960" y="5513309"/>
            <a:ext cx="2760345" cy="960120"/>
          </a:xfrm>
          <a:custGeom>
            <a:avLst/>
            <a:gdLst/>
            <a:ahLst/>
            <a:cxnLst/>
            <a:rect l="l" t="t" r="r" b="b"/>
            <a:pathLst>
              <a:path w="2760345" h="960120">
                <a:moveTo>
                  <a:pt x="76205" y="0"/>
                </a:moveTo>
                <a:lnTo>
                  <a:pt x="2684140" y="0"/>
                </a:lnTo>
                <a:cubicBezTo>
                  <a:pt x="2726227" y="0"/>
                  <a:pt x="2760345" y="34118"/>
                  <a:pt x="2760345" y="76205"/>
                </a:cubicBezTo>
                <a:lnTo>
                  <a:pt x="2760345" y="883915"/>
                </a:lnTo>
                <a:cubicBezTo>
                  <a:pt x="2760345" y="926002"/>
                  <a:pt x="2726227" y="960120"/>
                  <a:pt x="26841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B10015"/>
          </a:solidFill>
          <a:ln w="1016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62" name="Text 34"/>
          <p:cNvSpPr/>
          <p:nvPr/>
        </p:nvSpPr>
        <p:spPr>
          <a:xfrm>
            <a:off x="6241732" y="5631419"/>
            <a:ext cx="2590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放射学诊断</a:t>
            </a:r>
            <a:endParaRPr 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3" name="Text 35"/>
          <p:cNvSpPr/>
          <p:nvPr/>
        </p:nvSpPr>
        <p:spPr>
          <a:xfrm>
            <a:off x="6217920" y="5860019"/>
            <a:ext cx="26384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+18.2%</a:t>
            </a:r>
            <a:endParaRPr 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64" name="Text 36"/>
          <p:cNvSpPr/>
          <p:nvPr/>
        </p:nvSpPr>
        <p:spPr>
          <a:xfrm>
            <a:off x="6246495" y="6202800"/>
            <a:ext cx="25812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准确率提升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Shape 37"/>
          <p:cNvSpPr/>
          <p:nvPr/>
        </p:nvSpPr>
        <p:spPr>
          <a:xfrm>
            <a:off x="9043035" y="5513309"/>
            <a:ext cx="2760345" cy="960120"/>
          </a:xfrm>
          <a:custGeom>
            <a:avLst/>
            <a:gdLst/>
            <a:ahLst/>
            <a:cxnLst/>
            <a:rect l="l" t="t" r="r" b="b"/>
            <a:pathLst>
              <a:path w="2760345" h="960120">
                <a:moveTo>
                  <a:pt x="76205" y="0"/>
                </a:moveTo>
                <a:lnTo>
                  <a:pt x="2684140" y="0"/>
                </a:lnTo>
                <a:cubicBezTo>
                  <a:pt x="2726227" y="0"/>
                  <a:pt x="2760345" y="34118"/>
                  <a:pt x="2760345" y="76205"/>
                </a:cubicBezTo>
                <a:lnTo>
                  <a:pt x="2760345" y="883915"/>
                </a:lnTo>
                <a:cubicBezTo>
                  <a:pt x="2760345" y="926002"/>
                  <a:pt x="2726227" y="960120"/>
                  <a:pt x="2684140" y="960120"/>
                </a:cubicBezTo>
                <a:lnTo>
                  <a:pt x="76205" y="960120"/>
                </a:lnTo>
                <a:cubicBezTo>
                  <a:pt x="34118" y="960120"/>
                  <a:pt x="0" y="926002"/>
                  <a:pt x="0" y="883915"/>
                </a:cubicBezTo>
                <a:lnTo>
                  <a:pt x="0" y="76205"/>
                </a:lnTo>
                <a:cubicBezTo>
                  <a:pt x="0" y="34118"/>
                  <a:pt x="34118" y="0"/>
                  <a:pt x="76205" y="0"/>
                </a:cubicBezTo>
                <a:close/>
              </a:path>
            </a:pathLst>
          </a:custGeom>
          <a:solidFill>
            <a:srgbClr val="B10015"/>
          </a:solidFill>
          <a:ln w="1016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66" name="Text 38"/>
          <p:cNvSpPr/>
          <p:nvPr/>
        </p:nvSpPr>
        <p:spPr>
          <a:xfrm>
            <a:off x="9127807" y="5631419"/>
            <a:ext cx="25908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上下文窗口</a:t>
            </a:r>
            <a:endParaRPr 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7" name="Text 39"/>
          <p:cNvSpPr/>
          <p:nvPr/>
        </p:nvSpPr>
        <p:spPr>
          <a:xfrm>
            <a:off x="9103995" y="5860019"/>
            <a:ext cx="2638425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8x</a:t>
            </a:r>
            <a:endParaRPr lang="en-US" sz="1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68" name="Text 40"/>
          <p:cNvSpPr/>
          <p:nvPr/>
        </p:nvSpPr>
        <p:spPr>
          <a:xfrm>
            <a:off x="9132570" y="6202800"/>
            <a:ext cx="2581275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GPT-5扩展倍数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11154" b="8846"/>
          <a:stretch>
            <a:fillRect/>
          </a:stretch>
        </p:blipFill>
        <p:spPr>
          <a:xfrm>
            <a:off x="425450" y="1647825"/>
            <a:ext cx="5045710" cy="19862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t="5927" b="7608"/>
          <a:stretch>
            <a:fillRect/>
          </a:stretch>
        </p:blipFill>
        <p:spPr>
          <a:xfrm>
            <a:off x="5953760" y="1536700"/>
            <a:ext cx="5696585" cy="1579880"/>
          </a:xfrm>
          <a:prstGeom prst="rect">
            <a:avLst/>
          </a:prstGeom>
        </p:spPr>
      </p:pic>
      <p:pic>
        <p:nvPicPr>
          <p:cNvPr id="21" name="图片 20"/>
          <p:cNvPicPr/>
          <p:nvPr/>
        </p:nvPicPr>
        <p:blipFill>
          <a:blip r:embed="rId3"/>
          <a:srcRect l="780" t="6373" b="7539"/>
          <a:stretch>
            <a:fillRect/>
          </a:stretch>
        </p:blipFill>
        <p:spPr>
          <a:xfrm>
            <a:off x="5943600" y="3776980"/>
            <a:ext cx="5695950" cy="158813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239962" y="4539220"/>
            <a:ext cx="14192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45GB+</a:t>
            </a:r>
            <a:endParaRPr lang="en-US" sz="225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2278063" y="4920220"/>
            <a:ext cx="13430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GPT-4</a:t>
            </a:r>
            <a:endParaRPr lang="en-US" sz="105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核心任务技术解析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760984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机器翻译：跨语言语义保真转换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268151" y="1030142"/>
            <a:ext cx="6302521" cy="2715573"/>
          </a:xfrm>
          <a:custGeom>
            <a:avLst/>
            <a:gdLst/>
            <a:ahLst/>
            <a:cxnLst/>
            <a:rect l="l" t="t" r="r" b="b"/>
            <a:pathLst>
              <a:path w="6302521" h="2715573">
                <a:moveTo>
                  <a:pt x="108704" y="0"/>
                </a:moveTo>
                <a:lnTo>
                  <a:pt x="6193817" y="0"/>
                </a:lnTo>
                <a:cubicBezTo>
                  <a:pt x="6253853" y="0"/>
                  <a:pt x="6302521" y="48669"/>
                  <a:pt x="6302521" y="108704"/>
                </a:cubicBezTo>
                <a:lnTo>
                  <a:pt x="6302521" y="2606869"/>
                </a:lnTo>
                <a:cubicBezTo>
                  <a:pt x="6302521" y="2666905"/>
                  <a:pt x="6253853" y="2715573"/>
                  <a:pt x="6193817" y="2715573"/>
                </a:cubicBezTo>
                <a:lnTo>
                  <a:pt x="108704" y="2715573"/>
                </a:lnTo>
                <a:cubicBezTo>
                  <a:pt x="48669" y="2715573"/>
                  <a:pt x="0" y="2666905"/>
                  <a:pt x="0" y="2606869"/>
                </a:cubicBezTo>
                <a:lnTo>
                  <a:pt x="0" y="108704"/>
                </a:lnTo>
                <a:cubicBezTo>
                  <a:pt x="0" y="48709"/>
                  <a:pt x="48709" y="0"/>
                  <a:pt x="108704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5" name="Shape 5"/>
          <p:cNvSpPr/>
          <p:nvPr/>
        </p:nvSpPr>
        <p:spPr>
          <a:xfrm>
            <a:off x="452933" y="1233040"/>
            <a:ext cx="271738" cy="217391"/>
          </a:xfrm>
          <a:custGeom>
            <a:avLst/>
            <a:gdLst/>
            <a:ahLst/>
            <a:cxnLst/>
            <a:rect l="l" t="t" r="r" b="b"/>
            <a:pathLst>
              <a:path w="271738" h="217391">
                <a:moveTo>
                  <a:pt x="176588" y="89376"/>
                </a:moveTo>
                <a:cubicBezTo>
                  <a:pt x="181768" y="87975"/>
                  <a:pt x="187202" y="90438"/>
                  <a:pt x="189538" y="95236"/>
                </a:cubicBezTo>
                <a:lnTo>
                  <a:pt x="197435" y="111200"/>
                </a:lnTo>
                <a:cubicBezTo>
                  <a:pt x="201808" y="111795"/>
                  <a:pt x="206097" y="112984"/>
                  <a:pt x="210130" y="114640"/>
                </a:cubicBezTo>
                <a:lnTo>
                  <a:pt x="224991" y="104747"/>
                </a:lnTo>
                <a:cubicBezTo>
                  <a:pt x="229449" y="101775"/>
                  <a:pt x="235351" y="102369"/>
                  <a:pt x="239130" y="106148"/>
                </a:cubicBezTo>
                <a:lnTo>
                  <a:pt x="247282" y="114300"/>
                </a:lnTo>
                <a:cubicBezTo>
                  <a:pt x="251061" y="118079"/>
                  <a:pt x="251655" y="124023"/>
                  <a:pt x="248683" y="128439"/>
                </a:cubicBezTo>
                <a:lnTo>
                  <a:pt x="238790" y="143257"/>
                </a:lnTo>
                <a:cubicBezTo>
                  <a:pt x="239597" y="145253"/>
                  <a:pt x="240319" y="147333"/>
                  <a:pt x="240913" y="149499"/>
                </a:cubicBezTo>
                <a:cubicBezTo>
                  <a:pt x="241508" y="151664"/>
                  <a:pt x="241890" y="153787"/>
                  <a:pt x="242187" y="155952"/>
                </a:cubicBezTo>
                <a:lnTo>
                  <a:pt x="258194" y="163850"/>
                </a:lnTo>
                <a:cubicBezTo>
                  <a:pt x="262992" y="166228"/>
                  <a:pt x="265455" y="171662"/>
                  <a:pt x="264053" y="176800"/>
                </a:cubicBezTo>
                <a:lnTo>
                  <a:pt x="261081" y="187924"/>
                </a:lnTo>
                <a:cubicBezTo>
                  <a:pt x="259680" y="193062"/>
                  <a:pt x="254882" y="196543"/>
                  <a:pt x="249532" y="196204"/>
                </a:cubicBezTo>
                <a:lnTo>
                  <a:pt x="231700" y="195057"/>
                </a:lnTo>
                <a:cubicBezTo>
                  <a:pt x="229025" y="198496"/>
                  <a:pt x="225925" y="201681"/>
                  <a:pt x="222401" y="204398"/>
                </a:cubicBezTo>
                <a:lnTo>
                  <a:pt x="223547" y="222189"/>
                </a:lnTo>
                <a:cubicBezTo>
                  <a:pt x="223887" y="227539"/>
                  <a:pt x="220405" y="232379"/>
                  <a:pt x="215268" y="233738"/>
                </a:cubicBezTo>
                <a:lnTo>
                  <a:pt x="204144" y="236710"/>
                </a:lnTo>
                <a:cubicBezTo>
                  <a:pt x="198964" y="238111"/>
                  <a:pt x="193571" y="235648"/>
                  <a:pt x="191193" y="230850"/>
                </a:cubicBezTo>
                <a:lnTo>
                  <a:pt x="183296" y="214886"/>
                </a:lnTo>
                <a:cubicBezTo>
                  <a:pt x="178923" y="214291"/>
                  <a:pt x="174634" y="213102"/>
                  <a:pt x="170601" y="211447"/>
                </a:cubicBezTo>
                <a:lnTo>
                  <a:pt x="155740" y="221339"/>
                </a:lnTo>
                <a:cubicBezTo>
                  <a:pt x="151282" y="224312"/>
                  <a:pt x="145380" y="223717"/>
                  <a:pt x="141601" y="219938"/>
                </a:cubicBezTo>
                <a:lnTo>
                  <a:pt x="133449" y="211786"/>
                </a:lnTo>
                <a:cubicBezTo>
                  <a:pt x="129670" y="208007"/>
                  <a:pt x="129076" y="202105"/>
                  <a:pt x="132048" y="197647"/>
                </a:cubicBezTo>
                <a:lnTo>
                  <a:pt x="141941" y="182787"/>
                </a:lnTo>
                <a:cubicBezTo>
                  <a:pt x="141134" y="180791"/>
                  <a:pt x="140412" y="178711"/>
                  <a:pt x="139818" y="176545"/>
                </a:cubicBezTo>
                <a:cubicBezTo>
                  <a:pt x="139224" y="174380"/>
                  <a:pt x="138841" y="172214"/>
                  <a:pt x="138544" y="170091"/>
                </a:cubicBezTo>
                <a:lnTo>
                  <a:pt x="122537" y="162194"/>
                </a:lnTo>
                <a:cubicBezTo>
                  <a:pt x="117739" y="159816"/>
                  <a:pt x="115319" y="154381"/>
                  <a:pt x="116678" y="149244"/>
                </a:cubicBezTo>
                <a:lnTo>
                  <a:pt x="119650" y="138120"/>
                </a:lnTo>
                <a:cubicBezTo>
                  <a:pt x="121051" y="132982"/>
                  <a:pt x="125849" y="129500"/>
                  <a:pt x="131199" y="129840"/>
                </a:cubicBezTo>
                <a:lnTo>
                  <a:pt x="148989" y="130986"/>
                </a:lnTo>
                <a:cubicBezTo>
                  <a:pt x="151664" y="127547"/>
                  <a:pt x="154764" y="124363"/>
                  <a:pt x="158288" y="121645"/>
                </a:cubicBezTo>
                <a:lnTo>
                  <a:pt x="157141" y="103898"/>
                </a:lnTo>
                <a:cubicBezTo>
                  <a:pt x="156802" y="98548"/>
                  <a:pt x="160283" y="93707"/>
                  <a:pt x="165421" y="92349"/>
                </a:cubicBezTo>
                <a:lnTo>
                  <a:pt x="176545" y="89376"/>
                </a:lnTo>
                <a:close/>
                <a:moveTo>
                  <a:pt x="190387" y="144361"/>
                </a:moveTo>
                <a:cubicBezTo>
                  <a:pt x="180076" y="144373"/>
                  <a:pt x="171714" y="152753"/>
                  <a:pt x="171726" y="163064"/>
                </a:cubicBezTo>
                <a:cubicBezTo>
                  <a:pt x="171738" y="173375"/>
                  <a:pt x="180118" y="181737"/>
                  <a:pt x="190429" y="181725"/>
                </a:cubicBezTo>
                <a:cubicBezTo>
                  <a:pt x="200740" y="181713"/>
                  <a:pt x="209102" y="173333"/>
                  <a:pt x="209090" y="163022"/>
                </a:cubicBezTo>
                <a:cubicBezTo>
                  <a:pt x="209078" y="152711"/>
                  <a:pt x="200698" y="144349"/>
                  <a:pt x="190387" y="144361"/>
                </a:cubicBezTo>
                <a:close/>
                <a:moveTo>
                  <a:pt x="95491" y="-19319"/>
                </a:moveTo>
                <a:lnTo>
                  <a:pt x="106615" y="-16347"/>
                </a:lnTo>
                <a:cubicBezTo>
                  <a:pt x="111752" y="-14946"/>
                  <a:pt x="115234" y="-10105"/>
                  <a:pt x="114894" y="-4798"/>
                </a:cubicBezTo>
                <a:lnTo>
                  <a:pt x="113748" y="12950"/>
                </a:lnTo>
                <a:cubicBezTo>
                  <a:pt x="117272" y="15667"/>
                  <a:pt x="120372" y="18809"/>
                  <a:pt x="123047" y="22291"/>
                </a:cubicBezTo>
                <a:lnTo>
                  <a:pt x="140879" y="21145"/>
                </a:lnTo>
                <a:cubicBezTo>
                  <a:pt x="146187" y="20805"/>
                  <a:pt x="151027" y="24287"/>
                  <a:pt x="152428" y="29424"/>
                </a:cubicBezTo>
                <a:lnTo>
                  <a:pt x="155400" y="40548"/>
                </a:lnTo>
                <a:cubicBezTo>
                  <a:pt x="156759" y="45686"/>
                  <a:pt x="154339" y="51121"/>
                  <a:pt x="149541" y="53499"/>
                </a:cubicBezTo>
                <a:lnTo>
                  <a:pt x="133534" y="61396"/>
                </a:lnTo>
                <a:cubicBezTo>
                  <a:pt x="133237" y="63561"/>
                  <a:pt x="132812" y="65727"/>
                  <a:pt x="132260" y="67850"/>
                </a:cubicBezTo>
                <a:cubicBezTo>
                  <a:pt x="131708" y="69973"/>
                  <a:pt x="130944" y="72096"/>
                  <a:pt x="130137" y="74091"/>
                </a:cubicBezTo>
                <a:lnTo>
                  <a:pt x="140030" y="88952"/>
                </a:lnTo>
                <a:cubicBezTo>
                  <a:pt x="143002" y="93410"/>
                  <a:pt x="142408" y="99312"/>
                  <a:pt x="138629" y="103091"/>
                </a:cubicBezTo>
                <a:lnTo>
                  <a:pt x="130477" y="111243"/>
                </a:lnTo>
                <a:cubicBezTo>
                  <a:pt x="126698" y="115022"/>
                  <a:pt x="120796" y="115616"/>
                  <a:pt x="116338" y="112644"/>
                </a:cubicBezTo>
                <a:lnTo>
                  <a:pt x="101477" y="102751"/>
                </a:lnTo>
                <a:cubicBezTo>
                  <a:pt x="97444" y="104407"/>
                  <a:pt x="93155" y="105596"/>
                  <a:pt x="88782" y="106190"/>
                </a:cubicBezTo>
                <a:lnTo>
                  <a:pt x="80885" y="122155"/>
                </a:lnTo>
                <a:cubicBezTo>
                  <a:pt x="78507" y="126953"/>
                  <a:pt x="73072" y="129373"/>
                  <a:pt x="67935" y="128014"/>
                </a:cubicBezTo>
                <a:lnTo>
                  <a:pt x="56810" y="125042"/>
                </a:lnTo>
                <a:cubicBezTo>
                  <a:pt x="51630" y="123641"/>
                  <a:pt x="48191" y="118801"/>
                  <a:pt x="48531" y="113493"/>
                </a:cubicBezTo>
                <a:lnTo>
                  <a:pt x="49677" y="95703"/>
                </a:lnTo>
                <a:cubicBezTo>
                  <a:pt x="46153" y="92986"/>
                  <a:pt x="43054" y="89844"/>
                  <a:pt x="40379" y="86362"/>
                </a:cubicBezTo>
                <a:lnTo>
                  <a:pt x="22546" y="87508"/>
                </a:lnTo>
                <a:cubicBezTo>
                  <a:pt x="17238" y="87848"/>
                  <a:pt x="12398" y="84366"/>
                  <a:pt x="10997" y="79229"/>
                </a:cubicBezTo>
                <a:lnTo>
                  <a:pt x="8025" y="68104"/>
                </a:lnTo>
                <a:cubicBezTo>
                  <a:pt x="6666" y="62967"/>
                  <a:pt x="9086" y="57532"/>
                  <a:pt x="13884" y="55154"/>
                </a:cubicBezTo>
                <a:lnTo>
                  <a:pt x="29891" y="47257"/>
                </a:lnTo>
                <a:cubicBezTo>
                  <a:pt x="30188" y="45092"/>
                  <a:pt x="30613" y="42969"/>
                  <a:pt x="31165" y="40803"/>
                </a:cubicBezTo>
                <a:cubicBezTo>
                  <a:pt x="31759" y="38638"/>
                  <a:pt x="32439" y="36557"/>
                  <a:pt x="33288" y="34562"/>
                </a:cubicBezTo>
                <a:lnTo>
                  <a:pt x="23395" y="19743"/>
                </a:lnTo>
                <a:cubicBezTo>
                  <a:pt x="20423" y="15285"/>
                  <a:pt x="21017" y="9383"/>
                  <a:pt x="24796" y="5605"/>
                </a:cubicBezTo>
                <a:lnTo>
                  <a:pt x="32948" y="-2548"/>
                </a:lnTo>
                <a:cubicBezTo>
                  <a:pt x="36727" y="-6326"/>
                  <a:pt x="42629" y="-6921"/>
                  <a:pt x="47087" y="-3949"/>
                </a:cubicBezTo>
                <a:lnTo>
                  <a:pt x="61948" y="5944"/>
                </a:lnTo>
                <a:cubicBezTo>
                  <a:pt x="65982" y="4288"/>
                  <a:pt x="70270" y="3100"/>
                  <a:pt x="74643" y="2505"/>
                </a:cubicBezTo>
                <a:lnTo>
                  <a:pt x="82541" y="-13460"/>
                </a:lnTo>
                <a:cubicBezTo>
                  <a:pt x="84918" y="-18257"/>
                  <a:pt x="90311" y="-20678"/>
                  <a:pt x="95491" y="-19319"/>
                </a:cubicBezTo>
                <a:close/>
                <a:moveTo>
                  <a:pt x="81691" y="35666"/>
                </a:moveTo>
                <a:cubicBezTo>
                  <a:pt x="71380" y="35666"/>
                  <a:pt x="63009" y="44037"/>
                  <a:pt x="63009" y="54348"/>
                </a:cubicBezTo>
                <a:cubicBezTo>
                  <a:pt x="63009" y="64659"/>
                  <a:pt x="71380" y="73030"/>
                  <a:pt x="81691" y="73030"/>
                </a:cubicBezTo>
                <a:cubicBezTo>
                  <a:pt x="92002" y="73030"/>
                  <a:pt x="100373" y="64659"/>
                  <a:pt x="100373" y="54348"/>
                </a:cubicBezTo>
                <a:cubicBezTo>
                  <a:pt x="100373" y="44037"/>
                  <a:pt x="92002" y="35666"/>
                  <a:pt x="81691" y="3566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6" name="Text 6"/>
          <p:cNvSpPr/>
          <p:nvPr/>
        </p:nvSpPr>
        <p:spPr>
          <a:xfrm>
            <a:off x="833120" y="1214755"/>
            <a:ext cx="1771015" cy="25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关键技术栈</a:t>
            </a:r>
            <a:endParaRPr lang="en-US" sz="20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7" name="Shape 7"/>
          <p:cNvSpPr/>
          <p:nvPr/>
        </p:nvSpPr>
        <p:spPr>
          <a:xfrm>
            <a:off x="471049" y="1613474"/>
            <a:ext cx="2889486" cy="923911"/>
          </a:xfrm>
          <a:custGeom>
            <a:avLst/>
            <a:gdLst/>
            <a:ahLst/>
            <a:cxnLst/>
            <a:rect l="l" t="t" r="r" b="b"/>
            <a:pathLst>
              <a:path w="2889486" h="923911">
                <a:moveTo>
                  <a:pt x="36232" y="0"/>
                </a:moveTo>
                <a:lnTo>
                  <a:pt x="2817024" y="0"/>
                </a:lnTo>
                <a:cubicBezTo>
                  <a:pt x="2857043" y="0"/>
                  <a:pt x="2889486" y="32442"/>
                  <a:pt x="2889486" y="72462"/>
                </a:cubicBezTo>
                <a:lnTo>
                  <a:pt x="2889486" y="851449"/>
                </a:lnTo>
                <a:cubicBezTo>
                  <a:pt x="2889486" y="891468"/>
                  <a:pt x="2857043" y="923911"/>
                  <a:pt x="2817024" y="923911"/>
                </a:cubicBezTo>
                <a:lnTo>
                  <a:pt x="36232" y="923911"/>
                </a:lnTo>
                <a:cubicBezTo>
                  <a:pt x="16222" y="923911"/>
                  <a:pt x="0" y="907689"/>
                  <a:pt x="0" y="887679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8" name="Shape 8"/>
          <p:cNvSpPr/>
          <p:nvPr/>
        </p:nvSpPr>
        <p:spPr>
          <a:xfrm>
            <a:off x="471049" y="1613474"/>
            <a:ext cx="36232" cy="923911"/>
          </a:xfrm>
          <a:custGeom>
            <a:avLst/>
            <a:gdLst/>
            <a:ahLst/>
            <a:cxnLst/>
            <a:rect l="l" t="t" r="r" b="b"/>
            <a:pathLst>
              <a:path w="36232" h="923911">
                <a:moveTo>
                  <a:pt x="36232" y="0"/>
                </a:moveTo>
                <a:lnTo>
                  <a:pt x="36232" y="0"/>
                </a:lnTo>
                <a:lnTo>
                  <a:pt x="36232" y="923911"/>
                </a:lnTo>
                <a:lnTo>
                  <a:pt x="36232" y="923911"/>
                </a:lnTo>
                <a:cubicBezTo>
                  <a:pt x="16222" y="923911"/>
                  <a:pt x="0" y="907689"/>
                  <a:pt x="0" y="887679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9" name="Text 9"/>
          <p:cNvSpPr/>
          <p:nvPr/>
        </p:nvSpPr>
        <p:spPr>
          <a:xfrm>
            <a:off x="597861" y="1722170"/>
            <a:ext cx="2726443" cy="217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双语对齐预训练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0" name="Text 10"/>
          <p:cNvSpPr/>
          <p:nvPr/>
        </p:nvSpPr>
        <p:spPr>
          <a:xfrm>
            <a:off x="597861" y="2012024"/>
            <a:ext cx="2717385" cy="416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构建大规模平行语料库，深度学习语言间的语义映射关系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1" name="Shape 11"/>
          <p:cNvSpPr/>
          <p:nvPr/>
        </p:nvSpPr>
        <p:spPr>
          <a:xfrm>
            <a:off x="3489951" y="1613474"/>
            <a:ext cx="2889486" cy="923911"/>
          </a:xfrm>
          <a:custGeom>
            <a:avLst/>
            <a:gdLst/>
            <a:ahLst/>
            <a:cxnLst/>
            <a:rect l="l" t="t" r="r" b="b"/>
            <a:pathLst>
              <a:path w="2889486" h="923911">
                <a:moveTo>
                  <a:pt x="36232" y="0"/>
                </a:moveTo>
                <a:lnTo>
                  <a:pt x="2817024" y="0"/>
                </a:lnTo>
                <a:cubicBezTo>
                  <a:pt x="2857043" y="0"/>
                  <a:pt x="2889486" y="32442"/>
                  <a:pt x="2889486" y="72462"/>
                </a:cubicBezTo>
                <a:lnTo>
                  <a:pt x="2889486" y="851449"/>
                </a:lnTo>
                <a:cubicBezTo>
                  <a:pt x="2889486" y="891468"/>
                  <a:pt x="2857043" y="923911"/>
                  <a:pt x="2817024" y="923911"/>
                </a:cubicBezTo>
                <a:lnTo>
                  <a:pt x="36232" y="923911"/>
                </a:lnTo>
                <a:cubicBezTo>
                  <a:pt x="16222" y="923911"/>
                  <a:pt x="0" y="907689"/>
                  <a:pt x="0" y="887679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2" name="Shape 12"/>
          <p:cNvSpPr/>
          <p:nvPr/>
        </p:nvSpPr>
        <p:spPr>
          <a:xfrm>
            <a:off x="3489951" y="1613474"/>
            <a:ext cx="36232" cy="923911"/>
          </a:xfrm>
          <a:custGeom>
            <a:avLst/>
            <a:gdLst/>
            <a:ahLst/>
            <a:cxnLst/>
            <a:rect l="l" t="t" r="r" b="b"/>
            <a:pathLst>
              <a:path w="36232" h="923911">
                <a:moveTo>
                  <a:pt x="36232" y="0"/>
                </a:moveTo>
                <a:lnTo>
                  <a:pt x="36232" y="0"/>
                </a:lnTo>
                <a:lnTo>
                  <a:pt x="36232" y="923911"/>
                </a:lnTo>
                <a:lnTo>
                  <a:pt x="36232" y="923911"/>
                </a:lnTo>
                <a:cubicBezTo>
                  <a:pt x="16222" y="923911"/>
                  <a:pt x="0" y="907689"/>
                  <a:pt x="0" y="887679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3" name="Text 13"/>
          <p:cNvSpPr/>
          <p:nvPr/>
        </p:nvSpPr>
        <p:spPr>
          <a:xfrm>
            <a:off x="3616762" y="1710740"/>
            <a:ext cx="2726443" cy="217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束搜索解码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4" name="Text 14"/>
          <p:cNvSpPr/>
          <p:nvPr/>
        </p:nvSpPr>
        <p:spPr>
          <a:xfrm>
            <a:off x="3616762" y="2012024"/>
            <a:ext cx="2717385" cy="416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在生成过程中保留最优候选路径，确保译文的流畅性与准确性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Shape 15"/>
          <p:cNvSpPr/>
          <p:nvPr/>
        </p:nvSpPr>
        <p:spPr>
          <a:xfrm>
            <a:off x="471049" y="2641554"/>
            <a:ext cx="2889486" cy="923911"/>
          </a:xfrm>
          <a:custGeom>
            <a:avLst/>
            <a:gdLst/>
            <a:ahLst/>
            <a:cxnLst/>
            <a:rect l="l" t="t" r="r" b="b"/>
            <a:pathLst>
              <a:path w="2889486" h="923911">
                <a:moveTo>
                  <a:pt x="36232" y="0"/>
                </a:moveTo>
                <a:lnTo>
                  <a:pt x="2817024" y="0"/>
                </a:lnTo>
                <a:cubicBezTo>
                  <a:pt x="2857043" y="0"/>
                  <a:pt x="2889486" y="32442"/>
                  <a:pt x="2889486" y="72462"/>
                </a:cubicBezTo>
                <a:lnTo>
                  <a:pt x="2889486" y="851449"/>
                </a:lnTo>
                <a:cubicBezTo>
                  <a:pt x="2889486" y="891468"/>
                  <a:pt x="2857043" y="923911"/>
                  <a:pt x="2817024" y="923911"/>
                </a:cubicBezTo>
                <a:lnTo>
                  <a:pt x="36232" y="923911"/>
                </a:lnTo>
                <a:cubicBezTo>
                  <a:pt x="16222" y="923911"/>
                  <a:pt x="0" y="907689"/>
                  <a:pt x="0" y="887679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6" name="Shape 16"/>
          <p:cNvSpPr/>
          <p:nvPr/>
        </p:nvSpPr>
        <p:spPr>
          <a:xfrm>
            <a:off x="471049" y="2641554"/>
            <a:ext cx="36232" cy="923911"/>
          </a:xfrm>
          <a:custGeom>
            <a:avLst/>
            <a:gdLst/>
            <a:ahLst/>
            <a:cxnLst/>
            <a:rect l="l" t="t" r="r" b="b"/>
            <a:pathLst>
              <a:path w="36232" h="923911">
                <a:moveTo>
                  <a:pt x="36232" y="0"/>
                </a:moveTo>
                <a:lnTo>
                  <a:pt x="36232" y="0"/>
                </a:lnTo>
                <a:lnTo>
                  <a:pt x="36232" y="923911"/>
                </a:lnTo>
                <a:lnTo>
                  <a:pt x="36232" y="923911"/>
                </a:lnTo>
                <a:cubicBezTo>
                  <a:pt x="16222" y="923911"/>
                  <a:pt x="0" y="907689"/>
                  <a:pt x="0" y="887679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7" name="Text 17"/>
          <p:cNvSpPr/>
          <p:nvPr/>
        </p:nvSpPr>
        <p:spPr>
          <a:xfrm>
            <a:off x="597861" y="2750249"/>
            <a:ext cx="2726443" cy="217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回译数据增强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8" name="Text 18"/>
          <p:cNvSpPr/>
          <p:nvPr/>
        </p:nvSpPr>
        <p:spPr>
          <a:xfrm>
            <a:off x="597861" y="3040103"/>
            <a:ext cx="2717385" cy="41666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利用模型自身生成能力扩充训练数据，显著提升模型的鲁棒性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0" name="Shape 19"/>
          <p:cNvSpPr/>
          <p:nvPr/>
        </p:nvSpPr>
        <p:spPr>
          <a:xfrm>
            <a:off x="3489951" y="2641554"/>
            <a:ext cx="2889486" cy="923911"/>
          </a:xfrm>
          <a:custGeom>
            <a:avLst/>
            <a:gdLst/>
            <a:ahLst/>
            <a:cxnLst/>
            <a:rect l="l" t="t" r="r" b="b"/>
            <a:pathLst>
              <a:path w="2889486" h="923911">
                <a:moveTo>
                  <a:pt x="36232" y="0"/>
                </a:moveTo>
                <a:lnTo>
                  <a:pt x="2817024" y="0"/>
                </a:lnTo>
                <a:cubicBezTo>
                  <a:pt x="2857043" y="0"/>
                  <a:pt x="2889486" y="32442"/>
                  <a:pt x="2889486" y="72462"/>
                </a:cubicBezTo>
                <a:lnTo>
                  <a:pt x="2889486" y="851449"/>
                </a:lnTo>
                <a:cubicBezTo>
                  <a:pt x="2889486" y="891468"/>
                  <a:pt x="2857043" y="923911"/>
                  <a:pt x="2817024" y="923911"/>
                </a:cubicBezTo>
                <a:lnTo>
                  <a:pt x="36232" y="923911"/>
                </a:lnTo>
                <a:cubicBezTo>
                  <a:pt x="16222" y="923911"/>
                  <a:pt x="0" y="907689"/>
                  <a:pt x="0" y="887679"/>
                </a:cubicBezTo>
                <a:lnTo>
                  <a:pt x="0" y="36232"/>
                </a:lnTo>
                <a:cubicBezTo>
                  <a:pt x="0" y="16235"/>
                  <a:pt x="16235" y="0"/>
                  <a:pt x="3623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1" name="Shape 20"/>
          <p:cNvSpPr/>
          <p:nvPr/>
        </p:nvSpPr>
        <p:spPr>
          <a:xfrm>
            <a:off x="3489951" y="2641554"/>
            <a:ext cx="36232" cy="923911"/>
          </a:xfrm>
          <a:custGeom>
            <a:avLst/>
            <a:gdLst/>
            <a:ahLst/>
            <a:cxnLst/>
            <a:rect l="l" t="t" r="r" b="b"/>
            <a:pathLst>
              <a:path w="36232" h="923911">
                <a:moveTo>
                  <a:pt x="36232" y="0"/>
                </a:moveTo>
                <a:lnTo>
                  <a:pt x="36232" y="0"/>
                </a:lnTo>
                <a:lnTo>
                  <a:pt x="36232" y="923911"/>
                </a:lnTo>
                <a:lnTo>
                  <a:pt x="36232" y="923911"/>
                </a:lnTo>
                <a:cubicBezTo>
                  <a:pt x="16222" y="923911"/>
                  <a:pt x="0" y="907689"/>
                  <a:pt x="0" y="887679"/>
                </a:cubicBezTo>
                <a:lnTo>
                  <a:pt x="0" y="36232"/>
                </a:lnTo>
                <a:cubicBezTo>
                  <a:pt x="0" y="16222"/>
                  <a:pt x="16222" y="0"/>
                  <a:pt x="3623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2" name="Text 21"/>
          <p:cNvSpPr/>
          <p:nvPr/>
        </p:nvSpPr>
        <p:spPr>
          <a:xfrm>
            <a:off x="3616762" y="2750249"/>
            <a:ext cx="2726443" cy="21739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长句拆分策略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3" name="Text 22"/>
          <p:cNvSpPr/>
          <p:nvPr/>
        </p:nvSpPr>
        <p:spPr>
          <a:xfrm>
            <a:off x="3538220" y="3006090"/>
            <a:ext cx="2880000" cy="5245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针对超长文本进行智能分句处理，解决长距离依赖导致的翻译质量下降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4" name="Shape 23"/>
          <p:cNvSpPr/>
          <p:nvPr/>
        </p:nvSpPr>
        <p:spPr>
          <a:xfrm>
            <a:off x="267970" y="3897630"/>
            <a:ext cx="6302375" cy="2916000"/>
          </a:xfrm>
          <a:custGeom>
            <a:avLst/>
            <a:gdLst/>
            <a:ahLst/>
            <a:cxnLst/>
            <a:rect l="l" t="t" r="r" b="b"/>
            <a:pathLst>
              <a:path w="6302521" h="3005428">
                <a:moveTo>
                  <a:pt x="108706" y="0"/>
                </a:moveTo>
                <a:lnTo>
                  <a:pt x="6193815" y="0"/>
                </a:lnTo>
                <a:cubicBezTo>
                  <a:pt x="6253852" y="0"/>
                  <a:pt x="6302521" y="48669"/>
                  <a:pt x="6302521" y="108706"/>
                </a:cubicBezTo>
                <a:lnTo>
                  <a:pt x="6302521" y="2896721"/>
                </a:lnTo>
                <a:cubicBezTo>
                  <a:pt x="6302521" y="2956758"/>
                  <a:pt x="6253852" y="3005428"/>
                  <a:pt x="6193815" y="3005428"/>
                </a:cubicBezTo>
                <a:lnTo>
                  <a:pt x="108706" y="3005428"/>
                </a:lnTo>
                <a:cubicBezTo>
                  <a:pt x="48669" y="3005428"/>
                  <a:pt x="0" y="2956758"/>
                  <a:pt x="0" y="2896721"/>
                </a:cubicBezTo>
                <a:lnTo>
                  <a:pt x="0" y="108706"/>
                </a:lnTo>
                <a:cubicBezTo>
                  <a:pt x="0" y="48669"/>
                  <a:pt x="48669" y="0"/>
                  <a:pt x="108706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5" name="Shape 24"/>
          <p:cNvSpPr/>
          <p:nvPr/>
        </p:nvSpPr>
        <p:spPr>
          <a:xfrm>
            <a:off x="475578" y="4118902"/>
            <a:ext cx="181159" cy="181159"/>
          </a:xfrm>
          <a:custGeom>
            <a:avLst/>
            <a:gdLst/>
            <a:ahLst/>
            <a:cxnLst/>
            <a:rect l="l" t="t" r="r" b="b"/>
            <a:pathLst>
              <a:path w="181159" h="181159">
                <a:moveTo>
                  <a:pt x="51057" y="0"/>
                </a:moveTo>
                <a:lnTo>
                  <a:pt x="130314" y="0"/>
                </a:lnTo>
                <a:cubicBezTo>
                  <a:pt x="139691" y="0"/>
                  <a:pt x="147333" y="7713"/>
                  <a:pt x="146979" y="17054"/>
                </a:cubicBezTo>
                <a:cubicBezTo>
                  <a:pt x="146909" y="18930"/>
                  <a:pt x="146838" y="20805"/>
                  <a:pt x="146732" y="22645"/>
                </a:cubicBezTo>
                <a:lnTo>
                  <a:pt x="164281" y="22645"/>
                </a:lnTo>
                <a:cubicBezTo>
                  <a:pt x="173516" y="22645"/>
                  <a:pt x="181654" y="30288"/>
                  <a:pt x="180947" y="40265"/>
                </a:cubicBezTo>
                <a:cubicBezTo>
                  <a:pt x="178293" y="76957"/>
                  <a:pt x="159540" y="97125"/>
                  <a:pt x="139195" y="107669"/>
                </a:cubicBezTo>
                <a:cubicBezTo>
                  <a:pt x="133605" y="110571"/>
                  <a:pt x="127908" y="112729"/>
                  <a:pt x="122495" y="114321"/>
                </a:cubicBezTo>
                <a:cubicBezTo>
                  <a:pt x="115347" y="124441"/>
                  <a:pt x="107917" y="129783"/>
                  <a:pt x="102008" y="132649"/>
                </a:cubicBezTo>
                <a:lnTo>
                  <a:pt x="102008" y="158514"/>
                </a:lnTo>
                <a:lnTo>
                  <a:pt x="124653" y="158514"/>
                </a:lnTo>
                <a:cubicBezTo>
                  <a:pt x="130916" y="158514"/>
                  <a:pt x="135975" y="163574"/>
                  <a:pt x="135975" y="169837"/>
                </a:cubicBezTo>
                <a:cubicBezTo>
                  <a:pt x="135975" y="176099"/>
                  <a:pt x="130916" y="181159"/>
                  <a:pt x="124653" y="181159"/>
                </a:cubicBezTo>
                <a:lnTo>
                  <a:pt x="56718" y="181159"/>
                </a:lnTo>
                <a:cubicBezTo>
                  <a:pt x="50456" y="181159"/>
                  <a:pt x="45396" y="176099"/>
                  <a:pt x="45396" y="169837"/>
                </a:cubicBezTo>
                <a:cubicBezTo>
                  <a:pt x="45396" y="163574"/>
                  <a:pt x="50456" y="158514"/>
                  <a:pt x="56718" y="158514"/>
                </a:cubicBezTo>
                <a:lnTo>
                  <a:pt x="79363" y="158514"/>
                </a:lnTo>
                <a:lnTo>
                  <a:pt x="79363" y="132649"/>
                </a:lnTo>
                <a:cubicBezTo>
                  <a:pt x="73702" y="129925"/>
                  <a:pt x="66661" y="124865"/>
                  <a:pt x="59797" y="115560"/>
                </a:cubicBezTo>
                <a:cubicBezTo>
                  <a:pt x="53286" y="113861"/>
                  <a:pt x="46210" y="111278"/>
                  <a:pt x="39310" y="107386"/>
                </a:cubicBezTo>
                <a:cubicBezTo>
                  <a:pt x="20168" y="96665"/>
                  <a:pt x="2901" y="76462"/>
                  <a:pt x="425" y="40195"/>
                </a:cubicBezTo>
                <a:cubicBezTo>
                  <a:pt x="-248" y="30252"/>
                  <a:pt x="7855" y="22609"/>
                  <a:pt x="17090" y="22609"/>
                </a:cubicBezTo>
                <a:lnTo>
                  <a:pt x="34640" y="22609"/>
                </a:lnTo>
                <a:cubicBezTo>
                  <a:pt x="34533" y="20770"/>
                  <a:pt x="34463" y="18930"/>
                  <a:pt x="34392" y="17019"/>
                </a:cubicBezTo>
                <a:cubicBezTo>
                  <a:pt x="34038" y="7643"/>
                  <a:pt x="41681" y="-35"/>
                  <a:pt x="51057" y="-35"/>
                </a:cubicBezTo>
                <a:close/>
                <a:moveTo>
                  <a:pt x="35913" y="39629"/>
                </a:moveTo>
                <a:lnTo>
                  <a:pt x="17373" y="39629"/>
                </a:lnTo>
                <a:cubicBezTo>
                  <a:pt x="19567" y="69598"/>
                  <a:pt x="33330" y="84600"/>
                  <a:pt x="47519" y="92561"/>
                </a:cubicBezTo>
                <a:cubicBezTo>
                  <a:pt x="42424" y="79363"/>
                  <a:pt x="38213" y="62132"/>
                  <a:pt x="35913" y="39629"/>
                </a:cubicBezTo>
                <a:close/>
                <a:moveTo>
                  <a:pt x="134454" y="90863"/>
                </a:moveTo>
                <a:cubicBezTo>
                  <a:pt x="148784" y="82441"/>
                  <a:pt x="161734" y="67475"/>
                  <a:pt x="163928" y="39629"/>
                </a:cubicBezTo>
                <a:lnTo>
                  <a:pt x="145423" y="39629"/>
                </a:lnTo>
                <a:cubicBezTo>
                  <a:pt x="143229" y="61177"/>
                  <a:pt x="139266" y="77913"/>
                  <a:pt x="134454" y="90863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6" name="Text 25"/>
          <p:cNvSpPr/>
          <p:nvPr/>
        </p:nvSpPr>
        <p:spPr>
          <a:xfrm>
            <a:off x="679382" y="4082670"/>
            <a:ext cx="5797088" cy="253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GPT-4翻译性能表现</a:t>
            </a:r>
            <a:endParaRPr lang="en-US" sz="20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Shape 26"/>
          <p:cNvSpPr/>
          <p:nvPr/>
        </p:nvSpPr>
        <p:spPr>
          <a:xfrm>
            <a:off x="452933" y="4481220"/>
            <a:ext cx="5932957" cy="471013"/>
          </a:xfrm>
          <a:custGeom>
            <a:avLst/>
            <a:gdLst/>
            <a:ahLst/>
            <a:cxnLst/>
            <a:rect l="l" t="t" r="r" b="b"/>
            <a:pathLst>
              <a:path w="5932957" h="471013">
                <a:moveTo>
                  <a:pt x="72465" y="0"/>
                </a:moveTo>
                <a:lnTo>
                  <a:pt x="5860492" y="0"/>
                </a:lnTo>
                <a:cubicBezTo>
                  <a:pt x="5900513" y="0"/>
                  <a:pt x="5932957" y="32444"/>
                  <a:pt x="5932957" y="72465"/>
                </a:cubicBezTo>
                <a:lnTo>
                  <a:pt x="5932957" y="398548"/>
                </a:lnTo>
                <a:cubicBezTo>
                  <a:pt x="5932957" y="438570"/>
                  <a:pt x="5900513" y="471013"/>
                  <a:pt x="5860492" y="471013"/>
                </a:cubicBezTo>
                <a:lnTo>
                  <a:pt x="72465" y="471013"/>
                </a:lnTo>
                <a:cubicBezTo>
                  <a:pt x="32471" y="471013"/>
                  <a:pt x="0" y="438543"/>
                  <a:pt x="0" y="398548"/>
                </a:cubicBezTo>
                <a:lnTo>
                  <a:pt x="0" y="72465"/>
                </a:lnTo>
                <a:cubicBezTo>
                  <a:pt x="0" y="32444"/>
                  <a:pt x="32444" y="0"/>
                  <a:pt x="72465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48" name="Shape 27"/>
          <p:cNvSpPr/>
          <p:nvPr/>
        </p:nvSpPr>
        <p:spPr>
          <a:xfrm>
            <a:off x="584274" y="4635205"/>
            <a:ext cx="163043" cy="163043"/>
          </a:xfrm>
          <a:custGeom>
            <a:avLst/>
            <a:gdLst/>
            <a:ahLst/>
            <a:cxnLst/>
            <a:rect l="l" t="t" r="r" b="b"/>
            <a:pathLst>
              <a:path w="163043" h="163043">
                <a:moveTo>
                  <a:pt x="81522" y="163043"/>
                </a:moveTo>
                <a:cubicBezTo>
                  <a:pt x="126515" y="163043"/>
                  <a:pt x="163043" y="126515"/>
                  <a:pt x="163043" y="81522"/>
                </a:cubicBezTo>
                <a:cubicBezTo>
                  <a:pt x="163043" y="36529"/>
                  <a:pt x="126515" y="0"/>
                  <a:pt x="81522" y="0"/>
                </a:cubicBezTo>
                <a:cubicBezTo>
                  <a:pt x="36529" y="0"/>
                  <a:pt x="0" y="36529"/>
                  <a:pt x="0" y="81522"/>
                </a:cubicBezTo>
                <a:cubicBezTo>
                  <a:pt x="0" y="126515"/>
                  <a:pt x="36529" y="163043"/>
                  <a:pt x="81522" y="163043"/>
                </a:cubicBezTo>
                <a:close/>
                <a:moveTo>
                  <a:pt x="108398" y="67733"/>
                </a:moveTo>
                <a:lnTo>
                  <a:pt x="82923" y="108494"/>
                </a:lnTo>
                <a:cubicBezTo>
                  <a:pt x="81585" y="110627"/>
                  <a:pt x="79292" y="111965"/>
                  <a:pt x="76777" y="112092"/>
                </a:cubicBezTo>
                <a:cubicBezTo>
                  <a:pt x="74261" y="112220"/>
                  <a:pt x="71841" y="111073"/>
                  <a:pt x="70344" y="109035"/>
                </a:cubicBezTo>
                <a:lnTo>
                  <a:pt x="55059" y="88655"/>
                </a:lnTo>
                <a:cubicBezTo>
                  <a:pt x="52511" y="85279"/>
                  <a:pt x="53212" y="80503"/>
                  <a:pt x="56587" y="77955"/>
                </a:cubicBezTo>
                <a:cubicBezTo>
                  <a:pt x="59963" y="75407"/>
                  <a:pt x="64740" y="76108"/>
                  <a:pt x="67287" y="79484"/>
                </a:cubicBezTo>
                <a:lnTo>
                  <a:pt x="75885" y="90947"/>
                </a:lnTo>
                <a:lnTo>
                  <a:pt x="95438" y="59644"/>
                </a:lnTo>
                <a:cubicBezTo>
                  <a:pt x="97667" y="56078"/>
                  <a:pt x="102380" y="54963"/>
                  <a:pt x="105978" y="57224"/>
                </a:cubicBezTo>
                <a:cubicBezTo>
                  <a:pt x="109576" y="59485"/>
                  <a:pt x="110659" y="64166"/>
                  <a:pt x="108398" y="6776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9" name="Text 28"/>
          <p:cNvSpPr/>
          <p:nvPr/>
        </p:nvSpPr>
        <p:spPr>
          <a:xfrm>
            <a:off x="874395" y="4608195"/>
            <a:ext cx="1777365" cy="217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WMT24基准测试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 29"/>
          <p:cNvSpPr/>
          <p:nvPr/>
        </p:nvSpPr>
        <p:spPr>
          <a:xfrm>
            <a:off x="5228590" y="4589780"/>
            <a:ext cx="1130300" cy="25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Top-tier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51" name="Shape 30"/>
          <p:cNvSpPr/>
          <p:nvPr/>
        </p:nvSpPr>
        <p:spPr>
          <a:xfrm>
            <a:off x="452933" y="5060928"/>
            <a:ext cx="5932957" cy="471013"/>
          </a:xfrm>
          <a:custGeom>
            <a:avLst/>
            <a:gdLst/>
            <a:ahLst/>
            <a:cxnLst/>
            <a:rect l="l" t="t" r="r" b="b"/>
            <a:pathLst>
              <a:path w="5932957" h="471013">
                <a:moveTo>
                  <a:pt x="72465" y="0"/>
                </a:moveTo>
                <a:lnTo>
                  <a:pt x="5860492" y="0"/>
                </a:lnTo>
                <a:cubicBezTo>
                  <a:pt x="5900513" y="0"/>
                  <a:pt x="5932957" y="32444"/>
                  <a:pt x="5932957" y="72465"/>
                </a:cubicBezTo>
                <a:lnTo>
                  <a:pt x="5932957" y="398548"/>
                </a:lnTo>
                <a:cubicBezTo>
                  <a:pt x="5932957" y="438570"/>
                  <a:pt x="5900513" y="471013"/>
                  <a:pt x="5860492" y="471013"/>
                </a:cubicBezTo>
                <a:lnTo>
                  <a:pt x="72465" y="471013"/>
                </a:lnTo>
                <a:cubicBezTo>
                  <a:pt x="32471" y="471013"/>
                  <a:pt x="0" y="438543"/>
                  <a:pt x="0" y="398548"/>
                </a:cubicBezTo>
                <a:lnTo>
                  <a:pt x="0" y="72465"/>
                </a:lnTo>
                <a:cubicBezTo>
                  <a:pt x="0" y="32444"/>
                  <a:pt x="32444" y="0"/>
                  <a:pt x="72465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52" name="Shape 31"/>
          <p:cNvSpPr/>
          <p:nvPr/>
        </p:nvSpPr>
        <p:spPr>
          <a:xfrm>
            <a:off x="584274" y="5214913"/>
            <a:ext cx="163043" cy="163043"/>
          </a:xfrm>
          <a:custGeom>
            <a:avLst/>
            <a:gdLst/>
            <a:ahLst/>
            <a:cxnLst/>
            <a:rect l="l" t="t" r="r" b="b"/>
            <a:pathLst>
              <a:path w="163043" h="163043">
                <a:moveTo>
                  <a:pt x="81522" y="163043"/>
                </a:moveTo>
                <a:cubicBezTo>
                  <a:pt x="126515" y="163043"/>
                  <a:pt x="163043" y="126515"/>
                  <a:pt x="163043" y="81522"/>
                </a:cubicBezTo>
                <a:cubicBezTo>
                  <a:pt x="163043" y="36529"/>
                  <a:pt x="126515" y="0"/>
                  <a:pt x="81522" y="0"/>
                </a:cubicBezTo>
                <a:cubicBezTo>
                  <a:pt x="36529" y="0"/>
                  <a:pt x="0" y="36529"/>
                  <a:pt x="0" y="81522"/>
                </a:cubicBezTo>
                <a:cubicBezTo>
                  <a:pt x="0" y="126515"/>
                  <a:pt x="36529" y="163043"/>
                  <a:pt x="81522" y="163043"/>
                </a:cubicBezTo>
                <a:close/>
                <a:moveTo>
                  <a:pt x="108398" y="67733"/>
                </a:moveTo>
                <a:lnTo>
                  <a:pt x="82923" y="108494"/>
                </a:lnTo>
                <a:cubicBezTo>
                  <a:pt x="81585" y="110627"/>
                  <a:pt x="79292" y="111965"/>
                  <a:pt x="76777" y="112092"/>
                </a:cubicBezTo>
                <a:cubicBezTo>
                  <a:pt x="74261" y="112220"/>
                  <a:pt x="71841" y="111073"/>
                  <a:pt x="70344" y="109035"/>
                </a:cubicBezTo>
                <a:lnTo>
                  <a:pt x="55059" y="88655"/>
                </a:lnTo>
                <a:cubicBezTo>
                  <a:pt x="52511" y="85279"/>
                  <a:pt x="53212" y="80503"/>
                  <a:pt x="56587" y="77955"/>
                </a:cubicBezTo>
                <a:cubicBezTo>
                  <a:pt x="59963" y="75407"/>
                  <a:pt x="64740" y="76108"/>
                  <a:pt x="67287" y="79484"/>
                </a:cubicBezTo>
                <a:lnTo>
                  <a:pt x="75885" y="90947"/>
                </a:lnTo>
                <a:lnTo>
                  <a:pt x="95438" y="59644"/>
                </a:lnTo>
                <a:cubicBezTo>
                  <a:pt x="97667" y="56078"/>
                  <a:pt x="102380" y="54963"/>
                  <a:pt x="105978" y="57224"/>
                </a:cubicBezTo>
                <a:cubicBezTo>
                  <a:pt x="109576" y="59485"/>
                  <a:pt x="110659" y="64166"/>
                  <a:pt x="108398" y="6776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3" name="Text 32"/>
          <p:cNvSpPr/>
          <p:nvPr/>
        </p:nvSpPr>
        <p:spPr>
          <a:xfrm>
            <a:off x="874395" y="5187950"/>
            <a:ext cx="1424940" cy="217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ChatGPT成功率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 33"/>
          <p:cNvSpPr/>
          <p:nvPr/>
        </p:nvSpPr>
        <p:spPr>
          <a:xfrm>
            <a:off x="5228590" y="5169535"/>
            <a:ext cx="1126490" cy="25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70%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55" name="Shape 34"/>
          <p:cNvSpPr/>
          <p:nvPr/>
        </p:nvSpPr>
        <p:spPr>
          <a:xfrm>
            <a:off x="452933" y="5640637"/>
            <a:ext cx="5932957" cy="471013"/>
          </a:xfrm>
          <a:custGeom>
            <a:avLst/>
            <a:gdLst/>
            <a:ahLst/>
            <a:cxnLst/>
            <a:rect l="l" t="t" r="r" b="b"/>
            <a:pathLst>
              <a:path w="5932957" h="471013">
                <a:moveTo>
                  <a:pt x="72465" y="0"/>
                </a:moveTo>
                <a:lnTo>
                  <a:pt x="5860492" y="0"/>
                </a:lnTo>
                <a:cubicBezTo>
                  <a:pt x="5900513" y="0"/>
                  <a:pt x="5932957" y="32444"/>
                  <a:pt x="5932957" y="72465"/>
                </a:cubicBezTo>
                <a:lnTo>
                  <a:pt x="5932957" y="398548"/>
                </a:lnTo>
                <a:cubicBezTo>
                  <a:pt x="5932957" y="438570"/>
                  <a:pt x="5900513" y="471013"/>
                  <a:pt x="5860492" y="471013"/>
                </a:cubicBezTo>
                <a:lnTo>
                  <a:pt x="72465" y="471013"/>
                </a:lnTo>
                <a:cubicBezTo>
                  <a:pt x="32471" y="471013"/>
                  <a:pt x="0" y="438543"/>
                  <a:pt x="0" y="398548"/>
                </a:cubicBezTo>
                <a:lnTo>
                  <a:pt x="0" y="72465"/>
                </a:lnTo>
                <a:cubicBezTo>
                  <a:pt x="0" y="32444"/>
                  <a:pt x="32444" y="0"/>
                  <a:pt x="72465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56" name="Shape 35"/>
          <p:cNvSpPr/>
          <p:nvPr/>
        </p:nvSpPr>
        <p:spPr>
          <a:xfrm>
            <a:off x="584274" y="5794622"/>
            <a:ext cx="163043" cy="163043"/>
          </a:xfrm>
          <a:custGeom>
            <a:avLst/>
            <a:gdLst/>
            <a:ahLst/>
            <a:cxnLst/>
            <a:rect l="l" t="t" r="r" b="b"/>
            <a:pathLst>
              <a:path w="163043" h="163043">
                <a:moveTo>
                  <a:pt x="81522" y="163043"/>
                </a:moveTo>
                <a:cubicBezTo>
                  <a:pt x="126515" y="163043"/>
                  <a:pt x="163043" y="126515"/>
                  <a:pt x="163043" y="81522"/>
                </a:cubicBezTo>
                <a:cubicBezTo>
                  <a:pt x="163043" y="36529"/>
                  <a:pt x="126515" y="0"/>
                  <a:pt x="81522" y="0"/>
                </a:cubicBezTo>
                <a:cubicBezTo>
                  <a:pt x="36529" y="0"/>
                  <a:pt x="0" y="36529"/>
                  <a:pt x="0" y="81522"/>
                </a:cubicBezTo>
                <a:cubicBezTo>
                  <a:pt x="0" y="126515"/>
                  <a:pt x="36529" y="163043"/>
                  <a:pt x="81522" y="163043"/>
                </a:cubicBezTo>
                <a:close/>
                <a:moveTo>
                  <a:pt x="108398" y="67733"/>
                </a:moveTo>
                <a:lnTo>
                  <a:pt x="82923" y="108494"/>
                </a:lnTo>
                <a:cubicBezTo>
                  <a:pt x="81585" y="110627"/>
                  <a:pt x="79292" y="111965"/>
                  <a:pt x="76777" y="112092"/>
                </a:cubicBezTo>
                <a:cubicBezTo>
                  <a:pt x="74261" y="112220"/>
                  <a:pt x="71841" y="111073"/>
                  <a:pt x="70344" y="109035"/>
                </a:cubicBezTo>
                <a:lnTo>
                  <a:pt x="55059" y="88655"/>
                </a:lnTo>
                <a:cubicBezTo>
                  <a:pt x="52511" y="85279"/>
                  <a:pt x="53212" y="80503"/>
                  <a:pt x="56587" y="77955"/>
                </a:cubicBezTo>
                <a:cubicBezTo>
                  <a:pt x="59963" y="75407"/>
                  <a:pt x="64740" y="76108"/>
                  <a:pt x="67287" y="79484"/>
                </a:cubicBezTo>
                <a:lnTo>
                  <a:pt x="75885" y="90947"/>
                </a:lnTo>
                <a:lnTo>
                  <a:pt x="95438" y="59644"/>
                </a:lnTo>
                <a:cubicBezTo>
                  <a:pt x="97667" y="56078"/>
                  <a:pt x="102380" y="54963"/>
                  <a:pt x="105978" y="57224"/>
                </a:cubicBezTo>
                <a:cubicBezTo>
                  <a:pt x="109576" y="59485"/>
                  <a:pt x="110659" y="64166"/>
                  <a:pt x="108398" y="6776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7" name="Text 36"/>
          <p:cNvSpPr/>
          <p:nvPr/>
        </p:nvSpPr>
        <p:spPr>
          <a:xfrm>
            <a:off x="874395" y="5767705"/>
            <a:ext cx="1896110" cy="217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vs Google Translate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Text 37"/>
          <p:cNvSpPr/>
          <p:nvPr/>
        </p:nvSpPr>
        <p:spPr>
          <a:xfrm>
            <a:off x="5227955" y="5749290"/>
            <a:ext cx="1126490" cy="25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显著优势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9" name="Shape 38"/>
          <p:cNvSpPr/>
          <p:nvPr/>
        </p:nvSpPr>
        <p:spPr>
          <a:xfrm>
            <a:off x="460180" y="6227592"/>
            <a:ext cx="5911218" cy="485506"/>
          </a:xfrm>
          <a:custGeom>
            <a:avLst/>
            <a:gdLst/>
            <a:ahLst/>
            <a:cxnLst/>
            <a:rect l="l" t="t" r="r" b="b"/>
            <a:pathLst>
              <a:path w="5911218" h="485506">
                <a:moveTo>
                  <a:pt x="72462" y="0"/>
                </a:moveTo>
                <a:lnTo>
                  <a:pt x="5838756" y="0"/>
                </a:lnTo>
                <a:cubicBezTo>
                  <a:pt x="5878776" y="0"/>
                  <a:pt x="5911218" y="32442"/>
                  <a:pt x="5911218" y="72462"/>
                </a:cubicBezTo>
                <a:lnTo>
                  <a:pt x="5911218" y="413044"/>
                </a:lnTo>
                <a:cubicBezTo>
                  <a:pt x="5911218" y="453064"/>
                  <a:pt x="5878776" y="485506"/>
                  <a:pt x="5838756" y="485506"/>
                </a:cubicBezTo>
                <a:lnTo>
                  <a:pt x="72462" y="485506"/>
                </a:lnTo>
                <a:cubicBezTo>
                  <a:pt x="32469" y="485506"/>
                  <a:pt x="0" y="453037"/>
                  <a:pt x="0" y="413044"/>
                </a:cubicBezTo>
                <a:lnTo>
                  <a:pt x="0" y="72462"/>
                </a:lnTo>
                <a:cubicBezTo>
                  <a:pt x="0" y="32442"/>
                  <a:pt x="32442" y="0"/>
                  <a:pt x="72462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  <a:ln w="20320">
            <a:solidFill>
              <a:srgbClr val="B10015">
                <a:alpha val="15000"/>
              </a:srgbClr>
            </a:solidFill>
            <a:prstDash val="solid"/>
          </a:ln>
        </p:spPr>
      </p:sp>
      <p:sp>
        <p:nvSpPr>
          <p:cNvPr id="60" name="Shape 39"/>
          <p:cNvSpPr/>
          <p:nvPr/>
        </p:nvSpPr>
        <p:spPr>
          <a:xfrm>
            <a:off x="588576" y="6388825"/>
            <a:ext cx="183423" cy="163043"/>
          </a:xfrm>
          <a:custGeom>
            <a:avLst/>
            <a:gdLst/>
            <a:ahLst/>
            <a:cxnLst/>
            <a:rect l="l" t="t" r="r" b="b"/>
            <a:pathLst>
              <a:path w="183423" h="163043">
                <a:moveTo>
                  <a:pt x="98558" y="-6019"/>
                </a:moveTo>
                <a:cubicBezTo>
                  <a:pt x="97253" y="-8566"/>
                  <a:pt x="94610" y="-10190"/>
                  <a:pt x="91744" y="-10190"/>
                </a:cubicBezTo>
                <a:cubicBezTo>
                  <a:pt x="88878" y="-10190"/>
                  <a:pt x="86235" y="-8566"/>
                  <a:pt x="84929" y="-6019"/>
                </a:cubicBezTo>
                <a:lnTo>
                  <a:pt x="61491" y="39901"/>
                </a:lnTo>
                <a:lnTo>
                  <a:pt x="10572" y="47989"/>
                </a:lnTo>
                <a:cubicBezTo>
                  <a:pt x="7738" y="48435"/>
                  <a:pt x="5382" y="50441"/>
                  <a:pt x="4490" y="53180"/>
                </a:cubicBezTo>
                <a:cubicBezTo>
                  <a:pt x="3598" y="55919"/>
                  <a:pt x="4331" y="58912"/>
                  <a:pt x="6337" y="60950"/>
                </a:cubicBezTo>
                <a:lnTo>
                  <a:pt x="42767" y="97412"/>
                </a:lnTo>
                <a:lnTo>
                  <a:pt x="34742" y="148331"/>
                </a:lnTo>
                <a:cubicBezTo>
                  <a:pt x="34296" y="151165"/>
                  <a:pt x="35475" y="154031"/>
                  <a:pt x="37799" y="155719"/>
                </a:cubicBezTo>
                <a:cubicBezTo>
                  <a:pt x="40124" y="157407"/>
                  <a:pt x="43181" y="157661"/>
                  <a:pt x="45760" y="156356"/>
                </a:cubicBezTo>
                <a:lnTo>
                  <a:pt x="91744" y="132982"/>
                </a:lnTo>
                <a:lnTo>
                  <a:pt x="137695" y="156356"/>
                </a:lnTo>
                <a:cubicBezTo>
                  <a:pt x="140243" y="157661"/>
                  <a:pt x="143331" y="157407"/>
                  <a:pt x="145656" y="155719"/>
                </a:cubicBezTo>
                <a:cubicBezTo>
                  <a:pt x="147981" y="154031"/>
                  <a:pt x="149159" y="151197"/>
                  <a:pt x="148713" y="148331"/>
                </a:cubicBezTo>
                <a:lnTo>
                  <a:pt x="140657" y="97412"/>
                </a:lnTo>
                <a:lnTo>
                  <a:pt x="177086" y="60950"/>
                </a:lnTo>
                <a:cubicBezTo>
                  <a:pt x="179124" y="58912"/>
                  <a:pt x="179825" y="55919"/>
                  <a:pt x="178933" y="53180"/>
                </a:cubicBezTo>
                <a:cubicBezTo>
                  <a:pt x="178042" y="50441"/>
                  <a:pt x="175717" y="48435"/>
                  <a:pt x="172851" y="47989"/>
                </a:cubicBezTo>
                <a:lnTo>
                  <a:pt x="121964" y="39901"/>
                </a:lnTo>
                <a:lnTo>
                  <a:pt x="98558" y="-6019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1" name="Text 40"/>
          <p:cNvSpPr/>
          <p:nvPr/>
        </p:nvSpPr>
        <p:spPr>
          <a:xfrm>
            <a:off x="888365" y="6361430"/>
            <a:ext cx="1936750" cy="2171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注意力机制BLEU提升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 41"/>
          <p:cNvSpPr/>
          <p:nvPr/>
        </p:nvSpPr>
        <p:spPr>
          <a:xfrm>
            <a:off x="5227320" y="6343650"/>
            <a:ext cx="1122045" cy="25336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+5.0</a:t>
            </a:r>
            <a:endParaRPr 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63" name="Shape 42"/>
          <p:cNvSpPr/>
          <p:nvPr/>
        </p:nvSpPr>
        <p:spPr>
          <a:xfrm>
            <a:off x="6831330" y="1029970"/>
            <a:ext cx="5222240" cy="4248000"/>
          </a:xfrm>
          <a:custGeom>
            <a:avLst/>
            <a:gdLst/>
            <a:ahLst/>
            <a:cxnLst/>
            <a:rect l="l" t="t" r="r" b="b"/>
            <a:pathLst>
              <a:path w="4971003" h="4373178">
                <a:moveTo>
                  <a:pt x="108717" y="0"/>
                </a:moveTo>
                <a:lnTo>
                  <a:pt x="4862285" y="0"/>
                </a:lnTo>
                <a:cubicBezTo>
                  <a:pt x="4922328" y="0"/>
                  <a:pt x="4971003" y="48674"/>
                  <a:pt x="4971003" y="108717"/>
                </a:cubicBezTo>
                <a:lnTo>
                  <a:pt x="4971003" y="4264461"/>
                </a:lnTo>
                <a:cubicBezTo>
                  <a:pt x="4971003" y="4324504"/>
                  <a:pt x="4922328" y="4373178"/>
                  <a:pt x="4862285" y="4373178"/>
                </a:cubicBezTo>
                <a:lnTo>
                  <a:pt x="108717" y="4373178"/>
                </a:lnTo>
                <a:cubicBezTo>
                  <a:pt x="48674" y="4373178"/>
                  <a:pt x="0" y="4324504"/>
                  <a:pt x="0" y="4264461"/>
                </a:cubicBezTo>
                <a:lnTo>
                  <a:pt x="0" y="108717"/>
                </a:lnTo>
                <a:cubicBezTo>
                  <a:pt x="0" y="48715"/>
                  <a:pt x="48715" y="0"/>
                  <a:pt x="108717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4" name="Shape 43"/>
          <p:cNvSpPr/>
          <p:nvPr/>
        </p:nvSpPr>
        <p:spPr>
          <a:xfrm>
            <a:off x="7016211" y="1251156"/>
            <a:ext cx="226449" cy="181159"/>
          </a:xfrm>
          <a:custGeom>
            <a:avLst/>
            <a:gdLst/>
            <a:ahLst/>
            <a:cxnLst/>
            <a:rect l="l" t="t" r="r" b="b"/>
            <a:pathLst>
              <a:path w="226449" h="181159">
                <a:moveTo>
                  <a:pt x="135869" y="11322"/>
                </a:moveTo>
                <a:lnTo>
                  <a:pt x="181159" y="11322"/>
                </a:lnTo>
                <a:cubicBezTo>
                  <a:pt x="187422" y="11322"/>
                  <a:pt x="192481" y="16382"/>
                  <a:pt x="192481" y="22645"/>
                </a:cubicBezTo>
                <a:cubicBezTo>
                  <a:pt x="192481" y="28908"/>
                  <a:pt x="187422" y="33967"/>
                  <a:pt x="181159" y="33967"/>
                </a:cubicBezTo>
                <a:lnTo>
                  <a:pt x="140964" y="33967"/>
                </a:lnTo>
                <a:cubicBezTo>
                  <a:pt x="139124" y="43096"/>
                  <a:pt x="132862" y="50633"/>
                  <a:pt x="124547" y="54242"/>
                </a:cubicBezTo>
                <a:lnTo>
                  <a:pt x="124547" y="158514"/>
                </a:lnTo>
                <a:lnTo>
                  <a:pt x="181159" y="158514"/>
                </a:lnTo>
                <a:cubicBezTo>
                  <a:pt x="187422" y="158514"/>
                  <a:pt x="192481" y="163574"/>
                  <a:pt x="192481" y="169837"/>
                </a:cubicBezTo>
                <a:cubicBezTo>
                  <a:pt x="192481" y="176099"/>
                  <a:pt x="187422" y="181159"/>
                  <a:pt x="181159" y="181159"/>
                </a:cubicBezTo>
                <a:lnTo>
                  <a:pt x="45290" y="181159"/>
                </a:lnTo>
                <a:cubicBezTo>
                  <a:pt x="39027" y="181159"/>
                  <a:pt x="33967" y="176099"/>
                  <a:pt x="33967" y="169837"/>
                </a:cubicBezTo>
                <a:cubicBezTo>
                  <a:pt x="33967" y="163574"/>
                  <a:pt x="39027" y="158514"/>
                  <a:pt x="45290" y="158514"/>
                </a:cubicBezTo>
                <a:lnTo>
                  <a:pt x="101902" y="158514"/>
                </a:lnTo>
                <a:lnTo>
                  <a:pt x="101902" y="54242"/>
                </a:lnTo>
                <a:cubicBezTo>
                  <a:pt x="93587" y="50597"/>
                  <a:pt x="87324" y="43061"/>
                  <a:pt x="85484" y="33967"/>
                </a:cubicBezTo>
                <a:lnTo>
                  <a:pt x="45290" y="33967"/>
                </a:lnTo>
                <a:cubicBezTo>
                  <a:pt x="39027" y="33967"/>
                  <a:pt x="33967" y="28908"/>
                  <a:pt x="33967" y="22645"/>
                </a:cubicBezTo>
                <a:cubicBezTo>
                  <a:pt x="33967" y="16382"/>
                  <a:pt x="39027" y="11322"/>
                  <a:pt x="45290" y="11322"/>
                </a:cubicBezTo>
                <a:lnTo>
                  <a:pt x="90579" y="11322"/>
                </a:lnTo>
                <a:cubicBezTo>
                  <a:pt x="95745" y="4458"/>
                  <a:pt x="103954" y="0"/>
                  <a:pt x="113224" y="0"/>
                </a:cubicBezTo>
                <a:cubicBezTo>
                  <a:pt x="122495" y="0"/>
                  <a:pt x="130703" y="4458"/>
                  <a:pt x="135869" y="11322"/>
                </a:cubicBezTo>
                <a:close/>
                <a:moveTo>
                  <a:pt x="155542" y="113224"/>
                </a:moveTo>
                <a:lnTo>
                  <a:pt x="206776" y="113224"/>
                </a:lnTo>
                <a:lnTo>
                  <a:pt x="181159" y="69279"/>
                </a:lnTo>
                <a:lnTo>
                  <a:pt x="155542" y="113224"/>
                </a:lnTo>
                <a:close/>
                <a:moveTo>
                  <a:pt x="181159" y="147192"/>
                </a:moveTo>
                <a:cubicBezTo>
                  <a:pt x="158903" y="147192"/>
                  <a:pt x="140398" y="135162"/>
                  <a:pt x="136577" y="119275"/>
                </a:cubicBezTo>
                <a:cubicBezTo>
                  <a:pt x="135657" y="115383"/>
                  <a:pt x="136931" y="111384"/>
                  <a:pt x="138948" y="107917"/>
                </a:cubicBezTo>
                <a:lnTo>
                  <a:pt x="172632" y="50173"/>
                </a:lnTo>
                <a:cubicBezTo>
                  <a:pt x="174401" y="47130"/>
                  <a:pt x="177656" y="45290"/>
                  <a:pt x="181159" y="45290"/>
                </a:cubicBezTo>
                <a:cubicBezTo>
                  <a:pt x="184662" y="45290"/>
                  <a:pt x="187917" y="47165"/>
                  <a:pt x="189686" y="50173"/>
                </a:cubicBezTo>
                <a:lnTo>
                  <a:pt x="223370" y="107917"/>
                </a:lnTo>
                <a:cubicBezTo>
                  <a:pt x="225387" y="111384"/>
                  <a:pt x="226661" y="115383"/>
                  <a:pt x="225741" y="119275"/>
                </a:cubicBezTo>
                <a:cubicBezTo>
                  <a:pt x="221920" y="135126"/>
                  <a:pt x="203415" y="147192"/>
                  <a:pt x="181159" y="147192"/>
                </a:cubicBezTo>
                <a:close/>
                <a:moveTo>
                  <a:pt x="44865" y="69279"/>
                </a:moveTo>
                <a:lnTo>
                  <a:pt x="19248" y="113224"/>
                </a:lnTo>
                <a:lnTo>
                  <a:pt x="70518" y="113224"/>
                </a:lnTo>
                <a:lnTo>
                  <a:pt x="44865" y="69279"/>
                </a:lnTo>
                <a:close/>
                <a:moveTo>
                  <a:pt x="318" y="119275"/>
                </a:moveTo>
                <a:cubicBezTo>
                  <a:pt x="-602" y="115383"/>
                  <a:pt x="672" y="111384"/>
                  <a:pt x="2689" y="107917"/>
                </a:cubicBezTo>
                <a:lnTo>
                  <a:pt x="36373" y="50173"/>
                </a:lnTo>
                <a:cubicBezTo>
                  <a:pt x="38142" y="47130"/>
                  <a:pt x="41398" y="45290"/>
                  <a:pt x="44901" y="45290"/>
                </a:cubicBezTo>
                <a:cubicBezTo>
                  <a:pt x="48403" y="45290"/>
                  <a:pt x="51659" y="47165"/>
                  <a:pt x="53428" y="50173"/>
                </a:cubicBezTo>
                <a:lnTo>
                  <a:pt x="87112" y="107917"/>
                </a:lnTo>
                <a:cubicBezTo>
                  <a:pt x="89129" y="111384"/>
                  <a:pt x="90403" y="115383"/>
                  <a:pt x="89483" y="119275"/>
                </a:cubicBezTo>
                <a:cubicBezTo>
                  <a:pt x="85661" y="135126"/>
                  <a:pt x="67156" y="147192"/>
                  <a:pt x="44901" y="147192"/>
                </a:cubicBezTo>
                <a:cubicBezTo>
                  <a:pt x="22645" y="147192"/>
                  <a:pt x="4140" y="135162"/>
                  <a:pt x="318" y="11927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5" name="Text 44"/>
          <p:cNvSpPr/>
          <p:nvPr/>
        </p:nvSpPr>
        <p:spPr>
          <a:xfrm>
            <a:off x="7318859" y="1214924"/>
            <a:ext cx="4465569" cy="253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ChatGPT vs Google Translate</a:t>
            </a:r>
            <a:endParaRPr lang="en-US" sz="20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66" name="Image 0" descr="https://kimi-img.moonshot.cn/pub/slides/26-02-01-23:47:24-d5vnb33msqf37r37tdng.png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8" r="8"/>
          <a:stretch>
            <a:fillRect/>
          </a:stretch>
        </p:blipFill>
        <p:spPr>
          <a:xfrm>
            <a:off x="7016211" y="1613474"/>
            <a:ext cx="4329700" cy="3605064"/>
          </a:xfrm>
          <a:prstGeom prst="roundRect">
            <a:avLst>
              <a:gd name="adj" fmla="val 0"/>
            </a:avLst>
          </a:prstGeom>
        </p:spPr>
      </p:pic>
      <p:sp>
        <p:nvSpPr>
          <p:cNvPr id="67" name="Shape 45"/>
          <p:cNvSpPr/>
          <p:nvPr/>
        </p:nvSpPr>
        <p:spPr>
          <a:xfrm>
            <a:off x="6831330" y="5323840"/>
            <a:ext cx="5168900" cy="1490345"/>
          </a:xfrm>
          <a:custGeom>
            <a:avLst/>
            <a:gdLst/>
            <a:ahLst/>
            <a:cxnLst/>
            <a:rect l="l" t="t" r="r" b="b"/>
            <a:pathLst>
              <a:path w="4971003" h="1347823">
                <a:moveTo>
                  <a:pt x="108702" y="0"/>
                </a:moveTo>
                <a:lnTo>
                  <a:pt x="4862301" y="0"/>
                </a:lnTo>
                <a:cubicBezTo>
                  <a:pt x="4922335" y="0"/>
                  <a:pt x="4971003" y="48668"/>
                  <a:pt x="4971003" y="108702"/>
                </a:cubicBezTo>
                <a:lnTo>
                  <a:pt x="4971003" y="1239121"/>
                </a:lnTo>
                <a:cubicBezTo>
                  <a:pt x="4971003" y="1299155"/>
                  <a:pt x="4922335" y="1347823"/>
                  <a:pt x="4862301" y="1347823"/>
                </a:cubicBezTo>
                <a:lnTo>
                  <a:pt x="108702" y="1347823"/>
                </a:lnTo>
                <a:cubicBezTo>
                  <a:pt x="48668" y="1347823"/>
                  <a:pt x="0" y="1299155"/>
                  <a:pt x="0" y="1239121"/>
                </a:cubicBezTo>
                <a:lnTo>
                  <a:pt x="0" y="108702"/>
                </a:lnTo>
                <a:cubicBezTo>
                  <a:pt x="0" y="48708"/>
                  <a:pt x="48708" y="0"/>
                  <a:pt x="108702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8" name="Shape 46"/>
          <p:cNvSpPr/>
          <p:nvPr/>
        </p:nvSpPr>
        <p:spPr>
          <a:xfrm>
            <a:off x="6885844" y="5517466"/>
            <a:ext cx="122282" cy="163043"/>
          </a:xfrm>
          <a:custGeom>
            <a:avLst/>
            <a:gdLst/>
            <a:ahLst/>
            <a:cxnLst/>
            <a:rect l="l" t="t" r="r" b="b"/>
            <a:pathLst>
              <a:path w="122282" h="163043">
                <a:moveTo>
                  <a:pt x="93272" y="122282"/>
                </a:moveTo>
                <a:cubicBezTo>
                  <a:pt x="95597" y="115181"/>
                  <a:pt x="100246" y="108748"/>
                  <a:pt x="105500" y="103208"/>
                </a:cubicBezTo>
                <a:cubicBezTo>
                  <a:pt x="115913" y="92253"/>
                  <a:pt x="122282" y="77445"/>
                  <a:pt x="122282" y="61141"/>
                </a:cubicBezTo>
                <a:cubicBezTo>
                  <a:pt x="122282" y="27386"/>
                  <a:pt x="94896" y="0"/>
                  <a:pt x="61141" y="0"/>
                </a:cubicBezTo>
                <a:cubicBezTo>
                  <a:pt x="27386" y="0"/>
                  <a:pt x="0" y="27386"/>
                  <a:pt x="0" y="61141"/>
                </a:cubicBezTo>
                <a:cubicBezTo>
                  <a:pt x="0" y="77445"/>
                  <a:pt x="6369" y="92253"/>
                  <a:pt x="16782" y="103208"/>
                </a:cubicBezTo>
                <a:cubicBezTo>
                  <a:pt x="22036" y="108748"/>
                  <a:pt x="26717" y="115181"/>
                  <a:pt x="29010" y="122282"/>
                </a:cubicBezTo>
                <a:lnTo>
                  <a:pt x="93240" y="122282"/>
                </a:lnTo>
                <a:close/>
                <a:moveTo>
                  <a:pt x="91712" y="137568"/>
                </a:moveTo>
                <a:lnTo>
                  <a:pt x="30571" y="137568"/>
                </a:lnTo>
                <a:lnTo>
                  <a:pt x="30571" y="142663"/>
                </a:lnTo>
                <a:cubicBezTo>
                  <a:pt x="30571" y="156738"/>
                  <a:pt x="41971" y="168138"/>
                  <a:pt x="56046" y="168138"/>
                </a:cubicBezTo>
                <a:lnTo>
                  <a:pt x="66236" y="168138"/>
                </a:lnTo>
                <a:cubicBezTo>
                  <a:pt x="80311" y="168138"/>
                  <a:pt x="91712" y="156738"/>
                  <a:pt x="91712" y="142663"/>
                </a:cubicBezTo>
                <a:lnTo>
                  <a:pt x="91712" y="137568"/>
                </a:lnTo>
                <a:close/>
                <a:moveTo>
                  <a:pt x="58594" y="35666"/>
                </a:moveTo>
                <a:cubicBezTo>
                  <a:pt x="45920" y="35666"/>
                  <a:pt x="35666" y="45920"/>
                  <a:pt x="35666" y="58594"/>
                </a:cubicBezTo>
                <a:cubicBezTo>
                  <a:pt x="35666" y="62829"/>
                  <a:pt x="32258" y="66236"/>
                  <a:pt x="28023" y="66236"/>
                </a:cubicBezTo>
                <a:cubicBezTo>
                  <a:pt x="23788" y="66236"/>
                  <a:pt x="20380" y="62829"/>
                  <a:pt x="20380" y="58594"/>
                </a:cubicBezTo>
                <a:cubicBezTo>
                  <a:pt x="20380" y="37481"/>
                  <a:pt x="37481" y="20380"/>
                  <a:pt x="58594" y="20380"/>
                </a:cubicBezTo>
                <a:cubicBezTo>
                  <a:pt x="62829" y="20380"/>
                  <a:pt x="66236" y="23788"/>
                  <a:pt x="66236" y="28023"/>
                </a:cubicBezTo>
                <a:cubicBezTo>
                  <a:pt x="66236" y="32258"/>
                  <a:pt x="62829" y="35666"/>
                  <a:pt x="58594" y="3566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9" name="Text 47"/>
          <p:cNvSpPr/>
          <p:nvPr/>
        </p:nvSpPr>
        <p:spPr>
          <a:xfrm>
            <a:off x="7051152" y="5437886"/>
            <a:ext cx="4547091" cy="25362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核心优势</a:t>
            </a:r>
            <a:endParaRPr lang="en-US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0" name="Shape 48"/>
          <p:cNvSpPr/>
          <p:nvPr/>
        </p:nvSpPr>
        <p:spPr>
          <a:xfrm>
            <a:off x="6897167" y="5809766"/>
            <a:ext cx="72464" cy="144927"/>
          </a:xfrm>
          <a:custGeom>
            <a:avLst/>
            <a:gdLst/>
            <a:ahLst/>
            <a:cxnLst/>
            <a:rect l="l" t="t" r="r" b="b"/>
            <a:pathLst>
              <a:path w="72464" h="144927">
                <a:moveTo>
                  <a:pt x="69944" y="66066"/>
                </a:moveTo>
                <a:cubicBezTo>
                  <a:pt x="73483" y="69605"/>
                  <a:pt x="73483" y="75351"/>
                  <a:pt x="69944" y="78889"/>
                </a:cubicBezTo>
                <a:lnTo>
                  <a:pt x="24655" y="124179"/>
                </a:lnTo>
                <a:cubicBezTo>
                  <a:pt x="21116" y="127717"/>
                  <a:pt x="15370" y="127717"/>
                  <a:pt x="11832" y="124179"/>
                </a:cubicBezTo>
                <a:cubicBezTo>
                  <a:pt x="8294" y="120641"/>
                  <a:pt x="8294" y="114894"/>
                  <a:pt x="11832" y="111356"/>
                </a:cubicBezTo>
                <a:lnTo>
                  <a:pt x="50725" y="72464"/>
                </a:lnTo>
                <a:lnTo>
                  <a:pt x="11860" y="33571"/>
                </a:lnTo>
                <a:cubicBezTo>
                  <a:pt x="8322" y="30033"/>
                  <a:pt x="8322" y="24287"/>
                  <a:pt x="11860" y="20748"/>
                </a:cubicBezTo>
                <a:cubicBezTo>
                  <a:pt x="15399" y="17210"/>
                  <a:pt x="21145" y="17210"/>
                  <a:pt x="24683" y="20748"/>
                </a:cubicBezTo>
                <a:lnTo>
                  <a:pt x="69973" y="6603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71" name="Text 49"/>
          <p:cNvSpPr/>
          <p:nvPr/>
        </p:nvSpPr>
        <p:spPr>
          <a:xfrm>
            <a:off x="7096125" y="5773420"/>
            <a:ext cx="4688205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语境理解：</a:t>
            </a: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ChatGPT在理解上下文和习语表达方面表现更优</a:t>
            </a:r>
            <a:endParaRPr lang="en-US" sz="14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Shape 50"/>
          <p:cNvSpPr/>
          <p:nvPr/>
        </p:nvSpPr>
        <p:spPr>
          <a:xfrm>
            <a:off x="6897167" y="6063388"/>
            <a:ext cx="72464" cy="144927"/>
          </a:xfrm>
          <a:custGeom>
            <a:avLst/>
            <a:gdLst/>
            <a:ahLst/>
            <a:cxnLst/>
            <a:rect l="l" t="t" r="r" b="b"/>
            <a:pathLst>
              <a:path w="72464" h="144927">
                <a:moveTo>
                  <a:pt x="69944" y="66066"/>
                </a:moveTo>
                <a:cubicBezTo>
                  <a:pt x="73483" y="69605"/>
                  <a:pt x="73483" y="75351"/>
                  <a:pt x="69944" y="78889"/>
                </a:cubicBezTo>
                <a:lnTo>
                  <a:pt x="24655" y="124179"/>
                </a:lnTo>
                <a:cubicBezTo>
                  <a:pt x="21116" y="127717"/>
                  <a:pt x="15370" y="127717"/>
                  <a:pt x="11832" y="124179"/>
                </a:cubicBezTo>
                <a:cubicBezTo>
                  <a:pt x="8294" y="120641"/>
                  <a:pt x="8294" y="114894"/>
                  <a:pt x="11832" y="111356"/>
                </a:cubicBezTo>
                <a:lnTo>
                  <a:pt x="50725" y="72464"/>
                </a:lnTo>
                <a:lnTo>
                  <a:pt x="11860" y="33571"/>
                </a:lnTo>
                <a:cubicBezTo>
                  <a:pt x="8322" y="30033"/>
                  <a:pt x="8322" y="24287"/>
                  <a:pt x="11860" y="20748"/>
                </a:cubicBezTo>
                <a:cubicBezTo>
                  <a:pt x="15399" y="17210"/>
                  <a:pt x="21145" y="17210"/>
                  <a:pt x="24683" y="20748"/>
                </a:cubicBezTo>
                <a:lnTo>
                  <a:pt x="69973" y="6603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73" name="Text 51"/>
          <p:cNvSpPr/>
          <p:nvPr/>
        </p:nvSpPr>
        <p:spPr>
          <a:xfrm>
            <a:off x="7096125" y="6027420"/>
            <a:ext cx="4688205" cy="4159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专业领域：</a:t>
            </a: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在技术文档翻译中，ChatGPT-4获得人类评估者更高评价</a:t>
            </a:r>
            <a:endParaRPr lang="en-US" sz="14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Shape 52"/>
          <p:cNvSpPr/>
          <p:nvPr/>
        </p:nvSpPr>
        <p:spPr>
          <a:xfrm>
            <a:off x="6897167" y="6560851"/>
            <a:ext cx="72464" cy="144927"/>
          </a:xfrm>
          <a:custGeom>
            <a:avLst/>
            <a:gdLst/>
            <a:ahLst/>
            <a:cxnLst/>
            <a:rect l="l" t="t" r="r" b="b"/>
            <a:pathLst>
              <a:path w="72464" h="144927">
                <a:moveTo>
                  <a:pt x="69944" y="66066"/>
                </a:moveTo>
                <a:cubicBezTo>
                  <a:pt x="73483" y="69605"/>
                  <a:pt x="73483" y="75351"/>
                  <a:pt x="69944" y="78889"/>
                </a:cubicBezTo>
                <a:lnTo>
                  <a:pt x="24655" y="124179"/>
                </a:lnTo>
                <a:cubicBezTo>
                  <a:pt x="21116" y="127717"/>
                  <a:pt x="15370" y="127717"/>
                  <a:pt x="11832" y="124179"/>
                </a:cubicBezTo>
                <a:cubicBezTo>
                  <a:pt x="8294" y="120641"/>
                  <a:pt x="8294" y="114894"/>
                  <a:pt x="11832" y="111356"/>
                </a:cubicBezTo>
                <a:lnTo>
                  <a:pt x="50725" y="72464"/>
                </a:lnTo>
                <a:lnTo>
                  <a:pt x="11860" y="33571"/>
                </a:lnTo>
                <a:cubicBezTo>
                  <a:pt x="8322" y="30033"/>
                  <a:pt x="8322" y="24287"/>
                  <a:pt x="11860" y="20748"/>
                </a:cubicBezTo>
                <a:cubicBezTo>
                  <a:pt x="15399" y="17210"/>
                  <a:pt x="21145" y="17210"/>
                  <a:pt x="24683" y="20748"/>
                </a:cubicBezTo>
                <a:lnTo>
                  <a:pt x="69973" y="6603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75" name="Text 53"/>
          <p:cNvSpPr/>
          <p:nvPr/>
        </p:nvSpPr>
        <p:spPr>
          <a:xfrm>
            <a:off x="7096125" y="6524625"/>
            <a:ext cx="4199255" cy="1809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灵活性：</a:t>
            </a: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可根据特定需求调整翻译风格和语气</a:t>
            </a:r>
            <a:endParaRPr lang="en-US" sz="14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760984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机器翻译：典型挑战与</a:t>
            </a:r>
            <a:r>
              <a:rPr lang="en-US" altLang="zh-CN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GPT-4</a:t>
            </a: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解决方案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810" y="1070610"/>
            <a:ext cx="3674745" cy="4122420"/>
          </a:xfrm>
          <a:custGeom>
            <a:avLst/>
            <a:gdLst/>
            <a:ahLst/>
            <a:cxnLst/>
            <a:rect l="l" t="t" r="r" b="b"/>
            <a:pathLst>
              <a:path w="3674745" h="4122420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4008135"/>
                </a:lnTo>
                <a:cubicBezTo>
                  <a:pt x="3674745" y="4071211"/>
                  <a:pt x="3623536" y="4122420"/>
                  <a:pt x="3560460" y="4122420"/>
                </a:cubicBezTo>
                <a:lnTo>
                  <a:pt x="114285" y="4122420"/>
                </a:lnTo>
                <a:cubicBezTo>
                  <a:pt x="51209" y="4122420"/>
                  <a:pt x="0" y="4071211"/>
                  <a:pt x="0" y="4008135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9120" y="12649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" name="Shape 6"/>
          <p:cNvSpPr/>
          <p:nvPr/>
        </p:nvSpPr>
        <p:spPr>
          <a:xfrm>
            <a:off x="731520" y="14173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0013" y="0"/>
                </a:moveTo>
                <a:cubicBezTo>
                  <a:pt x="115773" y="0"/>
                  <a:pt x="128588" y="9599"/>
                  <a:pt x="128588" y="21431"/>
                </a:cubicBezTo>
                <a:cubicBezTo>
                  <a:pt x="128588" y="26075"/>
                  <a:pt x="126623" y="30361"/>
                  <a:pt x="123230" y="33888"/>
                </a:cubicBezTo>
                <a:cubicBezTo>
                  <a:pt x="120283" y="36969"/>
                  <a:pt x="117872" y="40719"/>
                  <a:pt x="117872" y="45006"/>
                </a:cubicBezTo>
                <a:cubicBezTo>
                  <a:pt x="117872" y="51703"/>
                  <a:pt x="123319" y="57150"/>
                  <a:pt x="130016" y="57150"/>
                </a:cubicBezTo>
                <a:lnTo>
                  <a:pt x="150019" y="57150"/>
                </a:lnTo>
                <a:cubicBezTo>
                  <a:pt x="161851" y="57150"/>
                  <a:pt x="171450" y="66749"/>
                  <a:pt x="171450" y="78581"/>
                </a:cubicBezTo>
                <a:lnTo>
                  <a:pt x="171450" y="98584"/>
                </a:lnTo>
                <a:cubicBezTo>
                  <a:pt x="171450" y="105281"/>
                  <a:pt x="176897" y="110728"/>
                  <a:pt x="183594" y="110728"/>
                </a:cubicBezTo>
                <a:cubicBezTo>
                  <a:pt x="187836" y="110728"/>
                  <a:pt x="191631" y="108317"/>
                  <a:pt x="194712" y="105370"/>
                </a:cubicBezTo>
                <a:cubicBezTo>
                  <a:pt x="198239" y="102022"/>
                  <a:pt x="202525" y="100013"/>
                  <a:pt x="207169" y="100013"/>
                </a:cubicBezTo>
                <a:cubicBezTo>
                  <a:pt x="219001" y="100013"/>
                  <a:pt x="228600" y="112827"/>
                  <a:pt x="228600" y="128588"/>
                </a:cubicBezTo>
                <a:cubicBezTo>
                  <a:pt x="228600" y="144348"/>
                  <a:pt x="219001" y="157163"/>
                  <a:pt x="207169" y="157163"/>
                </a:cubicBezTo>
                <a:cubicBezTo>
                  <a:pt x="202525" y="157163"/>
                  <a:pt x="198194" y="155198"/>
                  <a:pt x="194712" y="151805"/>
                </a:cubicBezTo>
                <a:cubicBezTo>
                  <a:pt x="191631" y="148858"/>
                  <a:pt x="187881" y="146447"/>
                  <a:pt x="183594" y="146447"/>
                </a:cubicBezTo>
                <a:cubicBezTo>
                  <a:pt x="176897" y="146447"/>
                  <a:pt x="171450" y="151894"/>
                  <a:pt x="171450" y="158591"/>
                </a:cubicBezTo>
                <a:lnTo>
                  <a:pt x="171450" y="207169"/>
                </a:lnTo>
                <a:cubicBezTo>
                  <a:pt x="171450" y="219001"/>
                  <a:pt x="161851" y="228600"/>
                  <a:pt x="150019" y="228600"/>
                </a:cubicBezTo>
                <a:lnTo>
                  <a:pt x="124658" y="228600"/>
                </a:lnTo>
                <a:cubicBezTo>
                  <a:pt x="118943" y="228600"/>
                  <a:pt x="114300" y="223957"/>
                  <a:pt x="114300" y="218242"/>
                </a:cubicBezTo>
                <a:cubicBezTo>
                  <a:pt x="114300" y="214134"/>
                  <a:pt x="116890" y="210517"/>
                  <a:pt x="120194" y="208062"/>
                </a:cubicBezTo>
                <a:cubicBezTo>
                  <a:pt x="125373" y="204177"/>
                  <a:pt x="128588" y="198819"/>
                  <a:pt x="128588" y="192881"/>
                </a:cubicBezTo>
                <a:cubicBezTo>
                  <a:pt x="128588" y="181049"/>
                  <a:pt x="115773" y="171450"/>
                  <a:pt x="100013" y="171450"/>
                </a:cubicBezTo>
                <a:cubicBezTo>
                  <a:pt x="84252" y="171450"/>
                  <a:pt x="71438" y="181049"/>
                  <a:pt x="71438" y="192881"/>
                </a:cubicBezTo>
                <a:cubicBezTo>
                  <a:pt x="71438" y="198819"/>
                  <a:pt x="74652" y="204177"/>
                  <a:pt x="79831" y="208062"/>
                </a:cubicBezTo>
                <a:cubicBezTo>
                  <a:pt x="83135" y="210517"/>
                  <a:pt x="85725" y="214089"/>
                  <a:pt x="85725" y="218242"/>
                </a:cubicBezTo>
                <a:cubicBezTo>
                  <a:pt x="85725" y="223957"/>
                  <a:pt x="81082" y="228600"/>
                  <a:pt x="75367" y="228600"/>
                </a:cubicBezTo>
                <a:lnTo>
                  <a:pt x="21431" y="228600"/>
                </a:lnTo>
                <a:cubicBezTo>
                  <a:pt x="9599" y="228600"/>
                  <a:pt x="0" y="219001"/>
                  <a:pt x="0" y="207169"/>
                </a:cubicBezTo>
                <a:lnTo>
                  <a:pt x="0" y="153233"/>
                </a:lnTo>
                <a:cubicBezTo>
                  <a:pt x="0" y="147518"/>
                  <a:pt x="4643" y="142875"/>
                  <a:pt x="10358" y="142875"/>
                </a:cubicBezTo>
                <a:cubicBezTo>
                  <a:pt x="14466" y="142875"/>
                  <a:pt x="18083" y="145465"/>
                  <a:pt x="20538" y="148769"/>
                </a:cubicBezTo>
                <a:cubicBezTo>
                  <a:pt x="24423" y="153948"/>
                  <a:pt x="29781" y="157163"/>
                  <a:pt x="35719" y="157163"/>
                </a:cubicBezTo>
                <a:cubicBezTo>
                  <a:pt x="47551" y="157163"/>
                  <a:pt x="57150" y="144348"/>
                  <a:pt x="57150" y="128588"/>
                </a:cubicBezTo>
                <a:cubicBezTo>
                  <a:pt x="57150" y="112827"/>
                  <a:pt x="47551" y="100013"/>
                  <a:pt x="35719" y="100013"/>
                </a:cubicBezTo>
                <a:cubicBezTo>
                  <a:pt x="29781" y="100013"/>
                  <a:pt x="24423" y="103227"/>
                  <a:pt x="20538" y="108406"/>
                </a:cubicBezTo>
                <a:cubicBezTo>
                  <a:pt x="18083" y="111710"/>
                  <a:pt x="14511" y="114300"/>
                  <a:pt x="10358" y="114300"/>
                </a:cubicBezTo>
                <a:cubicBezTo>
                  <a:pt x="4643" y="114300"/>
                  <a:pt x="0" y="109657"/>
                  <a:pt x="0" y="103942"/>
                </a:cubicBezTo>
                <a:lnTo>
                  <a:pt x="0" y="78581"/>
                </a:lnTo>
                <a:cubicBezTo>
                  <a:pt x="0" y="66749"/>
                  <a:pt x="9599" y="57150"/>
                  <a:pt x="21431" y="57150"/>
                </a:cubicBezTo>
                <a:lnTo>
                  <a:pt x="70009" y="57150"/>
                </a:lnTo>
                <a:cubicBezTo>
                  <a:pt x="76706" y="57150"/>
                  <a:pt x="82153" y="51703"/>
                  <a:pt x="82153" y="45006"/>
                </a:cubicBezTo>
                <a:cubicBezTo>
                  <a:pt x="82153" y="40764"/>
                  <a:pt x="79742" y="36969"/>
                  <a:pt x="76795" y="33888"/>
                </a:cubicBezTo>
                <a:cubicBezTo>
                  <a:pt x="73447" y="30361"/>
                  <a:pt x="71438" y="26075"/>
                  <a:pt x="71438" y="21431"/>
                </a:cubicBezTo>
                <a:cubicBezTo>
                  <a:pt x="71438" y="9599"/>
                  <a:pt x="84252" y="0"/>
                  <a:pt x="100013" y="0"/>
                </a:cubicBezTo>
                <a:close/>
              </a:path>
            </a:pathLst>
          </a:custGeom>
          <a:solidFill>
            <a:srgbClr val="E0E1DD"/>
          </a:solidFill>
        </p:spPr>
      </p:sp>
      <p:sp>
        <p:nvSpPr>
          <p:cNvPr id="9" name="Text 7"/>
          <p:cNvSpPr/>
          <p:nvPr/>
        </p:nvSpPr>
        <p:spPr>
          <a:xfrm>
            <a:off x="1226820" y="1398270"/>
            <a:ext cx="186753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多义词歧义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8170" y="1950723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38100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1" name="Shape 9"/>
          <p:cNvSpPr/>
          <p:nvPr/>
        </p:nvSpPr>
        <p:spPr>
          <a:xfrm>
            <a:off x="598170" y="195072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70000"/>
            </a:srgbClr>
          </a:solidFill>
        </p:spPr>
      </p:sp>
      <p:sp>
        <p:nvSpPr>
          <p:cNvPr id="12" name="Shape 10"/>
          <p:cNvSpPr/>
          <p:nvPr/>
        </p:nvSpPr>
        <p:spPr>
          <a:xfrm>
            <a:off x="788670" y="21259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3" name="Text 11"/>
          <p:cNvSpPr/>
          <p:nvPr/>
        </p:nvSpPr>
        <p:spPr>
          <a:xfrm>
            <a:off x="1012825" y="2110740"/>
            <a:ext cx="103378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挑战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69620" y="2369823"/>
            <a:ext cx="30194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同一词语在不同语境下具有不同含义，传统模型难以准确判断</a:t>
            </a:r>
            <a:endParaRPr lang="en-US" sz="14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8170" y="3169923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38100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6" name="Shape 14"/>
          <p:cNvSpPr/>
          <p:nvPr/>
        </p:nvSpPr>
        <p:spPr>
          <a:xfrm>
            <a:off x="598170" y="316992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17" name="Shape 15"/>
          <p:cNvSpPr/>
          <p:nvPr/>
        </p:nvSpPr>
        <p:spPr>
          <a:xfrm>
            <a:off x="788670" y="33451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8" name="Text 16"/>
          <p:cNvSpPr/>
          <p:nvPr/>
        </p:nvSpPr>
        <p:spPr>
          <a:xfrm>
            <a:off x="1012825" y="3329940"/>
            <a:ext cx="1721485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GPT-4解决方案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9620" y="3589020"/>
            <a:ext cx="30956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</a:t>
            </a:r>
            <a:r>
              <a:rPr lang="en-US" sz="1400" dirty="0">
                <a:solidFill>
                  <a:srgbClr val="C00000"/>
                </a:solidFill>
                <a:highlight>
                  <a:srgbClr val="778DA9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上下文语义编码 </a:t>
            </a: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sz="1400" dirty="0">
                <a:solidFill>
                  <a:schemeClr val="tx1"/>
                </a:solidFill>
                <a:highlight>
                  <a:srgbClr val="778DA9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sz="1400" dirty="0">
                <a:solidFill>
                  <a:srgbClr val="C00000"/>
                </a:solidFill>
                <a:highlight>
                  <a:srgbClr val="778DA9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多头注意力机制 </a:t>
            </a: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，精准捕捉词义在语境中的具体指向</a:t>
            </a:r>
            <a:endParaRPr lang="en-US" sz="14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79120" y="4389123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729139" y="452628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2" name="Text 20"/>
          <p:cNvSpPr/>
          <p:nvPr/>
        </p:nvSpPr>
        <p:spPr>
          <a:xfrm>
            <a:off x="922020" y="4503423"/>
            <a:ext cx="28956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案例：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"bank"在"river bank"与"bank account"中的准确区分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258270" y="1070610"/>
            <a:ext cx="3674745" cy="4122420"/>
          </a:xfrm>
          <a:custGeom>
            <a:avLst/>
            <a:gdLst/>
            <a:ahLst/>
            <a:cxnLst/>
            <a:rect l="l" t="t" r="r" b="b"/>
            <a:pathLst>
              <a:path w="3674745" h="4122420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4008135"/>
                </a:lnTo>
                <a:cubicBezTo>
                  <a:pt x="3674745" y="4071211"/>
                  <a:pt x="3623536" y="4122420"/>
                  <a:pt x="3560460" y="4122420"/>
                </a:cubicBezTo>
                <a:lnTo>
                  <a:pt x="114285" y="4122420"/>
                </a:lnTo>
                <a:cubicBezTo>
                  <a:pt x="51209" y="4122420"/>
                  <a:pt x="0" y="4071211"/>
                  <a:pt x="0" y="4008135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" name="Shape 22"/>
          <p:cNvSpPr/>
          <p:nvPr/>
        </p:nvSpPr>
        <p:spPr>
          <a:xfrm>
            <a:off x="4452580" y="12649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" name="Shape 23"/>
          <p:cNvSpPr/>
          <p:nvPr/>
        </p:nvSpPr>
        <p:spPr>
          <a:xfrm>
            <a:off x="4619268" y="141732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28588" y="28575"/>
                </a:moveTo>
                <a:cubicBezTo>
                  <a:pt x="128588" y="36478"/>
                  <a:pt x="122203" y="42863"/>
                  <a:pt x="114300" y="42863"/>
                </a:cubicBezTo>
                <a:lnTo>
                  <a:pt x="14288" y="42863"/>
                </a:lnTo>
                <a:cubicBezTo>
                  <a:pt x="6385" y="42863"/>
                  <a:pt x="0" y="36478"/>
                  <a:pt x="0" y="28575"/>
                </a:cubicBezTo>
                <a:cubicBezTo>
                  <a:pt x="0" y="20672"/>
                  <a:pt x="6385" y="14288"/>
                  <a:pt x="14288" y="14288"/>
                </a:cubicBezTo>
                <a:lnTo>
                  <a:pt x="114300" y="14288"/>
                </a:lnTo>
                <a:cubicBezTo>
                  <a:pt x="122203" y="14288"/>
                  <a:pt x="128588" y="20672"/>
                  <a:pt x="128588" y="28575"/>
                </a:cubicBezTo>
                <a:close/>
                <a:moveTo>
                  <a:pt x="128588" y="142875"/>
                </a:moveTo>
                <a:cubicBezTo>
                  <a:pt x="128588" y="150778"/>
                  <a:pt x="122203" y="157163"/>
                  <a:pt x="114300" y="157163"/>
                </a:cubicBezTo>
                <a:lnTo>
                  <a:pt x="14288" y="157163"/>
                </a:lnTo>
                <a:cubicBezTo>
                  <a:pt x="6385" y="157163"/>
                  <a:pt x="0" y="150778"/>
                  <a:pt x="0" y="142875"/>
                </a:cubicBezTo>
                <a:cubicBezTo>
                  <a:pt x="0" y="134972"/>
                  <a:pt x="6385" y="128588"/>
                  <a:pt x="14288" y="128588"/>
                </a:cubicBezTo>
                <a:lnTo>
                  <a:pt x="114300" y="128588"/>
                </a:lnTo>
                <a:cubicBezTo>
                  <a:pt x="122203" y="128588"/>
                  <a:pt x="128588" y="134972"/>
                  <a:pt x="128588" y="142875"/>
                </a:cubicBezTo>
                <a:close/>
                <a:moveTo>
                  <a:pt x="0" y="85725"/>
                </a:moveTo>
                <a:cubicBezTo>
                  <a:pt x="0" y="77822"/>
                  <a:pt x="6385" y="71438"/>
                  <a:pt x="14288" y="71438"/>
                </a:cubicBezTo>
                <a:lnTo>
                  <a:pt x="185738" y="71438"/>
                </a:lnTo>
                <a:cubicBezTo>
                  <a:pt x="193640" y="71438"/>
                  <a:pt x="200025" y="77822"/>
                  <a:pt x="200025" y="85725"/>
                </a:cubicBezTo>
                <a:cubicBezTo>
                  <a:pt x="200025" y="93628"/>
                  <a:pt x="193640" y="100013"/>
                  <a:pt x="185738" y="100013"/>
                </a:cubicBezTo>
                <a:lnTo>
                  <a:pt x="14288" y="100013"/>
                </a:lnTo>
                <a:cubicBezTo>
                  <a:pt x="6385" y="100013"/>
                  <a:pt x="0" y="93628"/>
                  <a:pt x="0" y="85725"/>
                </a:cubicBezTo>
                <a:close/>
                <a:moveTo>
                  <a:pt x="200025" y="200025"/>
                </a:moveTo>
                <a:cubicBezTo>
                  <a:pt x="200025" y="207928"/>
                  <a:pt x="193640" y="214313"/>
                  <a:pt x="18573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cubicBezTo>
                  <a:pt x="0" y="192122"/>
                  <a:pt x="6385" y="185738"/>
                  <a:pt x="14288" y="185738"/>
                </a:cubicBezTo>
                <a:lnTo>
                  <a:pt x="185738" y="185738"/>
                </a:lnTo>
                <a:cubicBezTo>
                  <a:pt x="193640" y="185738"/>
                  <a:pt x="200025" y="192122"/>
                  <a:pt x="200025" y="200025"/>
                </a:cubicBezTo>
                <a:close/>
              </a:path>
            </a:pathLst>
          </a:custGeom>
          <a:solidFill>
            <a:srgbClr val="E0E1DD"/>
          </a:solidFill>
        </p:spPr>
      </p:sp>
      <p:sp>
        <p:nvSpPr>
          <p:cNvPr id="4" name="Text 24"/>
          <p:cNvSpPr/>
          <p:nvPr/>
        </p:nvSpPr>
        <p:spPr>
          <a:xfrm>
            <a:off x="5100320" y="1398270"/>
            <a:ext cx="156591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长句结构适配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Shape 25"/>
          <p:cNvSpPr/>
          <p:nvPr/>
        </p:nvSpPr>
        <p:spPr>
          <a:xfrm>
            <a:off x="4471630" y="1950723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38100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76" name="Shape 26"/>
          <p:cNvSpPr/>
          <p:nvPr/>
        </p:nvSpPr>
        <p:spPr>
          <a:xfrm>
            <a:off x="4471630" y="195072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70000"/>
            </a:srgbClr>
          </a:solidFill>
        </p:spPr>
      </p:sp>
      <p:sp>
        <p:nvSpPr>
          <p:cNvPr id="77" name="Shape 27"/>
          <p:cNvSpPr/>
          <p:nvPr/>
        </p:nvSpPr>
        <p:spPr>
          <a:xfrm>
            <a:off x="4662130" y="21259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8" name="Text 28"/>
          <p:cNvSpPr/>
          <p:nvPr/>
        </p:nvSpPr>
        <p:spPr>
          <a:xfrm>
            <a:off x="4885690" y="2110740"/>
            <a:ext cx="85852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挑战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9" name="Text 29"/>
          <p:cNvSpPr/>
          <p:nvPr/>
        </p:nvSpPr>
        <p:spPr>
          <a:xfrm>
            <a:off x="4643080" y="2369823"/>
            <a:ext cx="30194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长距离依赖关系复杂，不同语言的语序差异大，翻译质量随句子长度下降</a:t>
            </a:r>
            <a:endParaRPr lang="en-US" sz="14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0" name="Shape 30"/>
          <p:cNvSpPr/>
          <p:nvPr/>
        </p:nvSpPr>
        <p:spPr>
          <a:xfrm>
            <a:off x="4471630" y="3169923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38100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1" name="Shape 31"/>
          <p:cNvSpPr/>
          <p:nvPr/>
        </p:nvSpPr>
        <p:spPr>
          <a:xfrm>
            <a:off x="4471630" y="316992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82" name="Shape 32"/>
          <p:cNvSpPr/>
          <p:nvPr/>
        </p:nvSpPr>
        <p:spPr>
          <a:xfrm>
            <a:off x="4662130" y="33451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3" name="Text 33"/>
          <p:cNvSpPr/>
          <p:nvPr/>
        </p:nvSpPr>
        <p:spPr>
          <a:xfrm>
            <a:off x="4885690" y="3329940"/>
            <a:ext cx="188468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GPT-4解决方案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 34"/>
          <p:cNvSpPr/>
          <p:nvPr/>
        </p:nvSpPr>
        <p:spPr>
          <a:xfrm>
            <a:off x="4643120" y="3589020"/>
            <a:ext cx="30956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引入</a:t>
            </a:r>
            <a:r>
              <a:rPr lang="en-US" sz="1400" dirty="0">
                <a:solidFill>
                  <a:srgbClr val="C00000"/>
                </a:solidFill>
                <a:highlight>
                  <a:srgbClr val="778DA9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句法特征辅助编码 </a:t>
            </a: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，深入分析语法结构，优化目标语言的语序生成逻辑</a:t>
            </a:r>
            <a:endParaRPr lang="en-US" sz="14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Shape 35"/>
          <p:cNvSpPr/>
          <p:nvPr/>
        </p:nvSpPr>
        <p:spPr>
          <a:xfrm>
            <a:off x="4452580" y="4389123"/>
            <a:ext cx="3286125" cy="419100"/>
          </a:xfrm>
          <a:custGeom>
            <a:avLst/>
            <a:gdLst/>
            <a:ahLst/>
            <a:cxnLst/>
            <a:rect l="l" t="t" r="r" b="b"/>
            <a:pathLst>
              <a:path w="3286125" h="419100">
                <a:moveTo>
                  <a:pt x="76201" y="0"/>
                </a:moveTo>
                <a:lnTo>
                  <a:pt x="3209924" y="0"/>
                </a:lnTo>
                <a:cubicBezTo>
                  <a:pt x="3252009" y="0"/>
                  <a:pt x="3286125" y="34116"/>
                  <a:pt x="3286125" y="76201"/>
                </a:cubicBezTo>
                <a:lnTo>
                  <a:pt x="3286125" y="342899"/>
                </a:lnTo>
                <a:cubicBezTo>
                  <a:pt x="3286125" y="384984"/>
                  <a:pt x="3252009" y="419100"/>
                  <a:pt x="32099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86" name="Shape 36"/>
          <p:cNvSpPr/>
          <p:nvPr/>
        </p:nvSpPr>
        <p:spPr>
          <a:xfrm>
            <a:off x="4602599" y="452628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7" name="Text 37"/>
          <p:cNvSpPr/>
          <p:nvPr/>
        </p:nvSpPr>
        <p:spPr>
          <a:xfrm>
            <a:off x="4795480" y="4503423"/>
            <a:ext cx="289560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效果：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BLEU分数在长句翻译中提升+3.5分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Shape 38"/>
          <p:cNvSpPr/>
          <p:nvPr/>
        </p:nvSpPr>
        <p:spPr>
          <a:xfrm>
            <a:off x="8131731" y="1070610"/>
            <a:ext cx="3674745" cy="4122420"/>
          </a:xfrm>
          <a:custGeom>
            <a:avLst/>
            <a:gdLst/>
            <a:ahLst/>
            <a:cxnLst/>
            <a:rect l="l" t="t" r="r" b="b"/>
            <a:pathLst>
              <a:path w="3674745" h="4122420">
                <a:moveTo>
                  <a:pt x="114285" y="0"/>
                </a:moveTo>
                <a:lnTo>
                  <a:pt x="3560460" y="0"/>
                </a:lnTo>
                <a:cubicBezTo>
                  <a:pt x="3623536" y="0"/>
                  <a:pt x="3674745" y="51209"/>
                  <a:pt x="3674745" y="114285"/>
                </a:cubicBezTo>
                <a:lnTo>
                  <a:pt x="3674745" y="4008135"/>
                </a:lnTo>
                <a:cubicBezTo>
                  <a:pt x="3674745" y="4071211"/>
                  <a:pt x="3623536" y="4122420"/>
                  <a:pt x="3560460" y="4122420"/>
                </a:cubicBezTo>
                <a:lnTo>
                  <a:pt x="114285" y="4122420"/>
                </a:lnTo>
                <a:cubicBezTo>
                  <a:pt x="51209" y="4122420"/>
                  <a:pt x="0" y="4071211"/>
                  <a:pt x="0" y="4008135"/>
                </a:cubicBezTo>
                <a:lnTo>
                  <a:pt x="0" y="114285"/>
                </a:lnTo>
                <a:cubicBezTo>
                  <a:pt x="0" y="51209"/>
                  <a:pt x="51209" y="0"/>
                  <a:pt x="11428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89" name="Shape 39"/>
          <p:cNvSpPr/>
          <p:nvPr/>
        </p:nvSpPr>
        <p:spPr>
          <a:xfrm>
            <a:off x="8326041" y="126492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0" name="Shape 40"/>
          <p:cNvSpPr/>
          <p:nvPr/>
        </p:nvSpPr>
        <p:spPr>
          <a:xfrm>
            <a:off x="8478441" y="141732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324" y="127159"/>
                </a:moveTo>
                <a:cubicBezTo>
                  <a:pt x="24199" y="128096"/>
                  <a:pt x="26343" y="128588"/>
                  <a:pt x="28575" y="128588"/>
                </a:cubicBezTo>
                <a:lnTo>
                  <a:pt x="51212" y="128588"/>
                </a:lnTo>
                <a:cubicBezTo>
                  <a:pt x="55007" y="128588"/>
                  <a:pt x="58623" y="130106"/>
                  <a:pt x="61302" y="132784"/>
                </a:cubicBezTo>
                <a:lnTo>
                  <a:pt x="67241" y="138723"/>
                </a:lnTo>
                <a:cubicBezTo>
                  <a:pt x="69919" y="141402"/>
                  <a:pt x="73536" y="142920"/>
                  <a:pt x="77331" y="142920"/>
                </a:cubicBezTo>
                <a:lnTo>
                  <a:pt x="85680" y="142920"/>
                </a:lnTo>
                <a:cubicBezTo>
                  <a:pt x="93583" y="142920"/>
                  <a:pt x="99968" y="136535"/>
                  <a:pt x="99968" y="128632"/>
                </a:cubicBezTo>
                <a:lnTo>
                  <a:pt x="99968" y="110773"/>
                </a:lnTo>
                <a:cubicBezTo>
                  <a:pt x="99968" y="104835"/>
                  <a:pt x="104745" y="100057"/>
                  <a:pt x="110683" y="100057"/>
                </a:cubicBezTo>
                <a:cubicBezTo>
                  <a:pt x="116622" y="100057"/>
                  <a:pt x="121399" y="95280"/>
                  <a:pt x="121399" y="89342"/>
                </a:cubicBezTo>
                <a:lnTo>
                  <a:pt x="121399" y="70277"/>
                </a:lnTo>
                <a:cubicBezTo>
                  <a:pt x="121399" y="66482"/>
                  <a:pt x="122917" y="62865"/>
                  <a:pt x="125596" y="60186"/>
                </a:cubicBezTo>
                <a:lnTo>
                  <a:pt x="131534" y="54248"/>
                </a:lnTo>
                <a:cubicBezTo>
                  <a:pt x="134213" y="51569"/>
                  <a:pt x="135731" y="47952"/>
                  <a:pt x="135731" y="44157"/>
                </a:cubicBezTo>
                <a:lnTo>
                  <a:pt x="135731" y="25450"/>
                </a:lnTo>
                <a:cubicBezTo>
                  <a:pt x="135731" y="24914"/>
                  <a:pt x="135687" y="24423"/>
                  <a:pt x="135642" y="23887"/>
                </a:cubicBezTo>
                <a:cubicBezTo>
                  <a:pt x="128766" y="22280"/>
                  <a:pt x="121622" y="21431"/>
                  <a:pt x="114300" y="21431"/>
                </a:cubicBezTo>
                <a:cubicBezTo>
                  <a:pt x="62999" y="21431"/>
                  <a:pt x="21431" y="62999"/>
                  <a:pt x="21431" y="114300"/>
                </a:cubicBezTo>
                <a:cubicBezTo>
                  <a:pt x="21431" y="118676"/>
                  <a:pt x="21744" y="122962"/>
                  <a:pt x="22324" y="127159"/>
                </a:cubicBezTo>
                <a:close/>
                <a:moveTo>
                  <a:pt x="202391" y="143813"/>
                </a:moveTo>
                <a:cubicBezTo>
                  <a:pt x="200963" y="143188"/>
                  <a:pt x="199400" y="142875"/>
                  <a:pt x="197703" y="142875"/>
                </a:cubicBezTo>
                <a:lnTo>
                  <a:pt x="192881" y="142875"/>
                </a:lnTo>
                <a:cubicBezTo>
                  <a:pt x="188952" y="142875"/>
                  <a:pt x="185738" y="139660"/>
                  <a:pt x="185738" y="135731"/>
                </a:cubicBezTo>
                <a:cubicBezTo>
                  <a:pt x="185738" y="131802"/>
                  <a:pt x="182523" y="128588"/>
                  <a:pt x="178594" y="128588"/>
                </a:cubicBezTo>
                <a:lnTo>
                  <a:pt x="163101" y="128588"/>
                </a:lnTo>
                <a:cubicBezTo>
                  <a:pt x="159306" y="128588"/>
                  <a:pt x="155689" y="130106"/>
                  <a:pt x="153010" y="132784"/>
                </a:cubicBezTo>
                <a:lnTo>
                  <a:pt x="132784" y="153010"/>
                </a:lnTo>
                <a:cubicBezTo>
                  <a:pt x="130106" y="155689"/>
                  <a:pt x="128588" y="159306"/>
                  <a:pt x="128588" y="163101"/>
                </a:cubicBezTo>
                <a:lnTo>
                  <a:pt x="128588" y="171450"/>
                </a:lnTo>
                <a:cubicBezTo>
                  <a:pt x="128588" y="179353"/>
                  <a:pt x="134972" y="185738"/>
                  <a:pt x="142875" y="185738"/>
                </a:cubicBezTo>
                <a:lnTo>
                  <a:pt x="151224" y="185738"/>
                </a:lnTo>
                <a:cubicBezTo>
                  <a:pt x="155019" y="185738"/>
                  <a:pt x="158636" y="187256"/>
                  <a:pt x="161315" y="189934"/>
                </a:cubicBezTo>
                <a:cubicBezTo>
                  <a:pt x="162297" y="190917"/>
                  <a:pt x="163413" y="191765"/>
                  <a:pt x="164574" y="192390"/>
                </a:cubicBezTo>
                <a:cubicBezTo>
                  <a:pt x="182121" y="181049"/>
                  <a:pt x="195605" y="163994"/>
                  <a:pt x="202347" y="143813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57150" y="164306"/>
                </a:moveTo>
                <a:cubicBezTo>
                  <a:pt x="57150" y="168235"/>
                  <a:pt x="60365" y="171450"/>
                  <a:pt x="64294" y="171450"/>
                </a:cubicBezTo>
                <a:lnTo>
                  <a:pt x="78581" y="171450"/>
                </a:lnTo>
                <a:cubicBezTo>
                  <a:pt x="82510" y="171450"/>
                  <a:pt x="85725" y="168235"/>
                  <a:pt x="85725" y="164306"/>
                </a:cubicBezTo>
                <a:cubicBezTo>
                  <a:pt x="85725" y="160377"/>
                  <a:pt x="82510" y="157163"/>
                  <a:pt x="78581" y="157163"/>
                </a:cubicBezTo>
                <a:lnTo>
                  <a:pt x="64294" y="157163"/>
                </a:lnTo>
                <a:cubicBezTo>
                  <a:pt x="60365" y="157163"/>
                  <a:pt x="57150" y="160377"/>
                  <a:pt x="57150" y="164306"/>
                </a:cubicBezTo>
                <a:close/>
                <a:moveTo>
                  <a:pt x="121444" y="114300"/>
                </a:moveTo>
                <a:cubicBezTo>
                  <a:pt x="117515" y="114300"/>
                  <a:pt x="114300" y="117515"/>
                  <a:pt x="114300" y="121444"/>
                </a:cubicBezTo>
                <a:lnTo>
                  <a:pt x="114300" y="135731"/>
                </a:lnTo>
                <a:cubicBezTo>
                  <a:pt x="114300" y="139660"/>
                  <a:pt x="117515" y="142875"/>
                  <a:pt x="121444" y="142875"/>
                </a:cubicBezTo>
                <a:cubicBezTo>
                  <a:pt x="125373" y="142875"/>
                  <a:pt x="128588" y="139660"/>
                  <a:pt x="128588" y="135731"/>
                </a:cubicBezTo>
                <a:lnTo>
                  <a:pt x="128588" y="121444"/>
                </a:lnTo>
                <a:cubicBezTo>
                  <a:pt x="128588" y="117515"/>
                  <a:pt x="125373" y="114300"/>
                  <a:pt x="121444" y="114300"/>
                </a:cubicBezTo>
                <a:close/>
                <a:moveTo>
                  <a:pt x="142875" y="64294"/>
                </a:moveTo>
                <a:lnTo>
                  <a:pt x="142875" y="78581"/>
                </a:lnTo>
                <a:cubicBezTo>
                  <a:pt x="142875" y="82510"/>
                  <a:pt x="146090" y="85725"/>
                  <a:pt x="150019" y="85725"/>
                </a:cubicBezTo>
                <a:cubicBezTo>
                  <a:pt x="153948" y="85725"/>
                  <a:pt x="157163" y="82510"/>
                  <a:pt x="157163" y="78581"/>
                </a:cubicBezTo>
                <a:lnTo>
                  <a:pt x="157163" y="64294"/>
                </a:lnTo>
                <a:cubicBezTo>
                  <a:pt x="157163" y="60365"/>
                  <a:pt x="153948" y="57150"/>
                  <a:pt x="150019" y="57150"/>
                </a:cubicBezTo>
                <a:cubicBezTo>
                  <a:pt x="146090" y="57150"/>
                  <a:pt x="142875" y="60365"/>
                  <a:pt x="142875" y="64294"/>
                </a:cubicBezTo>
                <a:close/>
              </a:path>
            </a:pathLst>
          </a:custGeom>
          <a:solidFill>
            <a:srgbClr val="E0E1DD"/>
          </a:solidFill>
        </p:spPr>
      </p:sp>
      <p:sp>
        <p:nvSpPr>
          <p:cNvPr id="91" name="Text 41"/>
          <p:cNvSpPr/>
          <p:nvPr/>
        </p:nvSpPr>
        <p:spPr>
          <a:xfrm>
            <a:off x="8973820" y="1398270"/>
            <a:ext cx="180784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低资源语言翻译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2" name="Shape 42"/>
          <p:cNvSpPr/>
          <p:nvPr/>
        </p:nvSpPr>
        <p:spPr>
          <a:xfrm>
            <a:off x="8345091" y="1950723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38100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3" name="Shape 43"/>
          <p:cNvSpPr/>
          <p:nvPr/>
        </p:nvSpPr>
        <p:spPr>
          <a:xfrm>
            <a:off x="8345091" y="195072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70000"/>
            </a:srgbClr>
          </a:solidFill>
        </p:spPr>
      </p:sp>
      <p:sp>
        <p:nvSpPr>
          <p:cNvPr id="94" name="Shape 44"/>
          <p:cNvSpPr/>
          <p:nvPr/>
        </p:nvSpPr>
        <p:spPr>
          <a:xfrm>
            <a:off x="8535591" y="21259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66675" y="35421"/>
                </a:moveTo>
                <a:cubicBezTo>
                  <a:pt x="70139" y="35421"/>
                  <a:pt x="72926" y="38208"/>
                  <a:pt x="72926" y="41672"/>
                </a:cubicBezTo>
                <a:lnTo>
                  <a:pt x="72926" y="70842"/>
                </a:lnTo>
                <a:cubicBezTo>
                  <a:pt x="72926" y="74306"/>
                  <a:pt x="70139" y="77093"/>
                  <a:pt x="66675" y="77093"/>
                </a:cubicBezTo>
                <a:cubicBezTo>
                  <a:pt x="63211" y="77093"/>
                  <a:pt x="60424" y="74306"/>
                  <a:pt x="60424" y="70842"/>
                </a:cubicBezTo>
                <a:lnTo>
                  <a:pt x="60424" y="41672"/>
                </a:lnTo>
                <a:cubicBezTo>
                  <a:pt x="60424" y="38208"/>
                  <a:pt x="63211" y="35421"/>
                  <a:pt x="66675" y="35421"/>
                </a:cubicBezTo>
                <a:close/>
                <a:moveTo>
                  <a:pt x="59721" y="91678"/>
                </a:moveTo>
                <a:cubicBezTo>
                  <a:pt x="59563" y="89097"/>
                  <a:pt x="60850" y="86641"/>
                  <a:pt x="63063" y="85303"/>
                </a:cubicBezTo>
                <a:cubicBezTo>
                  <a:pt x="65276" y="83964"/>
                  <a:pt x="68048" y="83964"/>
                  <a:pt x="70261" y="85303"/>
                </a:cubicBezTo>
                <a:cubicBezTo>
                  <a:pt x="72474" y="86641"/>
                  <a:pt x="73761" y="89097"/>
                  <a:pt x="73603" y="91678"/>
                </a:cubicBezTo>
                <a:cubicBezTo>
                  <a:pt x="73761" y="94259"/>
                  <a:pt x="72474" y="96715"/>
                  <a:pt x="70261" y="98054"/>
                </a:cubicBezTo>
                <a:cubicBezTo>
                  <a:pt x="68048" y="99392"/>
                  <a:pt x="65276" y="99392"/>
                  <a:pt x="63063" y="98054"/>
                </a:cubicBezTo>
                <a:cubicBezTo>
                  <a:pt x="60850" y="96715"/>
                  <a:pt x="59563" y="94259"/>
                  <a:pt x="59721" y="9167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5" name="Text 45"/>
          <p:cNvSpPr/>
          <p:nvPr/>
        </p:nvSpPr>
        <p:spPr>
          <a:xfrm>
            <a:off x="8759190" y="2110740"/>
            <a:ext cx="824865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挑战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6" name="Text 46"/>
          <p:cNvSpPr/>
          <p:nvPr/>
        </p:nvSpPr>
        <p:spPr>
          <a:xfrm>
            <a:off x="8516541" y="2369823"/>
            <a:ext cx="301942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小语种或特定垂直领域训练数据稀缺，模型效果不佳</a:t>
            </a:r>
            <a:endParaRPr lang="en-US" sz="14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7" name="Shape 47"/>
          <p:cNvSpPr/>
          <p:nvPr/>
        </p:nvSpPr>
        <p:spPr>
          <a:xfrm>
            <a:off x="8345091" y="3169923"/>
            <a:ext cx="3267075" cy="1066800"/>
          </a:xfrm>
          <a:custGeom>
            <a:avLst/>
            <a:gdLst/>
            <a:ahLst/>
            <a:cxnLst/>
            <a:rect l="l" t="t" r="r" b="b"/>
            <a:pathLst>
              <a:path w="3267075" h="1066800">
                <a:moveTo>
                  <a:pt x="38100" y="0"/>
                </a:moveTo>
                <a:lnTo>
                  <a:pt x="3190873" y="0"/>
                </a:lnTo>
                <a:cubicBezTo>
                  <a:pt x="3232958" y="0"/>
                  <a:pt x="3267075" y="34117"/>
                  <a:pt x="3267075" y="76202"/>
                </a:cubicBezTo>
                <a:lnTo>
                  <a:pt x="3267075" y="990598"/>
                </a:lnTo>
                <a:cubicBezTo>
                  <a:pt x="3267075" y="1032683"/>
                  <a:pt x="3232958" y="1066800"/>
                  <a:pt x="3190873" y="1066800"/>
                </a:cubicBez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8" name="Shape 48"/>
          <p:cNvSpPr/>
          <p:nvPr/>
        </p:nvSpPr>
        <p:spPr>
          <a:xfrm>
            <a:off x="8345091" y="3169923"/>
            <a:ext cx="38100" cy="1066800"/>
          </a:xfrm>
          <a:custGeom>
            <a:avLst/>
            <a:gdLst/>
            <a:ahLst/>
            <a:cxnLst/>
            <a:rect l="l" t="t" r="r" b="b"/>
            <a:pathLst>
              <a:path w="38100" h="1066800">
                <a:moveTo>
                  <a:pt x="38100" y="0"/>
                </a:moveTo>
                <a:lnTo>
                  <a:pt x="38100" y="0"/>
                </a:lnTo>
                <a:lnTo>
                  <a:pt x="38100" y="1066800"/>
                </a:lnTo>
                <a:lnTo>
                  <a:pt x="38100" y="1066800"/>
                </a:lnTo>
                <a:cubicBezTo>
                  <a:pt x="17072" y="1066800"/>
                  <a:pt x="0" y="1049728"/>
                  <a:pt x="0" y="1028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99" name="Shape 49"/>
          <p:cNvSpPr/>
          <p:nvPr/>
        </p:nvSpPr>
        <p:spPr>
          <a:xfrm>
            <a:off x="8535591" y="33451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0" name="Text 50"/>
          <p:cNvSpPr/>
          <p:nvPr/>
        </p:nvSpPr>
        <p:spPr>
          <a:xfrm>
            <a:off x="8759190" y="3329940"/>
            <a:ext cx="1282700" cy="1752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GPT-4解决方案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1" name="Text 51"/>
          <p:cNvSpPr/>
          <p:nvPr/>
        </p:nvSpPr>
        <p:spPr>
          <a:xfrm>
            <a:off x="8489950" y="3589020"/>
            <a:ext cx="3192780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跨语言迁移学习 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技术，将高资源语言的知识迁移至低资源语言，提升翻译覆盖度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Shape 52"/>
          <p:cNvSpPr/>
          <p:nvPr/>
        </p:nvSpPr>
        <p:spPr>
          <a:xfrm>
            <a:off x="8326041" y="4389123"/>
            <a:ext cx="3286125" cy="609600"/>
          </a:xfrm>
          <a:custGeom>
            <a:avLst/>
            <a:gdLst/>
            <a:ahLst/>
            <a:cxnLst/>
            <a:rect l="l" t="t" r="r" b="b"/>
            <a:pathLst>
              <a:path w="3286125" h="609600">
                <a:moveTo>
                  <a:pt x="76200" y="0"/>
                </a:moveTo>
                <a:lnTo>
                  <a:pt x="3209925" y="0"/>
                </a:lnTo>
                <a:cubicBezTo>
                  <a:pt x="3251981" y="0"/>
                  <a:pt x="3286125" y="34144"/>
                  <a:pt x="3286125" y="76200"/>
                </a:cubicBezTo>
                <a:lnTo>
                  <a:pt x="3286125" y="533400"/>
                </a:lnTo>
                <a:cubicBezTo>
                  <a:pt x="3286125" y="575456"/>
                  <a:pt x="3251981" y="609600"/>
                  <a:pt x="3209925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</p:spPr>
      </p:sp>
      <p:sp>
        <p:nvSpPr>
          <p:cNvPr id="103" name="Shape 53"/>
          <p:cNvSpPr/>
          <p:nvPr/>
        </p:nvSpPr>
        <p:spPr>
          <a:xfrm>
            <a:off x="8476059" y="4526282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4" name="Text 54"/>
          <p:cNvSpPr/>
          <p:nvPr/>
        </p:nvSpPr>
        <p:spPr>
          <a:xfrm>
            <a:off x="8668941" y="4503423"/>
            <a:ext cx="2895600" cy="381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突破：</a:t>
            </a: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支持100+语言，低资源语言BLEU提升+40%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Shape 55"/>
          <p:cNvSpPr/>
          <p:nvPr/>
        </p:nvSpPr>
        <p:spPr>
          <a:xfrm>
            <a:off x="384810" y="5353051"/>
            <a:ext cx="11418570" cy="1131570"/>
          </a:xfrm>
          <a:custGeom>
            <a:avLst/>
            <a:gdLst/>
            <a:ahLst/>
            <a:cxnLst/>
            <a:rect l="l" t="t" r="r" b="b"/>
            <a:pathLst>
              <a:path w="11418570" h="1131570">
                <a:moveTo>
                  <a:pt x="114300" y="0"/>
                </a:moveTo>
                <a:lnTo>
                  <a:pt x="11304270" y="0"/>
                </a:lnTo>
                <a:cubicBezTo>
                  <a:pt x="11367396" y="0"/>
                  <a:pt x="11418570" y="51174"/>
                  <a:pt x="11418570" y="114300"/>
                </a:cubicBezTo>
                <a:lnTo>
                  <a:pt x="11418570" y="1017270"/>
                </a:lnTo>
                <a:cubicBezTo>
                  <a:pt x="11418570" y="1080396"/>
                  <a:pt x="11367396" y="1131570"/>
                  <a:pt x="11304270" y="1131570"/>
                </a:cubicBezTo>
                <a:lnTo>
                  <a:pt x="114300" y="1131570"/>
                </a:lnTo>
                <a:cubicBezTo>
                  <a:pt x="51174" y="1131570"/>
                  <a:pt x="0" y="1080396"/>
                  <a:pt x="0" y="101727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06" name="Shape 56"/>
          <p:cNvSpPr/>
          <p:nvPr/>
        </p:nvSpPr>
        <p:spPr>
          <a:xfrm>
            <a:off x="579120" y="5774057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7" name="Text 57"/>
          <p:cNvSpPr/>
          <p:nvPr/>
        </p:nvSpPr>
        <p:spPr>
          <a:xfrm>
            <a:off x="1050608" y="5535932"/>
            <a:ext cx="724852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GPT-4机器翻译综合提升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 58"/>
          <p:cNvSpPr/>
          <p:nvPr/>
        </p:nvSpPr>
        <p:spPr>
          <a:xfrm>
            <a:off x="1050608" y="5840732"/>
            <a:ext cx="7239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通过注意力机制优化、大规模预训练和指令微调，GPT-4在WMT24等多项基准测试中达到顶尖水平，在语境理解、专业术语翻译等方面显著优于传统神经机器翻译系统</a:t>
            </a:r>
            <a:endParaRPr lang="en-US" sz="14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Shape 59"/>
          <p:cNvSpPr/>
          <p:nvPr/>
        </p:nvSpPr>
        <p:spPr>
          <a:xfrm>
            <a:off x="8366998" y="5513074"/>
            <a:ext cx="988695" cy="807720"/>
          </a:xfrm>
          <a:custGeom>
            <a:avLst/>
            <a:gdLst/>
            <a:ahLst/>
            <a:cxnLst/>
            <a:rect l="l" t="t" r="r" b="b"/>
            <a:pathLst>
              <a:path w="988695" h="807720">
                <a:moveTo>
                  <a:pt x="76200" y="0"/>
                </a:moveTo>
                <a:lnTo>
                  <a:pt x="912495" y="0"/>
                </a:lnTo>
                <a:cubicBezTo>
                  <a:pt x="954579" y="0"/>
                  <a:pt x="988695" y="34116"/>
                  <a:pt x="988695" y="76200"/>
                </a:cubicBezTo>
                <a:lnTo>
                  <a:pt x="988695" y="731520"/>
                </a:lnTo>
                <a:cubicBezTo>
                  <a:pt x="988695" y="773604"/>
                  <a:pt x="954579" y="807720"/>
                  <a:pt x="912495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B10015"/>
          </a:solidFill>
          <a:ln w="10160">
            <a:solidFill>
              <a:srgbClr val="B10015">
                <a:alpha val="30196"/>
              </a:srgbClr>
            </a:solidFill>
            <a:prstDash val="solid"/>
          </a:ln>
        </p:spPr>
      </p:sp>
      <p:sp>
        <p:nvSpPr>
          <p:cNvPr id="110" name="Text 60"/>
          <p:cNvSpPr/>
          <p:nvPr/>
        </p:nvSpPr>
        <p:spPr>
          <a:xfrm>
            <a:off x="8489871" y="5631182"/>
            <a:ext cx="74295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+5.0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111" name="Text 61"/>
          <p:cNvSpPr/>
          <p:nvPr/>
        </p:nvSpPr>
        <p:spPr>
          <a:xfrm>
            <a:off x="8543925" y="6012180"/>
            <a:ext cx="71945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BLEU提升</a:t>
            </a:r>
            <a:endParaRPr 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Shape 62"/>
          <p:cNvSpPr/>
          <p:nvPr/>
        </p:nvSpPr>
        <p:spPr>
          <a:xfrm>
            <a:off x="9517380" y="5513074"/>
            <a:ext cx="941070" cy="807720"/>
          </a:xfrm>
          <a:custGeom>
            <a:avLst/>
            <a:gdLst/>
            <a:ahLst/>
            <a:cxnLst/>
            <a:rect l="l" t="t" r="r" b="b"/>
            <a:pathLst>
              <a:path w="941070" h="807720">
                <a:moveTo>
                  <a:pt x="76200" y="0"/>
                </a:moveTo>
                <a:lnTo>
                  <a:pt x="864870" y="0"/>
                </a:lnTo>
                <a:cubicBezTo>
                  <a:pt x="906954" y="0"/>
                  <a:pt x="941070" y="34116"/>
                  <a:pt x="941070" y="76200"/>
                </a:cubicBezTo>
                <a:lnTo>
                  <a:pt x="941070" y="731520"/>
                </a:lnTo>
                <a:cubicBezTo>
                  <a:pt x="941070" y="773604"/>
                  <a:pt x="906954" y="807720"/>
                  <a:pt x="864870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B10015"/>
          </a:solidFill>
          <a:ln w="10160">
            <a:solidFill>
              <a:srgbClr val="B10015">
                <a:alpha val="30196"/>
              </a:srgbClr>
            </a:solidFill>
            <a:prstDash val="solid"/>
          </a:ln>
        </p:spPr>
      </p:sp>
      <p:sp>
        <p:nvSpPr>
          <p:cNvPr id="113" name="Text 63"/>
          <p:cNvSpPr/>
          <p:nvPr/>
        </p:nvSpPr>
        <p:spPr>
          <a:xfrm>
            <a:off x="9640253" y="5631182"/>
            <a:ext cx="69532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70%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114" name="Text 64"/>
          <p:cNvSpPr/>
          <p:nvPr/>
        </p:nvSpPr>
        <p:spPr>
          <a:xfrm>
            <a:off x="9678353" y="6012182"/>
            <a:ext cx="6191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成功率</a:t>
            </a:r>
            <a:endParaRPr 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15" name="Shape 65"/>
          <p:cNvSpPr/>
          <p:nvPr/>
        </p:nvSpPr>
        <p:spPr>
          <a:xfrm>
            <a:off x="10621328" y="5513074"/>
            <a:ext cx="1026795" cy="807720"/>
          </a:xfrm>
          <a:custGeom>
            <a:avLst/>
            <a:gdLst/>
            <a:ahLst/>
            <a:cxnLst/>
            <a:rect l="l" t="t" r="r" b="b"/>
            <a:pathLst>
              <a:path w="1026795" h="807720">
                <a:moveTo>
                  <a:pt x="76200" y="0"/>
                </a:moveTo>
                <a:lnTo>
                  <a:pt x="950595" y="0"/>
                </a:lnTo>
                <a:cubicBezTo>
                  <a:pt x="992679" y="0"/>
                  <a:pt x="1026795" y="34116"/>
                  <a:pt x="1026795" y="76200"/>
                </a:cubicBezTo>
                <a:lnTo>
                  <a:pt x="1026795" y="731520"/>
                </a:lnTo>
                <a:cubicBezTo>
                  <a:pt x="1026795" y="773604"/>
                  <a:pt x="992679" y="807720"/>
                  <a:pt x="950595" y="807720"/>
                </a:cubicBezTo>
                <a:lnTo>
                  <a:pt x="76200" y="807720"/>
                </a:lnTo>
                <a:cubicBezTo>
                  <a:pt x="34116" y="807720"/>
                  <a:pt x="0" y="773604"/>
                  <a:pt x="0" y="731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B10015"/>
          </a:solidFill>
          <a:ln w="10160">
            <a:solidFill>
              <a:srgbClr val="B10015">
                <a:alpha val="30196"/>
              </a:srgbClr>
            </a:solidFill>
            <a:prstDash val="solid"/>
          </a:ln>
        </p:spPr>
      </p:sp>
      <p:sp>
        <p:nvSpPr>
          <p:cNvPr id="116" name="Text 66"/>
          <p:cNvSpPr/>
          <p:nvPr/>
        </p:nvSpPr>
        <p:spPr>
          <a:xfrm>
            <a:off x="10675620" y="5631180"/>
            <a:ext cx="903605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100+</a:t>
            </a:r>
            <a:endParaRPr 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117" name="Text 67"/>
          <p:cNvSpPr/>
          <p:nvPr/>
        </p:nvSpPr>
        <p:spPr>
          <a:xfrm>
            <a:off x="10782300" y="6012182"/>
            <a:ext cx="704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支持语言</a:t>
            </a:r>
            <a:endParaRPr lang="en-US" sz="12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760984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智能问答：精准答案生成的技术突破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2" name="Shape 4"/>
          <p:cNvSpPr/>
          <p:nvPr/>
        </p:nvSpPr>
        <p:spPr>
          <a:xfrm>
            <a:off x="369787" y="992202"/>
            <a:ext cx="5490061" cy="2112548"/>
          </a:xfrm>
          <a:custGeom>
            <a:avLst/>
            <a:gdLst/>
            <a:ahLst/>
            <a:cxnLst/>
            <a:rect l="l" t="t" r="r" b="b"/>
            <a:pathLst>
              <a:path w="5490061" h="2112548">
                <a:moveTo>
                  <a:pt x="109831" y="0"/>
                </a:moveTo>
                <a:lnTo>
                  <a:pt x="5380230" y="0"/>
                </a:lnTo>
                <a:cubicBezTo>
                  <a:pt x="5440888" y="0"/>
                  <a:pt x="5490061" y="49173"/>
                  <a:pt x="5490061" y="109831"/>
                </a:cubicBezTo>
                <a:lnTo>
                  <a:pt x="5490061" y="2002716"/>
                </a:lnTo>
                <a:cubicBezTo>
                  <a:pt x="5490061" y="2063375"/>
                  <a:pt x="5440888" y="2112548"/>
                  <a:pt x="5380230" y="2112548"/>
                </a:cubicBezTo>
                <a:lnTo>
                  <a:pt x="109831" y="2112548"/>
                </a:lnTo>
                <a:cubicBezTo>
                  <a:pt x="49173" y="2112548"/>
                  <a:pt x="0" y="2063375"/>
                  <a:pt x="0" y="2002716"/>
                </a:cubicBezTo>
                <a:lnTo>
                  <a:pt x="0" y="109831"/>
                </a:lnTo>
                <a:cubicBezTo>
                  <a:pt x="0" y="49173"/>
                  <a:pt x="49173" y="0"/>
                  <a:pt x="109831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20" name="Shape 5"/>
          <p:cNvSpPr/>
          <p:nvPr/>
        </p:nvSpPr>
        <p:spPr>
          <a:xfrm>
            <a:off x="583971" y="1197235"/>
            <a:ext cx="219676" cy="219676"/>
          </a:xfrm>
          <a:custGeom>
            <a:avLst/>
            <a:gdLst/>
            <a:ahLst/>
            <a:cxnLst/>
            <a:rect l="l" t="t" r="r" b="b"/>
            <a:pathLst>
              <a:path w="219676" h="219676">
                <a:moveTo>
                  <a:pt x="192216" y="109838"/>
                </a:moveTo>
                <a:cubicBezTo>
                  <a:pt x="192216" y="64372"/>
                  <a:pt x="155304" y="27459"/>
                  <a:pt x="109838" y="27459"/>
                </a:cubicBezTo>
                <a:cubicBezTo>
                  <a:pt x="64372" y="27459"/>
                  <a:pt x="27459" y="64372"/>
                  <a:pt x="27459" y="109838"/>
                </a:cubicBezTo>
                <a:cubicBezTo>
                  <a:pt x="27459" y="155304"/>
                  <a:pt x="64372" y="192216"/>
                  <a:pt x="109838" y="192216"/>
                </a:cubicBezTo>
                <a:cubicBezTo>
                  <a:pt x="155304" y="192216"/>
                  <a:pt x="192216" y="155304"/>
                  <a:pt x="192216" y="109838"/>
                </a:cubicBezTo>
                <a:close/>
                <a:moveTo>
                  <a:pt x="0" y="109838"/>
                </a:moveTo>
                <a:cubicBezTo>
                  <a:pt x="0" y="49217"/>
                  <a:pt x="49217" y="0"/>
                  <a:pt x="109838" y="0"/>
                </a:cubicBezTo>
                <a:cubicBezTo>
                  <a:pt x="170459" y="0"/>
                  <a:pt x="219676" y="49217"/>
                  <a:pt x="219676" y="109838"/>
                </a:cubicBezTo>
                <a:cubicBezTo>
                  <a:pt x="219676" y="170459"/>
                  <a:pt x="170459" y="219676"/>
                  <a:pt x="109838" y="219676"/>
                </a:cubicBezTo>
                <a:cubicBezTo>
                  <a:pt x="49217" y="219676"/>
                  <a:pt x="0" y="170459"/>
                  <a:pt x="0" y="109838"/>
                </a:cubicBezTo>
                <a:close/>
                <a:moveTo>
                  <a:pt x="109838" y="144162"/>
                </a:moveTo>
                <a:cubicBezTo>
                  <a:pt x="128782" y="144162"/>
                  <a:pt x="144162" y="128782"/>
                  <a:pt x="144162" y="109838"/>
                </a:cubicBezTo>
                <a:cubicBezTo>
                  <a:pt x="144162" y="90894"/>
                  <a:pt x="128782" y="75514"/>
                  <a:pt x="109838" y="75514"/>
                </a:cubicBezTo>
                <a:cubicBezTo>
                  <a:pt x="90894" y="75514"/>
                  <a:pt x="75514" y="90894"/>
                  <a:pt x="75514" y="109838"/>
                </a:cubicBezTo>
                <a:cubicBezTo>
                  <a:pt x="75514" y="128782"/>
                  <a:pt x="90894" y="144162"/>
                  <a:pt x="109838" y="144162"/>
                </a:cubicBezTo>
                <a:close/>
                <a:moveTo>
                  <a:pt x="109838" y="48054"/>
                </a:moveTo>
                <a:cubicBezTo>
                  <a:pt x="143937" y="48054"/>
                  <a:pt x="171622" y="75738"/>
                  <a:pt x="171622" y="109838"/>
                </a:cubicBezTo>
                <a:cubicBezTo>
                  <a:pt x="171622" y="143937"/>
                  <a:pt x="143937" y="171622"/>
                  <a:pt x="109838" y="171622"/>
                </a:cubicBezTo>
                <a:cubicBezTo>
                  <a:pt x="75738" y="171622"/>
                  <a:pt x="48054" y="143937"/>
                  <a:pt x="48054" y="109838"/>
                </a:cubicBezTo>
                <a:cubicBezTo>
                  <a:pt x="48054" y="75738"/>
                  <a:pt x="75738" y="48054"/>
                  <a:pt x="109838" y="48054"/>
                </a:cubicBezTo>
                <a:close/>
                <a:moveTo>
                  <a:pt x="96108" y="109838"/>
                </a:moveTo>
                <a:cubicBezTo>
                  <a:pt x="96108" y="102260"/>
                  <a:pt x="102260" y="96108"/>
                  <a:pt x="109838" y="96108"/>
                </a:cubicBezTo>
                <a:cubicBezTo>
                  <a:pt x="117415" y="96108"/>
                  <a:pt x="123568" y="102260"/>
                  <a:pt x="123568" y="109838"/>
                </a:cubicBezTo>
                <a:cubicBezTo>
                  <a:pt x="123568" y="117415"/>
                  <a:pt x="117415" y="123568"/>
                  <a:pt x="109838" y="123568"/>
                </a:cubicBezTo>
                <a:cubicBezTo>
                  <a:pt x="102260" y="123568"/>
                  <a:pt x="96108" y="117415"/>
                  <a:pt x="96108" y="10983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1" name="Text 6"/>
          <p:cNvSpPr/>
          <p:nvPr/>
        </p:nvSpPr>
        <p:spPr>
          <a:xfrm>
            <a:off x="940944" y="1178929"/>
            <a:ext cx="823784" cy="256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核心目标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2" name="Text 7"/>
          <p:cNvSpPr/>
          <p:nvPr/>
        </p:nvSpPr>
        <p:spPr>
          <a:xfrm>
            <a:off x="556512" y="1581668"/>
            <a:ext cx="5189838" cy="4759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致力于生成</a:t>
            </a:r>
            <a:r>
              <a:rPr lang="en-US" sz="1400" dirty="0">
                <a:solidFill>
                  <a:schemeClr val="tx1"/>
                </a:solidFill>
                <a:highlight>
                  <a:srgbClr val="778DA9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精准、简洁且有事实依据 </a:t>
            </a: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的答案，支持开放域与封闭域问答场景，确保答案可追溯、减少幻觉</a:t>
            </a:r>
            <a:endParaRPr lang="en-US" sz="14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Shape 8"/>
          <p:cNvSpPr/>
          <p:nvPr/>
        </p:nvSpPr>
        <p:spPr>
          <a:xfrm>
            <a:off x="560173" y="2207743"/>
            <a:ext cx="2496980" cy="702962"/>
          </a:xfrm>
          <a:custGeom>
            <a:avLst/>
            <a:gdLst/>
            <a:ahLst/>
            <a:cxnLst/>
            <a:rect l="l" t="t" r="r" b="b"/>
            <a:pathLst>
              <a:path w="2496980" h="702962">
                <a:moveTo>
                  <a:pt x="73228" y="0"/>
                </a:moveTo>
                <a:lnTo>
                  <a:pt x="2423753" y="0"/>
                </a:lnTo>
                <a:cubicBezTo>
                  <a:pt x="2464195" y="0"/>
                  <a:pt x="2496980" y="32785"/>
                  <a:pt x="2496980" y="73228"/>
                </a:cubicBezTo>
                <a:lnTo>
                  <a:pt x="2496980" y="629735"/>
                </a:lnTo>
                <a:cubicBezTo>
                  <a:pt x="2496980" y="670177"/>
                  <a:pt x="2464195" y="702962"/>
                  <a:pt x="2423753" y="702962"/>
                </a:cubicBezTo>
                <a:lnTo>
                  <a:pt x="73228" y="702962"/>
                </a:lnTo>
                <a:cubicBezTo>
                  <a:pt x="32785" y="702962"/>
                  <a:pt x="0" y="670177"/>
                  <a:pt x="0" y="629735"/>
                </a:cubicBezTo>
                <a:lnTo>
                  <a:pt x="0" y="73228"/>
                </a:lnTo>
                <a:cubicBezTo>
                  <a:pt x="0" y="32785"/>
                  <a:pt x="32785" y="0"/>
                  <a:pt x="73228" y="0"/>
                </a:cubicBezTo>
                <a:close/>
              </a:path>
            </a:pathLst>
          </a:custGeom>
          <a:solidFill>
            <a:srgbClr val="B10015"/>
          </a:solidFill>
          <a:ln w="1016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24" name="Shape 9"/>
          <p:cNvSpPr/>
          <p:nvPr/>
        </p:nvSpPr>
        <p:spPr>
          <a:xfrm>
            <a:off x="1698596" y="2321241"/>
            <a:ext cx="219676" cy="219676"/>
          </a:xfrm>
          <a:custGeom>
            <a:avLst/>
            <a:gdLst/>
            <a:ahLst/>
            <a:cxnLst/>
            <a:rect l="l" t="t" r="r" b="b"/>
            <a:pathLst>
              <a:path w="219676" h="219676">
                <a:moveTo>
                  <a:pt x="150984" y="120135"/>
                </a:moveTo>
                <a:lnTo>
                  <a:pt x="69078" y="120135"/>
                </a:lnTo>
                <a:cubicBezTo>
                  <a:pt x="70322" y="147809"/>
                  <a:pt x="76457" y="173295"/>
                  <a:pt x="85167" y="191959"/>
                </a:cubicBezTo>
                <a:cubicBezTo>
                  <a:pt x="90058" y="202471"/>
                  <a:pt x="95336" y="209893"/>
                  <a:pt x="100227" y="214441"/>
                </a:cubicBezTo>
                <a:cubicBezTo>
                  <a:pt x="105032" y="218946"/>
                  <a:pt x="108336" y="219676"/>
                  <a:pt x="110052" y="219676"/>
                </a:cubicBezTo>
                <a:cubicBezTo>
                  <a:pt x="111769" y="219676"/>
                  <a:pt x="115072" y="218946"/>
                  <a:pt x="119878" y="214441"/>
                </a:cubicBezTo>
                <a:cubicBezTo>
                  <a:pt x="124769" y="209893"/>
                  <a:pt x="130046" y="202428"/>
                  <a:pt x="134937" y="191959"/>
                </a:cubicBezTo>
                <a:cubicBezTo>
                  <a:pt x="143647" y="173295"/>
                  <a:pt x="149783" y="147809"/>
                  <a:pt x="151027" y="120135"/>
                </a:cubicBezTo>
                <a:close/>
                <a:moveTo>
                  <a:pt x="69035" y="99541"/>
                </a:moveTo>
                <a:lnTo>
                  <a:pt x="150941" y="99541"/>
                </a:lnTo>
                <a:cubicBezTo>
                  <a:pt x="149740" y="71867"/>
                  <a:pt x="143604" y="46381"/>
                  <a:pt x="134895" y="27717"/>
                </a:cubicBezTo>
                <a:cubicBezTo>
                  <a:pt x="130003" y="17248"/>
                  <a:pt x="124726" y="9782"/>
                  <a:pt x="119835" y="5234"/>
                </a:cubicBezTo>
                <a:cubicBezTo>
                  <a:pt x="115029" y="729"/>
                  <a:pt x="111726" y="0"/>
                  <a:pt x="110009" y="0"/>
                </a:cubicBezTo>
                <a:cubicBezTo>
                  <a:pt x="108293" y="0"/>
                  <a:pt x="104990" y="729"/>
                  <a:pt x="100184" y="5234"/>
                </a:cubicBezTo>
                <a:cubicBezTo>
                  <a:pt x="95293" y="9782"/>
                  <a:pt x="90016" y="17248"/>
                  <a:pt x="85124" y="27717"/>
                </a:cubicBezTo>
                <a:cubicBezTo>
                  <a:pt x="76415" y="46381"/>
                  <a:pt x="70279" y="71867"/>
                  <a:pt x="69035" y="99541"/>
                </a:cubicBezTo>
                <a:close/>
                <a:moveTo>
                  <a:pt x="48440" y="99541"/>
                </a:moveTo>
                <a:cubicBezTo>
                  <a:pt x="49942" y="62814"/>
                  <a:pt x="59424" y="28704"/>
                  <a:pt x="73282" y="6307"/>
                </a:cubicBezTo>
                <a:cubicBezTo>
                  <a:pt x="33767" y="20294"/>
                  <a:pt x="4677" y="56292"/>
                  <a:pt x="644" y="99541"/>
                </a:cubicBezTo>
                <a:lnTo>
                  <a:pt x="48440" y="99541"/>
                </a:lnTo>
                <a:close/>
                <a:moveTo>
                  <a:pt x="644" y="120135"/>
                </a:moveTo>
                <a:cubicBezTo>
                  <a:pt x="4677" y="163384"/>
                  <a:pt x="33767" y="199381"/>
                  <a:pt x="73282" y="213369"/>
                </a:cubicBezTo>
                <a:cubicBezTo>
                  <a:pt x="59424" y="190972"/>
                  <a:pt x="49942" y="156862"/>
                  <a:pt x="48440" y="120135"/>
                </a:cubicBezTo>
                <a:lnTo>
                  <a:pt x="644" y="120135"/>
                </a:lnTo>
                <a:close/>
                <a:moveTo>
                  <a:pt x="171579" y="120135"/>
                </a:moveTo>
                <a:cubicBezTo>
                  <a:pt x="170077" y="156862"/>
                  <a:pt x="160595" y="190972"/>
                  <a:pt x="146736" y="213369"/>
                </a:cubicBezTo>
                <a:cubicBezTo>
                  <a:pt x="186252" y="199339"/>
                  <a:pt x="215342" y="163384"/>
                  <a:pt x="219375" y="120135"/>
                </a:cubicBezTo>
                <a:lnTo>
                  <a:pt x="171579" y="120135"/>
                </a:lnTo>
                <a:close/>
                <a:moveTo>
                  <a:pt x="219375" y="99541"/>
                </a:moveTo>
                <a:cubicBezTo>
                  <a:pt x="215342" y="56292"/>
                  <a:pt x="186252" y="20294"/>
                  <a:pt x="146736" y="6307"/>
                </a:cubicBezTo>
                <a:cubicBezTo>
                  <a:pt x="160595" y="28704"/>
                  <a:pt x="170077" y="62814"/>
                  <a:pt x="171579" y="99541"/>
                </a:cubicBezTo>
                <a:lnTo>
                  <a:pt x="219375" y="99541"/>
                </a:lnTo>
                <a:close/>
              </a:path>
            </a:pathLst>
          </a:custGeom>
          <a:solidFill>
            <a:schemeClr val="bg1"/>
          </a:solidFill>
        </p:spPr>
      </p:sp>
      <p:sp>
        <p:nvSpPr>
          <p:cNvPr id="25" name="Text 10"/>
          <p:cNvSpPr/>
          <p:nvPr/>
        </p:nvSpPr>
        <p:spPr>
          <a:xfrm>
            <a:off x="641636" y="2614141"/>
            <a:ext cx="2334054" cy="183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开放域问答</a:t>
            </a:r>
            <a:endParaRPr 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6" name="Shape 11"/>
          <p:cNvSpPr/>
          <p:nvPr/>
        </p:nvSpPr>
        <p:spPr>
          <a:xfrm>
            <a:off x="3173970" y="2207743"/>
            <a:ext cx="2496980" cy="702962"/>
          </a:xfrm>
          <a:custGeom>
            <a:avLst/>
            <a:gdLst/>
            <a:ahLst/>
            <a:cxnLst/>
            <a:rect l="l" t="t" r="r" b="b"/>
            <a:pathLst>
              <a:path w="2496980" h="702962">
                <a:moveTo>
                  <a:pt x="73228" y="0"/>
                </a:moveTo>
                <a:lnTo>
                  <a:pt x="2423753" y="0"/>
                </a:lnTo>
                <a:cubicBezTo>
                  <a:pt x="2464195" y="0"/>
                  <a:pt x="2496980" y="32785"/>
                  <a:pt x="2496980" y="73228"/>
                </a:cubicBezTo>
                <a:lnTo>
                  <a:pt x="2496980" y="629735"/>
                </a:lnTo>
                <a:cubicBezTo>
                  <a:pt x="2496980" y="670177"/>
                  <a:pt x="2464195" y="702962"/>
                  <a:pt x="2423753" y="702962"/>
                </a:cubicBezTo>
                <a:lnTo>
                  <a:pt x="73228" y="702962"/>
                </a:lnTo>
                <a:cubicBezTo>
                  <a:pt x="32785" y="702962"/>
                  <a:pt x="0" y="670177"/>
                  <a:pt x="0" y="629735"/>
                </a:cubicBezTo>
                <a:lnTo>
                  <a:pt x="0" y="73228"/>
                </a:lnTo>
                <a:cubicBezTo>
                  <a:pt x="0" y="32785"/>
                  <a:pt x="32785" y="0"/>
                  <a:pt x="73228" y="0"/>
                </a:cubicBezTo>
                <a:close/>
              </a:path>
            </a:pathLst>
          </a:custGeom>
          <a:solidFill>
            <a:srgbClr val="B10015"/>
          </a:solidFill>
          <a:ln w="1016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27" name="Shape 12"/>
          <p:cNvSpPr/>
          <p:nvPr/>
        </p:nvSpPr>
        <p:spPr>
          <a:xfrm>
            <a:off x="4339968" y="2321241"/>
            <a:ext cx="164757" cy="219676"/>
          </a:xfrm>
          <a:custGeom>
            <a:avLst/>
            <a:gdLst/>
            <a:ahLst/>
            <a:cxnLst/>
            <a:rect l="l" t="t" r="r" b="b"/>
            <a:pathLst>
              <a:path w="164757" h="219676">
                <a:moveTo>
                  <a:pt x="54919" y="41189"/>
                </a:moveTo>
                <a:lnTo>
                  <a:pt x="54919" y="68649"/>
                </a:lnTo>
                <a:lnTo>
                  <a:pt x="109838" y="68649"/>
                </a:lnTo>
                <a:lnTo>
                  <a:pt x="109838" y="41189"/>
                </a:lnTo>
                <a:cubicBezTo>
                  <a:pt x="109838" y="26044"/>
                  <a:pt x="97524" y="13730"/>
                  <a:pt x="82378" y="13730"/>
                </a:cubicBezTo>
                <a:cubicBezTo>
                  <a:pt x="67233" y="13730"/>
                  <a:pt x="54919" y="26044"/>
                  <a:pt x="54919" y="41189"/>
                </a:cubicBezTo>
                <a:close/>
                <a:moveTo>
                  <a:pt x="27459" y="68649"/>
                </a:moveTo>
                <a:lnTo>
                  <a:pt x="27459" y="41189"/>
                </a:lnTo>
                <a:cubicBezTo>
                  <a:pt x="27459" y="10855"/>
                  <a:pt x="52044" y="-13730"/>
                  <a:pt x="82378" y="-13730"/>
                </a:cubicBezTo>
                <a:cubicBezTo>
                  <a:pt x="112713" y="-13730"/>
                  <a:pt x="137297" y="10855"/>
                  <a:pt x="137297" y="41189"/>
                </a:cubicBezTo>
                <a:lnTo>
                  <a:pt x="137297" y="68649"/>
                </a:lnTo>
                <a:cubicBezTo>
                  <a:pt x="152443" y="68649"/>
                  <a:pt x="164757" y="80963"/>
                  <a:pt x="164757" y="96108"/>
                </a:cubicBezTo>
                <a:lnTo>
                  <a:pt x="164757" y="192216"/>
                </a:lnTo>
                <a:cubicBezTo>
                  <a:pt x="164757" y="207362"/>
                  <a:pt x="152443" y="219676"/>
                  <a:pt x="137297" y="219676"/>
                </a:cubicBezTo>
                <a:lnTo>
                  <a:pt x="27459" y="219676"/>
                </a:lnTo>
                <a:cubicBezTo>
                  <a:pt x="12314" y="219676"/>
                  <a:pt x="0" y="207362"/>
                  <a:pt x="0" y="192216"/>
                </a:cubicBezTo>
                <a:lnTo>
                  <a:pt x="0" y="96108"/>
                </a:lnTo>
                <a:cubicBezTo>
                  <a:pt x="0" y="80963"/>
                  <a:pt x="12314" y="68649"/>
                  <a:pt x="27459" y="68649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28" name="Text 13"/>
          <p:cNvSpPr/>
          <p:nvPr/>
        </p:nvSpPr>
        <p:spPr>
          <a:xfrm>
            <a:off x="3255433" y="2614141"/>
            <a:ext cx="2334054" cy="183063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封闭域问答</a:t>
            </a:r>
            <a:endParaRPr 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9" name="Shape 14"/>
          <p:cNvSpPr/>
          <p:nvPr/>
        </p:nvSpPr>
        <p:spPr>
          <a:xfrm>
            <a:off x="369787" y="3254863"/>
            <a:ext cx="5490061" cy="3528000"/>
          </a:xfrm>
          <a:custGeom>
            <a:avLst/>
            <a:gdLst/>
            <a:ahLst/>
            <a:cxnLst/>
            <a:rect l="l" t="t" r="r" b="b"/>
            <a:pathLst>
              <a:path w="5490061" h="3595359">
                <a:moveTo>
                  <a:pt x="109838" y="0"/>
                </a:moveTo>
                <a:lnTo>
                  <a:pt x="5380223" y="0"/>
                </a:lnTo>
                <a:cubicBezTo>
                  <a:pt x="5440885" y="0"/>
                  <a:pt x="5490061" y="49176"/>
                  <a:pt x="5490061" y="109838"/>
                </a:cubicBezTo>
                <a:lnTo>
                  <a:pt x="5490061" y="3485520"/>
                </a:lnTo>
                <a:cubicBezTo>
                  <a:pt x="5490061" y="3546182"/>
                  <a:pt x="5440885" y="3595359"/>
                  <a:pt x="5380223" y="3595359"/>
                </a:cubicBezTo>
                <a:lnTo>
                  <a:pt x="109838" y="3595359"/>
                </a:lnTo>
                <a:cubicBezTo>
                  <a:pt x="49176" y="3595359"/>
                  <a:pt x="0" y="3546182"/>
                  <a:pt x="0" y="3485520"/>
                </a:cubicBezTo>
                <a:lnTo>
                  <a:pt x="0" y="109838"/>
                </a:lnTo>
                <a:cubicBezTo>
                  <a:pt x="0" y="49217"/>
                  <a:pt x="49217" y="0"/>
                  <a:pt x="109838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0" name="Shape 15"/>
          <p:cNvSpPr/>
          <p:nvPr/>
        </p:nvSpPr>
        <p:spPr>
          <a:xfrm>
            <a:off x="556512" y="3459892"/>
            <a:ext cx="274595" cy="219676"/>
          </a:xfrm>
          <a:custGeom>
            <a:avLst/>
            <a:gdLst/>
            <a:ahLst/>
            <a:cxnLst/>
            <a:rect l="l" t="t" r="r" b="b"/>
            <a:pathLst>
              <a:path w="274595" h="219676">
                <a:moveTo>
                  <a:pt x="178444" y="90316"/>
                </a:moveTo>
                <a:cubicBezTo>
                  <a:pt x="183678" y="88900"/>
                  <a:pt x="189170" y="91389"/>
                  <a:pt x="191530" y="96237"/>
                </a:cubicBezTo>
                <a:lnTo>
                  <a:pt x="199510" y="112369"/>
                </a:lnTo>
                <a:cubicBezTo>
                  <a:pt x="203929" y="112970"/>
                  <a:pt x="208263" y="114171"/>
                  <a:pt x="212339" y="115845"/>
                </a:cubicBezTo>
                <a:lnTo>
                  <a:pt x="227356" y="105848"/>
                </a:lnTo>
                <a:cubicBezTo>
                  <a:pt x="231861" y="102844"/>
                  <a:pt x="237825" y="103445"/>
                  <a:pt x="241643" y="107264"/>
                </a:cubicBezTo>
                <a:lnTo>
                  <a:pt x="249881" y="115501"/>
                </a:lnTo>
                <a:cubicBezTo>
                  <a:pt x="253700" y="119320"/>
                  <a:pt x="254300" y="125327"/>
                  <a:pt x="251297" y="129789"/>
                </a:cubicBezTo>
                <a:lnTo>
                  <a:pt x="241300" y="144763"/>
                </a:lnTo>
                <a:cubicBezTo>
                  <a:pt x="242115" y="146779"/>
                  <a:pt x="242845" y="148882"/>
                  <a:pt x="243445" y="151070"/>
                </a:cubicBezTo>
                <a:cubicBezTo>
                  <a:pt x="244046" y="153258"/>
                  <a:pt x="244432" y="155403"/>
                  <a:pt x="244732" y="157592"/>
                </a:cubicBezTo>
                <a:lnTo>
                  <a:pt x="260908" y="165572"/>
                </a:lnTo>
                <a:cubicBezTo>
                  <a:pt x="265756" y="167975"/>
                  <a:pt x="268245" y="173467"/>
                  <a:pt x="266829" y="178658"/>
                </a:cubicBezTo>
                <a:lnTo>
                  <a:pt x="263825" y="189899"/>
                </a:lnTo>
                <a:cubicBezTo>
                  <a:pt x="262409" y="195091"/>
                  <a:pt x="257561" y="198609"/>
                  <a:pt x="252155" y="198266"/>
                </a:cubicBezTo>
                <a:lnTo>
                  <a:pt x="234135" y="197107"/>
                </a:lnTo>
                <a:cubicBezTo>
                  <a:pt x="231432" y="200583"/>
                  <a:pt x="228300" y="203801"/>
                  <a:pt x="224739" y="206547"/>
                </a:cubicBezTo>
                <a:lnTo>
                  <a:pt x="225897" y="224524"/>
                </a:lnTo>
                <a:cubicBezTo>
                  <a:pt x="226240" y="229930"/>
                  <a:pt x="222722" y="234821"/>
                  <a:pt x="217530" y="236194"/>
                </a:cubicBezTo>
                <a:lnTo>
                  <a:pt x="206289" y="239198"/>
                </a:lnTo>
                <a:cubicBezTo>
                  <a:pt x="201055" y="240614"/>
                  <a:pt x="195606" y="238125"/>
                  <a:pt x="193203" y="233277"/>
                </a:cubicBezTo>
                <a:lnTo>
                  <a:pt x="185223" y="217144"/>
                </a:lnTo>
                <a:cubicBezTo>
                  <a:pt x="180803" y="216544"/>
                  <a:pt x="176470" y="215342"/>
                  <a:pt x="172394" y="213669"/>
                </a:cubicBezTo>
                <a:lnTo>
                  <a:pt x="157377" y="223666"/>
                </a:lnTo>
                <a:cubicBezTo>
                  <a:pt x="152872" y="226669"/>
                  <a:pt x="146908" y="226069"/>
                  <a:pt x="143090" y="222250"/>
                </a:cubicBezTo>
                <a:lnTo>
                  <a:pt x="134852" y="214012"/>
                </a:lnTo>
                <a:cubicBezTo>
                  <a:pt x="131033" y="210194"/>
                  <a:pt x="130432" y="204230"/>
                  <a:pt x="133436" y="199725"/>
                </a:cubicBezTo>
                <a:lnTo>
                  <a:pt x="143433" y="184708"/>
                </a:lnTo>
                <a:cubicBezTo>
                  <a:pt x="142618" y="182691"/>
                  <a:pt x="141888" y="180589"/>
                  <a:pt x="141288" y="178401"/>
                </a:cubicBezTo>
                <a:cubicBezTo>
                  <a:pt x="140687" y="176213"/>
                  <a:pt x="140301" y="174024"/>
                  <a:pt x="140000" y="171879"/>
                </a:cubicBezTo>
                <a:lnTo>
                  <a:pt x="123825" y="163899"/>
                </a:lnTo>
                <a:cubicBezTo>
                  <a:pt x="118977" y="161496"/>
                  <a:pt x="116531" y="156004"/>
                  <a:pt x="117904" y="150813"/>
                </a:cubicBezTo>
                <a:lnTo>
                  <a:pt x="120907" y="139571"/>
                </a:lnTo>
                <a:cubicBezTo>
                  <a:pt x="122323" y="134380"/>
                  <a:pt x="127172" y="130861"/>
                  <a:pt x="132578" y="131205"/>
                </a:cubicBezTo>
                <a:lnTo>
                  <a:pt x="150555" y="132363"/>
                </a:lnTo>
                <a:cubicBezTo>
                  <a:pt x="153258" y="128888"/>
                  <a:pt x="156390" y="125670"/>
                  <a:pt x="159951" y="122924"/>
                </a:cubicBezTo>
                <a:lnTo>
                  <a:pt x="158793" y="104990"/>
                </a:lnTo>
                <a:cubicBezTo>
                  <a:pt x="158450" y="99583"/>
                  <a:pt x="161968" y="94692"/>
                  <a:pt x="167159" y="93319"/>
                </a:cubicBezTo>
                <a:lnTo>
                  <a:pt x="178401" y="90316"/>
                </a:lnTo>
                <a:close/>
                <a:moveTo>
                  <a:pt x="192388" y="145878"/>
                </a:moveTo>
                <a:cubicBezTo>
                  <a:pt x="181969" y="145890"/>
                  <a:pt x="173519" y="154359"/>
                  <a:pt x="173531" y="164778"/>
                </a:cubicBezTo>
                <a:cubicBezTo>
                  <a:pt x="173543" y="175197"/>
                  <a:pt x="182011" y="183647"/>
                  <a:pt x="192431" y="183635"/>
                </a:cubicBezTo>
                <a:cubicBezTo>
                  <a:pt x="202850" y="183623"/>
                  <a:pt x="211300" y="175155"/>
                  <a:pt x="211288" y="164735"/>
                </a:cubicBezTo>
                <a:cubicBezTo>
                  <a:pt x="211276" y="154316"/>
                  <a:pt x="202807" y="145867"/>
                  <a:pt x="192388" y="145878"/>
                </a:cubicBezTo>
                <a:close/>
                <a:moveTo>
                  <a:pt x="96494" y="-19522"/>
                </a:moveTo>
                <a:lnTo>
                  <a:pt x="107735" y="-16519"/>
                </a:lnTo>
                <a:cubicBezTo>
                  <a:pt x="112927" y="-15103"/>
                  <a:pt x="116445" y="-10211"/>
                  <a:pt x="116102" y="-4848"/>
                </a:cubicBezTo>
                <a:lnTo>
                  <a:pt x="114944" y="13086"/>
                </a:lnTo>
                <a:cubicBezTo>
                  <a:pt x="118505" y="15832"/>
                  <a:pt x="121637" y="19007"/>
                  <a:pt x="124340" y="22525"/>
                </a:cubicBezTo>
                <a:lnTo>
                  <a:pt x="142360" y="21367"/>
                </a:lnTo>
                <a:cubicBezTo>
                  <a:pt x="147723" y="21024"/>
                  <a:pt x="152615" y="24542"/>
                  <a:pt x="154030" y="29733"/>
                </a:cubicBezTo>
                <a:lnTo>
                  <a:pt x="157034" y="40975"/>
                </a:lnTo>
                <a:cubicBezTo>
                  <a:pt x="158407" y="46166"/>
                  <a:pt x="155961" y="51658"/>
                  <a:pt x="151113" y="54061"/>
                </a:cubicBezTo>
                <a:lnTo>
                  <a:pt x="134938" y="62041"/>
                </a:lnTo>
                <a:cubicBezTo>
                  <a:pt x="134637" y="64229"/>
                  <a:pt x="134208" y="66418"/>
                  <a:pt x="133650" y="68563"/>
                </a:cubicBezTo>
                <a:cubicBezTo>
                  <a:pt x="133093" y="70708"/>
                  <a:pt x="132320" y="72853"/>
                  <a:pt x="131505" y="74870"/>
                </a:cubicBezTo>
                <a:lnTo>
                  <a:pt x="141502" y="89887"/>
                </a:lnTo>
                <a:cubicBezTo>
                  <a:pt x="144505" y="94392"/>
                  <a:pt x="143905" y="100356"/>
                  <a:pt x="140086" y="104174"/>
                </a:cubicBezTo>
                <a:lnTo>
                  <a:pt x="131848" y="112412"/>
                </a:lnTo>
                <a:cubicBezTo>
                  <a:pt x="128030" y="116231"/>
                  <a:pt x="122066" y="116831"/>
                  <a:pt x="117561" y="113828"/>
                </a:cubicBezTo>
                <a:lnTo>
                  <a:pt x="102544" y="103831"/>
                </a:lnTo>
                <a:cubicBezTo>
                  <a:pt x="98468" y="105504"/>
                  <a:pt x="94134" y="106706"/>
                  <a:pt x="89715" y="107306"/>
                </a:cubicBezTo>
                <a:lnTo>
                  <a:pt x="81735" y="123439"/>
                </a:lnTo>
                <a:cubicBezTo>
                  <a:pt x="79332" y="128287"/>
                  <a:pt x="73840" y="130733"/>
                  <a:pt x="68649" y="129360"/>
                </a:cubicBezTo>
                <a:lnTo>
                  <a:pt x="57407" y="126356"/>
                </a:lnTo>
                <a:cubicBezTo>
                  <a:pt x="52173" y="124941"/>
                  <a:pt x="48698" y="120049"/>
                  <a:pt x="49041" y="114686"/>
                </a:cubicBezTo>
                <a:lnTo>
                  <a:pt x="50199" y="96709"/>
                </a:lnTo>
                <a:cubicBezTo>
                  <a:pt x="46638" y="93963"/>
                  <a:pt x="43506" y="90788"/>
                  <a:pt x="40803" y="87270"/>
                </a:cubicBezTo>
                <a:lnTo>
                  <a:pt x="22783" y="88428"/>
                </a:lnTo>
                <a:cubicBezTo>
                  <a:pt x="17420" y="88771"/>
                  <a:pt x="12528" y="85253"/>
                  <a:pt x="11113" y="80061"/>
                </a:cubicBezTo>
                <a:lnTo>
                  <a:pt x="8109" y="68820"/>
                </a:lnTo>
                <a:cubicBezTo>
                  <a:pt x="6736" y="63629"/>
                  <a:pt x="9182" y="58137"/>
                  <a:pt x="14030" y="55734"/>
                </a:cubicBezTo>
                <a:lnTo>
                  <a:pt x="30205" y="47754"/>
                </a:lnTo>
                <a:cubicBezTo>
                  <a:pt x="30506" y="45566"/>
                  <a:pt x="30935" y="43420"/>
                  <a:pt x="31493" y="41232"/>
                </a:cubicBezTo>
                <a:cubicBezTo>
                  <a:pt x="32093" y="39044"/>
                  <a:pt x="32780" y="36942"/>
                  <a:pt x="33638" y="34925"/>
                </a:cubicBezTo>
                <a:lnTo>
                  <a:pt x="23641" y="19951"/>
                </a:lnTo>
                <a:cubicBezTo>
                  <a:pt x="20638" y="15446"/>
                  <a:pt x="21238" y="9482"/>
                  <a:pt x="25057" y="5664"/>
                </a:cubicBezTo>
                <a:lnTo>
                  <a:pt x="33295" y="-2574"/>
                </a:lnTo>
                <a:cubicBezTo>
                  <a:pt x="37113" y="-6393"/>
                  <a:pt x="43077" y="-6994"/>
                  <a:pt x="47582" y="-3990"/>
                </a:cubicBezTo>
                <a:lnTo>
                  <a:pt x="62599" y="6007"/>
                </a:lnTo>
                <a:cubicBezTo>
                  <a:pt x="66675" y="4333"/>
                  <a:pt x="71008" y="3132"/>
                  <a:pt x="75428" y="2531"/>
                </a:cubicBezTo>
                <a:lnTo>
                  <a:pt x="83408" y="-13601"/>
                </a:lnTo>
                <a:cubicBezTo>
                  <a:pt x="85811" y="-18449"/>
                  <a:pt x="91260" y="-20895"/>
                  <a:pt x="96494" y="-19522"/>
                </a:cubicBezTo>
                <a:close/>
                <a:moveTo>
                  <a:pt x="82550" y="36041"/>
                </a:moveTo>
                <a:cubicBezTo>
                  <a:pt x="72131" y="36041"/>
                  <a:pt x="63672" y="44500"/>
                  <a:pt x="63672" y="54919"/>
                </a:cubicBezTo>
                <a:cubicBezTo>
                  <a:pt x="63672" y="65338"/>
                  <a:pt x="72131" y="73797"/>
                  <a:pt x="82550" y="73797"/>
                </a:cubicBezTo>
                <a:cubicBezTo>
                  <a:pt x="92969" y="73797"/>
                  <a:pt x="101428" y="65338"/>
                  <a:pt x="101428" y="54919"/>
                </a:cubicBezTo>
                <a:cubicBezTo>
                  <a:pt x="101428" y="44500"/>
                  <a:pt x="92969" y="36041"/>
                  <a:pt x="82550" y="3604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1" name="Text 16"/>
          <p:cNvSpPr/>
          <p:nvPr/>
        </p:nvSpPr>
        <p:spPr>
          <a:xfrm>
            <a:off x="941070" y="3441700"/>
            <a:ext cx="1550035" cy="256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关键技术栈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2" name="Shape 17"/>
          <p:cNvSpPr/>
          <p:nvPr/>
        </p:nvSpPr>
        <p:spPr>
          <a:xfrm>
            <a:off x="556512" y="3844324"/>
            <a:ext cx="5116613" cy="622414"/>
          </a:xfrm>
          <a:custGeom>
            <a:avLst/>
            <a:gdLst/>
            <a:ahLst/>
            <a:cxnLst/>
            <a:rect l="l" t="t" r="r" b="b"/>
            <a:pathLst>
              <a:path w="5116613" h="622414">
                <a:moveTo>
                  <a:pt x="73227" y="0"/>
                </a:moveTo>
                <a:lnTo>
                  <a:pt x="5043386" y="0"/>
                </a:lnTo>
                <a:cubicBezTo>
                  <a:pt x="5083801" y="0"/>
                  <a:pt x="5116613" y="32812"/>
                  <a:pt x="5116613" y="73227"/>
                </a:cubicBezTo>
                <a:lnTo>
                  <a:pt x="5116613" y="549187"/>
                </a:lnTo>
                <a:cubicBezTo>
                  <a:pt x="5116613" y="589630"/>
                  <a:pt x="5083828" y="622414"/>
                  <a:pt x="5043386" y="622414"/>
                </a:cubicBezTo>
                <a:lnTo>
                  <a:pt x="73227" y="622414"/>
                </a:lnTo>
                <a:cubicBezTo>
                  <a:pt x="32812" y="622414"/>
                  <a:pt x="0" y="589602"/>
                  <a:pt x="0" y="549187"/>
                </a:cubicBezTo>
                <a:lnTo>
                  <a:pt x="0" y="73227"/>
                </a:lnTo>
                <a:cubicBezTo>
                  <a:pt x="0" y="32785"/>
                  <a:pt x="32785" y="0"/>
                  <a:pt x="73227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3" name="Shape 18"/>
          <p:cNvSpPr/>
          <p:nvPr/>
        </p:nvSpPr>
        <p:spPr>
          <a:xfrm>
            <a:off x="684656" y="3990775"/>
            <a:ext cx="146450" cy="146450"/>
          </a:xfrm>
          <a:custGeom>
            <a:avLst/>
            <a:gdLst/>
            <a:ahLst/>
            <a:cxnLst/>
            <a:rect l="l" t="t" r="r" b="b"/>
            <a:pathLst>
              <a:path w="146450" h="146450">
                <a:moveTo>
                  <a:pt x="34324" y="16018"/>
                </a:moveTo>
                <a:cubicBezTo>
                  <a:pt x="34324" y="7180"/>
                  <a:pt x="41504" y="0"/>
                  <a:pt x="50342" y="0"/>
                </a:cubicBezTo>
                <a:lnTo>
                  <a:pt x="57207" y="0"/>
                </a:lnTo>
                <a:cubicBezTo>
                  <a:pt x="62270" y="0"/>
                  <a:pt x="66360" y="4090"/>
                  <a:pt x="66360" y="9153"/>
                </a:cubicBezTo>
                <a:lnTo>
                  <a:pt x="66360" y="137297"/>
                </a:lnTo>
                <a:cubicBezTo>
                  <a:pt x="66360" y="142360"/>
                  <a:pt x="62270" y="146450"/>
                  <a:pt x="57207" y="146450"/>
                </a:cubicBezTo>
                <a:lnTo>
                  <a:pt x="48054" y="146450"/>
                </a:lnTo>
                <a:cubicBezTo>
                  <a:pt x="39530" y="146450"/>
                  <a:pt x="32351" y="140615"/>
                  <a:pt x="30320" y="132721"/>
                </a:cubicBezTo>
                <a:cubicBezTo>
                  <a:pt x="30120" y="132721"/>
                  <a:pt x="29948" y="132721"/>
                  <a:pt x="29748" y="132721"/>
                </a:cubicBezTo>
                <a:cubicBezTo>
                  <a:pt x="17105" y="132721"/>
                  <a:pt x="6865" y="122481"/>
                  <a:pt x="6865" y="109838"/>
                </a:cubicBezTo>
                <a:cubicBezTo>
                  <a:pt x="6865" y="104689"/>
                  <a:pt x="8581" y="99941"/>
                  <a:pt x="11441" y="96108"/>
                </a:cubicBezTo>
                <a:cubicBezTo>
                  <a:pt x="5892" y="91932"/>
                  <a:pt x="2288" y="85296"/>
                  <a:pt x="2288" y="77802"/>
                </a:cubicBezTo>
                <a:cubicBezTo>
                  <a:pt x="2288" y="68963"/>
                  <a:pt x="7323" y="61269"/>
                  <a:pt x="14645" y="57465"/>
                </a:cubicBezTo>
                <a:cubicBezTo>
                  <a:pt x="12614" y="54032"/>
                  <a:pt x="11441" y="50028"/>
                  <a:pt x="11441" y="45766"/>
                </a:cubicBezTo>
                <a:cubicBezTo>
                  <a:pt x="11441" y="33123"/>
                  <a:pt x="21682" y="22883"/>
                  <a:pt x="34324" y="22883"/>
                </a:cubicBezTo>
                <a:lnTo>
                  <a:pt x="34324" y="16018"/>
                </a:lnTo>
                <a:close/>
                <a:moveTo>
                  <a:pt x="112126" y="16018"/>
                </a:moveTo>
                <a:lnTo>
                  <a:pt x="112126" y="22883"/>
                </a:lnTo>
                <a:cubicBezTo>
                  <a:pt x="124769" y="22883"/>
                  <a:pt x="135009" y="33123"/>
                  <a:pt x="135009" y="45766"/>
                </a:cubicBezTo>
                <a:cubicBezTo>
                  <a:pt x="135009" y="50056"/>
                  <a:pt x="133836" y="54061"/>
                  <a:pt x="131805" y="57465"/>
                </a:cubicBezTo>
                <a:cubicBezTo>
                  <a:pt x="139157" y="61269"/>
                  <a:pt x="144162" y="68935"/>
                  <a:pt x="144162" y="77802"/>
                </a:cubicBezTo>
                <a:cubicBezTo>
                  <a:pt x="144162" y="85296"/>
                  <a:pt x="140558" y="91932"/>
                  <a:pt x="135009" y="96108"/>
                </a:cubicBezTo>
                <a:cubicBezTo>
                  <a:pt x="137869" y="99941"/>
                  <a:pt x="139586" y="104689"/>
                  <a:pt x="139586" y="109838"/>
                </a:cubicBezTo>
                <a:cubicBezTo>
                  <a:pt x="139586" y="122481"/>
                  <a:pt x="129345" y="132721"/>
                  <a:pt x="116703" y="132721"/>
                </a:cubicBezTo>
                <a:cubicBezTo>
                  <a:pt x="116502" y="132721"/>
                  <a:pt x="116331" y="132721"/>
                  <a:pt x="116131" y="132721"/>
                </a:cubicBezTo>
                <a:cubicBezTo>
                  <a:pt x="114100" y="140615"/>
                  <a:pt x="106920" y="146450"/>
                  <a:pt x="98396" y="146450"/>
                </a:cubicBezTo>
                <a:lnTo>
                  <a:pt x="89243" y="146450"/>
                </a:lnTo>
                <a:cubicBezTo>
                  <a:pt x="84180" y="146450"/>
                  <a:pt x="80090" y="142360"/>
                  <a:pt x="80090" y="137297"/>
                </a:cubicBezTo>
                <a:lnTo>
                  <a:pt x="80090" y="9153"/>
                </a:lnTo>
                <a:cubicBezTo>
                  <a:pt x="80090" y="4090"/>
                  <a:pt x="84180" y="0"/>
                  <a:pt x="89243" y="0"/>
                </a:cubicBezTo>
                <a:lnTo>
                  <a:pt x="96108" y="0"/>
                </a:lnTo>
                <a:cubicBezTo>
                  <a:pt x="104947" y="0"/>
                  <a:pt x="112126" y="7180"/>
                  <a:pt x="112126" y="16018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34" name="Text 19"/>
          <p:cNvSpPr/>
          <p:nvPr/>
        </p:nvSpPr>
        <p:spPr>
          <a:xfrm>
            <a:off x="959250" y="3908442"/>
            <a:ext cx="2123532" cy="2196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知识增强预训练</a:t>
            </a:r>
            <a:endParaRPr 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Text 20"/>
          <p:cNvSpPr/>
          <p:nvPr/>
        </p:nvSpPr>
        <p:spPr>
          <a:xfrm>
            <a:off x="959485" y="4173855"/>
            <a:ext cx="31578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引入外部知识库，丰富模型知识储备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6" name="Shape 21"/>
          <p:cNvSpPr/>
          <p:nvPr/>
        </p:nvSpPr>
        <p:spPr>
          <a:xfrm>
            <a:off x="556512" y="4576577"/>
            <a:ext cx="5116613" cy="622414"/>
          </a:xfrm>
          <a:custGeom>
            <a:avLst/>
            <a:gdLst/>
            <a:ahLst/>
            <a:cxnLst/>
            <a:rect l="l" t="t" r="r" b="b"/>
            <a:pathLst>
              <a:path w="5116613" h="622414">
                <a:moveTo>
                  <a:pt x="73227" y="0"/>
                </a:moveTo>
                <a:lnTo>
                  <a:pt x="5043386" y="0"/>
                </a:lnTo>
                <a:cubicBezTo>
                  <a:pt x="5083801" y="0"/>
                  <a:pt x="5116613" y="32812"/>
                  <a:pt x="5116613" y="73227"/>
                </a:cubicBezTo>
                <a:lnTo>
                  <a:pt x="5116613" y="549187"/>
                </a:lnTo>
                <a:cubicBezTo>
                  <a:pt x="5116613" y="589630"/>
                  <a:pt x="5083828" y="622414"/>
                  <a:pt x="5043386" y="622414"/>
                </a:cubicBezTo>
                <a:lnTo>
                  <a:pt x="73227" y="622414"/>
                </a:lnTo>
                <a:cubicBezTo>
                  <a:pt x="32812" y="622414"/>
                  <a:pt x="0" y="589602"/>
                  <a:pt x="0" y="549187"/>
                </a:cubicBezTo>
                <a:lnTo>
                  <a:pt x="0" y="73227"/>
                </a:lnTo>
                <a:cubicBezTo>
                  <a:pt x="0" y="32785"/>
                  <a:pt x="32785" y="0"/>
                  <a:pt x="73227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7" name="Shape 22"/>
          <p:cNvSpPr/>
          <p:nvPr/>
        </p:nvSpPr>
        <p:spPr>
          <a:xfrm>
            <a:off x="675503" y="4723027"/>
            <a:ext cx="164757" cy="146450"/>
          </a:xfrm>
          <a:custGeom>
            <a:avLst/>
            <a:gdLst/>
            <a:ahLst/>
            <a:cxnLst/>
            <a:rect l="l" t="t" r="r" b="b"/>
            <a:pathLst>
              <a:path w="164757" h="146450">
                <a:moveTo>
                  <a:pt x="109838" y="41189"/>
                </a:moveTo>
                <a:cubicBezTo>
                  <a:pt x="109838" y="68992"/>
                  <a:pt x="85239" y="91532"/>
                  <a:pt x="54919" y="91532"/>
                </a:cubicBezTo>
                <a:cubicBezTo>
                  <a:pt x="47282" y="91532"/>
                  <a:pt x="40016" y="90101"/>
                  <a:pt x="33409" y="87527"/>
                </a:cubicBezTo>
                <a:lnTo>
                  <a:pt x="10068" y="99884"/>
                </a:lnTo>
                <a:cubicBezTo>
                  <a:pt x="7408" y="101285"/>
                  <a:pt x="4148" y="100799"/>
                  <a:pt x="2002" y="98682"/>
                </a:cubicBezTo>
                <a:cubicBezTo>
                  <a:pt x="-143" y="96566"/>
                  <a:pt x="-629" y="93276"/>
                  <a:pt x="801" y="90616"/>
                </a:cubicBezTo>
                <a:lnTo>
                  <a:pt x="10984" y="71395"/>
                </a:lnTo>
                <a:cubicBezTo>
                  <a:pt x="4090" y="62985"/>
                  <a:pt x="0" y="52516"/>
                  <a:pt x="0" y="41189"/>
                </a:cubicBezTo>
                <a:cubicBezTo>
                  <a:pt x="0" y="13386"/>
                  <a:pt x="24599" y="-9153"/>
                  <a:pt x="54919" y="-9153"/>
                </a:cubicBezTo>
                <a:cubicBezTo>
                  <a:pt x="85239" y="-9153"/>
                  <a:pt x="109838" y="13386"/>
                  <a:pt x="109838" y="41189"/>
                </a:cubicBezTo>
                <a:close/>
                <a:moveTo>
                  <a:pt x="109838" y="146450"/>
                </a:moveTo>
                <a:cubicBezTo>
                  <a:pt x="82922" y="146450"/>
                  <a:pt x="60525" y="128688"/>
                  <a:pt x="55834" y="105261"/>
                </a:cubicBezTo>
                <a:cubicBezTo>
                  <a:pt x="90159" y="104832"/>
                  <a:pt x="119992" y="80405"/>
                  <a:pt x="123282" y="47282"/>
                </a:cubicBezTo>
                <a:cubicBezTo>
                  <a:pt x="147108" y="52774"/>
                  <a:pt x="164757" y="72539"/>
                  <a:pt x="164757" y="96108"/>
                </a:cubicBezTo>
                <a:cubicBezTo>
                  <a:pt x="164757" y="107435"/>
                  <a:pt x="160666" y="117904"/>
                  <a:pt x="153773" y="126314"/>
                </a:cubicBezTo>
                <a:lnTo>
                  <a:pt x="163956" y="145535"/>
                </a:lnTo>
                <a:cubicBezTo>
                  <a:pt x="165357" y="148195"/>
                  <a:pt x="164871" y="151456"/>
                  <a:pt x="162755" y="153601"/>
                </a:cubicBezTo>
                <a:cubicBezTo>
                  <a:pt x="160638" y="155747"/>
                  <a:pt x="157348" y="156233"/>
                  <a:pt x="154688" y="154803"/>
                </a:cubicBezTo>
                <a:lnTo>
                  <a:pt x="131348" y="142446"/>
                </a:lnTo>
                <a:cubicBezTo>
                  <a:pt x="124740" y="145020"/>
                  <a:pt x="117475" y="146450"/>
                  <a:pt x="109838" y="146450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38" name="Text 23"/>
          <p:cNvSpPr/>
          <p:nvPr/>
        </p:nvSpPr>
        <p:spPr>
          <a:xfrm>
            <a:off x="959250" y="4640694"/>
            <a:ext cx="2251676" cy="2196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多轮对话记忆机制</a:t>
            </a:r>
            <a:endParaRPr 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0" name="Text 24"/>
          <p:cNvSpPr/>
          <p:nvPr/>
        </p:nvSpPr>
        <p:spPr>
          <a:xfrm>
            <a:off x="959485" y="4906010"/>
            <a:ext cx="33807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有效捕捉上下文信息，维持对话连贯性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1" name="Shape 25"/>
          <p:cNvSpPr/>
          <p:nvPr/>
        </p:nvSpPr>
        <p:spPr>
          <a:xfrm>
            <a:off x="556512" y="5308829"/>
            <a:ext cx="5116613" cy="622414"/>
          </a:xfrm>
          <a:custGeom>
            <a:avLst/>
            <a:gdLst/>
            <a:ahLst/>
            <a:cxnLst/>
            <a:rect l="l" t="t" r="r" b="b"/>
            <a:pathLst>
              <a:path w="5116613" h="622414">
                <a:moveTo>
                  <a:pt x="73227" y="0"/>
                </a:moveTo>
                <a:lnTo>
                  <a:pt x="5043386" y="0"/>
                </a:lnTo>
                <a:cubicBezTo>
                  <a:pt x="5083801" y="0"/>
                  <a:pt x="5116613" y="32812"/>
                  <a:pt x="5116613" y="73227"/>
                </a:cubicBezTo>
                <a:lnTo>
                  <a:pt x="5116613" y="549187"/>
                </a:lnTo>
                <a:cubicBezTo>
                  <a:pt x="5116613" y="589630"/>
                  <a:pt x="5083828" y="622414"/>
                  <a:pt x="5043386" y="622414"/>
                </a:cubicBezTo>
                <a:lnTo>
                  <a:pt x="73227" y="622414"/>
                </a:lnTo>
                <a:cubicBezTo>
                  <a:pt x="32812" y="622414"/>
                  <a:pt x="0" y="589602"/>
                  <a:pt x="0" y="549187"/>
                </a:cubicBezTo>
                <a:lnTo>
                  <a:pt x="0" y="73227"/>
                </a:lnTo>
                <a:cubicBezTo>
                  <a:pt x="0" y="32785"/>
                  <a:pt x="32785" y="0"/>
                  <a:pt x="73227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2" name="Shape 26"/>
          <p:cNvSpPr/>
          <p:nvPr/>
        </p:nvSpPr>
        <p:spPr>
          <a:xfrm>
            <a:off x="702962" y="5455279"/>
            <a:ext cx="109838" cy="146450"/>
          </a:xfrm>
          <a:custGeom>
            <a:avLst/>
            <a:gdLst/>
            <a:ahLst/>
            <a:cxnLst/>
            <a:rect l="l" t="t" r="r" b="b"/>
            <a:pathLst>
              <a:path w="109838" h="146450">
                <a:moveTo>
                  <a:pt x="71480" y="19107"/>
                </a:moveTo>
                <a:cubicBezTo>
                  <a:pt x="74455" y="15017"/>
                  <a:pt x="73540" y="9296"/>
                  <a:pt x="69450" y="6321"/>
                </a:cubicBezTo>
                <a:cubicBezTo>
                  <a:pt x="65359" y="3347"/>
                  <a:pt x="59639" y="4262"/>
                  <a:pt x="56664" y="8352"/>
                </a:cubicBezTo>
                <a:lnTo>
                  <a:pt x="26344" y="50028"/>
                </a:lnTo>
                <a:lnTo>
                  <a:pt x="15618" y="39301"/>
                </a:lnTo>
                <a:cubicBezTo>
                  <a:pt x="12042" y="35726"/>
                  <a:pt x="6236" y="35726"/>
                  <a:pt x="2660" y="39301"/>
                </a:cubicBezTo>
                <a:cubicBezTo>
                  <a:pt x="-915" y="42877"/>
                  <a:pt x="-915" y="48683"/>
                  <a:pt x="2660" y="52259"/>
                </a:cubicBezTo>
                <a:lnTo>
                  <a:pt x="20966" y="70565"/>
                </a:lnTo>
                <a:cubicBezTo>
                  <a:pt x="22854" y="72453"/>
                  <a:pt x="25486" y="73425"/>
                  <a:pt x="28146" y="73225"/>
                </a:cubicBezTo>
                <a:cubicBezTo>
                  <a:pt x="30806" y="73025"/>
                  <a:pt x="33266" y="71652"/>
                  <a:pt x="34839" y="69478"/>
                </a:cubicBezTo>
                <a:lnTo>
                  <a:pt x="71452" y="19136"/>
                </a:lnTo>
                <a:close/>
                <a:moveTo>
                  <a:pt x="108093" y="58008"/>
                </a:moveTo>
                <a:cubicBezTo>
                  <a:pt x="111068" y="53918"/>
                  <a:pt x="110152" y="48197"/>
                  <a:pt x="106062" y="45222"/>
                </a:cubicBezTo>
                <a:cubicBezTo>
                  <a:pt x="101972" y="42248"/>
                  <a:pt x="96251" y="43163"/>
                  <a:pt x="93276" y="47253"/>
                </a:cubicBezTo>
                <a:lnTo>
                  <a:pt x="44650" y="114100"/>
                </a:lnTo>
                <a:lnTo>
                  <a:pt x="24771" y="94220"/>
                </a:lnTo>
                <a:cubicBezTo>
                  <a:pt x="21195" y="90645"/>
                  <a:pt x="15389" y="90645"/>
                  <a:pt x="11813" y="94220"/>
                </a:cubicBezTo>
                <a:cubicBezTo>
                  <a:pt x="8238" y="97796"/>
                  <a:pt x="8238" y="103602"/>
                  <a:pt x="11813" y="107178"/>
                </a:cubicBezTo>
                <a:lnTo>
                  <a:pt x="39273" y="134637"/>
                </a:lnTo>
                <a:cubicBezTo>
                  <a:pt x="41161" y="136525"/>
                  <a:pt x="43792" y="137498"/>
                  <a:pt x="46452" y="137297"/>
                </a:cubicBezTo>
                <a:cubicBezTo>
                  <a:pt x="49112" y="137097"/>
                  <a:pt x="51572" y="135724"/>
                  <a:pt x="53145" y="133550"/>
                </a:cubicBezTo>
                <a:lnTo>
                  <a:pt x="108064" y="58037"/>
                </a:lnTo>
                <a:close/>
              </a:path>
            </a:pathLst>
          </a:custGeom>
          <a:solidFill>
            <a:schemeClr val="bg1"/>
          </a:solidFill>
        </p:spPr>
      </p:sp>
      <p:sp>
        <p:nvSpPr>
          <p:cNvPr id="43" name="Text 27"/>
          <p:cNvSpPr/>
          <p:nvPr/>
        </p:nvSpPr>
        <p:spPr>
          <a:xfrm>
            <a:off x="959250" y="5361517"/>
            <a:ext cx="2251676" cy="2196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答案校验机制</a:t>
            </a:r>
            <a:endParaRPr 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4" name="Text 28"/>
          <p:cNvSpPr/>
          <p:nvPr/>
        </p:nvSpPr>
        <p:spPr>
          <a:xfrm>
            <a:off x="959485" y="5638165"/>
            <a:ext cx="346138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交叉验证生成结果，显著降低生成幻觉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5" name="Shape 29"/>
          <p:cNvSpPr/>
          <p:nvPr/>
        </p:nvSpPr>
        <p:spPr>
          <a:xfrm>
            <a:off x="556512" y="6041081"/>
            <a:ext cx="5116613" cy="622414"/>
          </a:xfrm>
          <a:custGeom>
            <a:avLst/>
            <a:gdLst/>
            <a:ahLst/>
            <a:cxnLst/>
            <a:rect l="l" t="t" r="r" b="b"/>
            <a:pathLst>
              <a:path w="5116613" h="622414">
                <a:moveTo>
                  <a:pt x="73227" y="0"/>
                </a:moveTo>
                <a:lnTo>
                  <a:pt x="5043386" y="0"/>
                </a:lnTo>
                <a:cubicBezTo>
                  <a:pt x="5083801" y="0"/>
                  <a:pt x="5116613" y="32812"/>
                  <a:pt x="5116613" y="73227"/>
                </a:cubicBezTo>
                <a:lnTo>
                  <a:pt x="5116613" y="549187"/>
                </a:lnTo>
                <a:cubicBezTo>
                  <a:pt x="5116613" y="589630"/>
                  <a:pt x="5083828" y="622414"/>
                  <a:pt x="5043386" y="622414"/>
                </a:cubicBezTo>
                <a:lnTo>
                  <a:pt x="73227" y="622414"/>
                </a:lnTo>
                <a:cubicBezTo>
                  <a:pt x="32812" y="622414"/>
                  <a:pt x="0" y="589602"/>
                  <a:pt x="0" y="549187"/>
                </a:cubicBezTo>
                <a:lnTo>
                  <a:pt x="0" y="73227"/>
                </a:lnTo>
                <a:cubicBezTo>
                  <a:pt x="0" y="32785"/>
                  <a:pt x="32785" y="0"/>
                  <a:pt x="73227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6" name="Shape 30"/>
          <p:cNvSpPr/>
          <p:nvPr/>
        </p:nvSpPr>
        <p:spPr>
          <a:xfrm>
            <a:off x="675503" y="6187532"/>
            <a:ext cx="164757" cy="146450"/>
          </a:xfrm>
          <a:custGeom>
            <a:avLst/>
            <a:gdLst/>
            <a:ahLst/>
            <a:cxnLst/>
            <a:rect l="l" t="t" r="r" b="b"/>
            <a:pathLst>
              <a:path w="164757" h="146450">
                <a:moveTo>
                  <a:pt x="82378" y="-4577"/>
                </a:moveTo>
                <a:cubicBezTo>
                  <a:pt x="87441" y="-4577"/>
                  <a:pt x="91532" y="-486"/>
                  <a:pt x="91532" y="4577"/>
                </a:cubicBezTo>
                <a:lnTo>
                  <a:pt x="91532" y="9811"/>
                </a:lnTo>
                <a:cubicBezTo>
                  <a:pt x="119592" y="13816"/>
                  <a:pt x="141788" y="36012"/>
                  <a:pt x="145793" y="64072"/>
                </a:cubicBezTo>
                <a:lnTo>
                  <a:pt x="151027" y="64072"/>
                </a:lnTo>
                <a:cubicBezTo>
                  <a:pt x="156090" y="64072"/>
                  <a:pt x="160180" y="68162"/>
                  <a:pt x="160180" y="73225"/>
                </a:cubicBezTo>
                <a:cubicBezTo>
                  <a:pt x="160180" y="78288"/>
                  <a:pt x="156090" y="82378"/>
                  <a:pt x="151027" y="82378"/>
                </a:cubicBezTo>
                <a:lnTo>
                  <a:pt x="145793" y="82378"/>
                </a:lnTo>
                <a:cubicBezTo>
                  <a:pt x="141788" y="110439"/>
                  <a:pt x="119592" y="132635"/>
                  <a:pt x="91532" y="136639"/>
                </a:cubicBezTo>
                <a:lnTo>
                  <a:pt x="91532" y="141874"/>
                </a:lnTo>
                <a:cubicBezTo>
                  <a:pt x="91532" y="146937"/>
                  <a:pt x="87441" y="151027"/>
                  <a:pt x="82378" y="151027"/>
                </a:cubicBezTo>
                <a:cubicBezTo>
                  <a:pt x="77316" y="151027"/>
                  <a:pt x="73225" y="146937"/>
                  <a:pt x="73225" y="141874"/>
                </a:cubicBezTo>
                <a:lnTo>
                  <a:pt x="73225" y="136639"/>
                </a:lnTo>
                <a:cubicBezTo>
                  <a:pt x="45165" y="132635"/>
                  <a:pt x="22969" y="110439"/>
                  <a:pt x="18964" y="82378"/>
                </a:cubicBezTo>
                <a:lnTo>
                  <a:pt x="13730" y="82378"/>
                </a:lnTo>
                <a:cubicBezTo>
                  <a:pt x="8667" y="82378"/>
                  <a:pt x="4577" y="78288"/>
                  <a:pt x="4577" y="73225"/>
                </a:cubicBezTo>
                <a:cubicBezTo>
                  <a:pt x="4577" y="68162"/>
                  <a:pt x="8667" y="64072"/>
                  <a:pt x="13730" y="64072"/>
                </a:cubicBezTo>
                <a:lnTo>
                  <a:pt x="18964" y="64072"/>
                </a:lnTo>
                <a:cubicBezTo>
                  <a:pt x="22969" y="36012"/>
                  <a:pt x="45165" y="13816"/>
                  <a:pt x="73225" y="9811"/>
                </a:cubicBezTo>
                <a:lnTo>
                  <a:pt x="73225" y="4577"/>
                </a:lnTo>
                <a:cubicBezTo>
                  <a:pt x="73225" y="-486"/>
                  <a:pt x="77316" y="-4577"/>
                  <a:pt x="82378" y="-4577"/>
                </a:cubicBezTo>
                <a:close/>
                <a:moveTo>
                  <a:pt x="37528" y="82378"/>
                </a:moveTo>
                <a:cubicBezTo>
                  <a:pt x="41161" y="100313"/>
                  <a:pt x="55291" y="114443"/>
                  <a:pt x="73225" y="118076"/>
                </a:cubicBezTo>
                <a:lnTo>
                  <a:pt x="73225" y="114414"/>
                </a:lnTo>
                <a:cubicBezTo>
                  <a:pt x="73225" y="109352"/>
                  <a:pt x="77316" y="105261"/>
                  <a:pt x="82378" y="105261"/>
                </a:cubicBezTo>
                <a:cubicBezTo>
                  <a:pt x="87441" y="105261"/>
                  <a:pt x="91532" y="109352"/>
                  <a:pt x="91532" y="114414"/>
                </a:cubicBezTo>
                <a:lnTo>
                  <a:pt x="91532" y="118076"/>
                </a:lnTo>
                <a:cubicBezTo>
                  <a:pt x="109466" y="114443"/>
                  <a:pt x="123596" y="100313"/>
                  <a:pt x="127229" y="82378"/>
                </a:cubicBezTo>
                <a:lnTo>
                  <a:pt x="123568" y="82378"/>
                </a:lnTo>
                <a:cubicBezTo>
                  <a:pt x="118505" y="82378"/>
                  <a:pt x="114414" y="78288"/>
                  <a:pt x="114414" y="73225"/>
                </a:cubicBezTo>
                <a:cubicBezTo>
                  <a:pt x="114414" y="68162"/>
                  <a:pt x="118505" y="64072"/>
                  <a:pt x="123568" y="64072"/>
                </a:cubicBezTo>
                <a:lnTo>
                  <a:pt x="127229" y="64072"/>
                </a:lnTo>
                <a:cubicBezTo>
                  <a:pt x="123596" y="46138"/>
                  <a:pt x="109466" y="32007"/>
                  <a:pt x="91532" y="28375"/>
                </a:cubicBezTo>
                <a:lnTo>
                  <a:pt x="91532" y="32036"/>
                </a:lnTo>
                <a:cubicBezTo>
                  <a:pt x="91532" y="37099"/>
                  <a:pt x="87441" y="41189"/>
                  <a:pt x="82378" y="41189"/>
                </a:cubicBezTo>
                <a:cubicBezTo>
                  <a:pt x="77316" y="41189"/>
                  <a:pt x="73225" y="37099"/>
                  <a:pt x="73225" y="32036"/>
                </a:cubicBezTo>
                <a:lnTo>
                  <a:pt x="73225" y="28375"/>
                </a:lnTo>
                <a:cubicBezTo>
                  <a:pt x="55291" y="32007"/>
                  <a:pt x="41161" y="46138"/>
                  <a:pt x="37528" y="64072"/>
                </a:cubicBezTo>
                <a:lnTo>
                  <a:pt x="41189" y="64072"/>
                </a:lnTo>
                <a:cubicBezTo>
                  <a:pt x="46252" y="64072"/>
                  <a:pt x="50342" y="68162"/>
                  <a:pt x="50342" y="73225"/>
                </a:cubicBezTo>
                <a:cubicBezTo>
                  <a:pt x="50342" y="78288"/>
                  <a:pt x="46252" y="82378"/>
                  <a:pt x="41189" y="82378"/>
                </a:cubicBezTo>
                <a:lnTo>
                  <a:pt x="37528" y="82378"/>
                </a:lnTo>
                <a:close/>
                <a:moveTo>
                  <a:pt x="82378" y="59495"/>
                </a:moveTo>
                <a:cubicBezTo>
                  <a:pt x="89956" y="59495"/>
                  <a:pt x="96108" y="65648"/>
                  <a:pt x="96108" y="73225"/>
                </a:cubicBezTo>
                <a:cubicBezTo>
                  <a:pt x="96108" y="80803"/>
                  <a:pt x="89956" y="86955"/>
                  <a:pt x="82378" y="86955"/>
                </a:cubicBezTo>
                <a:cubicBezTo>
                  <a:pt x="74801" y="86955"/>
                  <a:pt x="68649" y="80803"/>
                  <a:pt x="68649" y="73225"/>
                </a:cubicBezTo>
                <a:cubicBezTo>
                  <a:pt x="68649" y="65648"/>
                  <a:pt x="74801" y="59495"/>
                  <a:pt x="82378" y="59495"/>
                </a:cubicBezTo>
                <a:close/>
              </a:path>
            </a:pathLst>
          </a:custGeom>
          <a:solidFill>
            <a:schemeClr val="bg1"/>
          </a:solidFill>
        </p:spPr>
      </p:sp>
      <p:sp>
        <p:nvSpPr>
          <p:cNvPr id="47" name="Text 31"/>
          <p:cNvSpPr/>
          <p:nvPr/>
        </p:nvSpPr>
        <p:spPr>
          <a:xfrm>
            <a:off x="959250" y="6105199"/>
            <a:ext cx="2251676" cy="2196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意图识别模块</a:t>
            </a:r>
            <a:endParaRPr lang="en-US" sz="1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959485" y="6370320"/>
            <a:ext cx="32181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精准解析用户提问意图，优化回答策略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9" name="Shape 33"/>
          <p:cNvSpPr/>
          <p:nvPr/>
        </p:nvSpPr>
        <p:spPr>
          <a:xfrm>
            <a:off x="6051493" y="992202"/>
            <a:ext cx="5764656" cy="4345917"/>
          </a:xfrm>
          <a:custGeom>
            <a:avLst/>
            <a:gdLst/>
            <a:ahLst/>
            <a:cxnLst/>
            <a:rect l="l" t="t" r="r" b="b"/>
            <a:pathLst>
              <a:path w="5764656" h="4345917">
                <a:moveTo>
                  <a:pt x="109821" y="0"/>
                </a:moveTo>
                <a:lnTo>
                  <a:pt x="5654835" y="0"/>
                </a:lnTo>
                <a:cubicBezTo>
                  <a:pt x="5715447" y="0"/>
                  <a:pt x="5764656" y="49209"/>
                  <a:pt x="5764656" y="109821"/>
                </a:cubicBezTo>
                <a:lnTo>
                  <a:pt x="5764656" y="4236096"/>
                </a:lnTo>
                <a:cubicBezTo>
                  <a:pt x="5764656" y="4296748"/>
                  <a:pt x="5715487" y="4345917"/>
                  <a:pt x="5654835" y="4345917"/>
                </a:cubicBezTo>
                <a:lnTo>
                  <a:pt x="109821" y="4345917"/>
                </a:lnTo>
                <a:cubicBezTo>
                  <a:pt x="49209" y="4345917"/>
                  <a:pt x="0" y="4296708"/>
                  <a:pt x="0" y="4236096"/>
                </a:cubicBezTo>
                <a:lnTo>
                  <a:pt x="0" y="109821"/>
                </a:lnTo>
                <a:cubicBezTo>
                  <a:pt x="0" y="49169"/>
                  <a:pt x="49169" y="0"/>
                  <a:pt x="109821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0" name="Shape 34"/>
          <p:cNvSpPr/>
          <p:nvPr/>
        </p:nvSpPr>
        <p:spPr>
          <a:xfrm>
            <a:off x="6261100" y="1215541"/>
            <a:ext cx="183063" cy="183063"/>
          </a:xfrm>
          <a:custGeom>
            <a:avLst/>
            <a:gdLst/>
            <a:ahLst/>
            <a:cxnLst/>
            <a:rect l="l" t="t" r="r" b="b"/>
            <a:pathLst>
              <a:path w="183063" h="183063">
                <a:moveTo>
                  <a:pt x="51594" y="0"/>
                </a:moveTo>
                <a:lnTo>
                  <a:pt x="131684" y="0"/>
                </a:lnTo>
                <a:cubicBezTo>
                  <a:pt x="141159" y="0"/>
                  <a:pt x="148882" y="7794"/>
                  <a:pt x="148524" y="17234"/>
                </a:cubicBezTo>
                <a:cubicBezTo>
                  <a:pt x="148453" y="19129"/>
                  <a:pt x="148381" y="21024"/>
                  <a:pt x="148274" y="22883"/>
                </a:cubicBezTo>
                <a:lnTo>
                  <a:pt x="166008" y="22883"/>
                </a:lnTo>
                <a:cubicBezTo>
                  <a:pt x="175340" y="22883"/>
                  <a:pt x="183564" y="30606"/>
                  <a:pt x="182849" y="40689"/>
                </a:cubicBezTo>
                <a:cubicBezTo>
                  <a:pt x="180167" y="77766"/>
                  <a:pt x="161217" y="98146"/>
                  <a:pt x="140658" y="108801"/>
                </a:cubicBezTo>
                <a:cubicBezTo>
                  <a:pt x="135009" y="111733"/>
                  <a:pt x="129253" y="113914"/>
                  <a:pt x="123782" y="115523"/>
                </a:cubicBezTo>
                <a:cubicBezTo>
                  <a:pt x="116560" y="125749"/>
                  <a:pt x="109051" y="131148"/>
                  <a:pt x="103080" y="134044"/>
                </a:cubicBezTo>
                <a:lnTo>
                  <a:pt x="103080" y="160180"/>
                </a:lnTo>
                <a:lnTo>
                  <a:pt x="125963" y="160180"/>
                </a:lnTo>
                <a:cubicBezTo>
                  <a:pt x="132292" y="160180"/>
                  <a:pt x="137405" y="165293"/>
                  <a:pt x="137405" y="171622"/>
                </a:cubicBezTo>
                <a:cubicBezTo>
                  <a:pt x="137405" y="177950"/>
                  <a:pt x="132292" y="183063"/>
                  <a:pt x="125963" y="183063"/>
                </a:cubicBezTo>
                <a:lnTo>
                  <a:pt x="57314" y="183063"/>
                </a:lnTo>
                <a:cubicBezTo>
                  <a:pt x="50986" y="183063"/>
                  <a:pt x="45873" y="177950"/>
                  <a:pt x="45873" y="171622"/>
                </a:cubicBezTo>
                <a:cubicBezTo>
                  <a:pt x="45873" y="165293"/>
                  <a:pt x="50986" y="160180"/>
                  <a:pt x="57314" y="160180"/>
                </a:cubicBezTo>
                <a:lnTo>
                  <a:pt x="80197" y="160180"/>
                </a:lnTo>
                <a:lnTo>
                  <a:pt x="80197" y="134044"/>
                </a:lnTo>
                <a:cubicBezTo>
                  <a:pt x="74477" y="131291"/>
                  <a:pt x="67361" y="126178"/>
                  <a:pt x="60425" y="116774"/>
                </a:cubicBezTo>
                <a:cubicBezTo>
                  <a:pt x="53846" y="115058"/>
                  <a:pt x="46695" y="112448"/>
                  <a:pt x="39723" y="108515"/>
                </a:cubicBezTo>
                <a:cubicBezTo>
                  <a:pt x="20380" y="97681"/>
                  <a:pt x="2932" y="77265"/>
                  <a:pt x="429" y="40617"/>
                </a:cubicBezTo>
                <a:cubicBezTo>
                  <a:pt x="-250" y="30570"/>
                  <a:pt x="7938" y="22847"/>
                  <a:pt x="17269" y="22847"/>
                </a:cubicBezTo>
                <a:lnTo>
                  <a:pt x="35004" y="22847"/>
                </a:lnTo>
                <a:cubicBezTo>
                  <a:pt x="34896" y="20988"/>
                  <a:pt x="34825" y="19129"/>
                  <a:pt x="34753" y="17198"/>
                </a:cubicBezTo>
                <a:cubicBezTo>
                  <a:pt x="34396" y="7723"/>
                  <a:pt x="42119" y="-36"/>
                  <a:pt x="51594" y="-36"/>
                </a:cubicBezTo>
                <a:close/>
                <a:moveTo>
                  <a:pt x="36291" y="40045"/>
                </a:moveTo>
                <a:lnTo>
                  <a:pt x="17555" y="40045"/>
                </a:lnTo>
                <a:cubicBezTo>
                  <a:pt x="19772" y="70329"/>
                  <a:pt x="33681" y="85489"/>
                  <a:pt x="48018" y="93534"/>
                </a:cubicBezTo>
                <a:cubicBezTo>
                  <a:pt x="42870" y="80197"/>
                  <a:pt x="38615" y="62785"/>
                  <a:pt x="36291" y="40045"/>
                </a:cubicBezTo>
                <a:close/>
                <a:moveTo>
                  <a:pt x="135867" y="91818"/>
                </a:moveTo>
                <a:cubicBezTo>
                  <a:pt x="150348" y="83308"/>
                  <a:pt x="163434" y="68184"/>
                  <a:pt x="165651" y="40045"/>
                </a:cubicBezTo>
                <a:lnTo>
                  <a:pt x="146951" y="40045"/>
                </a:lnTo>
                <a:cubicBezTo>
                  <a:pt x="144734" y="61820"/>
                  <a:pt x="140730" y="78731"/>
                  <a:pt x="135867" y="9181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1" name="Text 35"/>
          <p:cNvSpPr/>
          <p:nvPr/>
        </p:nvSpPr>
        <p:spPr>
          <a:xfrm>
            <a:off x="6467046" y="1178929"/>
            <a:ext cx="5253910" cy="256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GPT-4问答卓越表现</a:t>
            </a:r>
            <a:endParaRPr lang="en-US" sz="16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2" name="Image 0" descr="https://kimi-img.moonshot.cn/pub/slides/26-02-01-23:47:24-d5vnb36f5ku7s9v3qskg.png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9444" r="3212" b="4518"/>
          <a:stretch>
            <a:fillRect/>
          </a:stretch>
        </p:blipFill>
        <p:spPr>
          <a:xfrm>
            <a:off x="6520180" y="1570990"/>
            <a:ext cx="4913630" cy="3726815"/>
          </a:xfrm>
          <a:prstGeom prst="roundRect">
            <a:avLst>
              <a:gd name="adj" fmla="val 0"/>
            </a:avLst>
          </a:prstGeom>
        </p:spPr>
      </p:pic>
      <p:sp>
        <p:nvSpPr>
          <p:cNvPr id="53" name="Shape 36"/>
          <p:cNvSpPr/>
          <p:nvPr/>
        </p:nvSpPr>
        <p:spPr>
          <a:xfrm>
            <a:off x="6051493" y="5491893"/>
            <a:ext cx="5764656" cy="1296000"/>
          </a:xfrm>
          <a:custGeom>
            <a:avLst/>
            <a:gdLst/>
            <a:ahLst/>
            <a:cxnLst/>
            <a:rect l="l" t="t" r="r" b="b"/>
            <a:pathLst>
              <a:path w="5764656" h="1361989">
                <a:moveTo>
                  <a:pt x="109844" y="0"/>
                </a:moveTo>
                <a:lnTo>
                  <a:pt x="5654811" y="0"/>
                </a:lnTo>
                <a:cubicBezTo>
                  <a:pt x="5715477" y="0"/>
                  <a:pt x="5764656" y="49179"/>
                  <a:pt x="5764656" y="109844"/>
                </a:cubicBezTo>
                <a:lnTo>
                  <a:pt x="5764656" y="1252145"/>
                </a:lnTo>
                <a:cubicBezTo>
                  <a:pt x="5764656" y="1312810"/>
                  <a:pt x="5715477" y="1361989"/>
                  <a:pt x="5654811" y="1361989"/>
                </a:cubicBezTo>
                <a:lnTo>
                  <a:pt x="109844" y="1361989"/>
                </a:lnTo>
                <a:cubicBezTo>
                  <a:pt x="49179" y="1361989"/>
                  <a:pt x="0" y="1312810"/>
                  <a:pt x="0" y="1252145"/>
                </a:cubicBezTo>
                <a:lnTo>
                  <a:pt x="0" y="109844"/>
                </a:lnTo>
                <a:cubicBezTo>
                  <a:pt x="0" y="49179"/>
                  <a:pt x="49179" y="0"/>
                  <a:pt x="109844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4" name="Shape 37"/>
          <p:cNvSpPr/>
          <p:nvPr/>
        </p:nvSpPr>
        <p:spPr>
          <a:xfrm>
            <a:off x="6214190" y="5687773"/>
            <a:ext cx="185351" cy="164757"/>
          </a:xfrm>
          <a:custGeom>
            <a:avLst/>
            <a:gdLst/>
            <a:ahLst/>
            <a:cxnLst/>
            <a:rect l="l" t="t" r="r" b="b"/>
            <a:pathLst>
              <a:path w="185351" h="164757">
                <a:moveTo>
                  <a:pt x="99594" y="-6082"/>
                </a:moveTo>
                <a:cubicBezTo>
                  <a:pt x="98275" y="-8656"/>
                  <a:pt x="95604" y="-10297"/>
                  <a:pt x="92708" y="-10297"/>
                </a:cubicBezTo>
                <a:cubicBezTo>
                  <a:pt x="89812" y="-10297"/>
                  <a:pt x="87141" y="-8656"/>
                  <a:pt x="85822" y="-6082"/>
                </a:cubicBezTo>
                <a:lnTo>
                  <a:pt x="62138" y="40320"/>
                </a:lnTo>
                <a:lnTo>
                  <a:pt x="10683" y="48494"/>
                </a:lnTo>
                <a:cubicBezTo>
                  <a:pt x="7820" y="48944"/>
                  <a:pt x="5438" y="50972"/>
                  <a:pt x="4537" y="53739"/>
                </a:cubicBezTo>
                <a:cubicBezTo>
                  <a:pt x="3636" y="56506"/>
                  <a:pt x="4376" y="59531"/>
                  <a:pt x="6404" y="61591"/>
                </a:cubicBezTo>
                <a:lnTo>
                  <a:pt x="43216" y="98436"/>
                </a:lnTo>
                <a:lnTo>
                  <a:pt x="35107" y="149890"/>
                </a:lnTo>
                <a:cubicBezTo>
                  <a:pt x="34657" y="152754"/>
                  <a:pt x="35847" y="155650"/>
                  <a:pt x="38197" y="157356"/>
                </a:cubicBezTo>
                <a:cubicBezTo>
                  <a:pt x="40546" y="159061"/>
                  <a:pt x="43635" y="159318"/>
                  <a:pt x="46241" y="157999"/>
                </a:cubicBezTo>
                <a:lnTo>
                  <a:pt x="92708" y="134380"/>
                </a:lnTo>
                <a:lnTo>
                  <a:pt x="139142" y="157999"/>
                </a:lnTo>
                <a:cubicBezTo>
                  <a:pt x="141717" y="159318"/>
                  <a:pt x="144838" y="159061"/>
                  <a:pt x="147187" y="157356"/>
                </a:cubicBezTo>
                <a:cubicBezTo>
                  <a:pt x="149536" y="155650"/>
                  <a:pt x="150727" y="152786"/>
                  <a:pt x="150276" y="149890"/>
                </a:cubicBezTo>
                <a:lnTo>
                  <a:pt x="142135" y="98436"/>
                </a:lnTo>
                <a:lnTo>
                  <a:pt x="178948" y="61591"/>
                </a:lnTo>
                <a:cubicBezTo>
                  <a:pt x="181007" y="59531"/>
                  <a:pt x="181715" y="56506"/>
                  <a:pt x="180814" y="53739"/>
                </a:cubicBezTo>
                <a:cubicBezTo>
                  <a:pt x="179913" y="50972"/>
                  <a:pt x="177564" y="48944"/>
                  <a:pt x="174668" y="48494"/>
                </a:cubicBezTo>
                <a:lnTo>
                  <a:pt x="123246" y="40320"/>
                </a:lnTo>
                <a:lnTo>
                  <a:pt x="99594" y="-6082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5" name="Text 38"/>
          <p:cNvSpPr/>
          <p:nvPr/>
        </p:nvSpPr>
        <p:spPr>
          <a:xfrm>
            <a:off x="6412127" y="5642007"/>
            <a:ext cx="5336288" cy="256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核心突破</a:t>
            </a:r>
            <a:endParaRPr lang="en-US" sz="1400" b="1" dirty="0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Shape 39"/>
          <p:cNvSpPr/>
          <p:nvPr/>
        </p:nvSpPr>
        <p:spPr>
          <a:xfrm>
            <a:off x="6256524" y="6044746"/>
            <a:ext cx="73225" cy="146450"/>
          </a:xfrm>
          <a:custGeom>
            <a:avLst/>
            <a:gdLst/>
            <a:ahLst/>
            <a:cxnLst/>
            <a:rect l="l" t="t" r="r" b="b"/>
            <a:pathLst>
              <a:path w="73225" h="146450">
                <a:moveTo>
                  <a:pt x="70680" y="66761"/>
                </a:moveTo>
                <a:cubicBezTo>
                  <a:pt x="74255" y="70336"/>
                  <a:pt x="74255" y="76143"/>
                  <a:pt x="70680" y="79718"/>
                </a:cubicBezTo>
                <a:lnTo>
                  <a:pt x="24914" y="125484"/>
                </a:lnTo>
                <a:cubicBezTo>
                  <a:pt x="21338" y="129059"/>
                  <a:pt x="15532" y="129059"/>
                  <a:pt x="11956" y="125484"/>
                </a:cubicBezTo>
                <a:cubicBezTo>
                  <a:pt x="8381" y="121909"/>
                  <a:pt x="8381" y="116102"/>
                  <a:pt x="11956" y="112527"/>
                </a:cubicBezTo>
                <a:lnTo>
                  <a:pt x="51258" y="73225"/>
                </a:lnTo>
                <a:lnTo>
                  <a:pt x="11985" y="33924"/>
                </a:lnTo>
                <a:cubicBezTo>
                  <a:pt x="8409" y="30348"/>
                  <a:pt x="8409" y="24542"/>
                  <a:pt x="11985" y="20966"/>
                </a:cubicBezTo>
                <a:cubicBezTo>
                  <a:pt x="15560" y="17391"/>
                  <a:pt x="21367" y="17391"/>
                  <a:pt x="24942" y="20966"/>
                </a:cubicBezTo>
                <a:lnTo>
                  <a:pt x="70708" y="66732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7" name="Text 40"/>
          <p:cNvSpPr/>
          <p:nvPr/>
        </p:nvSpPr>
        <p:spPr>
          <a:xfrm>
            <a:off x="6457950" y="6008370"/>
            <a:ext cx="49657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医疗领域：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巴西医学考试准确率87.2%，超越所有年级医学生平均水平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Shape 41"/>
          <p:cNvSpPr/>
          <p:nvPr/>
        </p:nvSpPr>
        <p:spPr>
          <a:xfrm>
            <a:off x="6256524" y="6301034"/>
            <a:ext cx="73225" cy="146450"/>
          </a:xfrm>
          <a:custGeom>
            <a:avLst/>
            <a:gdLst/>
            <a:ahLst/>
            <a:cxnLst/>
            <a:rect l="l" t="t" r="r" b="b"/>
            <a:pathLst>
              <a:path w="73225" h="146450">
                <a:moveTo>
                  <a:pt x="70680" y="66761"/>
                </a:moveTo>
                <a:cubicBezTo>
                  <a:pt x="74255" y="70336"/>
                  <a:pt x="74255" y="76143"/>
                  <a:pt x="70680" y="79718"/>
                </a:cubicBezTo>
                <a:lnTo>
                  <a:pt x="24914" y="125484"/>
                </a:lnTo>
                <a:cubicBezTo>
                  <a:pt x="21338" y="129059"/>
                  <a:pt x="15532" y="129059"/>
                  <a:pt x="11956" y="125484"/>
                </a:cubicBezTo>
                <a:cubicBezTo>
                  <a:pt x="8381" y="121909"/>
                  <a:pt x="8381" y="116102"/>
                  <a:pt x="11956" y="112527"/>
                </a:cubicBezTo>
                <a:lnTo>
                  <a:pt x="51258" y="73225"/>
                </a:lnTo>
                <a:lnTo>
                  <a:pt x="11985" y="33924"/>
                </a:lnTo>
                <a:cubicBezTo>
                  <a:pt x="8409" y="30348"/>
                  <a:pt x="8409" y="24542"/>
                  <a:pt x="11985" y="20966"/>
                </a:cubicBezTo>
                <a:cubicBezTo>
                  <a:pt x="15560" y="17391"/>
                  <a:pt x="21367" y="17391"/>
                  <a:pt x="24942" y="20966"/>
                </a:cubicBezTo>
                <a:lnTo>
                  <a:pt x="70708" y="66732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9" name="Text 42"/>
          <p:cNvSpPr/>
          <p:nvPr/>
        </p:nvSpPr>
        <p:spPr>
          <a:xfrm>
            <a:off x="6457950" y="6264275"/>
            <a:ext cx="512000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放射学诊断：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比GPT-3.5准确率提升17.3%，在复杂病例分析中表现突出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Shape 43"/>
          <p:cNvSpPr/>
          <p:nvPr/>
        </p:nvSpPr>
        <p:spPr>
          <a:xfrm>
            <a:off x="6256524" y="6557322"/>
            <a:ext cx="73225" cy="146450"/>
          </a:xfrm>
          <a:custGeom>
            <a:avLst/>
            <a:gdLst/>
            <a:ahLst/>
            <a:cxnLst/>
            <a:rect l="l" t="t" r="r" b="b"/>
            <a:pathLst>
              <a:path w="73225" h="146450">
                <a:moveTo>
                  <a:pt x="70680" y="66761"/>
                </a:moveTo>
                <a:cubicBezTo>
                  <a:pt x="74255" y="70336"/>
                  <a:pt x="74255" y="76143"/>
                  <a:pt x="70680" y="79718"/>
                </a:cubicBezTo>
                <a:lnTo>
                  <a:pt x="24914" y="125484"/>
                </a:lnTo>
                <a:cubicBezTo>
                  <a:pt x="21338" y="129059"/>
                  <a:pt x="15532" y="129059"/>
                  <a:pt x="11956" y="125484"/>
                </a:cubicBezTo>
                <a:cubicBezTo>
                  <a:pt x="8381" y="121909"/>
                  <a:pt x="8381" y="116102"/>
                  <a:pt x="11956" y="112527"/>
                </a:cubicBezTo>
                <a:lnTo>
                  <a:pt x="51258" y="73225"/>
                </a:lnTo>
                <a:lnTo>
                  <a:pt x="11985" y="33924"/>
                </a:lnTo>
                <a:cubicBezTo>
                  <a:pt x="8409" y="30348"/>
                  <a:pt x="8409" y="24542"/>
                  <a:pt x="11985" y="20966"/>
                </a:cubicBezTo>
                <a:cubicBezTo>
                  <a:pt x="15560" y="17391"/>
                  <a:pt x="21367" y="17391"/>
                  <a:pt x="24942" y="20966"/>
                </a:cubicBezTo>
                <a:lnTo>
                  <a:pt x="70708" y="66732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1" name="Text 44"/>
          <p:cNvSpPr/>
          <p:nvPr/>
        </p:nvSpPr>
        <p:spPr>
          <a:xfrm>
            <a:off x="6457950" y="6520815"/>
            <a:ext cx="521525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事实准确性：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通过证据对齐机制，确保回答有据可依，幻觉率降至10%以下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985" y="441325"/>
            <a:ext cx="7609840" cy="467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智能问答：幻觉问题与抑制策略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810" y="1032510"/>
            <a:ext cx="6275070" cy="4093845"/>
          </a:xfrm>
          <a:custGeom>
            <a:avLst/>
            <a:gdLst/>
            <a:ahLst/>
            <a:cxnLst/>
            <a:rect l="l" t="t" r="r" b="b"/>
            <a:pathLst>
              <a:path w="6275070" h="4093845">
                <a:moveTo>
                  <a:pt x="114300" y="0"/>
                </a:moveTo>
                <a:lnTo>
                  <a:pt x="6160770" y="0"/>
                </a:lnTo>
                <a:cubicBezTo>
                  <a:pt x="6223896" y="0"/>
                  <a:pt x="6275070" y="51174"/>
                  <a:pt x="6275070" y="114300"/>
                </a:cubicBezTo>
                <a:lnTo>
                  <a:pt x="6275070" y="3979545"/>
                </a:lnTo>
                <a:cubicBezTo>
                  <a:pt x="6275070" y="4042671"/>
                  <a:pt x="6223896" y="4093845"/>
                  <a:pt x="6160770" y="4093845"/>
                </a:cubicBezTo>
                <a:lnTo>
                  <a:pt x="114300" y="4093845"/>
                </a:lnTo>
                <a:cubicBezTo>
                  <a:pt x="51174" y="4093845"/>
                  <a:pt x="0" y="4042671"/>
                  <a:pt x="0" y="3979545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2932" y="12649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" name="Text 6"/>
          <p:cNvSpPr/>
          <p:nvPr/>
        </p:nvSpPr>
        <p:spPr>
          <a:xfrm>
            <a:off x="828675" y="1215390"/>
            <a:ext cx="549846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幻觉率对比：不同模型的表现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pic>
        <p:nvPicPr>
          <p:cNvPr id="9" name="Image 0" descr="https://kimi-img.moonshot.cn/pub/slides/26-02-01-23:47:24-d5vnb31rqpma715sml6g.png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12513" t="3" b="3"/>
          <a:stretch>
            <a:fillRect/>
          </a:stretch>
        </p:blipFill>
        <p:spPr>
          <a:xfrm>
            <a:off x="698500" y="1645920"/>
            <a:ext cx="5402580" cy="3447415"/>
          </a:xfrm>
          <a:prstGeom prst="roundRect">
            <a:avLst>
              <a:gd name="adj" fmla="val 0"/>
            </a:avLst>
          </a:prstGeom>
        </p:spPr>
      </p:pic>
      <p:sp>
        <p:nvSpPr>
          <p:cNvPr id="10" name="Shape 7"/>
          <p:cNvSpPr/>
          <p:nvPr/>
        </p:nvSpPr>
        <p:spPr>
          <a:xfrm>
            <a:off x="384810" y="5286376"/>
            <a:ext cx="6275070" cy="1188720"/>
          </a:xfrm>
          <a:custGeom>
            <a:avLst/>
            <a:gdLst/>
            <a:ahLst/>
            <a:cxnLst/>
            <a:rect l="l" t="t" r="r" b="b"/>
            <a:pathLst>
              <a:path w="6275070" h="1188720">
                <a:moveTo>
                  <a:pt x="114295" y="0"/>
                </a:moveTo>
                <a:lnTo>
                  <a:pt x="6160775" y="0"/>
                </a:lnTo>
                <a:cubicBezTo>
                  <a:pt x="6223856" y="0"/>
                  <a:pt x="6275070" y="51214"/>
                  <a:pt x="6275070" y="114295"/>
                </a:cubicBezTo>
                <a:lnTo>
                  <a:pt x="6275070" y="1074425"/>
                </a:lnTo>
                <a:cubicBezTo>
                  <a:pt x="6275070" y="1137548"/>
                  <a:pt x="6223898" y="1188720"/>
                  <a:pt x="6160775" y="1188720"/>
                </a:cubicBezTo>
                <a:lnTo>
                  <a:pt x="114295" y="1188720"/>
                </a:lnTo>
                <a:cubicBezTo>
                  <a:pt x="51214" y="1188720"/>
                  <a:pt x="0" y="1137506"/>
                  <a:pt x="0" y="1074425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4832" y="5490209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75009" y="53578"/>
                </a:moveTo>
                <a:cubicBezTo>
                  <a:pt x="75009" y="47664"/>
                  <a:pt x="79811" y="42863"/>
                  <a:pt x="85725" y="42863"/>
                </a:cubicBezTo>
                <a:cubicBezTo>
                  <a:pt x="91639" y="42863"/>
                  <a:pt x="96441" y="47664"/>
                  <a:pt x="96441" y="53578"/>
                </a:cubicBezTo>
                <a:cubicBezTo>
                  <a:pt x="96441" y="59492"/>
                  <a:pt x="91639" y="64294"/>
                  <a:pt x="85725" y="64294"/>
                </a:cubicBezTo>
                <a:cubicBezTo>
                  <a:pt x="79811" y="64294"/>
                  <a:pt x="75009" y="59492"/>
                  <a:pt x="75009" y="53578"/>
                </a:cubicBezTo>
                <a:close/>
                <a:moveTo>
                  <a:pt x="72330" y="75009"/>
                </a:moveTo>
                <a:lnTo>
                  <a:pt x="88404" y="75009"/>
                </a:lnTo>
                <a:cubicBezTo>
                  <a:pt x="92858" y="75009"/>
                  <a:pt x="96441" y="78592"/>
                  <a:pt x="96441" y="83046"/>
                </a:cubicBezTo>
                <a:lnTo>
                  <a:pt x="96441" y="112514"/>
                </a:lnTo>
                <a:lnTo>
                  <a:pt x="99120" y="112514"/>
                </a:lnTo>
                <a:cubicBezTo>
                  <a:pt x="103573" y="112514"/>
                  <a:pt x="107156" y="116097"/>
                  <a:pt x="107156" y="120551"/>
                </a:cubicBezTo>
                <a:cubicBezTo>
                  <a:pt x="107156" y="125004"/>
                  <a:pt x="103573" y="128588"/>
                  <a:pt x="99120" y="128588"/>
                </a:cubicBezTo>
                <a:lnTo>
                  <a:pt x="72330" y="128588"/>
                </a:lnTo>
                <a:cubicBezTo>
                  <a:pt x="67877" y="128588"/>
                  <a:pt x="64294" y="125004"/>
                  <a:pt x="64294" y="120551"/>
                </a:cubicBezTo>
                <a:cubicBezTo>
                  <a:pt x="64294" y="116097"/>
                  <a:pt x="67877" y="112514"/>
                  <a:pt x="72330" y="112514"/>
                </a:cubicBezTo>
                <a:lnTo>
                  <a:pt x="80367" y="112514"/>
                </a:lnTo>
                <a:lnTo>
                  <a:pt x="80367" y="91083"/>
                </a:lnTo>
                <a:lnTo>
                  <a:pt x="72330" y="91083"/>
                </a:lnTo>
                <a:cubicBezTo>
                  <a:pt x="67877" y="91083"/>
                  <a:pt x="64294" y="87500"/>
                  <a:pt x="64294" y="83046"/>
                </a:cubicBezTo>
                <a:cubicBezTo>
                  <a:pt x="64294" y="78592"/>
                  <a:pt x="67877" y="75009"/>
                  <a:pt x="72330" y="75009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2" name="Text 9"/>
          <p:cNvSpPr/>
          <p:nvPr/>
        </p:nvSpPr>
        <p:spPr>
          <a:xfrm>
            <a:off x="771525" y="5431155"/>
            <a:ext cx="316357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什么是幻觉？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72440" y="5823585"/>
            <a:ext cx="6119495" cy="4953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幻觉是指模型生成与事实不符、缺乏依据或完全虚构的内容。在智能问答中，幻觉会严重影响答案的可信度和实用性，是文本生成任务面临的核心挑战之一。</a:t>
            </a:r>
            <a:endParaRPr lang="en-US" sz="14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861810" y="1032510"/>
            <a:ext cx="4941570" cy="3865245"/>
          </a:xfrm>
          <a:custGeom>
            <a:avLst/>
            <a:gdLst/>
            <a:ahLst/>
            <a:cxnLst/>
            <a:rect l="l" t="t" r="r" b="b"/>
            <a:pathLst>
              <a:path w="4941570" h="3865245">
                <a:moveTo>
                  <a:pt x="114295" y="0"/>
                </a:moveTo>
                <a:lnTo>
                  <a:pt x="4827275" y="0"/>
                </a:lnTo>
                <a:cubicBezTo>
                  <a:pt x="4890398" y="0"/>
                  <a:pt x="4941570" y="51172"/>
                  <a:pt x="4941570" y="114295"/>
                </a:cubicBezTo>
                <a:lnTo>
                  <a:pt x="4941570" y="3750950"/>
                </a:lnTo>
                <a:cubicBezTo>
                  <a:pt x="4941570" y="3814073"/>
                  <a:pt x="4890398" y="3865245"/>
                  <a:pt x="4827275" y="3865245"/>
                </a:cubicBezTo>
                <a:lnTo>
                  <a:pt x="114295" y="3865245"/>
                </a:lnTo>
                <a:cubicBezTo>
                  <a:pt x="51172" y="3865245"/>
                  <a:pt x="0" y="3814073"/>
                  <a:pt x="0" y="375095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" name="Shape 12"/>
          <p:cNvSpPr/>
          <p:nvPr/>
        </p:nvSpPr>
        <p:spPr>
          <a:xfrm>
            <a:off x="7084695" y="124587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4" name="Text 13"/>
          <p:cNvSpPr/>
          <p:nvPr/>
        </p:nvSpPr>
        <p:spPr>
          <a:xfrm>
            <a:off x="7456170" y="1226820"/>
            <a:ext cx="187515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幻觉抑制策略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" name="Shape 14"/>
          <p:cNvSpPr/>
          <p:nvPr/>
        </p:nvSpPr>
        <p:spPr>
          <a:xfrm>
            <a:off x="7075170" y="1645923"/>
            <a:ext cx="4533900" cy="1047750"/>
          </a:xfrm>
          <a:custGeom>
            <a:avLst/>
            <a:gdLst/>
            <a:ahLst/>
            <a:cxnLst/>
            <a:rect l="l" t="t" r="r" b="b"/>
            <a:pathLst>
              <a:path w="4533900" h="1047750">
                <a:moveTo>
                  <a:pt x="38100" y="0"/>
                </a:moveTo>
                <a:lnTo>
                  <a:pt x="4457697" y="0"/>
                </a:lnTo>
                <a:cubicBezTo>
                  <a:pt x="4499755" y="0"/>
                  <a:pt x="4533900" y="34145"/>
                  <a:pt x="4533900" y="76203"/>
                </a:cubicBezTo>
                <a:lnTo>
                  <a:pt x="4533900" y="971547"/>
                </a:lnTo>
                <a:cubicBezTo>
                  <a:pt x="4533900" y="1013605"/>
                  <a:pt x="4499755" y="1047750"/>
                  <a:pt x="4457697" y="1047750"/>
                </a:cubicBez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6" name="Shape 15"/>
          <p:cNvSpPr/>
          <p:nvPr/>
        </p:nvSpPr>
        <p:spPr>
          <a:xfrm>
            <a:off x="7075170" y="1645923"/>
            <a:ext cx="38100" cy="1047750"/>
          </a:xfrm>
          <a:custGeom>
            <a:avLst/>
            <a:gdLst/>
            <a:ahLst/>
            <a:cxnLst/>
            <a:rect l="l" t="t" r="r" b="b"/>
            <a:pathLst>
              <a:path w="38100" h="1047750">
                <a:moveTo>
                  <a:pt x="38100" y="0"/>
                </a:moveTo>
                <a:lnTo>
                  <a:pt x="38100" y="0"/>
                </a:lnTo>
                <a:lnTo>
                  <a:pt x="38100" y="1047750"/>
                </a:lnTo>
                <a:lnTo>
                  <a:pt x="38100" y="1047750"/>
                </a:lnTo>
                <a:cubicBezTo>
                  <a:pt x="17072" y="1047750"/>
                  <a:pt x="0" y="1030678"/>
                  <a:pt x="0" y="10096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7" name="Shape 16"/>
          <p:cNvSpPr/>
          <p:nvPr/>
        </p:nvSpPr>
        <p:spPr>
          <a:xfrm>
            <a:off x="7256145" y="1836423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24867" y="28575"/>
                </a:moveTo>
                <a:cubicBezTo>
                  <a:pt x="119926" y="28575"/>
                  <a:pt x="115133" y="29914"/>
                  <a:pt x="110936" y="32355"/>
                </a:cubicBezTo>
                <a:cubicBezTo>
                  <a:pt x="106234" y="27593"/>
                  <a:pt x="100757" y="23604"/>
                  <a:pt x="94714" y="20598"/>
                </a:cubicBezTo>
                <a:cubicBezTo>
                  <a:pt x="103108" y="13454"/>
                  <a:pt x="113794" y="9525"/>
                  <a:pt x="124867" y="9525"/>
                </a:cubicBezTo>
                <a:cubicBezTo>
                  <a:pt x="150584" y="9525"/>
                  <a:pt x="171450" y="30361"/>
                  <a:pt x="171450" y="56108"/>
                </a:cubicBezTo>
                <a:cubicBezTo>
                  <a:pt x="171450" y="68461"/>
                  <a:pt x="166539" y="80308"/>
                  <a:pt x="157817" y="89029"/>
                </a:cubicBezTo>
                <a:lnTo>
                  <a:pt x="136654" y="110192"/>
                </a:lnTo>
                <a:cubicBezTo>
                  <a:pt x="127933" y="118914"/>
                  <a:pt x="116086" y="123825"/>
                  <a:pt x="103733" y="123825"/>
                </a:cubicBezTo>
                <a:cubicBezTo>
                  <a:pt x="78016" y="123825"/>
                  <a:pt x="57150" y="102989"/>
                  <a:pt x="57150" y="77242"/>
                </a:cubicBezTo>
                <a:cubicBezTo>
                  <a:pt x="57150" y="76795"/>
                  <a:pt x="57150" y="76349"/>
                  <a:pt x="57180" y="75902"/>
                </a:cubicBezTo>
                <a:cubicBezTo>
                  <a:pt x="57329" y="70634"/>
                  <a:pt x="61704" y="66496"/>
                  <a:pt x="66973" y="66645"/>
                </a:cubicBezTo>
                <a:cubicBezTo>
                  <a:pt x="72241" y="66794"/>
                  <a:pt x="76379" y="71170"/>
                  <a:pt x="76230" y="76438"/>
                </a:cubicBezTo>
                <a:cubicBezTo>
                  <a:pt x="76230" y="76706"/>
                  <a:pt x="76230" y="76974"/>
                  <a:pt x="76230" y="77212"/>
                </a:cubicBezTo>
                <a:cubicBezTo>
                  <a:pt x="76230" y="92422"/>
                  <a:pt x="88553" y="104745"/>
                  <a:pt x="103763" y="104745"/>
                </a:cubicBezTo>
                <a:cubicBezTo>
                  <a:pt x="111056" y="104745"/>
                  <a:pt x="118050" y="101858"/>
                  <a:pt x="123230" y="96679"/>
                </a:cubicBezTo>
                <a:lnTo>
                  <a:pt x="144393" y="75515"/>
                </a:lnTo>
                <a:cubicBezTo>
                  <a:pt x="149543" y="70366"/>
                  <a:pt x="152460" y="63341"/>
                  <a:pt x="152460" y="56049"/>
                </a:cubicBezTo>
                <a:cubicBezTo>
                  <a:pt x="152460" y="40838"/>
                  <a:pt x="140137" y="28515"/>
                  <a:pt x="124926" y="28515"/>
                </a:cubicBezTo>
                <a:close/>
                <a:moveTo>
                  <a:pt x="81915" y="51584"/>
                </a:moveTo>
                <a:cubicBezTo>
                  <a:pt x="81349" y="51346"/>
                  <a:pt x="80784" y="51018"/>
                  <a:pt x="80278" y="50661"/>
                </a:cubicBezTo>
                <a:cubicBezTo>
                  <a:pt x="76527" y="48726"/>
                  <a:pt x="72241" y="47625"/>
                  <a:pt x="67747" y="47625"/>
                </a:cubicBezTo>
                <a:cubicBezTo>
                  <a:pt x="60454" y="47625"/>
                  <a:pt x="53459" y="50512"/>
                  <a:pt x="48280" y="55691"/>
                </a:cubicBezTo>
                <a:lnTo>
                  <a:pt x="27116" y="76855"/>
                </a:lnTo>
                <a:cubicBezTo>
                  <a:pt x="21967" y="82004"/>
                  <a:pt x="19050" y="89029"/>
                  <a:pt x="19050" y="96322"/>
                </a:cubicBezTo>
                <a:cubicBezTo>
                  <a:pt x="19050" y="111532"/>
                  <a:pt x="31373" y="123855"/>
                  <a:pt x="46583" y="123855"/>
                </a:cubicBezTo>
                <a:cubicBezTo>
                  <a:pt x="51495" y="123855"/>
                  <a:pt x="56287" y="122545"/>
                  <a:pt x="60484" y="120104"/>
                </a:cubicBezTo>
                <a:cubicBezTo>
                  <a:pt x="65187" y="124867"/>
                  <a:pt x="70664" y="128855"/>
                  <a:pt x="76736" y="131862"/>
                </a:cubicBezTo>
                <a:cubicBezTo>
                  <a:pt x="68342" y="138976"/>
                  <a:pt x="57686" y="142935"/>
                  <a:pt x="46583" y="142935"/>
                </a:cubicBezTo>
                <a:cubicBezTo>
                  <a:pt x="20866" y="142935"/>
                  <a:pt x="0" y="122099"/>
                  <a:pt x="0" y="96351"/>
                </a:cubicBezTo>
                <a:cubicBezTo>
                  <a:pt x="0" y="83999"/>
                  <a:pt x="4911" y="72152"/>
                  <a:pt x="13633" y="63431"/>
                </a:cubicBezTo>
                <a:lnTo>
                  <a:pt x="34796" y="42267"/>
                </a:lnTo>
                <a:cubicBezTo>
                  <a:pt x="43517" y="33546"/>
                  <a:pt x="55364" y="28635"/>
                  <a:pt x="67717" y="28635"/>
                </a:cubicBezTo>
                <a:cubicBezTo>
                  <a:pt x="93494" y="28635"/>
                  <a:pt x="114300" y="49649"/>
                  <a:pt x="114300" y="75337"/>
                </a:cubicBezTo>
                <a:cubicBezTo>
                  <a:pt x="114300" y="75724"/>
                  <a:pt x="114300" y="76111"/>
                  <a:pt x="114300" y="76498"/>
                </a:cubicBezTo>
                <a:cubicBezTo>
                  <a:pt x="114181" y="81766"/>
                  <a:pt x="109805" y="85904"/>
                  <a:pt x="104537" y="85785"/>
                </a:cubicBezTo>
                <a:cubicBezTo>
                  <a:pt x="99268" y="85665"/>
                  <a:pt x="95131" y="81290"/>
                  <a:pt x="95250" y="76021"/>
                </a:cubicBezTo>
                <a:cubicBezTo>
                  <a:pt x="95250" y="75783"/>
                  <a:pt x="95250" y="75575"/>
                  <a:pt x="95250" y="75337"/>
                </a:cubicBezTo>
                <a:cubicBezTo>
                  <a:pt x="95250" y="65306"/>
                  <a:pt x="89892" y="56495"/>
                  <a:pt x="81915" y="51643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8" name="Text 17"/>
          <p:cNvSpPr/>
          <p:nvPr/>
        </p:nvSpPr>
        <p:spPr>
          <a:xfrm>
            <a:off x="7513320" y="1798320"/>
            <a:ext cx="181737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证据对齐机制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9" name="Text 18"/>
          <p:cNvSpPr/>
          <p:nvPr/>
        </p:nvSpPr>
        <p:spPr>
          <a:xfrm>
            <a:off x="7246620" y="2103123"/>
            <a:ext cx="4276725" cy="438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在生成答案前进行事实校验，确保回答有据可依。GPT-4通过RAG技术将幻觉率降至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10%以下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hape 19"/>
          <p:cNvSpPr/>
          <p:nvPr/>
        </p:nvSpPr>
        <p:spPr>
          <a:xfrm>
            <a:off x="7075170" y="2803210"/>
            <a:ext cx="4533900" cy="828675"/>
          </a:xfrm>
          <a:custGeom>
            <a:avLst/>
            <a:gdLst/>
            <a:ahLst/>
            <a:cxnLst/>
            <a:rect l="l" t="t" r="r" b="b"/>
            <a:pathLst>
              <a:path w="4533900" h="828675">
                <a:moveTo>
                  <a:pt x="38100" y="0"/>
                </a:moveTo>
                <a:lnTo>
                  <a:pt x="4457703" y="0"/>
                </a:lnTo>
                <a:cubicBezTo>
                  <a:pt x="4499786" y="0"/>
                  <a:pt x="4533900" y="34114"/>
                  <a:pt x="4533900" y="76197"/>
                </a:cubicBezTo>
                <a:lnTo>
                  <a:pt x="4533900" y="752478"/>
                </a:lnTo>
                <a:cubicBezTo>
                  <a:pt x="4533900" y="794561"/>
                  <a:pt x="4499786" y="828675"/>
                  <a:pt x="4457703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1" name="Shape 20"/>
          <p:cNvSpPr/>
          <p:nvPr/>
        </p:nvSpPr>
        <p:spPr>
          <a:xfrm>
            <a:off x="7075170" y="2803210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2" name="Shape 21"/>
          <p:cNvSpPr/>
          <p:nvPr/>
        </p:nvSpPr>
        <p:spPr>
          <a:xfrm>
            <a:off x="7265670" y="294037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525" y="19050"/>
                </a:moveTo>
                <a:cubicBezTo>
                  <a:pt x="5685" y="19050"/>
                  <a:pt x="2203" y="21372"/>
                  <a:pt x="714" y="24944"/>
                </a:cubicBezTo>
                <a:cubicBezTo>
                  <a:pt x="-774" y="28515"/>
                  <a:pt x="60" y="32593"/>
                  <a:pt x="2798" y="35302"/>
                </a:cubicBezTo>
                <a:lnTo>
                  <a:pt x="57150" y="89684"/>
                </a:lnTo>
                <a:lnTo>
                  <a:pt x="57150" y="123825"/>
                </a:lnTo>
                <a:cubicBezTo>
                  <a:pt x="57150" y="126355"/>
                  <a:pt x="58162" y="128766"/>
                  <a:pt x="59948" y="130552"/>
                </a:cubicBezTo>
                <a:lnTo>
                  <a:pt x="78998" y="149602"/>
                </a:lnTo>
                <a:cubicBezTo>
                  <a:pt x="81736" y="152340"/>
                  <a:pt x="85814" y="153144"/>
                  <a:pt x="89386" y="151656"/>
                </a:cubicBezTo>
                <a:cubicBezTo>
                  <a:pt x="92958" y="150168"/>
                  <a:pt x="95250" y="146715"/>
                  <a:pt x="95250" y="142875"/>
                </a:cubicBezTo>
                <a:lnTo>
                  <a:pt x="95250" y="89684"/>
                </a:lnTo>
                <a:lnTo>
                  <a:pt x="149602" y="35332"/>
                </a:lnTo>
                <a:cubicBezTo>
                  <a:pt x="152340" y="32593"/>
                  <a:pt x="153144" y="28515"/>
                  <a:pt x="151656" y="24944"/>
                </a:cubicBezTo>
                <a:cubicBezTo>
                  <a:pt x="150168" y="21372"/>
                  <a:pt x="146715" y="19050"/>
                  <a:pt x="142875" y="19050"/>
                </a:cubicBezTo>
                <a:lnTo>
                  <a:pt x="9525" y="19050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33" name="Text 22"/>
          <p:cNvSpPr/>
          <p:nvPr/>
        </p:nvSpPr>
        <p:spPr>
          <a:xfrm>
            <a:off x="7513320" y="2902585"/>
            <a:ext cx="245808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上下文关键信息抽取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4" name="Text 23"/>
          <p:cNvSpPr/>
          <p:nvPr/>
        </p:nvSpPr>
        <p:spPr>
          <a:xfrm>
            <a:off x="7246620" y="3260410"/>
            <a:ext cx="4276725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过滤冗余内容，聚焦核心语义进行处理，减少无关信息干扰导致的幻觉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5" name="Shape 24"/>
          <p:cNvSpPr/>
          <p:nvPr/>
        </p:nvSpPr>
        <p:spPr>
          <a:xfrm>
            <a:off x="7075170" y="3743804"/>
            <a:ext cx="4533900" cy="828675"/>
          </a:xfrm>
          <a:custGeom>
            <a:avLst/>
            <a:gdLst/>
            <a:ahLst/>
            <a:cxnLst/>
            <a:rect l="l" t="t" r="r" b="b"/>
            <a:pathLst>
              <a:path w="4533900" h="828675">
                <a:moveTo>
                  <a:pt x="38100" y="0"/>
                </a:moveTo>
                <a:lnTo>
                  <a:pt x="4457703" y="0"/>
                </a:lnTo>
                <a:cubicBezTo>
                  <a:pt x="4499786" y="0"/>
                  <a:pt x="4533900" y="34114"/>
                  <a:pt x="4533900" y="76197"/>
                </a:cubicBezTo>
                <a:lnTo>
                  <a:pt x="4533900" y="752478"/>
                </a:lnTo>
                <a:cubicBezTo>
                  <a:pt x="4533900" y="794561"/>
                  <a:pt x="4499786" y="828675"/>
                  <a:pt x="4457703" y="828675"/>
                </a:cubicBez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6" name="Shape 25"/>
          <p:cNvSpPr/>
          <p:nvPr/>
        </p:nvSpPr>
        <p:spPr>
          <a:xfrm>
            <a:off x="7075170" y="3743804"/>
            <a:ext cx="38100" cy="828675"/>
          </a:xfrm>
          <a:custGeom>
            <a:avLst/>
            <a:gdLst/>
            <a:ahLst/>
            <a:cxnLst/>
            <a:rect l="l" t="t" r="r" b="b"/>
            <a:pathLst>
              <a:path w="38100" h="828675">
                <a:moveTo>
                  <a:pt x="38100" y="0"/>
                </a:moveTo>
                <a:lnTo>
                  <a:pt x="38100" y="0"/>
                </a:lnTo>
                <a:lnTo>
                  <a:pt x="38100" y="828675"/>
                </a:lnTo>
                <a:lnTo>
                  <a:pt x="38100" y="828675"/>
                </a:lnTo>
                <a:cubicBezTo>
                  <a:pt x="17072" y="828675"/>
                  <a:pt x="0" y="811603"/>
                  <a:pt x="0" y="7905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7" name="Shape 26"/>
          <p:cNvSpPr/>
          <p:nvPr/>
        </p:nvSpPr>
        <p:spPr>
          <a:xfrm>
            <a:off x="7265670" y="393430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23813"/>
                </a:moveTo>
                <a:cubicBezTo>
                  <a:pt x="0" y="15925"/>
                  <a:pt x="6400" y="9525"/>
                  <a:pt x="14288" y="9525"/>
                </a:cubicBezTo>
                <a:lnTo>
                  <a:pt x="42863" y="9525"/>
                </a:lnTo>
                <a:cubicBezTo>
                  <a:pt x="50750" y="9525"/>
                  <a:pt x="57150" y="15925"/>
                  <a:pt x="57150" y="23813"/>
                </a:cubicBezTo>
                <a:lnTo>
                  <a:pt x="57150" y="28575"/>
                </a:lnTo>
                <a:lnTo>
                  <a:pt x="95250" y="28575"/>
                </a:lnTo>
                <a:lnTo>
                  <a:pt x="95250" y="23813"/>
                </a:lnTo>
                <a:cubicBezTo>
                  <a:pt x="95250" y="15925"/>
                  <a:pt x="101650" y="9525"/>
                  <a:pt x="109537" y="9525"/>
                </a:cubicBezTo>
                <a:lnTo>
                  <a:pt x="138113" y="9525"/>
                </a:lnTo>
                <a:cubicBezTo>
                  <a:pt x="146000" y="9525"/>
                  <a:pt x="152400" y="15925"/>
                  <a:pt x="152400" y="23813"/>
                </a:cubicBezTo>
                <a:lnTo>
                  <a:pt x="152400" y="52388"/>
                </a:lnTo>
                <a:cubicBezTo>
                  <a:pt x="152400" y="60275"/>
                  <a:pt x="146000" y="66675"/>
                  <a:pt x="138113" y="66675"/>
                </a:cubicBezTo>
                <a:lnTo>
                  <a:pt x="109537" y="66675"/>
                </a:lnTo>
                <a:cubicBezTo>
                  <a:pt x="101650" y="66675"/>
                  <a:pt x="95250" y="60275"/>
                  <a:pt x="95250" y="52388"/>
                </a:cubicBezTo>
                <a:lnTo>
                  <a:pt x="95250" y="47625"/>
                </a:lnTo>
                <a:lnTo>
                  <a:pt x="57150" y="47625"/>
                </a:lnTo>
                <a:lnTo>
                  <a:pt x="57150" y="52388"/>
                </a:lnTo>
                <a:cubicBezTo>
                  <a:pt x="57150" y="54560"/>
                  <a:pt x="56644" y="56644"/>
                  <a:pt x="55781" y="58489"/>
                </a:cubicBezTo>
                <a:lnTo>
                  <a:pt x="76200" y="85725"/>
                </a:lnTo>
                <a:lnTo>
                  <a:pt x="100013" y="85725"/>
                </a:lnTo>
                <a:cubicBezTo>
                  <a:pt x="107900" y="85725"/>
                  <a:pt x="114300" y="92125"/>
                  <a:pt x="114300" y="100013"/>
                </a:cubicBezTo>
                <a:lnTo>
                  <a:pt x="114300" y="128588"/>
                </a:lnTo>
                <a:cubicBezTo>
                  <a:pt x="114300" y="136475"/>
                  <a:pt x="107900" y="142875"/>
                  <a:pt x="100013" y="142875"/>
                </a:cubicBezTo>
                <a:lnTo>
                  <a:pt x="71438" y="142875"/>
                </a:lnTo>
                <a:cubicBezTo>
                  <a:pt x="63550" y="142875"/>
                  <a:pt x="57150" y="136475"/>
                  <a:pt x="57150" y="128588"/>
                </a:cubicBezTo>
                <a:lnTo>
                  <a:pt x="57150" y="100013"/>
                </a:lnTo>
                <a:cubicBezTo>
                  <a:pt x="57150" y="97840"/>
                  <a:pt x="57656" y="95756"/>
                  <a:pt x="58519" y="93911"/>
                </a:cubicBezTo>
                <a:lnTo>
                  <a:pt x="38100" y="66675"/>
                </a:lnTo>
                <a:lnTo>
                  <a:pt x="14288" y="66675"/>
                </a:lnTo>
                <a:cubicBezTo>
                  <a:pt x="6400" y="66675"/>
                  <a:pt x="0" y="60275"/>
                  <a:pt x="0" y="52388"/>
                </a:cubicBezTo>
                <a:lnTo>
                  <a:pt x="0" y="23813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38" name="Text 27"/>
          <p:cNvSpPr/>
          <p:nvPr/>
        </p:nvSpPr>
        <p:spPr>
          <a:xfrm>
            <a:off x="7513320" y="3896360"/>
            <a:ext cx="262826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Chain-of-Thought提示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 28"/>
          <p:cNvSpPr/>
          <p:nvPr/>
        </p:nvSpPr>
        <p:spPr>
          <a:xfrm>
            <a:off x="7147560" y="4201160"/>
            <a:ext cx="4485640" cy="2190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引导模型逐步推理，将幻觉率从38.3%降至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18.1%</a:t>
            </a: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，降幅达52.7%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Shape 29"/>
          <p:cNvSpPr/>
          <p:nvPr/>
        </p:nvSpPr>
        <p:spPr>
          <a:xfrm>
            <a:off x="6861810" y="5058013"/>
            <a:ext cx="4941570" cy="1417320"/>
          </a:xfrm>
          <a:custGeom>
            <a:avLst/>
            <a:gdLst/>
            <a:ahLst/>
            <a:cxnLst/>
            <a:rect l="l" t="t" r="r" b="b"/>
            <a:pathLst>
              <a:path w="4941570" h="1417320">
                <a:moveTo>
                  <a:pt x="114307" y="0"/>
                </a:moveTo>
                <a:lnTo>
                  <a:pt x="4827263" y="0"/>
                </a:lnTo>
                <a:cubicBezTo>
                  <a:pt x="4890351" y="0"/>
                  <a:pt x="4941570" y="51219"/>
                  <a:pt x="4941570" y="114307"/>
                </a:cubicBezTo>
                <a:lnTo>
                  <a:pt x="4941570" y="1303013"/>
                </a:lnTo>
                <a:cubicBezTo>
                  <a:pt x="4941570" y="1366101"/>
                  <a:pt x="4890351" y="1417320"/>
                  <a:pt x="4827263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2" name="Shape 30"/>
          <p:cNvSpPr/>
          <p:nvPr/>
        </p:nvSpPr>
        <p:spPr>
          <a:xfrm>
            <a:off x="7063264" y="5261851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3" name="Text 31"/>
          <p:cNvSpPr/>
          <p:nvPr/>
        </p:nvSpPr>
        <p:spPr>
          <a:xfrm>
            <a:off x="7237095" y="5213985"/>
            <a:ext cx="680783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TruthfulQA基准测试表现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7018020" y="5595226"/>
            <a:ext cx="1466850" cy="723900"/>
          </a:xfrm>
          <a:custGeom>
            <a:avLst/>
            <a:gdLst/>
            <a:ahLst/>
            <a:cxnLst/>
            <a:rect l="l" t="t" r="r" b="b"/>
            <a:pathLst>
              <a:path w="1466850" h="723900">
                <a:moveTo>
                  <a:pt x="76198" y="0"/>
                </a:moveTo>
                <a:lnTo>
                  <a:pt x="1390652" y="0"/>
                </a:lnTo>
                <a:cubicBezTo>
                  <a:pt x="1432707" y="0"/>
                  <a:pt x="1466850" y="34143"/>
                  <a:pt x="1466850" y="76198"/>
                </a:cubicBezTo>
                <a:lnTo>
                  <a:pt x="1466850" y="647702"/>
                </a:lnTo>
                <a:cubicBezTo>
                  <a:pt x="1466850" y="689757"/>
                  <a:pt x="1432707" y="723900"/>
                  <a:pt x="13906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5" name="Text 33"/>
          <p:cNvSpPr/>
          <p:nvPr/>
        </p:nvSpPr>
        <p:spPr>
          <a:xfrm>
            <a:off x="7075170" y="5709526"/>
            <a:ext cx="13525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&lt;10%</a:t>
            </a:r>
            <a:endParaRPr 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46" name="Text 34"/>
          <p:cNvSpPr/>
          <p:nvPr/>
        </p:nvSpPr>
        <p:spPr>
          <a:xfrm>
            <a:off x="7103745" y="6052305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GPT-4幻觉率</a:t>
            </a:r>
            <a:endParaRPr 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Shape 35"/>
          <p:cNvSpPr/>
          <p:nvPr/>
        </p:nvSpPr>
        <p:spPr>
          <a:xfrm>
            <a:off x="8600361" y="5595226"/>
            <a:ext cx="1466850" cy="723900"/>
          </a:xfrm>
          <a:custGeom>
            <a:avLst/>
            <a:gdLst/>
            <a:ahLst/>
            <a:cxnLst/>
            <a:rect l="l" t="t" r="r" b="b"/>
            <a:pathLst>
              <a:path w="1466850" h="723900">
                <a:moveTo>
                  <a:pt x="76198" y="0"/>
                </a:moveTo>
                <a:lnTo>
                  <a:pt x="1390652" y="0"/>
                </a:lnTo>
                <a:cubicBezTo>
                  <a:pt x="1432707" y="0"/>
                  <a:pt x="1466850" y="34143"/>
                  <a:pt x="1466850" y="76198"/>
                </a:cubicBezTo>
                <a:lnTo>
                  <a:pt x="1466850" y="647702"/>
                </a:lnTo>
                <a:cubicBezTo>
                  <a:pt x="1466850" y="689757"/>
                  <a:pt x="1432707" y="723900"/>
                  <a:pt x="13906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8" name="Text 36"/>
          <p:cNvSpPr/>
          <p:nvPr/>
        </p:nvSpPr>
        <p:spPr>
          <a:xfrm>
            <a:off x="8657511" y="5709526"/>
            <a:ext cx="13525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25%</a:t>
            </a:r>
            <a:endParaRPr 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49" name="Text 37"/>
          <p:cNvSpPr/>
          <p:nvPr/>
        </p:nvSpPr>
        <p:spPr>
          <a:xfrm>
            <a:off x="8686086" y="6052305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LLaMA 2幻觉率</a:t>
            </a:r>
            <a:endParaRPr 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Shape 38"/>
          <p:cNvSpPr/>
          <p:nvPr/>
        </p:nvSpPr>
        <p:spPr>
          <a:xfrm>
            <a:off x="10182820" y="5595226"/>
            <a:ext cx="1466850" cy="723900"/>
          </a:xfrm>
          <a:custGeom>
            <a:avLst/>
            <a:gdLst/>
            <a:ahLst/>
            <a:cxnLst/>
            <a:rect l="l" t="t" r="r" b="b"/>
            <a:pathLst>
              <a:path w="1466850" h="723900">
                <a:moveTo>
                  <a:pt x="76198" y="0"/>
                </a:moveTo>
                <a:lnTo>
                  <a:pt x="1390652" y="0"/>
                </a:lnTo>
                <a:cubicBezTo>
                  <a:pt x="1432707" y="0"/>
                  <a:pt x="1466850" y="34143"/>
                  <a:pt x="1466850" y="76198"/>
                </a:cubicBezTo>
                <a:lnTo>
                  <a:pt x="1466850" y="647702"/>
                </a:lnTo>
                <a:cubicBezTo>
                  <a:pt x="1466850" y="689757"/>
                  <a:pt x="1432707" y="723900"/>
                  <a:pt x="13906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1" name="Text 39"/>
          <p:cNvSpPr/>
          <p:nvPr/>
        </p:nvSpPr>
        <p:spPr>
          <a:xfrm>
            <a:off x="10239970" y="5709526"/>
            <a:ext cx="13525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30%</a:t>
            </a:r>
            <a:endParaRPr 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52" name="Text 40"/>
          <p:cNvSpPr/>
          <p:nvPr/>
        </p:nvSpPr>
        <p:spPr>
          <a:xfrm>
            <a:off x="10268545" y="6052305"/>
            <a:ext cx="12954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DeepSeek幻觉率</a:t>
            </a:r>
            <a:endParaRPr 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638544" y="2296461"/>
            <a:ext cx="10553121" cy="2179169"/>
          </a:xfrm>
          <a:prstGeom prst="rect">
            <a:avLst/>
          </a:prstGeom>
          <a:solidFill>
            <a:srgbClr val="9A2C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705"/>
          </a:p>
        </p:txBody>
      </p:sp>
      <p:sp>
        <p:nvSpPr>
          <p:cNvPr id="5" name="矩形 4"/>
          <p:cNvSpPr/>
          <p:nvPr/>
        </p:nvSpPr>
        <p:spPr>
          <a:xfrm>
            <a:off x="3039270" y="3032877"/>
            <a:ext cx="9044357" cy="70675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l"/>
            <a:r>
              <a: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训练、评估与应用</a:t>
            </a:r>
            <a:endParaRPr lang="zh-CN" altLang="en-US" sz="4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-9564" y="2296461"/>
            <a:ext cx="539970" cy="539970"/>
            <a:chOff x="0" y="2169399"/>
            <a:chExt cx="900000" cy="900000"/>
          </a:xfrm>
        </p:grpSpPr>
        <p:sp>
          <p:nvSpPr>
            <p:cNvPr id="10" name="矩形 9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2" name="矩形 11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solidFill>
              <a:srgbClr val="9A2C2F"/>
            </a:solidFill>
            <a:ln>
              <a:solidFill>
                <a:srgbClr val="9A2C2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grpSp>
        <p:nvGrpSpPr>
          <p:cNvPr id="13" name="组合 12"/>
          <p:cNvGrpSpPr/>
          <p:nvPr/>
        </p:nvGrpSpPr>
        <p:grpSpPr>
          <a:xfrm rot="10800000">
            <a:off x="11655322" y="3941629"/>
            <a:ext cx="539970" cy="539970"/>
            <a:chOff x="0" y="2169399"/>
            <a:chExt cx="900000" cy="900000"/>
          </a:xfrm>
          <a:solidFill>
            <a:srgbClr val="FFD966"/>
          </a:solidFill>
        </p:grpSpPr>
        <p:sp>
          <p:nvSpPr>
            <p:cNvPr id="14" name="矩形 13"/>
            <p:cNvSpPr/>
            <p:nvPr/>
          </p:nvSpPr>
          <p:spPr>
            <a:xfrm>
              <a:off x="0" y="2169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  <p:sp>
          <p:nvSpPr>
            <p:cNvPr id="15" name="矩形 14"/>
            <p:cNvSpPr/>
            <p:nvPr/>
          </p:nvSpPr>
          <p:spPr>
            <a:xfrm rot="5400000">
              <a:off x="-396000" y="2565399"/>
              <a:ext cx="900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05"/>
            </a:p>
          </p:txBody>
        </p:sp>
      </p:grp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19384" y="2292413"/>
            <a:ext cx="2900521" cy="2184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2318385" y="12922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270256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训练范式与实战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3" name="Shape 4"/>
          <p:cNvSpPr/>
          <p:nvPr/>
        </p:nvSpPr>
        <p:spPr>
          <a:xfrm>
            <a:off x="369787" y="970612"/>
            <a:ext cx="5151395" cy="2734962"/>
          </a:xfrm>
          <a:custGeom>
            <a:avLst/>
            <a:gdLst/>
            <a:ahLst/>
            <a:cxnLst/>
            <a:rect l="l" t="t" r="r" b="b"/>
            <a:pathLst>
              <a:path w="5151395" h="2734962">
                <a:moveTo>
                  <a:pt x="109836" y="0"/>
                </a:moveTo>
                <a:lnTo>
                  <a:pt x="5041559" y="0"/>
                </a:lnTo>
                <a:cubicBezTo>
                  <a:pt x="5102219" y="0"/>
                  <a:pt x="5151395" y="49175"/>
                  <a:pt x="5151395" y="109836"/>
                </a:cubicBezTo>
                <a:lnTo>
                  <a:pt x="5151395" y="2625126"/>
                </a:lnTo>
                <a:cubicBezTo>
                  <a:pt x="5151395" y="2685787"/>
                  <a:pt x="5102219" y="2734962"/>
                  <a:pt x="5041559" y="2734962"/>
                </a:cubicBezTo>
                <a:lnTo>
                  <a:pt x="109836" y="2734962"/>
                </a:lnTo>
                <a:cubicBezTo>
                  <a:pt x="49175" y="2734962"/>
                  <a:pt x="0" y="2685787"/>
                  <a:pt x="0" y="2625126"/>
                </a:cubicBezTo>
                <a:lnTo>
                  <a:pt x="0" y="109836"/>
                </a:lnTo>
                <a:cubicBezTo>
                  <a:pt x="0" y="49175"/>
                  <a:pt x="49175" y="0"/>
                  <a:pt x="109836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" name="Shape 5"/>
          <p:cNvSpPr/>
          <p:nvPr/>
        </p:nvSpPr>
        <p:spPr>
          <a:xfrm>
            <a:off x="556512" y="1157339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109838" y="0"/>
                </a:moveTo>
                <a:lnTo>
                  <a:pt x="329514" y="0"/>
                </a:lnTo>
                <a:cubicBezTo>
                  <a:pt x="390175" y="0"/>
                  <a:pt x="439351" y="49176"/>
                  <a:pt x="439351" y="109838"/>
                </a:cubicBezTo>
                <a:lnTo>
                  <a:pt x="439351" y="329514"/>
                </a:lnTo>
                <a:cubicBezTo>
                  <a:pt x="439351" y="390175"/>
                  <a:pt x="390175" y="439351"/>
                  <a:pt x="329514" y="439351"/>
                </a:cubicBezTo>
                <a:lnTo>
                  <a:pt x="109838" y="439351"/>
                </a:lnTo>
                <a:cubicBezTo>
                  <a:pt x="49176" y="439351"/>
                  <a:pt x="0" y="390175"/>
                  <a:pt x="0" y="329514"/>
                </a:cubicBezTo>
                <a:lnTo>
                  <a:pt x="0" y="109838"/>
                </a:lnTo>
                <a:cubicBezTo>
                  <a:pt x="0" y="49176"/>
                  <a:pt x="49176" y="0"/>
                  <a:pt x="10983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" name="Text 6"/>
          <p:cNvSpPr/>
          <p:nvPr/>
        </p:nvSpPr>
        <p:spPr>
          <a:xfrm>
            <a:off x="661796" y="1248870"/>
            <a:ext cx="274595" cy="256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Ⅰ</a:t>
            </a:r>
            <a:endParaRPr 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25" name="Text 7"/>
          <p:cNvSpPr/>
          <p:nvPr/>
        </p:nvSpPr>
        <p:spPr>
          <a:xfrm>
            <a:off x="1105535" y="1249045"/>
            <a:ext cx="3226435" cy="256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阶段Ⅰ：语义对齐预训练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Shape 8"/>
          <p:cNvSpPr/>
          <p:nvPr/>
        </p:nvSpPr>
        <p:spPr>
          <a:xfrm>
            <a:off x="556512" y="1743141"/>
            <a:ext cx="4777946" cy="713946"/>
          </a:xfrm>
          <a:custGeom>
            <a:avLst/>
            <a:gdLst/>
            <a:ahLst/>
            <a:cxnLst/>
            <a:rect l="l" t="t" r="r" b="b"/>
            <a:pathLst>
              <a:path w="4777946" h="713946">
                <a:moveTo>
                  <a:pt x="73222" y="0"/>
                </a:moveTo>
                <a:lnTo>
                  <a:pt x="4704724" y="0"/>
                </a:lnTo>
                <a:cubicBezTo>
                  <a:pt x="4745163" y="0"/>
                  <a:pt x="4777946" y="32783"/>
                  <a:pt x="4777946" y="73222"/>
                </a:cubicBezTo>
                <a:lnTo>
                  <a:pt x="4777946" y="640724"/>
                </a:lnTo>
                <a:cubicBezTo>
                  <a:pt x="4777946" y="681163"/>
                  <a:pt x="4745163" y="713946"/>
                  <a:pt x="4704724" y="713946"/>
                </a:cubicBezTo>
                <a:lnTo>
                  <a:pt x="73222" y="713946"/>
                </a:lnTo>
                <a:cubicBezTo>
                  <a:pt x="32783" y="713946"/>
                  <a:pt x="0" y="681163"/>
                  <a:pt x="0" y="640724"/>
                </a:cubicBezTo>
                <a:lnTo>
                  <a:pt x="0" y="73222"/>
                </a:lnTo>
                <a:cubicBezTo>
                  <a:pt x="0" y="32783"/>
                  <a:pt x="32783" y="0"/>
                  <a:pt x="7322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27" name="Shape 9"/>
          <p:cNvSpPr/>
          <p:nvPr/>
        </p:nvSpPr>
        <p:spPr>
          <a:xfrm>
            <a:off x="684656" y="1829225"/>
            <a:ext cx="128144" cy="128144"/>
          </a:xfrm>
          <a:custGeom>
            <a:avLst/>
            <a:gdLst/>
            <a:ahLst/>
            <a:cxnLst/>
            <a:rect l="l" t="t" r="r" b="b"/>
            <a:pathLst>
              <a:path w="128144" h="128144">
                <a:moveTo>
                  <a:pt x="112126" y="64072"/>
                </a:moveTo>
                <a:cubicBezTo>
                  <a:pt x="112126" y="37550"/>
                  <a:pt x="90594" y="16018"/>
                  <a:pt x="64072" y="16018"/>
                </a:cubicBezTo>
                <a:cubicBezTo>
                  <a:pt x="37550" y="16018"/>
                  <a:pt x="16018" y="37550"/>
                  <a:pt x="16018" y="64072"/>
                </a:cubicBezTo>
                <a:cubicBezTo>
                  <a:pt x="16018" y="90594"/>
                  <a:pt x="37550" y="112126"/>
                  <a:pt x="64072" y="112126"/>
                </a:cubicBezTo>
                <a:cubicBezTo>
                  <a:pt x="90594" y="112126"/>
                  <a:pt x="112126" y="90594"/>
                  <a:pt x="112126" y="64072"/>
                </a:cubicBezTo>
                <a:close/>
                <a:moveTo>
                  <a:pt x="0" y="64072"/>
                </a:moveTo>
                <a:cubicBezTo>
                  <a:pt x="0" y="28710"/>
                  <a:pt x="28710" y="0"/>
                  <a:pt x="64072" y="0"/>
                </a:cubicBezTo>
                <a:cubicBezTo>
                  <a:pt x="99434" y="0"/>
                  <a:pt x="128144" y="28710"/>
                  <a:pt x="128144" y="64072"/>
                </a:cubicBezTo>
                <a:cubicBezTo>
                  <a:pt x="128144" y="99434"/>
                  <a:pt x="99434" y="128144"/>
                  <a:pt x="64072" y="128144"/>
                </a:cubicBezTo>
                <a:cubicBezTo>
                  <a:pt x="28710" y="128144"/>
                  <a:pt x="0" y="99434"/>
                  <a:pt x="0" y="64072"/>
                </a:cubicBezTo>
                <a:close/>
                <a:moveTo>
                  <a:pt x="64072" y="84095"/>
                </a:moveTo>
                <a:cubicBezTo>
                  <a:pt x="75123" y="84095"/>
                  <a:pt x="84095" y="75123"/>
                  <a:pt x="84095" y="64072"/>
                </a:cubicBezTo>
                <a:cubicBezTo>
                  <a:pt x="84095" y="53021"/>
                  <a:pt x="75123" y="44050"/>
                  <a:pt x="64072" y="44050"/>
                </a:cubicBezTo>
                <a:cubicBezTo>
                  <a:pt x="53021" y="44050"/>
                  <a:pt x="44050" y="53021"/>
                  <a:pt x="44050" y="64072"/>
                </a:cubicBezTo>
                <a:cubicBezTo>
                  <a:pt x="44050" y="75123"/>
                  <a:pt x="53021" y="84095"/>
                  <a:pt x="64072" y="84095"/>
                </a:cubicBezTo>
                <a:close/>
                <a:moveTo>
                  <a:pt x="64072" y="28032"/>
                </a:moveTo>
                <a:cubicBezTo>
                  <a:pt x="83963" y="28032"/>
                  <a:pt x="100113" y="44181"/>
                  <a:pt x="100113" y="64072"/>
                </a:cubicBezTo>
                <a:cubicBezTo>
                  <a:pt x="100113" y="83963"/>
                  <a:pt x="83963" y="100113"/>
                  <a:pt x="64072" y="100113"/>
                </a:cubicBezTo>
                <a:cubicBezTo>
                  <a:pt x="44181" y="100113"/>
                  <a:pt x="28032" y="83963"/>
                  <a:pt x="28032" y="64072"/>
                </a:cubicBezTo>
                <a:cubicBezTo>
                  <a:pt x="28032" y="44181"/>
                  <a:pt x="44181" y="28032"/>
                  <a:pt x="64072" y="28032"/>
                </a:cubicBezTo>
                <a:close/>
                <a:moveTo>
                  <a:pt x="56063" y="64072"/>
                </a:moveTo>
                <a:cubicBezTo>
                  <a:pt x="56063" y="59652"/>
                  <a:pt x="59652" y="56063"/>
                  <a:pt x="64072" y="56063"/>
                </a:cubicBezTo>
                <a:cubicBezTo>
                  <a:pt x="68492" y="56063"/>
                  <a:pt x="72081" y="59652"/>
                  <a:pt x="72081" y="64072"/>
                </a:cubicBezTo>
                <a:cubicBezTo>
                  <a:pt x="72081" y="68492"/>
                  <a:pt x="68492" y="72081"/>
                  <a:pt x="64072" y="72081"/>
                </a:cubicBezTo>
                <a:cubicBezTo>
                  <a:pt x="59652" y="72081"/>
                  <a:pt x="56063" y="68492"/>
                  <a:pt x="56063" y="64072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28" name="Text 10"/>
          <p:cNvSpPr/>
          <p:nvPr/>
        </p:nvSpPr>
        <p:spPr>
          <a:xfrm>
            <a:off x="899795" y="1814830"/>
            <a:ext cx="916940" cy="16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核心目标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666350" y="2086407"/>
            <a:ext cx="4631495" cy="2379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让大模型掌握</a:t>
            </a:r>
            <a:r>
              <a:rPr lang="en-US" sz="1200" dirty="0">
                <a:solidFill>
                  <a:schemeClr val="tx1"/>
                </a:solidFill>
                <a:highlight>
                  <a:srgbClr val="778DA9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通用语言能力 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sz="1200" dirty="0">
                <a:solidFill>
                  <a:schemeClr val="tx1"/>
                </a:solidFill>
                <a:highlight>
                  <a:srgbClr val="778DA9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跨任务语义对齐能力 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，构建坚实的基座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556512" y="2566924"/>
            <a:ext cx="4777946" cy="951928"/>
          </a:xfrm>
          <a:custGeom>
            <a:avLst/>
            <a:gdLst/>
            <a:ahLst/>
            <a:cxnLst/>
            <a:rect l="l" t="t" r="r" b="b"/>
            <a:pathLst>
              <a:path w="4777946" h="951928">
                <a:moveTo>
                  <a:pt x="73222" y="0"/>
                </a:moveTo>
                <a:lnTo>
                  <a:pt x="4704724" y="0"/>
                </a:lnTo>
                <a:cubicBezTo>
                  <a:pt x="4745163" y="0"/>
                  <a:pt x="4777946" y="32783"/>
                  <a:pt x="4777946" y="73222"/>
                </a:cubicBezTo>
                <a:lnTo>
                  <a:pt x="4777946" y="878706"/>
                </a:lnTo>
                <a:cubicBezTo>
                  <a:pt x="4777946" y="919145"/>
                  <a:pt x="4745163" y="951928"/>
                  <a:pt x="4704724" y="951928"/>
                </a:cubicBezTo>
                <a:lnTo>
                  <a:pt x="73222" y="951928"/>
                </a:lnTo>
                <a:cubicBezTo>
                  <a:pt x="32783" y="951928"/>
                  <a:pt x="0" y="919145"/>
                  <a:pt x="0" y="878706"/>
                </a:cubicBezTo>
                <a:lnTo>
                  <a:pt x="0" y="73222"/>
                </a:lnTo>
                <a:cubicBezTo>
                  <a:pt x="0" y="32783"/>
                  <a:pt x="32783" y="0"/>
                  <a:pt x="7322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31" name="Shape 13"/>
          <p:cNvSpPr/>
          <p:nvPr/>
        </p:nvSpPr>
        <p:spPr>
          <a:xfrm>
            <a:off x="668638" y="2698729"/>
            <a:ext cx="160180" cy="128144"/>
          </a:xfrm>
          <a:custGeom>
            <a:avLst/>
            <a:gdLst/>
            <a:ahLst/>
            <a:cxnLst/>
            <a:rect l="l" t="t" r="r" b="b"/>
            <a:pathLst>
              <a:path w="160180" h="128144">
                <a:moveTo>
                  <a:pt x="104092" y="52684"/>
                </a:moveTo>
                <a:cubicBezTo>
                  <a:pt x="107146" y="51858"/>
                  <a:pt x="110349" y="53310"/>
                  <a:pt x="111726" y="56138"/>
                </a:cubicBezTo>
                <a:lnTo>
                  <a:pt x="116381" y="65549"/>
                </a:lnTo>
                <a:cubicBezTo>
                  <a:pt x="118959" y="65899"/>
                  <a:pt x="121487" y="66600"/>
                  <a:pt x="123864" y="67576"/>
                </a:cubicBezTo>
                <a:lnTo>
                  <a:pt x="132624" y="61744"/>
                </a:lnTo>
                <a:cubicBezTo>
                  <a:pt x="135252" y="59992"/>
                  <a:pt x="138731" y="60343"/>
                  <a:pt x="140959" y="62570"/>
                </a:cubicBezTo>
                <a:lnTo>
                  <a:pt x="145764" y="67376"/>
                </a:lnTo>
                <a:cubicBezTo>
                  <a:pt x="147991" y="69603"/>
                  <a:pt x="148342" y="73107"/>
                  <a:pt x="146590" y="75710"/>
                </a:cubicBezTo>
                <a:lnTo>
                  <a:pt x="140758" y="84445"/>
                </a:lnTo>
                <a:cubicBezTo>
                  <a:pt x="141234" y="85621"/>
                  <a:pt x="141659" y="86848"/>
                  <a:pt x="142010" y="88124"/>
                </a:cubicBezTo>
                <a:cubicBezTo>
                  <a:pt x="142360" y="89401"/>
                  <a:pt x="142585" y="90652"/>
                  <a:pt x="142761" y="91928"/>
                </a:cubicBezTo>
                <a:lnTo>
                  <a:pt x="152196" y="96584"/>
                </a:lnTo>
                <a:cubicBezTo>
                  <a:pt x="155024" y="97985"/>
                  <a:pt x="156476" y="101189"/>
                  <a:pt x="155650" y="104217"/>
                </a:cubicBezTo>
                <a:lnTo>
                  <a:pt x="153898" y="110775"/>
                </a:lnTo>
                <a:cubicBezTo>
                  <a:pt x="153072" y="113803"/>
                  <a:pt x="150244" y="115855"/>
                  <a:pt x="147090" y="115655"/>
                </a:cubicBezTo>
                <a:lnTo>
                  <a:pt x="136579" y="114979"/>
                </a:lnTo>
                <a:cubicBezTo>
                  <a:pt x="135002" y="117007"/>
                  <a:pt x="133175" y="118884"/>
                  <a:pt x="131097" y="120486"/>
                </a:cubicBezTo>
                <a:lnTo>
                  <a:pt x="131773" y="130972"/>
                </a:lnTo>
                <a:cubicBezTo>
                  <a:pt x="131973" y="134126"/>
                  <a:pt x="129921" y="136979"/>
                  <a:pt x="126893" y="137780"/>
                </a:cubicBezTo>
                <a:lnTo>
                  <a:pt x="120335" y="139532"/>
                </a:lnTo>
                <a:cubicBezTo>
                  <a:pt x="117282" y="140358"/>
                  <a:pt x="114103" y="138906"/>
                  <a:pt x="112702" y="136078"/>
                </a:cubicBezTo>
                <a:lnTo>
                  <a:pt x="108047" y="126667"/>
                </a:lnTo>
                <a:cubicBezTo>
                  <a:pt x="105469" y="126317"/>
                  <a:pt x="102941" y="125616"/>
                  <a:pt x="100563" y="124640"/>
                </a:cubicBezTo>
                <a:lnTo>
                  <a:pt x="91803" y="130472"/>
                </a:lnTo>
                <a:cubicBezTo>
                  <a:pt x="89175" y="132224"/>
                  <a:pt x="85696" y="131873"/>
                  <a:pt x="83469" y="129646"/>
                </a:cubicBezTo>
                <a:lnTo>
                  <a:pt x="78663" y="124840"/>
                </a:lnTo>
                <a:cubicBezTo>
                  <a:pt x="76436" y="122613"/>
                  <a:pt x="76086" y="119134"/>
                  <a:pt x="77838" y="116506"/>
                </a:cubicBezTo>
                <a:lnTo>
                  <a:pt x="83669" y="107746"/>
                </a:lnTo>
                <a:cubicBezTo>
                  <a:pt x="83194" y="106570"/>
                  <a:pt x="82768" y="105343"/>
                  <a:pt x="82418" y="104067"/>
                </a:cubicBezTo>
                <a:cubicBezTo>
                  <a:pt x="82067" y="102791"/>
                  <a:pt x="81842" y="101514"/>
                  <a:pt x="81667" y="100263"/>
                </a:cubicBezTo>
                <a:lnTo>
                  <a:pt x="72231" y="95608"/>
                </a:lnTo>
                <a:cubicBezTo>
                  <a:pt x="69403" y="94206"/>
                  <a:pt x="67976" y="91002"/>
                  <a:pt x="68777" y="87974"/>
                </a:cubicBezTo>
                <a:lnTo>
                  <a:pt x="70529" y="81417"/>
                </a:lnTo>
                <a:cubicBezTo>
                  <a:pt x="71355" y="78388"/>
                  <a:pt x="74183" y="76336"/>
                  <a:pt x="77337" y="76536"/>
                </a:cubicBezTo>
                <a:lnTo>
                  <a:pt x="87824" y="77212"/>
                </a:lnTo>
                <a:cubicBezTo>
                  <a:pt x="89401" y="75185"/>
                  <a:pt x="91228" y="73307"/>
                  <a:pt x="93305" y="71706"/>
                </a:cubicBezTo>
                <a:lnTo>
                  <a:pt x="92629" y="61244"/>
                </a:lnTo>
                <a:cubicBezTo>
                  <a:pt x="92429" y="58090"/>
                  <a:pt x="94481" y="55237"/>
                  <a:pt x="97510" y="54436"/>
                </a:cubicBezTo>
                <a:lnTo>
                  <a:pt x="104067" y="52684"/>
                </a:lnTo>
                <a:close/>
                <a:moveTo>
                  <a:pt x="112226" y="85096"/>
                </a:moveTo>
                <a:cubicBezTo>
                  <a:pt x="106148" y="85103"/>
                  <a:pt x="101219" y="90043"/>
                  <a:pt x="101226" y="96121"/>
                </a:cubicBezTo>
                <a:cubicBezTo>
                  <a:pt x="101233" y="102199"/>
                  <a:pt x="106173" y="107127"/>
                  <a:pt x="112251" y="107120"/>
                </a:cubicBezTo>
                <a:cubicBezTo>
                  <a:pt x="118329" y="107114"/>
                  <a:pt x="123258" y="102173"/>
                  <a:pt x="123251" y="96096"/>
                </a:cubicBezTo>
                <a:cubicBezTo>
                  <a:pt x="123244" y="90018"/>
                  <a:pt x="118304" y="85089"/>
                  <a:pt x="112226" y="85096"/>
                </a:cubicBezTo>
                <a:close/>
                <a:moveTo>
                  <a:pt x="56288" y="-11388"/>
                </a:moveTo>
                <a:lnTo>
                  <a:pt x="62846" y="-9636"/>
                </a:lnTo>
                <a:cubicBezTo>
                  <a:pt x="65874" y="-8810"/>
                  <a:pt x="67926" y="-5957"/>
                  <a:pt x="67726" y="-2828"/>
                </a:cubicBezTo>
                <a:lnTo>
                  <a:pt x="67050" y="7634"/>
                </a:lnTo>
                <a:cubicBezTo>
                  <a:pt x="69128" y="9235"/>
                  <a:pt x="70955" y="11087"/>
                  <a:pt x="72532" y="13140"/>
                </a:cubicBezTo>
                <a:lnTo>
                  <a:pt x="83043" y="12464"/>
                </a:lnTo>
                <a:cubicBezTo>
                  <a:pt x="86172" y="12264"/>
                  <a:pt x="89025" y="14316"/>
                  <a:pt x="89851" y="17345"/>
                </a:cubicBezTo>
                <a:lnTo>
                  <a:pt x="91603" y="23902"/>
                </a:lnTo>
                <a:cubicBezTo>
                  <a:pt x="92404" y="26930"/>
                  <a:pt x="90977" y="30134"/>
                  <a:pt x="88149" y="31535"/>
                </a:cubicBezTo>
                <a:lnTo>
                  <a:pt x="78714" y="36191"/>
                </a:lnTo>
                <a:cubicBezTo>
                  <a:pt x="78538" y="37467"/>
                  <a:pt x="78288" y="38744"/>
                  <a:pt x="77963" y="39995"/>
                </a:cubicBezTo>
                <a:cubicBezTo>
                  <a:pt x="77637" y="41246"/>
                  <a:pt x="77187" y="42498"/>
                  <a:pt x="76711" y="43674"/>
                </a:cubicBezTo>
                <a:lnTo>
                  <a:pt x="82543" y="52434"/>
                </a:lnTo>
                <a:cubicBezTo>
                  <a:pt x="84295" y="55062"/>
                  <a:pt x="83944" y="58541"/>
                  <a:pt x="81717" y="60768"/>
                </a:cubicBezTo>
                <a:lnTo>
                  <a:pt x="76912" y="65574"/>
                </a:lnTo>
                <a:cubicBezTo>
                  <a:pt x="74684" y="67801"/>
                  <a:pt x="71205" y="68152"/>
                  <a:pt x="68577" y="66400"/>
                </a:cubicBezTo>
                <a:lnTo>
                  <a:pt x="59817" y="60568"/>
                </a:lnTo>
                <a:cubicBezTo>
                  <a:pt x="57440" y="61544"/>
                  <a:pt x="54912" y="62245"/>
                  <a:pt x="52334" y="62595"/>
                </a:cubicBezTo>
                <a:lnTo>
                  <a:pt x="47679" y="72006"/>
                </a:lnTo>
                <a:cubicBezTo>
                  <a:pt x="46277" y="74834"/>
                  <a:pt x="43073" y="76261"/>
                  <a:pt x="40045" y="75460"/>
                </a:cubicBezTo>
                <a:lnTo>
                  <a:pt x="33488" y="73708"/>
                </a:lnTo>
                <a:cubicBezTo>
                  <a:pt x="30434" y="72882"/>
                  <a:pt x="28407" y="70029"/>
                  <a:pt x="28607" y="66900"/>
                </a:cubicBezTo>
                <a:lnTo>
                  <a:pt x="29283" y="56413"/>
                </a:lnTo>
                <a:cubicBezTo>
                  <a:pt x="27206" y="54812"/>
                  <a:pt x="25379" y="52960"/>
                  <a:pt x="23802" y="50907"/>
                </a:cubicBezTo>
                <a:lnTo>
                  <a:pt x="13290" y="51583"/>
                </a:lnTo>
                <a:cubicBezTo>
                  <a:pt x="10161" y="51783"/>
                  <a:pt x="7308" y="49731"/>
                  <a:pt x="6482" y="46703"/>
                </a:cubicBezTo>
                <a:lnTo>
                  <a:pt x="4730" y="40145"/>
                </a:lnTo>
                <a:cubicBezTo>
                  <a:pt x="3929" y="37117"/>
                  <a:pt x="5356" y="33913"/>
                  <a:pt x="8184" y="32512"/>
                </a:cubicBezTo>
                <a:lnTo>
                  <a:pt x="17620" y="27856"/>
                </a:lnTo>
                <a:cubicBezTo>
                  <a:pt x="17795" y="26580"/>
                  <a:pt x="18045" y="25328"/>
                  <a:pt x="18371" y="24052"/>
                </a:cubicBezTo>
                <a:cubicBezTo>
                  <a:pt x="18721" y="22776"/>
                  <a:pt x="19122" y="21549"/>
                  <a:pt x="19622" y="20373"/>
                </a:cubicBezTo>
                <a:lnTo>
                  <a:pt x="13791" y="11638"/>
                </a:lnTo>
                <a:cubicBezTo>
                  <a:pt x="12039" y="9010"/>
                  <a:pt x="12389" y="5531"/>
                  <a:pt x="14616" y="3304"/>
                </a:cubicBezTo>
                <a:lnTo>
                  <a:pt x="19422" y="-1502"/>
                </a:lnTo>
                <a:cubicBezTo>
                  <a:pt x="21649" y="-3729"/>
                  <a:pt x="25128" y="-4080"/>
                  <a:pt x="27756" y="-2328"/>
                </a:cubicBezTo>
                <a:lnTo>
                  <a:pt x="36516" y="3504"/>
                </a:lnTo>
                <a:cubicBezTo>
                  <a:pt x="38894" y="2528"/>
                  <a:pt x="41422" y="1827"/>
                  <a:pt x="43999" y="1477"/>
                </a:cubicBezTo>
                <a:lnTo>
                  <a:pt x="48655" y="-7934"/>
                </a:lnTo>
                <a:cubicBezTo>
                  <a:pt x="50056" y="-10762"/>
                  <a:pt x="53235" y="-12189"/>
                  <a:pt x="56288" y="-11388"/>
                </a:cubicBezTo>
                <a:close/>
                <a:moveTo>
                  <a:pt x="48154" y="21024"/>
                </a:moveTo>
                <a:cubicBezTo>
                  <a:pt x="42076" y="21024"/>
                  <a:pt x="37142" y="25958"/>
                  <a:pt x="37142" y="32036"/>
                </a:cubicBezTo>
                <a:cubicBezTo>
                  <a:pt x="37142" y="38114"/>
                  <a:pt x="42076" y="43048"/>
                  <a:pt x="48154" y="43048"/>
                </a:cubicBezTo>
                <a:cubicBezTo>
                  <a:pt x="54232" y="43048"/>
                  <a:pt x="59167" y="38114"/>
                  <a:pt x="59167" y="32036"/>
                </a:cubicBezTo>
                <a:cubicBezTo>
                  <a:pt x="59167" y="25958"/>
                  <a:pt x="54232" y="21024"/>
                  <a:pt x="48154" y="210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2" name="Text 14"/>
          <p:cNvSpPr/>
          <p:nvPr/>
        </p:nvSpPr>
        <p:spPr>
          <a:xfrm>
            <a:off x="899795" y="2684145"/>
            <a:ext cx="1484630" cy="16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实施策略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33" name="Text 15"/>
          <p:cNvSpPr/>
          <p:nvPr/>
        </p:nvSpPr>
        <p:spPr>
          <a:xfrm>
            <a:off x="666350" y="2933051"/>
            <a:ext cx="4631495" cy="4759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在大规模混合语料上进行无监督预训练，学习语言的统计规律、语法结构和世界知识。GPT-5使用100GB-200GB高质量数据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Shape 16"/>
          <p:cNvSpPr/>
          <p:nvPr/>
        </p:nvSpPr>
        <p:spPr>
          <a:xfrm>
            <a:off x="369787" y="3859348"/>
            <a:ext cx="5151395" cy="2916000"/>
          </a:xfrm>
          <a:custGeom>
            <a:avLst/>
            <a:gdLst/>
            <a:ahLst/>
            <a:cxnLst/>
            <a:rect l="l" t="t" r="r" b="b"/>
            <a:pathLst>
              <a:path w="5151395" h="2972944">
                <a:moveTo>
                  <a:pt x="109850" y="0"/>
                </a:moveTo>
                <a:lnTo>
                  <a:pt x="5041544" y="0"/>
                </a:lnTo>
                <a:cubicBezTo>
                  <a:pt x="5102213" y="0"/>
                  <a:pt x="5151395" y="49182"/>
                  <a:pt x="5151395" y="109850"/>
                </a:cubicBezTo>
                <a:lnTo>
                  <a:pt x="5151395" y="2863094"/>
                </a:lnTo>
                <a:cubicBezTo>
                  <a:pt x="5151395" y="2923762"/>
                  <a:pt x="5102213" y="2972944"/>
                  <a:pt x="5041544" y="2972944"/>
                </a:cubicBezTo>
                <a:lnTo>
                  <a:pt x="109850" y="2972944"/>
                </a:lnTo>
                <a:cubicBezTo>
                  <a:pt x="49182" y="2972944"/>
                  <a:pt x="0" y="2923762"/>
                  <a:pt x="0" y="2863094"/>
                </a:cubicBezTo>
                <a:lnTo>
                  <a:pt x="0" y="109850"/>
                </a:lnTo>
                <a:cubicBezTo>
                  <a:pt x="0" y="49222"/>
                  <a:pt x="49222" y="0"/>
                  <a:pt x="109850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35" name="Shape 17"/>
          <p:cNvSpPr/>
          <p:nvPr/>
        </p:nvSpPr>
        <p:spPr>
          <a:xfrm>
            <a:off x="556512" y="4046070"/>
            <a:ext cx="439351" cy="439351"/>
          </a:xfrm>
          <a:custGeom>
            <a:avLst/>
            <a:gdLst/>
            <a:ahLst/>
            <a:cxnLst/>
            <a:rect l="l" t="t" r="r" b="b"/>
            <a:pathLst>
              <a:path w="439351" h="439351">
                <a:moveTo>
                  <a:pt x="109838" y="0"/>
                </a:moveTo>
                <a:lnTo>
                  <a:pt x="329514" y="0"/>
                </a:lnTo>
                <a:cubicBezTo>
                  <a:pt x="390175" y="0"/>
                  <a:pt x="439351" y="49176"/>
                  <a:pt x="439351" y="109838"/>
                </a:cubicBezTo>
                <a:lnTo>
                  <a:pt x="439351" y="329514"/>
                </a:lnTo>
                <a:cubicBezTo>
                  <a:pt x="439351" y="390175"/>
                  <a:pt x="390175" y="439351"/>
                  <a:pt x="329514" y="439351"/>
                </a:cubicBezTo>
                <a:lnTo>
                  <a:pt x="109838" y="439351"/>
                </a:lnTo>
                <a:cubicBezTo>
                  <a:pt x="49176" y="439351"/>
                  <a:pt x="0" y="390175"/>
                  <a:pt x="0" y="329514"/>
                </a:cubicBezTo>
                <a:lnTo>
                  <a:pt x="0" y="109838"/>
                </a:lnTo>
                <a:cubicBezTo>
                  <a:pt x="0" y="49176"/>
                  <a:pt x="49176" y="0"/>
                  <a:pt x="10983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36" name="Text 18"/>
          <p:cNvSpPr/>
          <p:nvPr/>
        </p:nvSpPr>
        <p:spPr>
          <a:xfrm>
            <a:off x="661796" y="4137602"/>
            <a:ext cx="274595" cy="256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Ⅱ</a:t>
            </a:r>
            <a:endParaRPr 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37" name="Text 19"/>
          <p:cNvSpPr/>
          <p:nvPr/>
        </p:nvSpPr>
        <p:spPr>
          <a:xfrm>
            <a:off x="1105535" y="4137660"/>
            <a:ext cx="2933065" cy="256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阶段Ⅱ：任务指令微调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Shape 20"/>
          <p:cNvSpPr/>
          <p:nvPr/>
        </p:nvSpPr>
        <p:spPr>
          <a:xfrm>
            <a:off x="556512" y="4631872"/>
            <a:ext cx="4777946" cy="713946"/>
          </a:xfrm>
          <a:custGeom>
            <a:avLst/>
            <a:gdLst/>
            <a:ahLst/>
            <a:cxnLst/>
            <a:rect l="l" t="t" r="r" b="b"/>
            <a:pathLst>
              <a:path w="4777946" h="713946">
                <a:moveTo>
                  <a:pt x="73222" y="0"/>
                </a:moveTo>
                <a:lnTo>
                  <a:pt x="4704724" y="0"/>
                </a:lnTo>
                <a:cubicBezTo>
                  <a:pt x="4745163" y="0"/>
                  <a:pt x="4777946" y="32783"/>
                  <a:pt x="4777946" y="73222"/>
                </a:cubicBezTo>
                <a:lnTo>
                  <a:pt x="4777946" y="640724"/>
                </a:lnTo>
                <a:cubicBezTo>
                  <a:pt x="4777946" y="681163"/>
                  <a:pt x="4745163" y="713946"/>
                  <a:pt x="4704724" y="713946"/>
                </a:cubicBezTo>
                <a:lnTo>
                  <a:pt x="73222" y="713946"/>
                </a:lnTo>
                <a:cubicBezTo>
                  <a:pt x="32783" y="713946"/>
                  <a:pt x="0" y="681163"/>
                  <a:pt x="0" y="640724"/>
                </a:cubicBezTo>
                <a:lnTo>
                  <a:pt x="0" y="73222"/>
                </a:lnTo>
                <a:cubicBezTo>
                  <a:pt x="0" y="32783"/>
                  <a:pt x="32783" y="0"/>
                  <a:pt x="7322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0" name="Shape 21"/>
          <p:cNvSpPr/>
          <p:nvPr/>
        </p:nvSpPr>
        <p:spPr>
          <a:xfrm>
            <a:off x="684656" y="4763681"/>
            <a:ext cx="128144" cy="128144"/>
          </a:xfrm>
          <a:custGeom>
            <a:avLst/>
            <a:gdLst/>
            <a:ahLst/>
            <a:cxnLst/>
            <a:rect l="l" t="t" r="r" b="b"/>
            <a:pathLst>
              <a:path w="128144" h="128144">
                <a:moveTo>
                  <a:pt x="112126" y="64072"/>
                </a:moveTo>
                <a:cubicBezTo>
                  <a:pt x="112126" y="37550"/>
                  <a:pt x="90594" y="16018"/>
                  <a:pt x="64072" y="16018"/>
                </a:cubicBezTo>
                <a:cubicBezTo>
                  <a:pt x="37550" y="16018"/>
                  <a:pt x="16018" y="37550"/>
                  <a:pt x="16018" y="64072"/>
                </a:cubicBezTo>
                <a:cubicBezTo>
                  <a:pt x="16018" y="90594"/>
                  <a:pt x="37550" y="112126"/>
                  <a:pt x="64072" y="112126"/>
                </a:cubicBezTo>
                <a:cubicBezTo>
                  <a:pt x="90594" y="112126"/>
                  <a:pt x="112126" y="90594"/>
                  <a:pt x="112126" y="64072"/>
                </a:cubicBezTo>
                <a:close/>
                <a:moveTo>
                  <a:pt x="0" y="64072"/>
                </a:moveTo>
                <a:cubicBezTo>
                  <a:pt x="0" y="28710"/>
                  <a:pt x="28710" y="0"/>
                  <a:pt x="64072" y="0"/>
                </a:cubicBezTo>
                <a:cubicBezTo>
                  <a:pt x="99434" y="0"/>
                  <a:pt x="128144" y="28710"/>
                  <a:pt x="128144" y="64072"/>
                </a:cubicBezTo>
                <a:cubicBezTo>
                  <a:pt x="128144" y="99434"/>
                  <a:pt x="99434" y="128144"/>
                  <a:pt x="64072" y="128144"/>
                </a:cubicBezTo>
                <a:cubicBezTo>
                  <a:pt x="28710" y="128144"/>
                  <a:pt x="0" y="99434"/>
                  <a:pt x="0" y="64072"/>
                </a:cubicBezTo>
                <a:close/>
                <a:moveTo>
                  <a:pt x="64072" y="84095"/>
                </a:moveTo>
                <a:cubicBezTo>
                  <a:pt x="75123" y="84095"/>
                  <a:pt x="84095" y="75123"/>
                  <a:pt x="84095" y="64072"/>
                </a:cubicBezTo>
                <a:cubicBezTo>
                  <a:pt x="84095" y="53021"/>
                  <a:pt x="75123" y="44050"/>
                  <a:pt x="64072" y="44050"/>
                </a:cubicBezTo>
                <a:cubicBezTo>
                  <a:pt x="53021" y="44050"/>
                  <a:pt x="44050" y="53021"/>
                  <a:pt x="44050" y="64072"/>
                </a:cubicBezTo>
                <a:cubicBezTo>
                  <a:pt x="44050" y="75123"/>
                  <a:pt x="53021" y="84095"/>
                  <a:pt x="64072" y="84095"/>
                </a:cubicBezTo>
                <a:close/>
                <a:moveTo>
                  <a:pt x="64072" y="28032"/>
                </a:moveTo>
                <a:cubicBezTo>
                  <a:pt x="83963" y="28032"/>
                  <a:pt x="100113" y="44181"/>
                  <a:pt x="100113" y="64072"/>
                </a:cubicBezTo>
                <a:cubicBezTo>
                  <a:pt x="100113" y="83963"/>
                  <a:pt x="83963" y="100113"/>
                  <a:pt x="64072" y="100113"/>
                </a:cubicBezTo>
                <a:cubicBezTo>
                  <a:pt x="44181" y="100113"/>
                  <a:pt x="28032" y="83963"/>
                  <a:pt x="28032" y="64072"/>
                </a:cubicBezTo>
                <a:cubicBezTo>
                  <a:pt x="28032" y="44181"/>
                  <a:pt x="44181" y="28032"/>
                  <a:pt x="64072" y="28032"/>
                </a:cubicBezTo>
                <a:close/>
                <a:moveTo>
                  <a:pt x="56063" y="64072"/>
                </a:moveTo>
                <a:cubicBezTo>
                  <a:pt x="56063" y="59652"/>
                  <a:pt x="59652" y="56063"/>
                  <a:pt x="64072" y="56063"/>
                </a:cubicBezTo>
                <a:cubicBezTo>
                  <a:pt x="68492" y="56063"/>
                  <a:pt x="72081" y="59652"/>
                  <a:pt x="72081" y="64072"/>
                </a:cubicBezTo>
                <a:cubicBezTo>
                  <a:pt x="72081" y="68492"/>
                  <a:pt x="68492" y="72081"/>
                  <a:pt x="64072" y="72081"/>
                </a:cubicBezTo>
                <a:cubicBezTo>
                  <a:pt x="59652" y="72081"/>
                  <a:pt x="56063" y="68492"/>
                  <a:pt x="56063" y="64072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1" name="Text 22"/>
          <p:cNvSpPr/>
          <p:nvPr/>
        </p:nvSpPr>
        <p:spPr>
          <a:xfrm>
            <a:off x="899795" y="4749165"/>
            <a:ext cx="916940" cy="16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核心目标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666350" y="4997998"/>
            <a:ext cx="4631495" cy="23798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让模型精准理解并遵循</a:t>
            </a:r>
            <a:r>
              <a:rPr lang="en-US" sz="1200" dirty="0">
                <a:solidFill>
                  <a:schemeClr val="tx1"/>
                </a:solidFill>
                <a:highlight>
                  <a:srgbClr val="778DA9">
                    <a:alpha val="30000"/>
                  </a:srgbClr>
                </a:highligh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人类任务指令 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，从通用模型转变为专业助手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556512" y="5455656"/>
            <a:ext cx="4777946" cy="951928"/>
          </a:xfrm>
          <a:custGeom>
            <a:avLst/>
            <a:gdLst/>
            <a:ahLst/>
            <a:cxnLst/>
            <a:rect l="l" t="t" r="r" b="b"/>
            <a:pathLst>
              <a:path w="4777946" h="951928">
                <a:moveTo>
                  <a:pt x="73222" y="0"/>
                </a:moveTo>
                <a:lnTo>
                  <a:pt x="4704724" y="0"/>
                </a:lnTo>
                <a:cubicBezTo>
                  <a:pt x="4745163" y="0"/>
                  <a:pt x="4777946" y="32783"/>
                  <a:pt x="4777946" y="73222"/>
                </a:cubicBezTo>
                <a:lnTo>
                  <a:pt x="4777946" y="878706"/>
                </a:lnTo>
                <a:cubicBezTo>
                  <a:pt x="4777946" y="919145"/>
                  <a:pt x="4745163" y="951928"/>
                  <a:pt x="4704724" y="951928"/>
                </a:cubicBezTo>
                <a:lnTo>
                  <a:pt x="73222" y="951928"/>
                </a:lnTo>
                <a:cubicBezTo>
                  <a:pt x="32783" y="951928"/>
                  <a:pt x="0" y="919145"/>
                  <a:pt x="0" y="878706"/>
                </a:cubicBezTo>
                <a:lnTo>
                  <a:pt x="0" y="73222"/>
                </a:lnTo>
                <a:cubicBezTo>
                  <a:pt x="0" y="32783"/>
                  <a:pt x="32783" y="0"/>
                  <a:pt x="73222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4" name="Shape 25"/>
          <p:cNvSpPr/>
          <p:nvPr/>
        </p:nvSpPr>
        <p:spPr>
          <a:xfrm>
            <a:off x="668638" y="5587465"/>
            <a:ext cx="160180" cy="128144"/>
          </a:xfrm>
          <a:custGeom>
            <a:avLst/>
            <a:gdLst/>
            <a:ahLst/>
            <a:cxnLst/>
            <a:rect l="l" t="t" r="r" b="b"/>
            <a:pathLst>
              <a:path w="160180" h="128144">
                <a:moveTo>
                  <a:pt x="104092" y="52684"/>
                </a:moveTo>
                <a:cubicBezTo>
                  <a:pt x="107146" y="51858"/>
                  <a:pt x="110349" y="53310"/>
                  <a:pt x="111726" y="56138"/>
                </a:cubicBezTo>
                <a:lnTo>
                  <a:pt x="116381" y="65549"/>
                </a:lnTo>
                <a:cubicBezTo>
                  <a:pt x="118959" y="65899"/>
                  <a:pt x="121487" y="66600"/>
                  <a:pt x="123864" y="67576"/>
                </a:cubicBezTo>
                <a:lnTo>
                  <a:pt x="132624" y="61744"/>
                </a:lnTo>
                <a:cubicBezTo>
                  <a:pt x="135252" y="59992"/>
                  <a:pt x="138731" y="60343"/>
                  <a:pt x="140959" y="62570"/>
                </a:cubicBezTo>
                <a:lnTo>
                  <a:pt x="145764" y="67376"/>
                </a:lnTo>
                <a:cubicBezTo>
                  <a:pt x="147991" y="69603"/>
                  <a:pt x="148342" y="73107"/>
                  <a:pt x="146590" y="75710"/>
                </a:cubicBezTo>
                <a:lnTo>
                  <a:pt x="140758" y="84445"/>
                </a:lnTo>
                <a:cubicBezTo>
                  <a:pt x="141234" y="85621"/>
                  <a:pt x="141659" y="86848"/>
                  <a:pt x="142010" y="88124"/>
                </a:cubicBezTo>
                <a:cubicBezTo>
                  <a:pt x="142360" y="89401"/>
                  <a:pt x="142585" y="90652"/>
                  <a:pt x="142761" y="91928"/>
                </a:cubicBezTo>
                <a:lnTo>
                  <a:pt x="152196" y="96584"/>
                </a:lnTo>
                <a:cubicBezTo>
                  <a:pt x="155024" y="97985"/>
                  <a:pt x="156476" y="101189"/>
                  <a:pt x="155650" y="104217"/>
                </a:cubicBezTo>
                <a:lnTo>
                  <a:pt x="153898" y="110775"/>
                </a:lnTo>
                <a:cubicBezTo>
                  <a:pt x="153072" y="113803"/>
                  <a:pt x="150244" y="115855"/>
                  <a:pt x="147090" y="115655"/>
                </a:cubicBezTo>
                <a:lnTo>
                  <a:pt x="136579" y="114979"/>
                </a:lnTo>
                <a:cubicBezTo>
                  <a:pt x="135002" y="117007"/>
                  <a:pt x="133175" y="118884"/>
                  <a:pt x="131097" y="120486"/>
                </a:cubicBezTo>
                <a:lnTo>
                  <a:pt x="131773" y="130972"/>
                </a:lnTo>
                <a:cubicBezTo>
                  <a:pt x="131973" y="134126"/>
                  <a:pt x="129921" y="136979"/>
                  <a:pt x="126893" y="137780"/>
                </a:cubicBezTo>
                <a:lnTo>
                  <a:pt x="120335" y="139532"/>
                </a:lnTo>
                <a:cubicBezTo>
                  <a:pt x="117282" y="140358"/>
                  <a:pt x="114103" y="138906"/>
                  <a:pt x="112702" y="136078"/>
                </a:cubicBezTo>
                <a:lnTo>
                  <a:pt x="108047" y="126667"/>
                </a:lnTo>
                <a:cubicBezTo>
                  <a:pt x="105469" y="126317"/>
                  <a:pt x="102941" y="125616"/>
                  <a:pt x="100563" y="124640"/>
                </a:cubicBezTo>
                <a:lnTo>
                  <a:pt x="91803" y="130472"/>
                </a:lnTo>
                <a:cubicBezTo>
                  <a:pt x="89175" y="132224"/>
                  <a:pt x="85696" y="131873"/>
                  <a:pt x="83469" y="129646"/>
                </a:cubicBezTo>
                <a:lnTo>
                  <a:pt x="78663" y="124840"/>
                </a:lnTo>
                <a:cubicBezTo>
                  <a:pt x="76436" y="122613"/>
                  <a:pt x="76086" y="119134"/>
                  <a:pt x="77838" y="116506"/>
                </a:cubicBezTo>
                <a:lnTo>
                  <a:pt x="83669" y="107746"/>
                </a:lnTo>
                <a:cubicBezTo>
                  <a:pt x="83194" y="106570"/>
                  <a:pt x="82768" y="105343"/>
                  <a:pt x="82418" y="104067"/>
                </a:cubicBezTo>
                <a:cubicBezTo>
                  <a:pt x="82067" y="102791"/>
                  <a:pt x="81842" y="101514"/>
                  <a:pt x="81667" y="100263"/>
                </a:cubicBezTo>
                <a:lnTo>
                  <a:pt x="72231" y="95608"/>
                </a:lnTo>
                <a:cubicBezTo>
                  <a:pt x="69403" y="94206"/>
                  <a:pt x="67976" y="91002"/>
                  <a:pt x="68777" y="87974"/>
                </a:cubicBezTo>
                <a:lnTo>
                  <a:pt x="70529" y="81417"/>
                </a:lnTo>
                <a:cubicBezTo>
                  <a:pt x="71355" y="78388"/>
                  <a:pt x="74183" y="76336"/>
                  <a:pt x="77337" y="76536"/>
                </a:cubicBezTo>
                <a:lnTo>
                  <a:pt x="87824" y="77212"/>
                </a:lnTo>
                <a:cubicBezTo>
                  <a:pt x="89401" y="75185"/>
                  <a:pt x="91228" y="73307"/>
                  <a:pt x="93305" y="71706"/>
                </a:cubicBezTo>
                <a:lnTo>
                  <a:pt x="92629" y="61244"/>
                </a:lnTo>
                <a:cubicBezTo>
                  <a:pt x="92429" y="58090"/>
                  <a:pt x="94481" y="55237"/>
                  <a:pt x="97510" y="54436"/>
                </a:cubicBezTo>
                <a:lnTo>
                  <a:pt x="104067" y="52684"/>
                </a:lnTo>
                <a:close/>
                <a:moveTo>
                  <a:pt x="112226" y="85096"/>
                </a:moveTo>
                <a:cubicBezTo>
                  <a:pt x="106148" y="85103"/>
                  <a:pt x="101219" y="90043"/>
                  <a:pt x="101226" y="96121"/>
                </a:cubicBezTo>
                <a:cubicBezTo>
                  <a:pt x="101233" y="102199"/>
                  <a:pt x="106173" y="107127"/>
                  <a:pt x="112251" y="107120"/>
                </a:cubicBezTo>
                <a:cubicBezTo>
                  <a:pt x="118329" y="107114"/>
                  <a:pt x="123258" y="102173"/>
                  <a:pt x="123251" y="96096"/>
                </a:cubicBezTo>
                <a:cubicBezTo>
                  <a:pt x="123244" y="90018"/>
                  <a:pt x="118304" y="85089"/>
                  <a:pt x="112226" y="85096"/>
                </a:cubicBezTo>
                <a:close/>
                <a:moveTo>
                  <a:pt x="56288" y="-11388"/>
                </a:moveTo>
                <a:lnTo>
                  <a:pt x="62846" y="-9636"/>
                </a:lnTo>
                <a:cubicBezTo>
                  <a:pt x="65874" y="-8810"/>
                  <a:pt x="67926" y="-5957"/>
                  <a:pt x="67726" y="-2828"/>
                </a:cubicBezTo>
                <a:lnTo>
                  <a:pt x="67050" y="7634"/>
                </a:lnTo>
                <a:cubicBezTo>
                  <a:pt x="69128" y="9235"/>
                  <a:pt x="70955" y="11087"/>
                  <a:pt x="72532" y="13140"/>
                </a:cubicBezTo>
                <a:lnTo>
                  <a:pt x="83043" y="12464"/>
                </a:lnTo>
                <a:cubicBezTo>
                  <a:pt x="86172" y="12264"/>
                  <a:pt x="89025" y="14316"/>
                  <a:pt x="89851" y="17345"/>
                </a:cubicBezTo>
                <a:lnTo>
                  <a:pt x="91603" y="23902"/>
                </a:lnTo>
                <a:cubicBezTo>
                  <a:pt x="92404" y="26930"/>
                  <a:pt x="90977" y="30134"/>
                  <a:pt x="88149" y="31535"/>
                </a:cubicBezTo>
                <a:lnTo>
                  <a:pt x="78714" y="36191"/>
                </a:lnTo>
                <a:cubicBezTo>
                  <a:pt x="78538" y="37467"/>
                  <a:pt x="78288" y="38744"/>
                  <a:pt x="77963" y="39995"/>
                </a:cubicBezTo>
                <a:cubicBezTo>
                  <a:pt x="77637" y="41246"/>
                  <a:pt x="77187" y="42498"/>
                  <a:pt x="76711" y="43674"/>
                </a:cubicBezTo>
                <a:lnTo>
                  <a:pt x="82543" y="52434"/>
                </a:lnTo>
                <a:cubicBezTo>
                  <a:pt x="84295" y="55062"/>
                  <a:pt x="83944" y="58541"/>
                  <a:pt x="81717" y="60768"/>
                </a:cubicBezTo>
                <a:lnTo>
                  <a:pt x="76912" y="65574"/>
                </a:lnTo>
                <a:cubicBezTo>
                  <a:pt x="74684" y="67801"/>
                  <a:pt x="71205" y="68152"/>
                  <a:pt x="68577" y="66400"/>
                </a:cubicBezTo>
                <a:lnTo>
                  <a:pt x="59817" y="60568"/>
                </a:lnTo>
                <a:cubicBezTo>
                  <a:pt x="57440" y="61544"/>
                  <a:pt x="54912" y="62245"/>
                  <a:pt x="52334" y="62595"/>
                </a:cubicBezTo>
                <a:lnTo>
                  <a:pt x="47679" y="72006"/>
                </a:lnTo>
                <a:cubicBezTo>
                  <a:pt x="46277" y="74834"/>
                  <a:pt x="43073" y="76261"/>
                  <a:pt x="40045" y="75460"/>
                </a:cubicBezTo>
                <a:lnTo>
                  <a:pt x="33488" y="73708"/>
                </a:lnTo>
                <a:cubicBezTo>
                  <a:pt x="30434" y="72882"/>
                  <a:pt x="28407" y="70029"/>
                  <a:pt x="28607" y="66900"/>
                </a:cubicBezTo>
                <a:lnTo>
                  <a:pt x="29283" y="56413"/>
                </a:lnTo>
                <a:cubicBezTo>
                  <a:pt x="27206" y="54812"/>
                  <a:pt x="25379" y="52960"/>
                  <a:pt x="23802" y="50907"/>
                </a:cubicBezTo>
                <a:lnTo>
                  <a:pt x="13290" y="51583"/>
                </a:lnTo>
                <a:cubicBezTo>
                  <a:pt x="10161" y="51783"/>
                  <a:pt x="7308" y="49731"/>
                  <a:pt x="6482" y="46703"/>
                </a:cubicBezTo>
                <a:lnTo>
                  <a:pt x="4730" y="40145"/>
                </a:lnTo>
                <a:cubicBezTo>
                  <a:pt x="3929" y="37117"/>
                  <a:pt x="5356" y="33913"/>
                  <a:pt x="8184" y="32512"/>
                </a:cubicBezTo>
                <a:lnTo>
                  <a:pt x="17620" y="27856"/>
                </a:lnTo>
                <a:cubicBezTo>
                  <a:pt x="17795" y="26580"/>
                  <a:pt x="18045" y="25328"/>
                  <a:pt x="18371" y="24052"/>
                </a:cubicBezTo>
                <a:cubicBezTo>
                  <a:pt x="18721" y="22776"/>
                  <a:pt x="19122" y="21549"/>
                  <a:pt x="19622" y="20373"/>
                </a:cubicBezTo>
                <a:lnTo>
                  <a:pt x="13791" y="11638"/>
                </a:lnTo>
                <a:cubicBezTo>
                  <a:pt x="12039" y="9010"/>
                  <a:pt x="12389" y="5531"/>
                  <a:pt x="14616" y="3304"/>
                </a:cubicBezTo>
                <a:lnTo>
                  <a:pt x="19422" y="-1502"/>
                </a:lnTo>
                <a:cubicBezTo>
                  <a:pt x="21649" y="-3729"/>
                  <a:pt x="25128" y="-4080"/>
                  <a:pt x="27756" y="-2328"/>
                </a:cubicBezTo>
                <a:lnTo>
                  <a:pt x="36516" y="3504"/>
                </a:lnTo>
                <a:cubicBezTo>
                  <a:pt x="38894" y="2528"/>
                  <a:pt x="41422" y="1827"/>
                  <a:pt x="43999" y="1477"/>
                </a:cubicBezTo>
                <a:lnTo>
                  <a:pt x="48655" y="-7934"/>
                </a:lnTo>
                <a:cubicBezTo>
                  <a:pt x="50056" y="-10762"/>
                  <a:pt x="53235" y="-12189"/>
                  <a:pt x="56288" y="-11388"/>
                </a:cubicBezTo>
                <a:close/>
                <a:moveTo>
                  <a:pt x="48154" y="21024"/>
                </a:moveTo>
                <a:cubicBezTo>
                  <a:pt x="42076" y="21024"/>
                  <a:pt x="37142" y="25958"/>
                  <a:pt x="37142" y="32036"/>
                </a:cubicBezTo>
                <a:cubicBezTo>
                  <a:pt x="37142" y="38114"/>
                  <a:pt x="42076" y="43048"/>
                  <a:pt x="48154" y="43048"/>
                </a:cubicBezTo>
                <a:cubicBezTo>
                  <a:pt x="54232" y="43048"/>
                  <a:pt x="59167" y="38114"/>
                  <a:pt x="59167" y="32036"/>
                </a:cubicBezTo>
                <a:cubicBezTo>
                  <a:pt x="59167" y="25958"/>
                  <a:pt x="54232" y="21024"/>
                  <a:pt x="48154" y="2102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5" name="Text 26"/>
          <p:cNvSpPr/>
          <p:nvPr/>
        </p:nvSpPr>
        <p:spPr>
          <a:xfrm>
            <a:off x="899795" y="5572760"/>
            <a:ext cx="1186180" cy="16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实施策略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6" name="Text 27"/>
          <p:cNvSpPr/>
          <p:nvPr/>
        </p:nvSpPr>
        <p:spPr>
          <a:xfrm>
            <a:off x="666350" y="5821782"/>
            <a:ext cx="4631495" cy="4759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进行多任务混合微调，通过海量指令数据优化模型的逻辑推理与指令遵循能力。采用RLHF技术进一步提升对齐度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Shape 28"/>
          <p:cNvSpPr/>
          <p:nvPr/>
        </p:nvSpPr>
        <p:spPr>
          <a:xfrm>
            <a:off x="5707792" y="970612"/>
            <a:ext cx="6112476" cy="3586205"/>
          </a:xfrm>
          <a:custGeom>
            <a:avLst/>
            <a:gdLst/>
            <a:ahLst/>
            <a:cxnLst/>
            <a:rect l="l" t="t" r="r" b="b"/>
            <a:pathLst>
              <a:path w="6112476" h="3586205">
                <a:moveTo>
                  <a:pt x="109845" y="0"/>
                </a:moveTo>
                <a:lnTo>
                  <a:pt x="6002630" y="0"/>
                </a:lnTo>
                <a:cubicBezTo>
                  <a:pt x="6063296" y="0"/>
                  <a:pt x="6112476" y="49179"/>
                  <a:pt x="6112476" y="109845"/>
                </a:cubicBezTo>
                <a:lnTo>
                  <a:pt x="6112476" y="3476360"/>
                </a:lnTo>
                <a:cubicBezTo>
                  <a:pt x="6112476" y="3537026"/>
                  <a:pt x="6063296" y="3586205"/>
                  <a:pt x="6002630" y="3586205"/>
                </a:cubicBezTo>
                <a:lnTo>
                  <a:pt x="109845" y="3586205"/>
                </a:lnTo>
                <a:cubicBezTo>
                  <a:pt x="49179" y="3586205"/>
                  <a:pt x="0" y="3537026"/>
                  <a:pt x="0" y="3476360"/>
                </a:cubicBezTo>
                <a:lnTo>
                  <a:pt x="0" y="109845"/>
                </a:lnTo>
                <a:cubicBezTo>
                  <a:pt x="0" y="49220"/>
                  <a:pt x="49220" y="0"/>
                  <a:pt x="10984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48" name="Shape 29"/>
          <p:cNvSpPr/>
          <p:nvPr/>
        </p:nvSpPr>
        <p:spPr>
          <a:xfrm>
            <a:off x="5917399" y="1193951"/>
            <a:ext cx="183063" cy="183063"/>
          </a:xfrm>
          <a:custGeom>
            <a:avLst/>
            <a:gdLst/>
            <a:ahLst/>
            <a:cxnLst/>
            <a:rect l="l" t="t" r="r" b="b"/>
            <a:pathLst>
              <a:path w="183063" h="183063">
                <a:moveTo>
                  <a:pt x="169941" y="36"/>
                </a:moveTo>
                <a:cubicBezTo>
                  <a:pt x="173481" y="-250"/>
                  <a:pt x="176949" y="1108"/>
                  <a:pt x="179452" y="3611"/>
                </a:cubicBezTo>
                <a:cubicBezTo>
                  <a:pt x="181955" y="6114"/>
                  <a:pt x="183313" y="9582"/>
                  <a:pt x="183027" y="13122"/>
                </a:cubicBezTo>
                <a:cubicBezTo>
                  <a:pt x="181597" y="30749"/>
                  <a:pt x="176806" y="58244"/>
                  <a:pt x="166473" y="84524"/>
                </a:cubicBezTo>
                <a:cubicBezTo>
                  <a:pt x="165829" y="86133"/>
                  <a:pt x="164506" y="87348"/>
                  <a:pt x="162826" y="87849"/>
                </a:cubicBezTo>
                <a:lnTo>
                  <a:pt x="133901" y="96537"/>
                </a:lnTo>
                <a:cubicBezTo>
                  <a:pt x="132506" y="96966"/>
                  <a:pt x="131577" y="98218"/>
                  <a:pt x="131577" y="99684"/>
                </a:cubicBezTo>
                <a:cubicBezTo>
                  <a:pt x="131577" y="101507"/>
                  <a:pt x="133043" y="102973"/>
                  <a:pt x="134866" y="102973"/>
                </a:cubicBezTo>
                <a:lnTo>
                  <a:pt x="148667" y="102973"/>
                </a:lnTo>
                <a:cubicBezTo>
                  <a:pt x="152958" y="102973"/>
                  <a:pt x="155711" y="107550"/>
                  <a:pt x="153494" y="111232"/>
                </a:cubicBezTo>
                <a:cubicBezTo>
                  <a:pt x="152064" y="113628"/>
                  <a:pt x="150526" y="115952"/>
                  <a:pt x="148953" y="118240"/>
                </a:cubicBezTo>
                <a:cubicBezTo>
                  <a:pt x="148238" y="119277"/>
                  <a:pt x="147166" y="120028"/>
                  <a:pt x="145950" y="120421"/>
                </a:cubicBezTo>
                <a:lnTo>
                  <a:pt x="111018" y="130861"/>
                </a:lnTo>
                <a:cubicBezTo>
                  <a:pt x="109623" y="131291"/>
                  <a:pt x="108694" y="132542"/>
                  <a:pt x="108694" y="134008"/>
                </a:cubicBezTo>
                <a:cubicBezTo>
                  <a:pt x="108694" y="135831"/>
                  <a:pt x="110160" y="137297"/>
                  <a:pt x="111983" y="137297"/>
                </a:cubicBezTo>
                <a:lnTo>
                  <a:pt x="117704" y="137297"/>
                </a:lnTo>
                <a:cubicBezTo>
                  <a:pt x="122924" y="137297"/>
                  <a:pt x="125212" y="143519"/>
                  <a:pt x="120850" y="146379"/>
                </a:cubicBezTo>
                <a:cubicBezTo>
                  <a:pt x="96537" y="162468"/>
                  <a:pt x="71616" y="161861"/>
                  <a:pt x="55634" y="157570"/>
                </a:cubicBezTo>
                <a:cubicBezTo>
                  <a:pt x="51093" y="156354"/>
                  <a:pt x="47053" y="154030"/>
                  <a:pt x="43334" y="151170"/>
                </a:cubicBezTo>
                <a:lnTo>
                  <a:pt x="17162" y="177342"/>
                </a:lnTo>
                <a:cubicBezTo>
                  <a:pt x="14016" y="180489"/>
                  <a:pt x="8867" y="180489"/>
                  <a:pt x="5721" y="177342"/>
                </a:cubicBezTo>
                <a:cubicBezTo>
                  <a:pt x="2574" y="174196"/>
                  <a:pt x="2574" y="169047"/>
                  <a:pt x="5721" y="165901"/>
                </a:cubicBezTo>
                <a:lnTo>
                  <a:pt x="34324" y="137297"/>
                </a:lnTo>
                <a:lnTo>
                  <a:pt x="34503" y="137476"/>
                </a:lnTo>
                <a:cubicBezTo>
                  <a:pt x="34753" y="137011"/>
                  <a:pt x="35075" y="136582"/>
                  <a:pt x="35468" y="136189"/>
                </a:cubicBezTo>
                <a:lnTo>
                  <a:pt x="91532" y="80090"/>
                </a:lnTo>
                <a:cubicBezTo>
                  <a:pt x="94678" y="76944"/>
                  <a:pt x="94678" y="71795"/>
                  <a:pt x="91532" y="68649"/>
                </a:cubicBezTo>
                <a:cubicBezTo>
                  <a:pt x="88385" y="65502"/>
                  <a:pt x="83236" y="65502"/>
                  <a:pt x="80090" y="68649"/>
                </a:cubicBezTo>
                <a:lnTo>
                  <a:pt x="32072" y="116631"/>
                </a:lnTo>
                <a:cubicBezTo>
                  <a:pt x="28890" y="119813"/>
                  <a:pt x="23491" y="118204"/>
                  <a:pt x="23133" y="113699"/>
                </a:cubicBezTo>
                <a:cubicBezTo>
                  <a:pt x="21596" y="94678"/>
                  <a:pt x="26458" y="69686"/>
                  <a:pt x="49091" y="47053"/>
                </a:cubicBezTo>
                <a:cubicBezTo>
                  <a:pt x="81663" y="14481"/>
                  <a:pt x="139979" y="2467"/>
                  <a:pt x="169905" y="36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9" name="Text 30"/>
          <p:cNvSpPr/>
          <p:nvPr/>
        </p:nvSpPr>
        <p:spPr>
          <a:xfrm>
            <a:off x="6123345" y="1157339"/>
            <a:ext cx="5601730" cy="256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PEFT轻量化微调技术对比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0" name="Image 0" descr="https://kimi-img.moonshot.cn/pub/slides/26-02-01-23:47:25-d5vnb39l88bqolbae3t0.png"/>
          <p:cNvPicPr>
            <a:picLocks noChangeAspect="1"/>
          </p:cNvPicPr>
          <p:nvPr/>
        </p:nvPicPr>
        <p:blipFill>
          <a:blip r:embed="rId1">
            <a:duotone>
              <a:prstClr val="black"/>
              <a:schemeClr val="accent6">
                <a:tint val="45000"/>
                <a:satMod val="400000"/>
              </a:schemeClr>
            </a:duotone>
          </a:blip>
          <a:srcRect l="11859" r="64"/>
          <a:stretch>
            <a:fillRect/>
          </a:stretch>
        </p:blipFill>
        <p:spPr>
          <a:xfrm>
            <a:off x="6066790" y="1560195"/>
            <a:ext cx="5244465" cy="3052445"/>
          </a:xfrm>
          <a:prstGeom prst="roundRect">
            <a:avLst>
              <a:gd name="adj" fmla="val 0"/>
            </a:avLst>
          </a:prstGeom>
        </p:spPr>
      </p:pic>
      <p:sp>
        <p:nvSpPr>
          <p:cNvPr id="51" name="Shape 31"/>
          <p:cNvSpPr/>
          <p:nvPr/>
        </p:nvSpPr>
        <p:spPr>
          <a:xfrm>
            <a:off x="5707792" y="4710591"/>
            <a:ext cx="6112476" cy="2052000"/>
          </a:xfrm>
          <a:custGeom>
            <a:avLst/>
            <a:gdLst/>
            <a:ahLst/>
            <a:cxnLst/>
            <a:rect l="l" t="t" r="r" b="b"/>
            <a:pathLst>
              <a:path w="6112476" h="2121701">
                <a:moveTo>
                  <a:pt x="109840" y="0"/>
                </a:moveTo>
                <a:lnTo>
                  <a:pt x="6002635" y="0"/>
                </a:lnTo>
                <a:cubicBezTo>
                  <a:pt x="6063298" y="0"/>
                  <a:pt x="6112476" y="49177"/>
                  <a:pt x="6112476" y="109840"/>
                </a:cubicBezTo>
                <a:lnTo>
                  <a:pt x="6112476" y="2011860"/>
                </a:lnTo>
                <a:cubicBezTo>
                  <a:pt x="6112476" y="2072524"/>
                  <a:pt x="6063298" y="2121701"/>
                  <a:pt x="6002635" y="2121701"/>
                </a:cubicBezTo>
                <a:lnTo>
                  <a:pt x="109840" y="2121701"/>
                </a:lnTo>
                <a:cubicBezTo>
                  <a:pt x="49177" y="2121701"/>
                  <a:pt x="0" y="2072524"/>
                  <a:pt x="0" y="2011860"/>
                </a:cubicBezTo>
                <a:lnTo>
                  <a:pt x="0" y="109840"/>
                </a:lnTo>
                <a:cubicBezTo>
                  <a:pt x="0" y="49218"/>
                  <a:pt x="49218" y="0"/>
                  <a:pt x="109840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2" name="Shape 32"/>
          <p:cNvSpPr/>
          <p:nvPr/>
        </p:nvSpPr>
        <p:spPr>
          <a:xfrm>
            <a:off x="5870489" y="4906467"/>
            <a:ext cx="185351" cy="164757"/>
          </a:xfrm>
          <a:custGeom>
            <a:avLst/>
            <a:gdLst/>
            <a:ahLst/>
            <a:cxnLst/>
            <a:rect l="l" t="t" r="r" b="b"/>
            <a:pathLst>
              <a:path w="185351" h="164757">
                <a:moveTo>
                  <a:pt x="164885" y="77230"/>
                </a:moveTo>
                <a:lnTo>
                  <a:pt x="108250" y="77230"/>
                </a:lnTo>
                <a:cubicBezTo>
                  <a:pt x="102555" y="77230"/>
                  <a:pt x="97953" y="72628"/>
                  <a:pt x="97953" y="66932"/>
                </a:cubicBezTo>
                <a:lnTo>
                  <a:pt x="97953" y="10297"/>
                </a:lnTo>
                <a:cubicBezTo>
                  <a:pt x="97953" y="4602"/>
                  <a:pt x="102587" y="-64"/>
                  <a:pt x="108218" y="676"/>
                </a:cubicBezTo>
                <a:cubicBezTo>
                  <a:pt x="142650" y="5245"/>
                  <a:pt x="169938" y="32533"/>
                  <a:pt x="174507" y="66965"/>
                </a:cubicBezTo>
                <a:cubicBezTo>
                  <a:pt x="175247" y="72596"/>
                  <a:pt x="170581" y="77230"/>
                  <a:pt x="164885" y="77230"/>
                </a:cubicBezTo>
                <a:close/>
                <a:moveTo>
                  <a:pt x="71631" y="11971"/>
                </a:moveTo>
                <a:cubicBezTo>
                  <a:pt x="77455" y="10748"/>
                  <a:pt x="82507" y="15510"/>
                  <a:pt x="82507" y="21463"/>
                </a:cubicBezTo>
                <a:lnTo>
                  <a:pt x="82507" y="84953"/>
                </a:lnTo>
                <a:cubicBezTo>
                  <a:pt x="82507" y="86755"/>
                  <a:pt x="83151" y="88492"/>
                  <a:pt x="84277" y="89876"/>
                </a:cubicBezTo>
                <a:lnTo>
                  <a:pt x="126785" y="141170"/>
                </a:lnTo>
                <a:cubicBezTo>
                  <a:pt x="130550" y="145707"/>
                  <a:pt x="129746" y="152561"/>
                  <a:pt x="124565" y="155360"/>
                </a:cubicBezTo>
                <a:cubicBezTo>
                  <a:pt x="113592" y="161346"/>
                  <a:pt x="101010" y="164757"/>
                  <a:pt x="87656" y="164757"/>
                </a:cubicBezTo>
                <a:cubicBezTo>
                  <a:pt x="45018" y="164757"/>
                  <a:pt x="10426" y="130164"/>
                  <a:pt x="10426" y="87527"/>
                </a:cubicBezTo>
                <a:cubicBezTo>
                  <a:pt x="10426" y="50360"/>
                  <a:pt x="36652" y="19340"/>
                  <a:pt x="71631" y="11971"/>
                </a:cubicBezTo>
                <a:close/>
                <a:moveTo>
                  <a:pt x="153752" y="92676"/>
                </a:moveTo>
                <a:lnTo>
                  <a:pt x="174346" y="92676"/>
                </a:lnTo>
                <a:cubicBezTo>
                  <a:pt x="180299" y="92676"/>
                  <a:pt x="185062" y="97728"/>
                  <a:pt x="183839" y="103552"/>
                </a:cubicBezTo>
                <a:cubicBezTo>
                  <a:pt x="180557" y="119127"/>
                  <a:pt x="172576" y="132964"/>
                  <a:pt x="161442" y="143519"/>
                </a:cubicBezTo>
                <a:cubicBezTo>
                  <a:pt x="157484" y="147284"/>
                  <a:pt x="151274" y="146479"/>
                  <a:pt x="147798" y="142264"/>
                </a:cubicBezTo>
                <a:lnTo>
                  <a:pt x="120639" y="109538"/>
                </a:lnTo>
                <a:cubicBezTo>
                  <a:pt x="115072" y="102812"/>
                  <a:pt x="119867" y="92676"/>
                  <a:pt x="128555" y="92676"/>
                </a:cubicBezTo>
                <a:lnTo>
                  <a:pt x="153719" y="92676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3" name="Text 33"/>
          <p:cNvSpPr/>
          <p:nvPr/>
        </p:nvSpPr>
        <p:spPr>
          <a:xfrm>
            <a:off x="6068426" y="4860701"/>
            <a:ext cx="5684108" cy="2562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成本效益分析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4" name="Shape 34"/>
          <p:cNvSpPr/>
          <p:nvPr/>
        </p:nvSpPr>
        <p:spPr>
          <a:xfrm>
            <a:off x="5861565" y="5230488"/>
            <a:ext cx="2844800" cy="922638"/>
          </a:xfrm>
          <a:custGeom>
            <a:avLst/>
            <a:gdLst/>
            <a:ahLst/>
            <a:cxnLst/>
            <a:rect l="l" t="t" r="r" b="b"/>
            <a:pathLst>
              <a:path w="2844800" h="922638">
                <a:moveTo>
                  <a:pt x="73230" y="0"/>
                </a:moveTo>
                <a:lnTo>
                  <a:pt x="2771570" y="0"/>
                </a:lnTo>
                <a:cubicBezTo>
                  <a:pt x="2811987" y="0"/>
                  <a:pt x="2844800" y="32813"/>
                  <a:pt x="2844800" y="73230"/>
                </a:cubicBezTo>
                <a:lnTo>
                  <a:pt x="2844800" y="849408"/>
                </a:lnTo>
                <a:cubicBezTo>
                  <a:pt x="2844800" y="889825"/>
                  <a:pt x="2811987" y="922638"/>
                  <a:pt x="2771570" y="922638"/>
                </a:cubicBezTo>
                <a:lnTo>
                  <a:pt x="73230" y="922638"/>
                </a:lnTo>
                <a:cubicBezTo>
                  <a:pt x="32813" y="922638"/>
                  <a:pt x="0" y="889825"/>
                  <a:pt x="0" y="849408"/>
                </a:cubicBezTo>
                <a:lnTo>
                  <a:pt x="0" y="73230"/>
                </a:lnTo>
                <a:cubicBezTo>
                  <a:pt x="0" y="32813"/>
                  <a:pt x="32813" y="0"/>
                  <a:pt x="73230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55" name="Text 35"/>
          <p:cNvSpPr/>
          <p:nvPr/>
        </p:nvSpPr>
        <p:spPr>
          <a:xfrm>
            <a:off x="5975350" y="5380355"/>
            <a:ext cx="72834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LoRA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Text 36"/>
          <p:cNvSpPr/>
          <p:nvPr/>
        </p:nvSpPr>
        <p:spPr>
          <a:xfrm>
            <a:off x="8023860" y="5344160"/>
            <a:ext cx="645795" cy="256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$87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57" name="Text 37"/>
          <p:cNvSpPr/>
          <p:nvPr/>
        </p:nvSpPr>
        <p:spPr>
          <a:xfrm>
            <a:off x="5975350" y="5673725"/>
            <a:ext cx="9474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训练参数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8" name="Text 38"/>
          <p:cNvSpPr/>
          <p:nvPr/>
        </p:nvSpPr>
        <p:spPr>
          <a:xfrm>
            <a:off x="8023860" y="5673725"/>
            <a:ext cx="63182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0.38%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9" name="Text 39"/>
          <p:cNvSpPr/>
          <p:nvPr/>
        </p:nvSpPr>
        <p:spPr>
          <a:xfrm>
            <a:off x="5975350" y="5856605"/>
            <a:ext cx="94678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准确率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0" name="Text 40"/>
          <p:cNvSpPr/>
          <p:nvPr/>
        </p:nvSpPr>
        <p:spPr>
          <a:xfrm>
            <a:off x="8023860" y="5856605"/>
            <a:ext cx="63436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94.2%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1" name="Shape 41"/>
          <p:cNvSpPr/>
          <p:nvPr/>
        </p:nvSpPr>
        <p:spPr>
          <a:xfrm>
            <a:off x="8821466" y="5230488"/>
            <a:ext cx="2844800" cy="922638"/>
          </a:xfrm>
          <a:custGeom>
            <a:avLst/>
            <a:gdLst/>
            <a:ahLst/>
            <a:cxnLst/>
            <a:rect l="l" t="t" r="r" b="b"/>
            <a:pathLst>
              <a:path w="2844800" h="922638">
                <a:moveTo>
                  <a:pt x="73230" y="0"/>
                </a:moveTo>
                <a:lnTo>
                  <a:pt x="2771570" y="0"/>
                </a:lnTo>
                <a:cubicBezTo>
                  <a:pt x="2811987" y="0"/>
                  <a:pt x="2844800" y="32813"/>
                  <a:pt x="2844800" y="73230"/>
                </a:cubicBezTo>
                <a:lnTo>
                  <a:pt x="2844800" y="849408"/>
                </a:lnTo>
                <a:cubicBezTo>
                  <a:pt x="2844800" y="889825"/>
                  <a:pt x="2811987" y="922638"/>
                  <a:pt x="2771570" y="922638"/>
                </a:cubicBezTo>
                <a:lnTo>
                  <a:pt x="73230" y="922638"/>
                </a:lnTo>
                <a:cubicBezTo>
                  <a:pt x="32813" y="922638"/>
                  <a:pt x="0" y="889825"/>
                  <a:pt x="0" y="849408"/>
                </a:cubicBezTo>
                <a:lnTo>
                  <a:pt x="0" y="73230"/>
                </a:lnTo>
                <a:cubicBezTo>
                  <a:pt x="0" y="32813"/>
                  <a:pt x="32813" y="0"/>
                  <a:pt x="73230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2" name="Text 42"/>
          <p:cNvSpPr/>
          <p:nvPr/>
        </p:nvSpPr>
        <p:spPr>
          <a:xfrm>
            <a:off x="8935085" y="5380355"/>
            <a:ext cx="136525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Prefix Tuning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3" name="Text 43"/>
          <p:cNvSpPr/>
          <p:nvPr/>
        </p:nvSpPr>
        <p:spPr>
          <a:xfrm>
            <a:off x="11174095" y="5344160"/>
            <a:ext cx="455295" cy="2565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$62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64" name="Text 44"/>
          <p:cNvSpPr/>
          <p:nvPr/>
        </p:nvSpPr>
        <p:spPr>
          <a:xfrm>
            <a:off x="8935085" y="5673725"/>
            <a:ext cx="1033145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训练参数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5" name="Text 45"/>
          <p:cNvSpPr/>
          <p:nvPr/>
        </p:nvSpPr>
        <p:spPr>
          <a:xfrm>
            <a:off x="11061700" y="5673725"/>
            <a:ext cx="55245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0.05%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6" name="Text 46"/>
          <p:cNvSpPr/>
          <p:nvPr/>
        </p:nvSpPr>
        <p:spPr>
          <a:xfrm>
            <a:off x="8935085" y="5856605"/>
            <a:ext cx="109474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准确率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7" name="Text 47"/>
          <p:cNvSpPr/>
          <p:nvPr/>
        </p:nvSpPr>
        <p:spPr>
          <a:xfrm>
            <a:off x="11061700" y="5856605"/>
            <a:ext cx="5511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91.7%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8" name="Shape 48"/>
          <p:cNvSpPr/>
          <p:nvPr/>
        </p:nvSpPr>
        <p:spPr>
          <a:xfrm>
            <a:off x="5861565" y="6270287"/>
            <a:ext cx="5801268" cy="410061"/>
          </a:xfrm>
          <a:custGeom>
            <a:avLst/>
            <a:gdLst/>
            <a:ahLst/>
            <a:cxnLst/>
            <a:rect l="l" t="t" r="r" b="b"/>
            <a:pathLst>
              <a:path w="5801268" h="410061">
                <a:moveTo>
                  <a:pt x="73225" y="0"/>
                </a:moveTo>
                <a:lnTo>
                  <a:pt x="5728044" y="0"/>
                </a:lnTo>
                <a:cubicBezTo>
                  <a:pt x="5768485" y="0"/>
                  <a:pt x="5801268" y="32784"/>
                  <a:pt x="5801268" y="73225"/>
                </a:cubicBezTo>
                <a:lnTo>
                  <a:pt x="5801268" y="336837"/>
                </a:lnTo>
                <a:cubicBezTo>
                  <a:pt x="5801268" y="377277"/>
                  <a:pt x="5768485" y="410061"/>
                  <a:pt x="5728044" y="410061"/>
                </a:cubicBezTo>
                <a:lnTo>
                  <a:pt x="73225" y="410061"/>
                </a:lnTo>
                <a:cubicBezTo>
                  <a:pt x="32811" y="410061"/>
                  <a:pt x="0" y="377250"/>
                  <a:pt x="0" y="336837"/>
                </a:cubicBezTo>
                <a:lnTo>
                  <a:pt x="0" y="73225"/>
                </a:lnTo>
                <a:cubicBezTo>
                  <a:pt x="0" y="32784"/>
                  <a:pt x="32784" y="0"/>
                  <a:pt x="73225" y="0"/>
                </a:cubicBezTo>
                <a:close/>
              </a:path>
            </a:pathLst>
          </a:custGeom>
          <a:solidFill>
            <a:srgbClr val="B10015">
              <a:alpha val="10000"/>
            </a:srgbClr>
          </a:solidFill>
          <a:ln w="10160">
            <a:solidFill>
              <a:srgbClr val="B10015"/>
            </a:solidFill>
            <a:prstDash val="solid"/>
          </a:ln>
        </p:spPr>
      </p:sp>
      <p:sp>
        <p:nvSpPr>
          <p:cNvPr id="69" name="Shape 49"/>
          <p:cNvSpPr/>
          <p:nvPr/>
        </p:nvSpPr>
        <p:spPr>
          <a:xfrm>
            <a:off x="7360394" y="6405756"/>
            <a:ext cx="96108" cy="128144"/>
          </a:xfrm>
          <a:custGeom>
            <a:avLst/>
            <a:gdLst/>
            <a:ahLst/>
            <a:cxnLst/>
            <a:rect l="l" t="t" r="r" b="b"/>
            <a:pathLst>
              <a:path w="96108" h="128144">
                <a:moveTo>
                  <a:pt x="42398" y="125791"/>
                </a:moveTo>
                <a:cubicBezTo>
                  <a:pt x="45526" y="128920"/>
                  <a:pt x="50607" y="128920"/>
                  <a:pt x="53735" y="125791"/>
                </a:cubicBezTo>
                <a:lnTo>
                  <a:pt x="93780" y="85746"/>
                </a:lnTo>
                <a:cubicBezTo>
                  <a:pt x="96909" y="82618"/>
                  <a:pt x="96909" y="77537"/>
                  <a:pt x="93780" y="74409"/>
                </a:cubicBezTo>
                <a:cubicBezTo>
                  <a:pt x="90652" y="71280"/>
                  <a:pt x="85571" y="71280"/>
                  <a:pt x="82443" y="74409"/>
                </a:cubicBezTo>
                <a:lnTo>
                  <a:pt x="56063" y="100788"/>
                </a:lnTo>
                <a:lnTo>
                  <a:pt x="56063" y="8009"/>
                </a:lnTo>
                <a:cubicBezTo>
                  <a:pt x="56063" y="3579"/>
                  <a:pt x="52484" y="0"/>
                  <a:pt x="48054" y="0"/>
                </a:cubicBezTo>
                <a:cubicBezTo>
                  <a:pt x="43624" y="0"/>
                  <a:pt x="40045" y="3579"/>
                  <a:pt x="40045" y="8009"/>
                </a:cubicBezTo>
                <a:lnTo>
                  <a:pt x="40045" y="100788"/>
                </a:lnTo>
                <a:lnTo>
                  <a:pt x="13665" y="74409"/>
                </a:lnTo>
                <a:cubicBezTo>
                  <a:pt x="10537" y="71280"/>
                  <a:pt x="5456" y="71280"/>
                  <a:pt x="2328" y="74409"/>
                </a:cubicBezTo>
                <a:cubicBezTo>
                  <a:pt x="-801" y="77537"/>
                  <a:pt x="-801" y="82618"/>
                  <a:pt x="2328" y="85746"/>
                </a:cubicBezTo>
                <a:lnTo>
                  <a:pt x="42373" y="125791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70" name="Text 50"/>
          <p:cNvSpPr/>
          <p:nvPr/>
        </p:nvSpPr>
        <p:spPr>
          <a:xfrm>
            <a:off x="7615555" y="6391275"/>
            <a:ext cx="2330450" cy="1682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相比全量微调节省90%成本</a:t>
            </a:r>
            <a:endParaRPr 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Shape 51"/>
          <p:cNvSpPr/>
          <p:nvPr/>
        </p:nvSpPr>
        <p:spPr>
          <a:xfrm>
            <a:off x="10171001" y="6405756"/>
            <a:ext cx="96108" cy="128144"/>
          </a:xfrm>
          <a:custGeom>
            <a:avLst/>
            <a:gdLst/>
            <a:ahLst/>
            <a:cxnLst/>
            <a:rect l="l" t="t" r="r" b="b"/>
            <a:pathLst>
              <a:path w="96108" h="128144">
                <a:moveTo>
                  <a:pt x="42398" y="125791"/>
                </a:moveTo>
                <a:cubicBezTo>
                  <a:pt x="45526" y="128920"/>
                  <a:pt x="50607" y="128920"/>
                  <a:pt x="53735" y="125791"/>
                </a:cubicBezTo>
                <a:lnTo>
                  <a:pt x="93780" y="85746"/>
                </a:lnTo>
                <a:cubicBezTo>
                  <a:pt x="96909" y="82618"/>
                  <a:pt x="96909" y="77537"/>
                  <a:pt x="93780" y="74409"/>
                </a:cubicBezTo>
                <a:cubicBezTo>
                  <a:pt x="90652" y="71280"/>
                  <a:pt x="85571" y="71280"/>
                  <a:pt x="82443" y="74409"/>
                </a:cubicBezTo>
                <a:lnTo>
                  <a:pt x="56063" y="100788"/>
                </a:lnTo>
                <a:lnTo>
                  <a:pt x="56063" y="8009"/>
                </a:lnTo>
                <a:cubicBezTo>
                  <a:pt x="56063" y="3579"/>
                  <a:pt x="52484" y="0"/>
                  <a:pt x="48054" y="0"/>
                </a:cubicBezTo>
                <a:cubicBezTo>
                  <a:pt x="43624" y="0"/>
                  <a:pt x="40045" y="3579"/>
                  <a:pt x="40045" y="8009"/>
                </a:cubicBezTo>
                <a:lnTo>
                  <a:pt x="40045" y="100788"/>
                </a:lnTo>
                <a:lnTo>
                  <a:pt x="13665" y="74409"/>
                </a:lnTo>
                <a:cubicBezTo>
                  <a:pt x="10537" y="71280"/>
                  <a:pt x="5456" y="71280"/>
                  <a:pt x="2328" y="74409"/>
                </a:cubicBezTo>
                <a:cubicBezTo>
                  <a:pt x="-801" y="77537"/>
                  <a:pt x="-801" y="82618"/>
                  <a:pt x="2328" y="85746"/>
                </a:cubicBezTo>
                <a:lnTo>
                  <a:pt x="42373" y="125791"/>
                </a:lnTo>
                <a:close/>
              </a:path>
            </a:pathLst>
          </a:custGeom>
          <a:solidFill>
            <a:srgbClr val="B10015"/>
          </a:solid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424688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评估体系与应用场景落地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84810" y="1032510"/>
            <a:ext cx="5132070" cy="3865245"/>
          </a:xfrm>
          <a:custGeom>
            <a:avLst/>
            <a:gdLst/>
            <a:ahLst/>
            <a:cxnLst/>
            <a:rect l="l" t="t" r="r" b="b"/>
            <a:pathLst>
              <a:path w="5132070" h="3865245">
                <a:moveTo>
                  <a:pt x="114295" y="0"/>
                </a:moveTo>
                <a:lnTo>
                  <a:pt x="5017775" y="0"/>
                </a:lnTo>
                <a:cubicBezTo>
                  <a:pt x="5080898" y="0"/>
                  <a:pt x="5132070" y="51172"/>
                  <a:pt x="5132070" y="114295"/>
                </a:cubicBezTo>
                <a:lnTo>
                  <a:pt x="5132070" y="3750950"/>
                </a:lnTo>
                <a:cubicBezTo>
                  <a:pt x="5132070" y="3814073"/>
                  <a:pt x="5080898" y="3865245"/>
                  <a:pt x="5017775" y="3865245"/>
                </a:cubicBezTo>
                <a:lnTo>
                  <a:pt x="114295" y="3865245"/>
                </a:lnTo>
                <a:cubicBezTo>
                  <a:pt x="51172" y="3865245"/>
                  <a:pt x="0" y="3814073"/>
                  <a:pt x="0" y="375095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6270" y="124586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8" name="Text 6"/>
          <p:cNvSpPr/>
          <p:nvPr/>
        </p:nvSpPr>
        <p:spPr>
          <a:xfrm>
            <a:off x="979170" y="1226820"/>
            <a:ext cx="203009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核心评估指标体系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98170" y="1645918"/>
            <a:ext cx="4724400" cy="876300"/>
          </a:xfrm>
          <a:custGeom>
            <a:avLst/>
            <a:gdLst/>
            <a:ahLst/>
            <a:cxnLst/>
            <a:rect l="l" t="t" r="r" b="b"/>
            <a:pathLst>
              <a:path w="4724400" h="876300">
                <a:moveTo>
                  <a:pt x="38100" y="0"/>
                </a:moveTo>
                <a:lnTo>
                  <a:pt x="4648197" y="0"/>
                </a:lnTo>
                <a:cubicBezTo>
                  <a:pt x="4690283" y="0"/>
                  <a:pt x="4724400" y="34117"/>
                  <a:pt x="4724400" y="76203"/>
                </a:cubicBezTo>
                <a:lnTo>
                  <a:pt x="4724400" y="800097"/>
                </a:lnTo>
                <a:cubicBezTo>
                  <a:pt x="4724400" y="842183"/>
                  <a:pt x="4690283" y="876300"/>
                  <a:pt x="46481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0" name="Shape 8"/>
          <p:cNvSpPr/>
          <p:nvPr/>
        </p:nvSpPr>
        <p:spPr>
          <a:xfrm>
            <a:off x="598170" y="1645918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1" name="Shape 9"/>
          <p:cNvSpPr/>
          <p:nvPr/>
        </p:nvSpPr>
        <p:spPr>
          <a:xfrm>
            <a:off x="779145" y="183641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4288" y="58281"/>
                </a:moveTo>
                <a:lnTo>
                  <a:pt x="76557" y="83909"/>
                </a:lnTo>
                <a:cubicBezTo>
                  <a:pt x="79474" y="85100"/>
                  <a:pt x="82570" y="85725"/>
                  <a:pt x="85725" y="85725"/>
                </a:cubicBezTo>
                <a:cubicBezTo>
                  <a:pt x="88880" y="85725"/>
                  <a:pt x="91976" y="85100"/>
                  <a:pt x="94893" y="83909"/>
                </a:cubicBezTo>
                <a:lnTo>
                  <a:pt x="167045" y="54203"/>
                </a:lnTo>
                <a:cubicBezTo>
                  <a:pt x="169724" y="53102"/>
                  <a:pt x="171450" y="50512"/>
                  <a:pt x="171450" y="47625"/>
                </a:cubicBezTo>
                <a:cubicBezTo>
                  <a:pt x="171450" y="44738"/>
                  <a:pt x="169724" y="42148"/>
                  <a:pt x="167045" y="41047"/>
                </a:cubicBezTo>
                <a:lnTo>
                  <a:pt x="94893" y="11341"/>
                </a:lnTo>
                <a:cubicBezTo>
                  <a:pt x="91976" y="10150"/>
                  <a:pt x="88880" y="9525"/>
                  <a:pt x="85725" y="9525"/>
                </a:cubicBezTo>
                <a:cubicBezTo>
                  <a:pt x="82570" y="9525"/>
                  <a:pt x="79474" y="10150"/>
                  <a:pt x="76557" y="11341"/>
                </a:cubicBezTo>
                <a:lnTo>
                  <a:pt x="4405" y="41047"/>
                </a:lnTo>
                <a:cubicBezTo>
                  <a:pt x="1726" y="42148"/>
                  <a:pt x="0" y="44738"/>
                  <a:pt x="0" y="47625"/>
                </a:cubicBezTo>
                <a:lnTo>
                  <a:pt x="0" y="135731"/>
                </a:lnTo>
                <a:cubicBezTo>
                  <a:pt x="0" y="139690"/>
                  <a:pt x="3185" y="142875"/>
                  <a:pt x="7144" y="142875"/>
                </a:cubicBezTo>
                <a:cubicBezTo>
                  <a:pt x="11103" y="142875"/>
                  <a:pt x="14288" y="139690"/>
                  <a:pt x="14288" y="135731"/>
                </a:cubicBezTo>
                <a:lnTo>
                  <a:pt x="14288" y="58281"/>
                </a:lnTo>
                <a:close/>
                <a:moveTo>
                  <a:pt x="28575" y="79623"/>
                </a:moveTo>
                <a:lnTo>
                  <a:pt x="28575" y="114300"/>
                </a:lnTo>
                <a:cubicBezTo>
                  <a:pt x="28575" y="130076"/>
                  <a:pt x="54173" y="142875"/>
                  <a:pt x="85725" y="142875"/>
                </a:cubicBezTo>
                <a:cubicBezTo>
                  <a:pt x="117277" y="142875"/>
                  <a:pt x="142875" y="130076"/>
                  <a:pt x="142875" y="114300"/>
                </a:cubicBezTo>
                <a:lnTo>
                  <a:pt x="142875" y="79593"/>
                </a:lnTo>
                <a:lnTo>
                  <a:pt x="100340" y="97125"/>
                </a:lnTo>
                <a:cubicBezTo>
                  <a:pt x="95696" y="99030"/>
                  <a:pt x="90755" y="100012"/>
                  <a:pt x="85725" y="100012"/>
                </a:cubicBezTo>
                <a:cubicBezTo>
                  <a:pt x="80695" y="100012"/>
                  <a:pt x="75754" y="99030"/>
                  <a:pt x="71110" y="97125"/>
                </a:cubicBezTo>
                <a:lnTo>
                  <a:pt x="28575" y="79593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2" name="Text 10"/>
          <p:cNvSpPr/>
          <p:nvPr/>
        </p:nvSpPr>
        <p:spPr>
          <a:xfrm>
            <a:off x="1036320" y="1798320"/>
            <a:ext cx="13995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学术指标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69620" y="2103118"/>
            <a:ext cx="561975" cy="266700"/>
          </a:xfrm>
          <a:custGeom>
            <a:avLst/>
            <a:gdLst/>
            <a:ahLst/>
            <a:cxnLst/>
            <a:rect l="l" t="t" r="r" b="b"/>
            <a:pathLst>
              <a:path w="561975" h="266700">
                <a:moveTo>
                  <a:pt x="133350" y="0"/>
                </a:moveTo>
                <a:lnTo>
                  <a:pt x="428625" y="0"/>
                </a:lnTo>
                <a:cubicBezTo>
                  <a:pt x="502223" y="0"/>
                  <a:pt x="561975" y="59752"/>
                  <a:pt x="561975" y="133350"/>
                </a:cubicBezTo>
                <a:lnTo>
                  <a:pt x="561975" y="133350"/>
                </a:lnTo>
                <a:cubicBezTo>
                  <a:pt x="561975" y="206948"/>
                  <a:pt x="502223" y="266700"/>
                  <a:pt x="428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78DA9">
              <a:alpha val="20000"/>
            </a:srgbClr>
          </a:solidFill>
        </p:spPr>
      </p:sp>
      <p:sp>
        <p:nvSpPr>
          <p:cNvPr id="14" name="Text 12"/>
          <p:cNvSpPr/>
          <p:nvPr/>
        </p:nvSpPr>
        <p:spPr>
          <a:xfrm>
            <a:off x="769620" y="2103118"/>
            <a:ext cx="6286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BLEU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409462" y="2103118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78DA9">
              <a:alpha val="20000"/>
            </a:srgbClr>
          </a:solidFill>
        </p:spPr>
      </p:sp>
      <p:sp>
        <p:nvSpPr>
          <p:cNvPr id="16" name="Text 14"/>
          <p:cNvSpPr/>
          <p:nvPr/>
        </p:nvSpPr>
        <p:spPr>
          <a:xfrm>
            <a:off x="1356360" y="2103120"/>
            <a:ext cx="90487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ROUGE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172295" y="2103118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78DA9">
              <a:alpha val="20000"/>
            </a:srgbClr>
          </a:solidFill>
        </p:spPr>
      </p:sp>
      <p:sp>
        <p:nvSpPr>
          <p:cNvPr id="18" name="Text 16"/>
          <p:cNvSpPr/>
          <p:nvPr/>
        </p:nvSpPr>
        <p:spPr>
          <a:xfrm>
            <a:off x="2141815" y="2103118"/>
            <a:ext cx="6953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准确率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877145" y="2103118"/>
            <a:ext cx="485775" cy="266700"/>
          </a:xfrm>
          <a:custGeom>
            <a:avLst/>
            <a:gdLst/>
            <a:ahLst/>
            <a:cxnLst/>
            <a:rect l="l" t="t" r="r" b="b"/>
            <a:pathLst>
              <a:path w="485775" h="266700">
                <a:moveTo>
                  <a:pt x="133350" y="0"/>
                </a:moveTo>
                <a:lnTo>
                  <a:pt x="352425" y="0"/>
                </a:lnTo>
                <a:cubicBezTo>
                  <a:pt x="426023" y="0"/>
                  <a:pt x="485775" y="59752"/>
                  <a:pt x="485775" y="133350"/>
                </a:cubicBezTo>
                <a:lnTo>
                  <a:pt x="485775" y="133350"/>
                </a:lnTo>
                <a:cubicBezTo>
                  <a:pt x="485775" y="206948"/>
                  <a:pt x="426023" y="266700"/>
                  <a:pt x="3524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78DA9">
              <a:alpha val="20000"/>
            </a:srgbClr>
          </a:solidFill>
        </p:spPr>
      </p:sp>
      <p:sp>
        <p:nvSpPr>
          <p:cNvPr id="2" name="Text 18"/>
          <p:cNvSpPr/>
          <p:nvPr/>
        </p:nvSpPr>
        <p:spPr>
          <a:xfrm>
            <a:off x="2846665" y="2103118"/>
            <a:ext cx="55245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F1值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Shape 19"/>
          <p:cNvSpPr/>
          <p:nvPr/>
        </p:nvSpPr>
        <p:spPr>
          <a:xfrm>
            <a:off x="598170" y="2636518"/>
            <a:ext cx="4724400" cy="876300"/>
          </a:xfrm>
          <a:custGeom>
            <a:avLst/>
            <a:gdLst/>
            <a:ahLst/>
            <a:cxnLst/>
            <a:rect l="l" t="t" r="r" b="b"/>
            <a:pathLst>
              <a:path w="4724400" h="876300">
                <a:moveTo>
                  <a:pt x="38100" y="0"/>
                </a:moveTo>
                <a:lnTo>
                  <a:pt x="4648197" y="0"/>
                </a:lnTo>
                <a:cubicBezTo>
                  <a:pt x="4690283" y="0"/>
                  <a:pt x="4724400" y="34117"/>
                  <a:pt x="4724400" y="76203"/>
                </a:cubicBezTo>
                <a:lnTo>
                  <a:pt x="4724400" y="800097"/>
                </a:lnTo>
                <a:cubicBezTo>
                  <a:pt x="4724400" y="842183"/>
                  <a:pt x="4690283" y="876300"/>
                  <a:pt x="46481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45" name="Shape 20"/>
          <p:cNvSpPr/>
          <p:nvPr/>
        </p:nvSpPr>
        <p:spPr>
          <a:xfrm>
            <a:off x="598170" y="2636518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46" name="Shape 21"/>
          <p:cNvSpPr/>
          <p:nvPr/>
        </p:nvSpPr>
        <p:spPr>
          <a:xfrm>
            <a:off x="779145" y="2827018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66705" y="28902"/>
                </a:moveTo>
                <a:lnTo>
                  <a:pt x="66705" y="43666"/>
                </a:lnTo>
                <a:lnTo>
                  <a:pt x="66854" y="43815"/>
                </a:lnTo>
                <a:cubicBezTo>
                  <a:pt x="68788" y="19288"/>
                  <a:pt x="89297" y="0"/>
                  <a:pt x="114330" y="0"/>
                </a:cubicBezTo>
                <a:cubicBezTo>
                  <a:pt x="120313" y="0"/>
                  <a:pt x="126057" y="1101"/>
                  <a:pt x="131326" y="3125"/>
                </a:cubicBezTo>
                <a:cubicBezTo>
                  <a:pt x="134303" y="4256"/>
                  <a:pt x="134838" y="8037"/>
                  <a:pt x="132606" y="10299"/>
                </a:cubicBezTo>
                <a:lnTo>
                  <a:pt x="106204" y="36701"/>
                </a:lnTo>
                <a:cubicBezTo>
                  <a:pt x="105311" y="37594"/>
                  <a:pt x="104805" y="38814"/>
                  <a:pt x="104805" y="40065"/>
                </a:cubicBezTo>
                <a:lnTo>
                  <a:pt x="104805" y="52388"/>
                </a:lnTo>
                <a:cubicBezTo>
                  <a:pt x="104805" y="55007"/>
                  <a:pt x="106948" y="57150"/>
                  <a:pt x="109567" y="57150"/>
                </a:cubicBezTo>
                <a:lnTo>
                  <a:pt x="121890" y="57150"/>
                </a:lnTo>
                <a:cubicBezTo>
                  <a:pt x="123140" y="57150"/>
                  <a:pt x="124361" y="56644"/>
                  <a:pt x="125254" y="55751"/>
                </a:cubicBezTo>
                <a:lnTo>
                  <a:pt x="151656" y="29349"/>
                </a:lnTo>
                <a:cubicBezTo>
                  <a:pt x="153918" y="27087"/>
                  <a:pt x="157698" y="27652"/>
                  <a:pt x="158829" y="30629"/>
                </a:cubicBezTo>
                <a:cubicBezTo>
                  <a:pt x="160853" y="35897"/>
                  <a:pt x="161955" y="41642"/>
                  <a:pt x="161955" y="47625"/>
                </a:cubicBezTo>
                <a:cubicBezTo>
                  <a:pt x="161955" y="65663"/>
                  <a:pt x="151924" y="81379"/>
                  <a:pt x="137100" y="89446"/>
                </a:cubicBezTo>
                <a:lnTo>
                  <a:pt x="161359" y="113705"/>
                </a:lnTo>
                <a:cubicBezTo>
                  <a:pt x="166926" y="119271"/>
                  <a:pt x="166926" y="128320"/>
                  <a:pt x="161359" y="133916"/>
                </a:cubicBezTo>
                <a:lnTo>
                  <a:pt x="143470" y="151805"/>
                </a:lnTo>
                <a:cubicBezTo>
                  <a:pt x="137904" y="157371"/>
                  <a:pt x="128855" y="157371"/>
                  <a:pt x="123259" y="151805"/>
                </a:cubicBezTo>
                <a:lnTo>
                  <a:pt x="85755" y="114300"/>
                </a:lnTo>
                <a:cubicBezTo>
                  <a:pt x="77599" y="106144"/>
                  <a:pt x="75754" y="94089"/>
                  <a:pt x="80248" y="84147"/>
                </a:cubicBezTo>
                <a:lnTo>
                  <a:pt x="53251" y="57150"/>
                </a:lnTo>
                <a:lnTo>
                  <a:pt x="38487" y="57150"/>
                </a:lnTo>
                <a:cubicBezTo>
                  <a:pt x="35302" y="57150"/>
                  <a:pt x="32325" y="55572"/>
                  <a:pt x="30569" y="52923"/>
                </a:cubicBezTo>
                <a:lnTo>
                  <a:pt x="6965" y="17532"/>
                </a:lnTo>
                <a:cubicBezTo>
                  <a:pt x="5715" y="15657"/>
                  <a:pt x="5953" y="13127"/>
                  <a:pt x="7560" y="11519"/>
                </a:cubicBezTo>
                <a:lnTo>
                  <a:pt x="21074" y="-1994"/>
                </a:lnTo>
                <a:cubicBezTo>
                  <a:pt x="22681" y="-3602"/>
                  <a:pt x="25182" y="-3840"/>
                  <a:pt x="27087" y="-2590"/>
                </a:cubicBezTo>
                <a:lnTo>
                  <a:pt x="62478" y="20985"/>
                </a:lnTo>
                <a:cubicBezTo>
                  <a:pt x="65127" y="22741"/>
                  <a:pt x="66705" y="25718"/>
                  <a:pt x="66705" y="28902"/>
                </a:cubicBezTo>
                <a:close/>
                <a:moveTo>
                  <a:pt x="64175" y="88285"/>
                </a:moveTo>
                <a:cubicBezTo>
                  <a:pt x="62299" y="99298"/>
                  <a:pt x="64889" y="110936"/>
                  <a:pt x="72033" y="120253"/>
                </a:cubicBezTo>
                <a:lnTo>
                  <a:pt x="43755" y="148501"/>
                </a:lnTo>
                <a:cubicBezTo>
                  <a:pt x="35391" y="156865"/>
                  <a:pt x="21818" y="156865"/>
                  <a:pt x="13454" y="148501"/>
                </a:cubicBezTo>
                <a:cubicBezTo>
                  <a:pt x="5090" y="140137"/>
                  <a:pt x="5090" y="126563"/>
                  <a:pt x="13454" y="118199"/>
                </a:cubicBezTo>
                <a:lnTo>
                  <a:pt x="53757" y="77897"/>
                </a:lnTo>
                <a:lnTo>
                  <a:pt x="64175" y="88315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47" name="Text 22"/>
          <p:cNvSpPr/>
          <p:nvPr/>
        </p:nvSpPr>
        <p:spPr>
          <a:xfrm>
            <a:off x="1036320" y="2788920"/>
            <a:ext cx="166687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实用指标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48" name="Shape 23"/>
          <p:cNvSpPr/>
          <p:nvPr/>
        </p:nvSpPr>
        <p:spPr>
          <a:xfrm>
            <a:off x="769620" y="3093718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78DA9">
              <a:alpha val="20000"/>
            </a:srgbClr>
          </a:solidFill>
        </p:spPr>
      </p:sp>
      <p:sp>
        <p:nvSpPr>
          <p:cNvPr id="49" name="Text 24"/>
          <p:cNvSpPr/>
          <p:nvPr/>
        </p:nvSpPr>
        <p:spPr>
          <a:xfrm>
            <a:off x="769620" y="3093718"/>
            <a:ext cx="6953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流畅度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0" name="Shape 25"/>
          <p:cNvSpPr/>
          <p:nvPr/>
        </p:nvSpPr>
        <p:spPr>
          <a:xfrm>
            <a:off x="1474470" y="3093718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78DA9">
              <a:alpha val="20000"/>
            </a:srgbClr>
          </a:solidFill>
        </p:spPr>
      </p:sp>
      <p:sp>
        <p:nvSpPr>
          <p:cNvPr id="51" name="Text 26"/>
          <p:cNvSpPr/>
          <p:nvPr/>
        </p:nvSpPr>
        <p:spPr>
          <a:xfrm>
            <a:off x="1432560" y="3093720"/>
            <a:ext cx="105346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事实准确性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2" name="Shape 27"/>
          <p:cNvSpPr/>
          <p:nvPr/>
        </p:nvSpPr>
        <p:spPr>
          <a:xfrm>
            <a:off x="2446020" y="3093718"/>
            <a:ext cx="628650" cy="266700"/>
          </a:xfrm>
          <a:custGeom>
            <a:avLst/>
            <a:gdLst/>
            <a:ahLst/>
            <a:cxnLst/>
            <a:rect l="l" t="t" r="r" b="b"/>
            <a:pathLst>
              <a:path w="628650" h="266700">
                <a:moveTo>
                  <a:pt x="133350" y="0"/>
                </a:moveTo>
                <a:lnTo>
                  <a:pt x="495300" y="0"/>
                </a:lnTo>
                <a:cubicBezTo>
                  <a:pt x="568898" y="0"/>
                  <a:pt x="628650" y="59752"/>
                  <a:pt x="628650" y="133350"/>
                </a:cubicBezTo>
                <a:lnTo>
                  <a:pt x="628650" y="133350"/>
                </a:lnTo>
                <a:cubicBezTo>
                  <a:pt x="628650" y="206948"/>
                  <a:pt x="568898" y="266700"/>
                  <a:pt x="495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78DA9">
              <a:alpha val="20000"/>
            </a:srgbClr>
          </a:solidFill>
        </p:spPr>
      </p:sp>
      <p:sp>
        <p:nvSpPr>
          <p:cNvPr id="53" name="Text 28"/>
          <p:cNvSpPr/>
          <p:nvPr/>
        </p:nvSpPr>
        <p:spPr>
          <a:xfrm>
            <a:off x="2446020" y="3093718"/>
            <a:ext cx="695325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多样性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4" name="Shape 29"/>
          <p:cNvSpPr/>
          <p:nvPr/>
        </p:nvSpPr>
        <p:spPr>
          <a:xfrm>
            <a:off x="3150870" y="3093718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78DA9">
              <a:alpha val="20000"/>
            </a:srgbClr>
          </a:solidFill>
        </p:spPr>
      </p:sp>
      <p:sp>
        <p:nvSpPr>
          <p:cNvPr id="55" name="Text 30"/>
          <p:cNvSpPr/>
          <p:nvPr/>
        </p:nvSpPr>
        <p:spPr>
          <a:xfrm>
            <a:off x="3116580" y="3093720"/>
            <a:ext cx="89789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推理效率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56" name="Shape 31"/>
          <p:cNvSpPr/>
          <p:nvPr/>
        </p:nvSpPr>
        <p:spPr>
          <a:xfrm>
            <a:off x="598170" y="3627123"/>
            <a:ext cx="4724400" cy="876300"/>
          </a:xfrm>
          <a:custGeom>
            <a:avLst/>
            <a:gdLst/>
            <a:ahLst/>
            <a:cxnLst/>
            <a:rect l="l" t="t" r="r" b="b"/>
            <a:pathLst>
              <a:path w="4724400" h="876300">
                <a:moveTo>
                  <a:pt x="38100" y="0"/>
                </a:moveTo>
                <a:lnTo>
                  <a:pt x="4648197" y="0"/>
                </a:lnTo>
                <a:cubicBezTo>
                  <a:pt x="4690283" y="0"/>
                  <a:pt x="4724400" y="34117"/>
                  <a:pt x="4724400" y="76203"/>
                </a:cubicBezTo>
                <a:lnTo>
                  <a:pt x="4724400" y="800097"/>
                </a:lnTo>
                <a:cubicBezTo>
                  <a:pt x="4724400" y="842183"/>
                  <a:pt x="4690283" y="876300"/>
                  <a:pt x="4648197" y="876300"/>
                </a:cubicBez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57" name="Shape 32"/>
          <p:cNvSpPr/>
          <p:nvPr/>
        </p:nvSpPr>
        <p:spPr>
          <a:xfrm>
            <a:off x="598170" y="3627123"/>
            <a:ext cx="38100" cy="876300"/>
          </a:xfrm>
          <a:custGeom>
            <a:avLst/>
            <a:gdLst/>
            <a:ahLst/>
            <a:cxnLst/>
            <a:rect l="l" t="t" r="r" b="b"/>
            <a:pathLst>
              <a:path w="38100" h="876300">
                <a:moveTo>
                  <a:pt x="38100" y="0"/>
                </a:moveTo>
                <a:lnTo>
                  <a:pt x="38100" y="0"/>
                </a:lnTo>
                <a:lnTo>
                  <a:pt x="38100" y="876300"/>
                </a:lnTo>
                <a:lnTo>
                  <a:pt x="38100" y="876300"/>
                </a:lnTo>
                <a:cubicBezTo>
                  <a:pt x="17072" y="876300"/>
                  <a:pt x="0" y="859228"/>
                  <a:pt x="0" y="838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58" name="Shape 33"/>
          <p:cNvSpPr/>
          <p:nvPr/>
        </p:nvSpPr>
        <p:spPr>
          <a:xfrm>
            <a:off x="769620" y="3817623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95250" y="4763"/>
                </a:moveTo>
                <a:cubicBezTo>
                  <a:pt x="112335" y="4763"/>
                  <a:pt x="126206" y="18634"/>
                  <a:pt x="126206" y="35719"/>
                </a:cubicBezTo>
                <a:cubicBezTo>
                  <a:pt x="126206" y="52804"/>
                  <a:pt x="112335" y="66675"/>
                  <a:pt x="95250" y="66675"/>
                </a:cubicBezTo>
                <a:cubicBezTo>
                  <a:pt x="78165" y="66675"/>
                  <a:pt x="64294" y="52804"/>
                  <a:pt x="64294" y="35719"/>
                </a:cubicBezTo>
                <a:cubicBezTo>
                  <a:pt x="64294" y="18634"/>
                  <a:pt x="78165" y="4763"/>
                  <a:pt x="95250" y="4763"/>
                </a:cubicBezTo>
                <a:close/>
                <a:moveTo>
                  <a:pt x="28575" y="26194"/>
                </a:moveTo>
                <a:cubicBezTo>
                  <a:pt x="40403" y="26194"/>
                  <a:pt x="50006" y="35797"/>
                  <a:pt x="50006" y="47625"/>
                </a:cubicBezTo>
                <a:cubicBezTo>
                  <a:pt x="50006" y="59453"/>
                  <a:pt x="40403" y="69056"/>
                  <a:pt x="28575" y="69056"/>
                </a:cubicBezTo>
                <a:cubicBezTo>
                  <a:pt x="16747" y="69056"/>
                  <a:pt x="7144" y="59453"/>
                  <a:pt x="7144" y="47625"/>
                </a:cubicBezTo>
                <a:cubicBezTo>
                  <a:pt x="7144" y="35797"/>
                  <a:pt x="16747" y="26194"/>
                  <a:pt x="28575" y="26194"/>
                </a:cubicBezTo>
                <a:close/>
                <a:moveTo>
                  <a:pt x="0" y="123825"/>
                </a:moveTo>
                <a:cubicBezTo>
                  <a:pt x="0" y="102781"/>
                  <a:pt x="17056" y="85725"/>
                  <a:pt x="38100" y="85725"/>
                </a:cubicBezTo>
                <a:cubicBezTo>
                  <a:pt x="41910" y="85725"/>
                  <a:pt x="45601" y="86291"/>
                  <a:pt x="49084" y="87332"/>
                </a:cubicBezTo>
                <a:cubicBezTo>
                  <a:pt x="39291" y="98286"/>
                  <a:pt x="33338" y="112752"/>
                  <a:pt x="33338" y="128588"/>
                </a:cubicBezTo>
                <a:lnTo>
                  <a:pt x="33338" y="133350"/>
                </a:lnTo>
                <a:cubicBezTo>
                  <a:pt x="33338" y="136743"/>
                  <a:pt x="34052" y="139958"/>
                  <a:pt x="35332" y="142875"/>
                </a:cubicBezTo>
                <a:lnTo>
                  <a:pt x="9525" y="142875"/>
                </a:lnTo>
                <a:cubicBezTo>
                  <a:pt x="4256" y="142875"/>
                  <a:pt x="0" y="138619"/>
                  <a:pt x="0" y="133350"/>
                </a:cubicBezTo>
                <a:lnTo>
                  <a:pt x="0" y="123825"/>
                </a:lnTo>
                <a:close/>
                <a:moveTo>
                  <a:pt x="155168" y="142875"/>
                </a:moveTo>
                <a:cubicBezTo>
                  <a:pt x="156448" y="139958"/>
                  <a:pt x="157163" y="136743"/>
                  <a:pt x="157163" y="133350"/>
                </a:cubicBezTo>
                <a:lnTo>
                  <a:pt x="157163" y="128588"/>
                </a:lnTo>
                <a:cubicBezTo>
                  <a:pt x="157163" y="112752"/>
                  <a:pt x="151209" y="98286"/>
                  <a:pt x="141416" y="87332"/>
                </a:cubicBezTo>
                <a:cubicBezTo>
                  <a:pt x="144899" y="86291"/>
                  <a:pt x="148590" y="85725"/>
                  <a:pt x="152400" y="85725"/>
                </a:cubicBezTo>
                <a:cubicBezTo>
                  <a:pt x="173444" y="85725"/>
                  <a:pt x="190500" y="102781"/>
                  <a:pt x="190500" y="123825"/>
                </a:cubicBezTo>
                <a:lnTo>
                  <a:pt x="190500" y="133350"/>
                </a:lnTo>
                <a:cubicBezTo>
                  <a:pt x="190500" y="138619"/>
                  <a:pt x="186244" y="142875"/>
                  <a:pt x="180975" y="142875"/>
                </a:cubicBezTo>
                <a:lnTo>
                  <a:pt x="155168" y="142875"/>
                </a:lnTo>
                <a:close/>
                <a:moveTo>
                  <a:pt x="140494" y="47625"/>
                </a:moveTo>
                <a:cubicBezTo>
                  <a:pt x="140494" y="35797"/>
                  <a:pt x="150097" y="26194"/>
                  <a:pt x="161925" y="26194"/>
                </a:cubicBezTo>
                <a:cubicBezTo>
                  <a:pt x="173753" y="26194"/>
                  <a:pt x="183356" y="35797"/>
                  <a:pt x="183356" y="47625"/>
                </a:cubicBezTo>
                <a:cubicBezTo>
                  <a:pt x="183356" y="59453"/>
                  <a:pt x="173753" y="69056"/>
                  <a:pt x="161925" y="69056"/>
                </a:cubicBezTo>
                <a:cubicBezTo>
                  <a:pt x="150097" y="69056"/>
                  <a:pt x="140494" y="59453"/>
                  <a:pt x="140494" y="47625"/>
                </a:cubicBezTo>
                <a:close/>
                <a:moveTo>
                  <a:pt x="47625" y="128588"/>
                </a:moveTo>
                <a:cubicBezTo>
                  <a:pt x="47625" y="102275"/>
                  <a:pt x="68937" y="80962"/>
                  <a:pt x="95250" y="80962"/>
                </a:cubicBezTo>
                <a:cubicBezTo>
                  <a:pt x="121563" y="80962"/>
                  <a:pt x="142875" y="102275"/>
                  <a:pt x="142875" y="128588"/>
                </a:cubicBezTo>
                <a:lnTo>
                  <a:pt x="142875" y="133350"/>
                </a:lnTo>
                <a:cubicBezTo>
                  <a:pt x="142875" y="138619"/>
                  <a:pt x="138619" y="142875"/>
                  <a:pt x="133350" y="142875"/>
                </a:cubicBezTo>
                <a:lnTo>
                  <a:pt x="57150" y="142875"/>
                </a:lnTo>
                <a:cubicBezTo>
                  <a:pt x="51881" y="142875"/>
                  <a:pt x="47625" y="138619"/>
                  <a:pt x="47625" y="133350"/>
                </a:cubicBezTo>
                <a:lnTo>
                  <a:pt x="47625" y="128588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59" name="Text 34"/>
          <p:cNvSpPr/>
          <p:nvPr/>
        </p:nvSpPr>
        <p:spPr>
          <a:xfrm>
            <a:off x="1036320" y="3779520"/>
            <a:ext cx="2031365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用户体验指标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0" name="Shape 35"/>
          <p:cNvSpPr/>
          <p:nvPr/>
        </p:nvSpPr>
        <p:spPr>
          <a:xfrm>
            <a:off x="769620" y="4084323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78DA9">
              <a:alpha val="20000"/>
            </a:srgbClr>
          </a:solidFill>
        </p:spPr>
      </p:sp>
      <p:sp>
        <p:nvSpPr>
          <p:cNvPr id="61" name="Text 36"/>
          <p:cNvSpPr/>
          <p:nvPr/>
        </p:nvSpPr>
        <p:spPr>
          <a:xfrm>
            <a:off x="713740" y="4084320"/>
            <a:ext cx="106299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任务完成率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2" name="Shape 37"/>
          <p:cNvSpPr/>
          <p:nvPr/>
        </p:nvSpPr>
        <p:spPr>
          <a:xfrm>
            <a:off x="1741170" y="4084323"/>
            <a:ext cx="895350" cy="266700"/>
          </a:xfrm>
          <a:custGeom>
            <a:avLst/>
            <a:gdLst/>
            <a:ahLst/>
            <a:cxnLst/>
            <a:rect l="l" t="t" r="r" b="b"/>
            <a:pathLst>
              <a:path w="895350" h="266700">
                <a:moveTo>
                  <a:pt x="133350" y="0"/>
                </a:moveTo>
                <a:lnTo>
                  <a:pt x="762000" y="0"/>
                </a:lnTo>
                <a:cubicBezTo>
                  <a:pt x="835598" y="0"/>
                  <a:pt x="895350" y="59752"/>
                  <a:pt x="895350" y="133350"/>
                </a:cubicBezTo>
                <a:lnTo>
                  <a:pt x="895350" y="133350"/>
                </a:lnTo>
                <a:cubicBezTo>
                  <a:pt x="895350" y="206948"/>
                  <a:pt x="835598" y="266700"/>
                  <a:pt x="7620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778DA9">
              <a:alpha val="20000"/>
            </a:srgbClr>
          </a:solidFill>
        </p:spPr>
      </p:sp>
      <p:sp>
        <p:nvSpPr>
          <p:cNvPr id="63" name="Text 38"/>
          <p:cNvSpPr/>
          <p:nvPr/>
        </p:nvSpPr>
        <p:spPr>
          <a:xfrm>
            <a:off x="1685290" y="4084320"/>
            <a:ext cx="1071880" cy="266700"/>
          </a:xfrm>
          <a:prstGeom prst="rect">
            <a:avLst/>
          </a:prstGeom>
          <a:noFill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用户满意度</a:t>
            </a:r>
            <a:endParaRPr 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64" name="Shape 39"/>
          <p:cNvSpPr/>
          <p:nvPr/>
        </p:nvSpPr>
        <p:spPr>
          <a:xfrm>
            <a:off x="384810" y="5056111"/>
            <a:ext cx="5132070" cy="1417320"/>
          </a:xfrm>
          <a:custGeom>
            <a:avLst/>
            <a:gdLst/>
            <a:ahLst/>
            <a:cxnLst/>
            <a:rect l="l" t="t" r="r" b="b"/>
            <a:pathLst>
              <a:path w="5132070" h="1417320">
                <a:moveTo>
                  <a:pt x="114307" y="0"/>
                </a:moveTo>
                <a:lnTo>
                  <a:pt x="5017763" y="0"/>
                </a:lnTo>
                <a:cubicBezTo>
                  <a:pt x="5080851" y="0"/>
                  <a:pt x="5132070" y="51219"/>
                  <a:pt x="5132070" y="114307"/>
                </a:cubicBezTo>
                <a:lnTo>
                  <a:pt x="5132070" y="1303013"/>
                </a:lnTo>
                <a:cubicBezTo>
                  <a:pt x="5132070" y="1366101"/>
                  <a:pt x="5080851" y="1417320"/>
                  <a:pt x="5017763" y="1417320"/>
                </a:cubicBezTo>
                <a:lnTo>
                  <a:pt x="114307" y="1417320"/>
                </a:lnTo>
                <a:cubicBezTo>
                  <a:pt x="51219" y="1417320"/>
                  <a:pt x="0" y="1366101"/>
                  <a:pt x="0" y="130301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65" name="Shape 40"/>
          <p:cNvSpPr/>
          <p:nvPr/>
        </p:nvSpPr>
        <p:spPr>
          <a:xfrm>
            <a:off x="564832" y="5259944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21431" y="21431"/>
                </a:moveTo>
                <a:cubicBezTo>
                  <a:pt x="21431" y="15504"/>
                  <a:pt x="16643" y="10716"/>
                  <a:pt x="10716" y="10716"/>
                </a:cubicBezTo>
                <a:cubicBezTo>
                  <a:pt x="4789" y="10716"/>
                  <a:pt x="0" y="15504"/>
                  <a:pt x="0" y="21431"/>
                </a:cubicBezTo>
                <a:lnTo>
                  <a:pt x="0" y="133945"/>
                </a:lnTo>
                <a:cubicBezTo>
                  <a:pt x="0" y="148746"/>
                  <a:pt x="11988" y="160734"/>
                  <a:pt x="26789" y="160734"/>
                </a:cubicBezTo>
                <a:lnTo>
                  <a:pt x="160734" y="160734"/>
                </a:lnTo>
                <a:cubicBezTo>
                  <a:pt x="166661" y="160734"/>
                  <a:pt x="171450" y="155946"/>
                  <a:pt x="171450" y="150019"/>
                </a:cubicBezTo>
                <a:cubicBezTo>
                  <a:pt x="171450" y="144092"/>
                  <a:pt x="166661" y="139303"/>
                  <a:pt x="160734" y="139303"/>
                </a:cubicBezTo>
                <a:lnTo>
                  <a:pt x="26789" y="139303"/>
                </a:lnTo>
                <a:cubicBezTo>
                  <a:pt x="23842" y="139303"/>
                  <a:pt x="21431" y="136892"/>
                  <a:pt x="21431" y="133945"/>
                </a:cubicBezTo>
                <a:lnTo>
                  <a:pt x="21431" y="21431"/>
                </a:lnTo>
                <a:close/>
                <a:moveTo>
                  <a:pt x="157587" y="50430"/>
                </a:moveTo>
                <a:cubicBezTo>
                  <a:pt x="161772" y="46245"/>
                  <a:pt x="161772" y="39447"/>
                  <a:pt x="157587" y="35261"/>
                </a:cubicBezTo>
                <a:cubicBezTo>
                  <a:pt x="153401" y="31075"/>
                  <a:pt x="146603" y="31075"/>
                  <a:pt x="142417" y="35261"/>
                </a:cubicBezTo>
                <a:lnTo>
                  <a:pt x="107156" y="70556"/>
                </a:lnTo>
                <a:lnTo>
                  <a:pt x="87935" y="51368"/>
                </a:lnTo>
                <a:cubicBezTo>
                  <a:pt x="83749" y="47182"/>
                  <a:pt x="76952" y="47182"/>
                  <a:pt x="72766" y="51368"/>
                </a:cubicBezTo>
                <a:lnTo>
                  <a:pt x="40619" y="83515"/>
                </a:lnTo>
                <a:cubicBezTo>
                  <a:pt x="36433" y="87701"/>
                  <a:pt x="36433" y="94498"/>
                  <a:pt x="40619" y="98684"/>
                </a:cubicBezTo>
                <a:cubicBezTo>
                  <a:pt x="44805" y="102870"/>
                  <a:pt x="51602" y="102870"/>
                  <a:pt x="55788" y="98684"/>
                </a:cubicBezTo>
                <a:lnTo>
                  <a:pt x="80367" y="74105"/>
                </a:lnTo>
                <a:lnTo>
                  <a:pt x="99588" y="93326"/>
                </a:lnTo>
                <a:cubicBezTo>
                  <a:pt x="103774" y="97512"/>
                  <a:pt x="110572" y="97512"/>
                  <a:pt x="114758" y="93326"/>
                </a:cubicBezTo>
                <a:lnTo>
                  <a:pt x="157620" y="50464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66" name="Text 41"/>
          <p:cNvSpPr/>
          <p:nvPr/>
        </p:nvSpPr>
        <p:spPr>
          <a:xfrm>
            <a:off x="760095" y="5212319"/>
            <a:ext cx="468630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GPT-4典型指标表现</a:t>
            </a:r>
            <a:endParaRPr lang="en-US" sz="1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Shape 42"/>
          <p:cNvSpPr/>
          <p:nvPr/>
        </p:nvSpPr>
        <p:spPr>
          <a:xfrm>
            <a:off x="541020" y="5593319"/>
            <a:ext cx="1123950" cy="723900"/>
          </a:xfrm>
          <a:custGeom>
            <a:avLst/>
            <a:gdLst/>
            <a:ahLst/>
            <a:cxnLst/>
            <a:rect l="l" t="t" r="r" b="b"/>
            <a:pathLst>
              <a:path w="1123950" h="723900">
                <a:moveTo>
                  <a:pt x="76198" y="0"/>
                </a:moveTo>
                <a:lnTo>
                  <a:pt x="1047752" y="0"/>
                </a:lnTo>
                <a:cubicBezTo>
                  <a:pt x="1089807" y="0"/>
                  <a:pt x="1123950" y="34143"/>
                  <a:pt x="1123950" y="76198"/>
                </a:cubicBezTo>
                <a:lnTo>
                  <a:pt x="1123950" y="647702"/>
                </a:lnTo>
                <a:cubicBezTo>
                  <a:pt x="1123950" y="689757"/>
                  <a:pt x="1089807" y="723900"/>
                  <a:pt x="10477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68" name="Text 43"/>
          <p:cNvSpPr/>
          <p:nvPr/>
        </p:nvSpPr>
        <p:spPr>
          <a:xfrm>
            <a:off x="598170" y="5707619"/>
            <a:ext cx="1009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87.2%</a:t>
            </a:r>
            <a:endParaRPr 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69" name="Text 44"/>
          <p:cNvSpPr/>
          <p:nvPr/>
        </p:nvSpPr>
        <p:spPr>
          <a:xfrm>
            <a:off x="626745" y="6050398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问答准确率</a:t>
            </a:r>
            <a:endParaRPr 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0" name="Shape 45"/>
          <p:cNvSpPr/>
          <p:nvPr/>
        </p:nvSpPr>
        <p:spPr>
          <a:xfrm>
            <a:off x="1775460" y="5593319"/>
            <a:ext cx="1123950" cy="723900"/>
          </a:xfrm>
          <a:custGeom>
            <a:avLst/>
            <a:gdLst/>
            <a:ahLst/>
            <a:cxnLst/>
            <a:rect l="l" t="t" r="r" b="b"/>
            <a:pathLst>
              <a:path w="1123950" h="723900">
                <a:moveTo>
                  <a:pt x="76198" y="0"/>
                </a:moveTo>
                <a:lnTo>
                  <a:pt x="1047752" y="0"/>
                </a:lnTo>
                <a:cubicBezTo>
                  <a:pt x="1089807" y="0"/>
                  <a:pt x="1123950" y="34143"/>
                  <a:pt x="1123950" y="76198"/>
                </a:cubicBezTo>
                <a:lnTo>
                  <a:pt x="1123950" y="647702"/>
                </a:lnTo>
                <a:cubicBezTo>
                  <a:pt x="1123950" y="689757"/>
                  <a:pt x="1089807" y="723900"/>
                  <a:pt x="10477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1" name="Text 46"/>
          <p:cNvSpPr/>
          <p:nvPr/>
        </p:nvSpPr>
        <p:spPr>
          <a:xfrm>
            <a:off x="1832610" y="5707619"/>
            <a:ext cx="1009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&lt;10%</a:t>
            </a:r>
            <a:endParaRPr 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72" name="Text 47"/>
          <p:cNvSpPr/>
          <p:nvPr/>
        </p:nvSpPr>
        <p:spPr>
          <a:xfrm>
            <a:off x="1861185" y="6050398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幻觉率</a:t>
            </a:r>
            <a:endParaRPr 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3" name="Shape 48"/>
          <p:cNvSpPr/>
          <p:nvPr/>
        </p:nvSpPr>
        <p:spPr>
          <a:xfrm>
            <a:off x="3009900" y="5593319"/>
            <a:ext cx="1123950" cy="723900"/>
          </a:xfrm>
          <a:custGeom>
            <a:avLst/>
            <a:gdLst/>
            <a:ahLst/>
            <a:cxnLst/>
            <a:rect l="l" t="t" r="r" b="b"/>
            <a:pathLst>
              <a:path w="1123950" h="723900">
                <a:moveTo>
                  <a:pt x="76198" y="0"/>
                </a:moveTo>
                <a:lnTo>
                  <a:pt x="1047752" y="0"/>
                </a:lnTo>
                <a:cubicBezTo>
                  <a:pt x="1089807" y="0"/>
                  <a:pt x="1123950" y="34143"/>
                  <a:pt x="1123950" y="76198"/>
                </a:cubicBezTo>
                <a:lnTo>
                  <a:pt x="1123950" y="647702"/>
                </a:lnTo>
                <a:cubicBezTo>
                  <a:pt x="1123950" y="689757"/>
                  <a:pt x="1089807" y="723900"/>
                  <a:pt x="10477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4" name="Text 49"/>
          <p:cNvSpPr/>
          <p:nvPr/>
        </p:nvSpPr>
        <p:spPr>
          <a:xfrm>
            <a:off x="3067050" y="5707619"/>
            <a:ext cx="1009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70%</a:t>
            </a:r>
            <a:endParaRPr 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75" name="Text 50"/>
          <p:cNvSpPr/>
          <p:nvPr/>
        </p:nvSpPr>
        <p:spPr>
          <a:xfrm>
            <a:off x="3095625" y="6050398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翻译成功率</a:t>
            </a:r>
            <a:endParaRPr 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76" name="Shape 51"/>
          <p:cNvSpPr/>
          <p:nvPr/>
        </p:nvSpPr>
        <p:spPr>
          <a:xfrm>
            <a:off x="4244340" y="5593319"/>
            <a:ext cx="1123950" cy="723900"/>
          </a:xfrm>
          <a:custGeom>
            <a:avLst/>
            <a:gdLst/>
            <a:ahLst/>
            <a:cxnLst/>
            <a:rect l="l" t="t" r="r" b="b"/>
            <a:pathLst>
              <a:path w="1123950" h="723900">
                <a:moveTo>
                  <a:pt x="76198" y="0"/>
                </a:moveTo>
                <a:lnTo>
                  <a:pt x="1047752" y="0"/>
                </a:lnTo>
                <a:cubicBezTo>
                  <a:pt x="1089807" y="0"/>
                  <a:pt x="1123950" y="34143"/>
                  <a:pt x="1123950" y="76198"/>
                </a:cubicBezTo>
                <a:lnTo>
                  <a:pt x="1123950" y="647702"/>
                </a:lnTo>
                <a:cubicBezTo>
                  <a:pt x="1123950" y="689757"/>
                  <a:pt x="1089807" y="723900"/>
                  <a:pt x="1047752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77" name="Text 52"/>
          <p:cNvSpPr/>
          <p:nvPr/>
        </p:nvSpPr>
        <p:spPr>
          <a:xfrm>
            <a:off x="4301490" y="5707619"/>
            <a:ext cx="1009650" cy="304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Liter" panose="02000503030000020004" pitchFamily="34" charset="-120"/>
              </a:rPr>
              <a:t>24.22</a:t>
            </a:r>
            <a:endParaRPr 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Liter" panose="02000503030000020004" pitchFamily="34" charset="-120"/>
            </a:endParaRPr>
          </a:p>
        </p:txBody>
      </p:sp>
      <p:sp>
        <p:nvSpPr>
          <p:cNvPr id="78" name="Text 53"/>
          <p:cNvSpPr/>
          <p:nvPr/>
        </p:nvSpPr>
        <p:spPr>
          <a:xfrm>
            <a:off x="4330065" y="6050398"/>
            <a:ext cx="952500" cy="152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ROUGE分数</a:t>
            </a:r>
            <a:endParaRPr lang="en-US" sz="1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Shape 54"/>
          <p:cNvSpPr/>
          <p:nvPr/>
        </p:nvSpPr>
        <p:spPr>
          <a:xfrm>
            <a:off x="5718810" y="1032510"/>
            <a:ext cx="6084570" cy="5436870"/>
          </a:xfrm>
          <a:custGeom>
            <a:avLst/>
            <a:gdLst/>
            <a:ahLst/>
            <a:cxnLst/>
            <a:rect l="l" t="t" r="r" b="b"/>
            <a:pathLst>
              <a:path w="6084570" h="5436870">
                <a:moveTo>
                  <a:pt x="114283" y="0"/>
                </a:moveTo>
                <a:lnTo>
                  <a:pt x="5970287" y="0"/>
                </a:lnTo>
                <a:cubicBezTo>
                  <a:pt x="6033404" y="0"/>
                  <a:pt x="6084570" y="51166"/>
                  <a:pt x="6084570" y="114283"/>
                </a:cubicBezTo>
                <a:lnTo>
                  <a:pt x="6084570" y="5322587"/>
                </a:lnTo>
                <a:cubicBezTo>
                  <a:pt x="6084570" y="5385704"/>
                  <a:pt x="6033404" y="5436870"/>
                  <a:pt x="5970287" y="5436870"/>
                </a:cubicBezTo>
                <a:lnTo>
                  <a:pt x="114283" y="5436870"/>
                </a:lnTo>
                <a:cubicBezTo>
                  <a:pt x="51166" y="5436870"/>
                  <a:pt x="0" y="5385704"/>
                  <a:pt x="0" y="5322587"/>
                </a:cubicBezTo>
                <a:lnTo>
                  <a:pt x="0" y="114283"/>
                </a:lnTo>
                <a:cubicBezTo>
                  <a:pt x="0" y="51208"/>
                  <a:pt x="51208" y="0"/>
                  <a:pt x="114283" y="0"/>
                </a:cubicBezTo>
                <a:close/>
              </a:path>
            </a:pathLst>
          </a:custGeom>
          <a:noFill/>
          <a:ln w="10160">
            <a:solidFill>
              <a:srgbClr val="B10015"/>
            </a:solidFill>
            <a:prstDash val="solid"/>
          </a:ln>
        </p:spPr>
      </p:sp>
      <p:sp>
        <p:nvSpPr>
          <p:cNvPr id="80" name="Shape 55"/>
          <p:cNvSpPr/>
          <p:nvPr/>
        </p:nvSpPr>
        <p:spPr>
          <a:xfrm>
            <a:off x="5941695" y="1245868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1" name="Text 56"/>
          <p:cNvSpPr/>
          <p:nvPr/>
        </p:nvSpPr>
        <p:spPr>
          <a:xfrm>
            <a:off x="6313170" y="1226820"/>
            <a:ext cx="259397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多维度应用落地场景</a:t>
            </a:r>
            <a:endParaRPr lang="en-US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2" name="Shape 57"/>
          <p:cNvSpPr/>
          <p:nvPr/>
        </p:nvSpPr>
        <p:spPr>
          <a:xfrm>
            <a:off x="5932170" y="1645918"/>
            <a:ext cx="5676900" cy="1409700"/>
          </a:xfrm>
          <a:custGeom>
            <a:avLst/>
            <a:gdLst/>
            <a:ahLst/>
            <a:cxnLst/>
            <a:rect l="l" t="t" r="r" b="b"/>
            <a:pathLst>
              <a:path w="5676900" h="1409700">
                <a:moveTo>
                  <a:pt x="38100" y="0"/>
                </a:moveTo>
                <a:lnTo>
                  <a:pt x="5600706" y="0"/>
                </a:lnTo>
                <a:cubicBezTo>
                  <a:pt x="5642758" y="0"/>
                  <a:pt x="5676900" y="34142"/>
                  <a:pt x="5676900" y="76194"/>
                </a:cubicBezTo>
                <a:lnTo>
                  <a:pt x="5676900" y="1333506"/>
                </a:lnTo>
                <a:cubicBezTo>
                  <a:pt x="5676900" y="1375587"/>
                  <a:pt x="5642787" y="1409700"/>
                  <a:pt x="560070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83" name="Shape 58"/>
          <p:cNvSpPr/>
          <p:nvPr/>
        </p:nvSpPr>
        <p:spPr>
          <a:xfrm>
            <a:off x="5932170" y="1645918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4" name="Shape 59"/>
          <p:cNvSpPr/>
          <p:nvPr/>
        </p:nvSpPr>
        <p:spPr>
          <a:xfrm>
            <a:off x="6139339" y="1836418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85" name="Text 60"/>
          <p:cNvSpPr/>
          <p:nvPr/>
        </p:nvSpPr>
        <p:spPr>
          <a:xfrm>
            <a:off x="6456045" y="1798320"/>
            <a:ext cx="1238250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个人场景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86" name="Shape 61"/>
          <p:cNvSpPr/>
          <p:nvPr/>
        </p:nvSpPr>
        <p:spPr>
          <a:xfrm>
            <a:off x="6131004" y="22174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7" name="Text 62"/>
          <p:cNvSpPr/>
          <p:nvPr/>
        </p:nvSpPr>
        <p:spPr>
          <a:xfrm>
            <a:off x="6346190" y="2179320"/>
            <a:ext cx="463042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实时翻译助手：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支持100+语言的即时翻译，准确率达70%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Shape 63"/>
          <p:cNvSpPr/>
          <p:nvPr/>
        </p:nvSpPr>
        <p:spPr>
          <a:xfrm>
            <a:off x="6131004" y="24841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89" name="Text 64"/>
          <p:cNvSpPr/>
          <p:nvPr/>
        </p:nvSpPr>
        <p:spPr>
          <a:xfrm>
            <a:off x="6346190" y="2446020"/>
            <a:ext cx="462978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个性化学习答疑：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医疗考试准确率87.2%，超越医学生平均水平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Shape 65"/>
          <p:cNvSpPr/>
          <p:nvPr/>
        </p:nvSpPr>
        <p:spPr>
          <a:xfrm>
            <a:off x="6131004" y="2750818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1" name="Text 66"/>
          <p:cNvSpPr/>
          <p:nvPr/>
        </p:nvSpPr>
        <p:spPr>
          <a:xfrm>
            <a:off x="6346190" y="2712720"/>
            <a:ext cx="43878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智能写作辅助：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文本摘要ROUGE分数24.22，流畅度高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Shape 67"/>
          <p:cNvSpPr/>
          <p:nvPr/>
        </p:nvSpPr>
        <p:spPr>
          <a:xfrm>
            <a:off x="5932170" y="3169918"/>
            <a:ext cx="5676900" cy="1409700"/>
          </a:xfrm>
          <a:custGeom>
            <a:avLst/>
            <a:gdLst/>
            <a:ahLst/>
            <a:cxnLst/>
            <a:rect l="l" t="t" r="r" b="b"/>
            <a:pathLst>
              <a:path w="5676900" h="1409700">
                <a:moveTo>
                  <a:pt x="38100" y="0"/>
                </a:moveTo>
                <a:lnTo>
                  <a:pt x="5600706" y="0"/>
                </a:lnTo>
                <a:cubicBezTo>
                  <a:pt x="5642758" y="0"/>
                  <a:pt x="5676900" y="34142"/>
                  <a:pt x="5676900" y="76194"/>
                </a:cubicBezTo>
                <a:lnTo>
                  <a:pt x="5676900" y="1333506"/>
                </a:lnTo>
                <a:cubicBezTo>
                  <a:pt x="5676900" y="1375587"/>
                  <a:pt x="5642787" y="1409700"/>
                  <a:pt x="5600706" y="1409700"/>
                </a:cubicBez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93" name="Shape 68"/>
          <p:cNvSpPr/>
          <p:nvPr/>
        </p:nvSpPr>
        <p:spPr>
          <a:xfrm>
            <a:off x="5932170" y="3169918"/>
            <a:ext cx="38100" cy="1409700"/>
          </a:xfrm>
          <a:custGeom>
            <a:avLst/>
            <a:gdLst/>
            <a:ahLst/>
            <a:cxnLst/>
            <a:rect l="l" t="t" r="r" b="b"/>
            <a:pathLst>
              <a:path w="38100" h="1409700">
                <a:moveTo>
                  <a:pt x="38100" y="0"/>
                </a:moveTo>
                <a:lnTo>
                  <a:pt x="38100" y="0"/>
                </a:lnTo>
                <a:lnTo>
                  <a:pt x="38100" y="1409700"/>
                </a:lnTo>
                <a:lnTo>
                  <a:pt x="38100" y="1409700"/>
                </a:lnTo>
                <a:cubicBezTo>
                  <a:pt x="17072" y="1409700"/>
                  <a:pt x="0" y="1392628"/>
                  <a:pt x="0" y="1371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4" name="Shape 69"/>
          <p:cNvSpPr/>
          <p:nvPr/>
        </p:nvSpPr>
        <p:spPr>
          <a:xfrm>
            <a:off x="6151245" y="3360418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65484" y="130969"/>
                </a:moveTo>
                <a:lnTo>
                  <a:pt x="77391" y="130969"/>
                </a:lnTo>
                <a:cubicBezTo>
                  <a:pt x="83976" y="130969"/>
                  <a:pt x="89297" y="136289"/>
                  <a:pt x="89297" y="142875"/>
                </a:cubicBezTo>
                <a:lnTo>
                  <a:pt x="89297" y="172641"/>
                </a:lnTo>
                <a:lnTo>
                  <a:pt x="53578" y="172641"/>
                </a:lnTo>
                <a:lnTo>
                  <a:pt x="53578" y="142875"/>
                </a:lnTo>
                <a:cubicBezTo>
                  <a:pt x="53578" y="136289"/>
                  <a:pt x="58899" y="130969"/>
                  <a:pt x="65484" y="130969"/>
                </a:cubicBezTo>
                <a:close/>
                <a:moveTo>
                  <a:pt x="35719" y="41672"/>
                </a:moveTo>
                <a:cubicBezTo>
                  <a:pt x="35719" y="38398"/>
                  <a:pt x="38398" y="35719"/>
                  <a:pt x="41672" y="35719"/>
                </a:cubicBezTo>
                <a:lnTo>
                  <a:pt x="53578" y="35719"/>
                </a:lnTo>
                <a:cubicBezTo>
                  <a:pt x="56852" y="35719"/>
                  <a:pt x="59531" y="38398"/>
                  <a:pt x="59531" y="41672"/>
                </a:cubicBezTo>
                <a:lnTo>
                  <a:pt x="59531" y="53578"/>
                </a:lnTo>
                <a:cubicBezTo>
                  <a:pt x="59531" y="56852"/>
                  <a:pt x="56852" y="59531"/>
                  <a:pt x="53578" y="59531"/>
                </a:cubicBezTo>
                <a:lnTo>
                  <a:pt x="41672" y="59531"/>
                </a:lnTo>
                <a:cubicBezTo>
                  <a:pt x="38398" y="59531"/>
                  <a:pt x="35719" y="56852"/>
                  <a:pt x="35719" y="53578"/>
                </a:cubicBezTo>
                <a:lnTo>
                  <a:pt x="35719" y="41672"/>
                </a:lnTo>
                <a:close/>
                <a:moveTo>
                  <a:pt x="89297" y="35719"/>
                </a:moveTo>
                <a:lnTo>
                  <a:pt x="101203" y="35719"/>
                </a:lnTo>
                <a:cubicBezTo>
                  <a:pt x="104477" y="35719"/>
                  <a:pt x="107156" y="38398"/>
                  <a:pt x="107156" y="41672"/>
                </a:cubicBezTo>
                <a:lnTo>
                  <a:pt x="107156" y="53578"/>
                </a:lnTo>
                <a:cubicBezTo>
                  <a:pt x="107156" y="56852"/>
                  <a:pt x="104477" y="59531"/>
                  <a:pt x="101203" y="59531"/>
                </a:cubicBezTo>
                <a:lnTo>
                  <a:pt x="89297" y="59531"/>
                </a:lnTo>
                <a:cubicBezTo>
                  <a:pt x="86023" y="59531"/>
                  <a:pt x="83344" y="56852"/>
                  <a:pt x="83344" y="53578"/>
                </a:cubicBezTo>
                <a:lnTo>
                  <a:pt x="83344" y="41672"/>
                </a:lnTo>
                <a:cubicBezTo>
                  <a:pt x="83344" y="38398"/>
                  <a:pt x="86023" y="35719"/>
                  <a:pt x="89297" y="35719"/>
                </a:cubicBezTo>
                <a:close/>
                <a:moveTo>
                  <a:pt x="35719" y="89297"/>
                </a:moveTo>
                <a:cubicBezTo>
                  <a:pt x="35719" y="86023"/>
                  <a:pt x="38398" y="83344"/>
                  <a:pt x="41672" y="83344"/>
                </a:cubicBezTo>
                <a:lnTo>
                  <a:pt x="53578" y="83344"/>
                </a:lnTo>
                <a:cubicBezTo>
                  <a:pt x="56852" y="83344"/>
                  <a:pt x="59531" y="86023"/>
                  <a:pt x="59531" y="89297"/>
                </a:cubicBezTo>
                <a:lnTo>
                  <a:pt x="59531" y="101203"/>
                </a:lnTo>
                <a:cubicBezTo>
                  <a:pt x="59531" y="104477"/>
                  <a:pt x="56852" y="107156"/>
                  <a:pt x="53578" y="107156"/>
                </a:cubicBezTo>
                <a:lnTo>
                  <a:pt x="41672" y="107156"/>
                </a:lnTo>
                <a:cubicBezTo>
                  <a:pt x="38398" y="107156"/>
                  <a:pt x="35719" y="104477"/>
                  <a:pt x="35719" y="101203"/>
                </a:cubicBezTo>
                <a:lnTo>
                  <a:pt x="35719" y="89297"/>
                </a:lnTo>
                <a:close/>
                <a:moveTo>
                  <a:pt x="89297" y="83344"/>
                </a:moveTo>
                <a:lnTo>
                  <a:pt x="101203" y="83344"/>
                </a:lnTo>
                <a:cubicBezTo>
                  <a:pt x="104477" y="83344"/>
                  <a:pt x="107156" y="86023"/>
                  <a:pt x="107156" y="89297"/>
                </a:cubicBezTo>
                <a:lnTo>
                  <a:pt x="107156" y="101203"/>
                </a:lnTo>
                <a:cubicBezTo>
                  <a:pt x="107156" y="104477"/>
                  <a:pt x="104477" y="107156"/>
                  <a:pt x="101203" y="107156"/>
                </a:cubicBezTo>
                <a:lnTo>
                  <a:pt x="89297" y="107156"/>
                </a:lnTo>
                <a:cubicBezTo>
                  <a:pt x="86023" y="107156"/>
                  <a:pt x="83344" y="104477"/>
                  <a:pt x="83344" y="101203"/>
                </a:cubicBezTo>
                <a:lnTo>
                  <a:pt x="83344" y="89297"/>
                </a:lnTo>
                <a:cubicBezTo>
                  <a:pt x="83344" y="86023"/>
                  <a:pt x="86023" y="83344"/>
                  <a:pt x="89297" y="83344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5" name="Text 70"/>
          <p:cNvSpPr/>
          <p:nvPr/>
        </p:nvSpPr>
        <p:spPr>
          <a:xfrm>
            <a:off x="6456045" y="3322320"/>
            <a:ext cx="151320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企业场景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96" name="Shape 71"/>
          <p:cNvSpPr/>
          <p:nvPr/>
        </p:nvSpPr>
        <p:spPr>
          <a:xfrm>
            <a:off x="6131004" y="37414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7" name="Text 72"/>
          <p:cNvSpPr/>
          <p:nvPr/>
        </p:nvSpPr>
        <p:spPr>
          <a:xfrm>
            <a:off x="6346190" y="3703320"/>
            <a:ext cx="472122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跨境业务文档翻译：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WMT24基准测试顶尖水平，BLEU提升+5.0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Shape 73"/>
          <p:cNvSpPr/>
          <p:nvPr/>
        </p:nvSpPr>
        <p:spPr>
          <a:xfrm>
            <a:off x="6131004" y="40081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99" name="Text 74"/>
          <p:cNvSpPr/>
          <p:nvPr/>
        </p:nvSpPr>
        <p:spPr>
          <a:xfrm>
            <a:off x="6346190" y="3970020"/>
            <a:ext cx="503745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7x24小时智能客服：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意图识别精准，多轮对话记忆机制确保连贯性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Shape 75"/>
          <p:cNvSpPr/>
          <p:nvPr/>
        </p:nvSpPr>
        <p:spPr>
          <a:xfrm>
            <a:off x="6131004" y="42748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1" name="Text 76"/>
          <p:cNvSpPr/>
          <p:nvPr/>
        </p:nvSpPr>
        <p:spPr>
          <a:xfrm>
            <a:off x="6346190" y="4236720"/>
            <a:ext cx="444754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数据分析报告生成：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事实准确性高，幻觉率控制在10%以下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Shape 77"/>
          <p:cNvSpPr/>
          <p:nvPr/>
        </p:nvSpPr>
        <p:spPr>
          <a:xfrm>
            <a:off x="5932170" y="4693923"/>
            <a:ext cx="5676900" cy="1143000"/>
          </a:xfrm>
          <a:custGeom>
            <a:avLst/>
            <a:gdLst/>
            <a:ahLst/>
            <a:cxnLst/>
            <a:rect l="l" t="t" r="r" b="b"/>
            <a:pathLst>
              <a:path w="5676900" h="1143000">
                <a:moveTo>
                  <a:pt x="38100" y="0"/>
                </a:moveTo>
                <a:lnTo>
                  <a:pt x="5600696" y="0"/>
                </a:lnTo>
                <a:cubicBezTo>
                  <a:pt x="5642782" y="0"/>
                  <a:pt x="5676900" y="34118"/>
                  <a:pt x="5676900" y="76204"/>
                </a:cubicBezTo>
                <a:lnTo>
                  <a:pt x="5676900" y="1066796"/>
                </a:lnTo>
                <a:cubicBezTo>
                  <a:pt x="5676900" y="1108882"/>
                  <a:pt x="5642782" y="1143000"/>
                  <a:pt x="5600696" y="1143000"/>
                </a:cubicBez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noFill/>
          <a:ln>
            <a:solidFill>
              <a:srgbClr val="B10015"/>
            </a:solidFill>
          </a:ln>
        </p:spPr>
      </p:sp>
      <p:sp>
        <p:nvSpPr>
          <p:cNvPr id="103" name="Shape 78"/>
          <p:cNvSpPr/>
          <p:nvPr/>
        </p:nvSpPr>
        <p:spPr>
          <a:xfrm>
            <a:off x="5932170" y="4693923"/>
            <a:ext cx="38100" cy="1143000"/>
          </a:xfrm>
          <a:custGeom>
            <a:avLst/>
            <a:gdLst/>
            <a:ahLst/>
            <a:cxnLst/>
            <a:rect l="l" t="t" r="r" b="b"/>
            <a:pathLst>
              <a:path w="38100" h="1143000">
                <a:moveTo>
                  <a:pt x="38100" y="0"/>
                </a:moveTo>
                <a:lnTo>
                  <a:pt x="38100" y="0"/>
                </a:lnTo>
                <a:lnTo>
                  <a:pt x="38100" y="1143000"/>
                </a:lnTo>
                <a:lnTo>
                  <a:pt x="38100" y="1143000"/>
                </a:lnTo>
                <a:cubicBezTo>
                  <a:pt x="17072" y="1143000"/>
                  <a:pt x="0" y="1125928"/>
                  <a:pt x="0" y="1104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4" name="Shape 79"/>
          <p:cNvSpPr/>
          <p:nvPr/>
        </p:nvSpPr>
        <p:spPr>
          <a:xfrm>
            <a:off x="6127432" y="4884423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88813" y="1898"/>
                </a:moveTo>
                <a:cubicBezTo>
                  <a:pt x="92720" y="-633"/>
                  <a:pt x="97780" y="-633"/>
                  <a:pt x="101687" y="1898"/>
                </a:cubicBezTo>
                <a:lnTo>
                  <a:pt x="185031" y="55476"/>
                </a:lnTo>
                <a:cubicBezTo>
                  <a:pt x="189458" y="58341"/>
                  <a:pt x="191505" y="63773"/>
                  <a:pt x="190016" y="68833"/>
                </a:cubicBezTo>
                <a:cubicBezTo>
                  <a:pt x="188528" y="73893"/>
                  <a:pt x="183877" y="77391"/>
                  <a:pt x="178594" y="77391"/>
                </a:cubicBezTo>
                <a:lnTo>
                  <a:pt x="166688" y="77391"/>
                </a:lnTo>
                <a:lnTo>
                  <a:pt x="166688" y="154781"/>
                </a:lnTo>
                <a:lnTo>
                  <a:pt x="185738" y="169069"/>
                </a:lnTo>
                <a:cubicBezTo>
                  <a:pt x="188751" y="171301"/>
                  <a:pt x="190500" y="174836"/>
                  <a:pt x="190500" y="178594"/>
                </a:cubicBezTo>
                <a:cubicBezTo>
                  <a:pt x="190500" y="185179"/>
                  <a:pt x="185179" y="190500"/>
                  <a:pt x="178594" y="190500"/>
                </a:cubicBezTo>
                <a:lnTo>
                  <a:pt x="11906" y="190500"/>
                </a:lnTo>
                <a:cubicBezTo>
                  <a:pt x="5321" y="190500"/>
                  <a:pt x="0" y="185179"/>
                  <a:pt x="0" y="178594"/>
                </a:cubicBezTo>
                <a:cubicBezTo>
                  <a:pt x="0" y="174836"/>
                  <a:pt x="1749" y="171301"/>
                  <a:pt x="4763" y="169069"/>
                </a:cubicBezTo>
                <a:lnTo>
                  <a:pt x="23812" y="154781"/>
                </a:lnTo>
                <a:lnTo>
                  <a:pt x="23812" y="154781"/>
                </a:lnTo>
                <a:lnTo>
                  <a:pt x="23812" y="77391"/>
                </a:lnTo>
                <a:lnTo>
                  <a:pt x="11906" y="77391"/>
                </a:lnTo>
                <a:cubicBezTo>
                  <a:pt x="6623" y="77391"/>
                  <a:pt x="1972" y="73893"/>
                  <a:pt x="484" y="68833"/>
                </a:cubicBezTo>
                <a:cubicBezTo>
                  <a:pt x="-1005" y="63773"/>
                  <a:pt x="1042" y="58303"/>
                  <a:pt x="5469" y="55476"/>
                </a:cubicBezTo>
                <a:lnTo>
                  <a:pt x="88813" y="1898"/>
                </a:lnTo>
                <a:close/>
                <a:moveTo>
                  <a:pt x="125016" y="77391"/>
                </a:moveTo>
                <a:lnTo>
                  <a:pt x="125016" y="154781"/>
                </a:lnTo>
                <a:lnTo>
                  <a:pt x="148828" y="154781"/>
                </a:lnTo>
                <a:lnTo>
                  <a:pt x="148828" y="77391"/>
                </a:lnTo>
                <a:lnTo>
                  <a:pt x="125016" y="77391"/>
                </a:lnTo>
                <a:close/>
                <a:moveTo>
                  <a:pt x="83344" y="154781"/>
                </a:moveTo>
                <a:lnTo>
                  <a:pt x="107156" y="154781"/>
                </a:lnTo>
                <a:lnTo>
                  <a:pt x="107156" y="77391"/>
                </a:lnTo>
                <a:lnTo>
                  <a:pt x="83344" y="77391"/>
                </a:lnTo>
                <a:lnTo>
                  <a:pt x="83344" y="154781"/>
                </a:lnTo>
                <a:close/>
                <a:moveTo>
                  <a:pt x="41672" y="77391"/>
                </a:moveTo>
                <a:lnTo>
                  <a:pt x="41672" y="154781"/>
                </a:lnTo>
                <a:lnTo>
                  <a:pt x="65484" y="154781"/>
                </a:lnTo>
                <a:lnTo>
                  <a:pt x="65484" y="77391"/>
                </a:lnTo>
                <a:lnTo>
                  <a:pt x="41672" y="77391"/>
                </a:ln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5" name="Text 80"/>
          <p:cNvSpPr/>
          <p:nvPr/>
        </p:nvSpPr>
        <p:spPr>
          <a:xfrm>
            <a:off x="6456045" y="4846320"/>
            <a:ext cx="1398905" cy="266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公共服务场景</a:t>
            </a:r>
            <a:endParaRPr lang="en-US" sz="1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  <p:sp>
        <p:nvSpPr>
          <p:cNvPr id="106" name="Shape 81"/>
          <p:cNvSpPr/>
          <p:nvPr/>
        </p:nvSpPr>
        <p:spPr>
          <a:xfrm>
            <a:off x="6131004" y="52654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7" name="Text 82"/>
          <p:cNvSpPr/>
          <p:nvPr/>
        </p:nvSpPr>
        <p:spPr>
          <a:xfrm>
            <a:off x="6346190" y="5227320"/>
            <a:ext cx="4806315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多语言政务咨询：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支持低资源语言翻译，BLEU提升+40%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Shape 83"/>
          <p:cNvSpPr/>
          <p:nvPr/>
        </p:nvSpPr>
        <p:spPr>
          <a:xfrm>
            <a:off x="6131004" y="5532123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B10015"/>
          </a:solidFill>
        </p:spPr>
      </p:sp>
      <p:sp>
        <p:nvSpPr>
          <p:cNvPr id="109" name="Text 84"/>
          <p:cNvSpPr/>
          <p:nvPr/>
        </p:nvSpPr>
        <p:spPr>
          <a:xfrm>
            <a:off x="6346190" y="5494020"/>
            <a:ext cx="4806950" cy="1905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垂直领域知识库问答：</a:t>
            </a:r>
            <a:r>
              <a:rPr lang="en-US" sz="1200" dirty="0">
                <a:solidFill>
                  <a:schemeClr val="tx1">
                    <a:alpha val="9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MiSans" pitchFamily="34" charset="-120"/>
              </a:rPr>
              <a:t>医疗、法律等专业领域准确率显著提升</a:t>
            </a:r>
            <a:endParaRPr lang="en-US" sz="1200" dirty="0">
              <a:solidFill>
                <a:schemeClr val="tx1">
                  <a:alpha val="9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MiSans" pitchFamily="34" charset="-12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347472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核心挑战与未来展望</a:t>
            </a:r>
            <a:endParaRPr lang="zh-CN" altLang="en-US" sz="3035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762000" y="1295400"/>
            <a:ext cx="5080000" cy="4392000"/>
          </a:xfrm>
          <a:prstGeom prst="roundRect">
            <a:avLst>
              <a:gd name="adj" fmla="val 2777"/>
            </a:avLst>
          </a:prstGeom>
          <a:noFill/>
          <a:ln w="12700" cap="flat" cmpd="sng">
            <a:solidFill>
              <a:srgbClr val="B10015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5494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524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核心挑战 (Challenges)</a:t>
            </a:r>
            <a:endParaRPr lang="en-US" sz="2000" b="1" i="0" u="none" strike="noStrike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-9549">
            <a:off x="1016009" y="19875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892B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931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460500" y="206121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幻觉问题 (Hallucination)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460500" y="245110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生成内容与事实不符，缺乏可解释性，影响可信度。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086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0480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长文本生成效率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460500" y="343789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上下文窗口受限，处理超长文档时算力消耗大且连贯性差。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07289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403479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低资源场景适配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460500" y="4424680"/>
            <a:ext cx="4127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在小语种或特定垂直领域，数据稀缺导致模型效果不佳。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6350000" y="1295400"/>
            <a:ext cx="5080000" cy="4392000"/>
          </a:xfrm>
          <a:prstGeom prst="roundRect">
            <a:avLst>
              <a:gd name="adj" fmla="val 2777"/>
            </a:avLst>
          </a:prstGeom>
          <a:noFill/>
          <a:ln w="12700" cap="flat" cmpd="sng">
            <a:solidFill>
              <a:srgbClr val="B10015"/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04000" y="15494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48500" y="15240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1001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未来展望 (Future Outlook)</a:t>
            </a:r>
            <a:endParaRPr lang="en-US" sz="2000" b="1" i="0" u="none" strike="noStrike">
              <a:solidFill>
                <a:srgbClr val="B1001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-9549">
            <a:off x="6604009" y="19875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892B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" name="Picture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04000" y="209931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048500" y="206121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轻量化适配 (Lightweight)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7048500" y="245110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利用PEFT等技术降低部署门槛，实现边缘端高效推理。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04000" y="29591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048500" y="292100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多模态融合 (Multimodal)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7048500" y="331089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打破单一模态限制，实现文本、图像、音频的深度交互。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04000" y="381889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048500" y="378079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可控生成 (Controllability)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7048500" y="417068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增强对生成内容的粒度控制，确保符合预设的格式与逻辑。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04000" y="467868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048500" y="4640580"/>
            <a:ext cx="412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Noto Sans SC" panose="020B0200000000000000" charset="-122"/>
              </a:rPr>
              <a:t>幻觉根治与事实增强</a:t>
            </a:r>
            <a:endParaRPr lang="en-US" sz="2000" b="1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048500" y="5030470"/>
            <a:ext cx="41275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Noto Sans SC" panose="020B0200000000000000" charset="-122"/>
              </a:rPr>
              <a:t>结合检索增强生成(RAG)，提升模型输出的事实准确性。</a:t>
            </a:r>
            <a:endParaRPr lang="en-US" sz="1600" b="0" i="0" u="none" strike="noStrike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Noto Sans SC" panose="020B0200000000000000" charset="-122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761365" y="5801360"/>
            <a:ext cx="10669270" cy="874395"/>
          </a:xfrm>
          <a:custGeom>
            <a:avLst/>
            <a:gdLst/>
            <a:ahLst/>
            <a:cxnLst/>
            <a:rect l="l" t="t" r="r" b="b"/>
            <a:pathLst>
              <a:path w="11508703" h="756569">
                <a:moveTo>
                  <a:pt x="102243" y="0"/>
                </a:moveTo>
                <a:lnTo>
                  <a:pt x="11406460" y="0"/>
                </a:lnTo>
                <a:cubicBezTo>
                  <a:pt x="11462927" y="0"/>
                  <a:pt x="11508703" y="45776"/>
                  <a:pt x="11508703" y="102243"/>
                </a:cubicBezTo>
                <a:lnTo>
                  <a:pt x="11508703" y="654326"/>
                </a:lnTo>
                <a:cubicBezTo>
                  <a:pt x="11508703" y="710793"/>
                  <a:pt x="11462927" y="756569"/>
                  <a:pt x="11406460" y="756569"/>
                </a:cubicBezTo>
                <a:lnTo>
                  <a:pt x="102243" y="756569"/>
                </a:lnTo>
                <a:cubicBezTo>
                  <a:pt x="45776" y="756569"/>
                  <a:pt x="0" y="710793"/>
                  <a:pt x="0" y="654326"/>
                </a:cubicBezTo>
                <a:lnTo>
                  <a:pt x="0" y="102243"/>
                </a:lnTo>
                <a:cubicBezTo>
                  <a:pt x="0" y="45776"/>
                  <a:pt x="45776" y="0"/>
                  <a:pt x="102243" y="0"/>
                </a:cubicBezTo>
                <a:close/>
              </a:path>
            </a:pathLst>
          </a:custGeom>
          <a:solidFill>
            <a:srgbClr val="B10015"/>
          </a:solidFill>
          <a:ln w="10160">
            <a:solidFill>
              <a:srgbClr val="778DA9">
                <a:alpha val="30196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939747" y="5838459"/>
            <a:ext cx="10845853" cy="23855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GPT系列模型带来的革命性突破</a:t>
            </a:r>
            <a:endParaRPr 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939800" y="6191250"/>
            <a:ext cx="10397490" cy="350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从GPT-3到GPT-4，模型参数量从175B增长到1T+，问答准确率提升27.4%，幻觉率降低11%。文本生成任务正迎来前所未有的发展机遇，持续优化与创新将推动技术走向成熟</a:t>
            </a:r>
            <a:endParaRPr lang="en-US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文本框 3"/>
          <p:cNvSpPr txBox="1"/>
          <p:nvPr/>
        </p:nvSpPr>
        <p:spPr>
          <a:xfrm>
            <a:off x="387891" y="441479"/>
            <a:ext cx="773430" cy="467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lvl="0" algn="l" eaLnBrk="1" hangingPunct="1">
              <a:buClrTx/>
              <a:buSzTx/>
              <a:buFontTx/>
            </a:pPr>
            <a:r>
              <a:rPr lang="zh-CN" altLang="en-US" sz="3035" b="1" dirty="0">
                <a:solidFill>
                  <a:schemeClr val="tx1"/>
                </a:solidFill>
                <a:latin typeface="Microsoft Sans Serif" panose="020B0604020202020204" pitchFamily="34" charset="0"/>
                <a:ea typeface="微软雅黑" panose="020B0503020204020204" charset="-122"/>
                <a:cs typeface="+mn-ea"/>
                <a:sym typeface="Microsoft Sans Serif" panose="020B0604020202020204" pitchFamily="34" charset="0"/>
              </a:rPr>
              <a:t>总结</a:t>
            </a:r>
            <a:endParaRPr lang="zh-CN" altLang="en-US" sz="3035" b="1" dirty="0">
              <a:solidFill>
                <a:schemeClr val="tx1"/>
              </a:solidFill>
              <a:latin typeface="Microsoft Sans Serif" panose="020B0604020202020204" pitchFamily="34" charset="0"/>
              <a:ea typeface="微软雅黑" panose="020B0503020204020204" charset="-122"/>
              <a:cs typeface="+mn-ea"/>
              <a:sym typeface="Microsoft Sans Serif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1"/>
            </p:custDataLst>
          </p:nvPr>
        </p:nvSpPr>
        <p:spPr>
          <a:xfrm>
            <a:off x="1829493" y="1824641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" name="矩形: 单圆角 61"/>
          <p:cNvSpPr/>
          <p:nvPr>
            <p:custDataLst>
              <p:tags r:id="rId2"/>
            </p:custDataLst>
          </p:nvPr>
        </p:nvSpPr>
        <p:spPr>
          <a:xfrm>
            <a:off x="1045903" y="205186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045903" y="212875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2948192" y="1997996"/>
            <a:ext cx="79195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大模型训练采用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基座预训练</a:t>
            </a:r>
            <a:r>
              <a:rPr kumimoji="1" lang="en-US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任务微调</a:t>
            </a:r>
            <a:r>
              <a:rPr kumimoji="1" lang="en-US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→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落地适配</a:t>
            </a:r>
            <a:r>
              <a:rPr kumimoji="1" lang="en-US" altLang="zh-CN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三阶范式，核心是轻量化微调，降低成本。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829493" y="3534647"/>
            <a:ext cx="9316604" cy="12192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1" name="矩形: 单圆角 65"/>
          <p:cNvSpPr/>
          <p:nvPr>
            <p:custDataLst>
              <p:tags r:id="rId6"/>
            </p:custDataLst>
          </p:nvPr>
        </p:nvSpPr>
        <p:spPr>
          <a:xfrm>
            <a:off x="1045903" y="3744197"/>
            <a:ext cx="1427700" cy="800100"/>
          </a:xfrm>
          <a:prstGeom prst="round1Rect">
            <a:avLst/>
          </a:prstGeom>
          <a:solidFill>
            <a:srgbClr val="9B0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1045903" y="3821082"/>
            <a:ext cx="1231419" cy="646331"/>
          </a:xfrm>
          <a:prstGeom prst="rect">
            <a:avLst/>
          </a:prstGeom>
          <a:solidFill>
            <a:srgbClr val="9B0000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2948192" y="3639105"/>
            <a:ext cx="791959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indent="0" algn="l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预训练重点是选适配基座、用混合语料，夯实跨语言与知识基础，避免能力漂移。</a:t>
            </a:r>
            <a:endParaRPr kumimoji="1" lang="zh-CN" altLang="en-US" sz="20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" name="组合 1"/>
          <p:cNvGrpSpPr/>
          <p:nvPr>
            <p:custDataLst>
              <p:tags r:id="rId9"/>
            </p:custDataLst>
          </p:nvPr>
        </p:nvGrpSpPr>
        <p:grpSpPr>
          <a:xfrm>
            <a:off x="1045903" y="5197895"/>
            <a:ext cx="10100194" cy="1219200"/>
            <a:chOff x="1045903" y="5197895"/>
            <a:chExt cx="10100194" cy="1219200"/>
          </a:xfrm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829493" y="5197895"/>
              <a:ext cx="9316604" cy="1219200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5" name="矩形: 单圆角 69"/>
            <p:cNvSpPr/>
            <p:nvPr>
              <p:custDataLst>
                <p:tags r:id="rId11"/>
              </p:custDataLst>
            </p:nvPr>
          </p:nvSpPr>
          <p:spPr>
            <a:xfrm>
              <a:off x="1045903" y="5407445"/>
              <a:ext cx="1427700" cy="800100"/>
            </a:xfrm>
            <a:prstGeom prst="round1Rect">
              <a:avLst/>
            </a:prstGeom>
            <a:solidFill>
              <a:srgbClr val="9B00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ea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12"/>
              </p:custDataLst>
            </p:nvPr>
          </p:nvSpPr>
          <p:spPr>
            <a:xfrm>
              <a:off x="1045903" y="5484330"/>
              <a:ext cx="1231419" cy="646331"/>
            </a:xfrm>
            <a:prstGeom prst="rect">
              <a:avLst/>
            </a:prstGeom>
            <a:solidFill>
              <a:srgbClr val="9B0000"/>
            </a:solidFill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6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rPr>
                <a:t>03</a:t>
              </a:r>
              <a:endParaRPr kumimoji="0" lang="zh-CN" altLang="en-US" sz="3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3"/>
              </p:custDataLst>
            </p:nvPr>
          </p:nvSpPr>
          <p:spPr>
            <a:xfrm>
              <a:off x="2948192" y="5561750"/>
              <a:ext cx="7919595" cy="49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1" indent="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聚焦任务适配与幻觉抑制，贴合实际场景，保障训练效果落地。</a:t>
              </a:r>
              <a:endParaRPr kumimoji="1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TEMPLATE_TOPIC_ID" val="2869567"/>
  <p:tag name="KSO_WM_TEMPLATE_OUTLINE_ID" val="15"/>
  <p:tag name="KSO_WM_TEMPLATE_SCENE_ID" val="1"/>
  <p:tag name="KSO_WM_TEMPLATE_JOB_ID" val="2"/>
  <p:tag name="KSO_WM_TEMPLATE_TOPIC_DEFAULT" val="1"/>
</p:tagLst>
</file>

<file path=ppt/tags/tag73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74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75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76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77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78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79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80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81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82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83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84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85.xml><?xml version="1.0" encoding="utf-8"?>
<p:tagLst xmlns:p="http://schemas.openxmlformats.org/presentationml/2006/main">
  <p:tag name="KSO_WM_DIAGRAM_VIRTUALLY_FRAME" val="{&quot;height&quot;:361.6105511811023,&quot;left&quot;:82.35456692913385,&quot;top&quot;:143.6725196850394,&quot;width&quot;:795.2908661417322}"/>
</p:tagLst>
</file>

<file path=ppt/tags/tag86.xml><?xml version="1.0" encoding="utf-8"?>
<p:tagLst xmlns:p="http://schemas.openxmlformats.org/presentationml/2006/main">
  <p:tag name="COMMONDATA" val="eyJoZGlkIjoiMjVhODdiNDM4NzVmNGNiNWI5YjAyNzNmMzg1OGIwZTYifQ=="/>
  <p:tag name="RESOURCE_RECORD_KEY" val="{&quot;13&quot;:[20481688],&quot;8&quot;:[20470823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3891</Words>
  <Application>WPS 演示</Application>
  <PresentationFormat>宽屏</PresentationFormat>
  <Paragraphs>515</Paragraphs>
  <Slides>18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微软雅黑</vt:lpstr>
      <vt:lpstr>Microsoft Sans Serif</vt:lpstr>
      <vt:lpstr>汉仪旗黑-55简</vt:lpstr>
      <vt:lpstr>黑体</vt:lpstr>
      <vt:lpstr>MiSans</vt:lpstr>
      <vt:lpstr>MingLiU-ExtB</vt:lpstr>
      <vt:lpstr>Liter</vt:lpstr>
      <vt:lpstr>PMingLiU-ExtB</vt:lpstr>
      <vt:lpstr>Noto Sans SC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Sakura</cp:lastModifiedBy>
  <cp:revision>327</cp:revision>
  <dcterms:created xsi:type="dcterms:W3CDTF">2026-01-27T07:46:00Z</dcterms:created>
  <dcterms:modified xsi:type="dcterms:W3CDTF">2026-02-07T15:31:17Z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CBEC6BCBF0CB42BC95FA33E51FE1E3FE_13</vt:lpwstr>
  </property>
</Properties>
</file>