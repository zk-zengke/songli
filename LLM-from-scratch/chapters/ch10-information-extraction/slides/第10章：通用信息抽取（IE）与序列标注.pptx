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7" r:id="rId5"/>
    <p:sldId id="261" r:id="rId6"/>
    <p:sldId id="259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  <p:cmAuthor id="2" name="嘉莉 曾" initials="嘉莉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0303"/>
    <a:srgbClr val="AEB6BF"/>
    <a:srgbClr val="CCCCCC"/>
    <a:srgbClr val="B00303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47C757F0-AA23-46BE-9311-EA432CDEEAA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信息</a:t>
          </a:r>
          <a:r>
            <a:rPr lang="zh-CN" altLang="en-US" b="1"/>
            <a:t>抽取</a:t>
          </a:r>
          <a:r>
            <a:rPr lang="zh-CN" altLang="en-US" b="1"/>
            <a:t/>
          </a:r>
          <a:endParaRPr lang="zh-CN" altLang="en-US" b="1"/>
        </a:p>
      </dgm:t>
    </dgm:pt>
    <dgm:pt modelId="{AB39B06D-FE6C-48B2-B5B4-77CD0C8CF7AD}" cxnId="{C8F080DD-4B92-420B-9F6A-FF0C7D78B20B}" type="parTrans">
      <dgm:prSet/>
      <dgm:spPr/>
      <dgm:t>
        <a:bodyPr/>
        <a:p>
          <a:endParaRPr lang="zh-CN" altLang="en-US"/>
        </a:p>
      </dgm:t>
    </dgm:pt>
    <dgm:pt modelId="{DF0D1C21-B79E-4875-B7FA-EF183CB48B88}" cxnId="{C8F080DD-4B92-420B-9F6A-FF0C7D78B20B}" type="sibTrans">
      <dgm:prSet/>
      <dgm:spPr/>
      <dgm:t>
        <a:bodyPr/>
        <a:p>
          <a:endParaRPr lang="zh-CN" altLang="en-US"/>
        </a:p>
      </dgm:t>
    </dgm:pt>
    <dgm:pt modelId="{12714FC6-8B41-47E5-91DD-F02D34D23B9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命名</a:t>
          </a:r>
          <a:r>
            <a:rPr lang="zh-CN" altLang="en-US" b="1"/>
            <a:t>实体</a:t>
          </a:r>
          <a:r>
            <a:rPr lang="zh-CN" altLang="en-US" b="1"/>
            <a:t/>
          </a:r>
          <a:endParaRPr lang="zh-CN" altLang="en-US" b="1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识别</a:t>
          </a:r>
          <a:r>
            <a:rPr lang="zh-CN" altLang="en-US" b="1"/>
            <a:t/>
          </a:r>
          <a:endParaRPr lang="zh-CN" altLang="en-US" b="1"/>
        </a:p>
      </dgm:t>
    </dgm:pt>
    <dgm:pt modelId="{EACD17F5-D793-4A43-B489-D1804D50CFEF}" cxnId="{DC0B1EEE-3E17-4B6A-ADC0-25728F407AE7}" type="parTrans">
      <dgm:prSet/>
      <dgm:spPr/>
      <dgm:t>
        <a:bodyPr/>
        <a:p>
          <a:endParaRPr lang="zh-CN" altLang="en-US"/>
        </a:p>
      </dgm:t>
    </dgm:pt>
    <dgm:pt modelId="{FA45D93F-0724-4936-AA45-E6762732A19D}" cxnId="{DC0B1EEE-3E17-4B6A-ADC0-25728F407AE7}" type="sibTrans">
      <dgm:prSet/>
      <dgm:spPr/>
      <dgm:t>
        <a:bodyPr/>
        <a:p>
          <a:endParaRPr lang="zh-CN" altLang="en-US"/>
        </a:p>
      </dgm:t>
    </dgm:pt>
    <dgm:pt modelId="{4EC42421-831D-4CD3-8215-2AF4300F9C0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关系</a:t>
          </a:r>
          <a:r>
            <a:rPr lang="zh-CN" altLang="en-US" b="1"/>
            <a:t>抽取</a:t>
          </a:r>
          <a:r>
            <a:rPr lang="zh-CN" altLang="en-US" b="1"/>
            <a:t/>
          </a:r>
          <a:endParaRPr lang="zh-CN" altLang="en-US" b="1"/>
        </a:p>
      </dgm:t>
    </dgm:pt>
    <dgm:pt modelId="{8D5FB264-0A5C-4C3A-85B7-453D9BD837DF}" cxnId="{048178F4-3E5C-4502-AA6B-2A72283EF06E}" type="parTrans">
      <dgm:prSet/>
      <dgm:spPr/>
      <dgm:t>
        <a:bodyPr/>
        <a:p>
          <a:endParaRPr lang="zh-CN" altLang="en-US"/>
        </a:p>
      </dgm:t>
    </dgm:pt>
    <dgm:pt modelId="{A1825131-D805-48C8-BFCE-E45C02E6F5CE}" cxnId="{048178F4-3E5C-4502-AA6B-2A72283EF06E}" type="sibTrans">
      <dgm:prSet/>
      <dgm:spPr/>
      <dgm:t>
        <a:bodyPr/>
        <a:p>
          <a:endParaRPr lang="zh-CN" altLang="en-US"/>
        </a:p>
      </dgm:t>
    </dgm:pt>
    <dgm:pt modelId="{CF717C8A-B40B-4AFF-BF49-65ABB7DF8190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事件</a:t>
          </a:r>
          <a:r>
            <a:rPr lang="zh-CN" altLang="en-US" b="1"/>
            <a:t>抽取</a:t>
          </a:r>
          <a:r>
            <a:rPr lang="zh-CN" altLang="en-US" b="1"/>
            <a:t/>
          </a:r>
          <a:endParaRPr lang="zh-CN" altLang="en-US" b="1"/>
        </a:p>
      </dgm:t>
    </dgm:pt>
    <dgm:pt modelId="{CCF68ADE-40B6-47D0-93C1-88EC13ADC8AC}" cxnId="{7FCB65AF-E166-49A9-9FB8-742A40A426D7}" type="parTrans">
      <dgm:prSet/>
      <dgm:spPr/>
      <dgm:t>
        <a:bodyPr/>
        <a:p>
          <a:endParaRPr lang="zh-CN" altLang="en-US"/>
        </a:p>
      </dgm:t>
    </dgm:pt>
    <dgm:pt modelId="{630D3E0B-D1D7-4E1A-8193-515AA5E1866F}" cxnId="{7FCB65AF-E166-49A9-9FB8-742A40A426D7}" type="sibTrans">
      <dgm:prSet/>
      <dgm:spPr/>
      <dgm:t>
        <a:bodyPr/>
        <a:p>
          <a:endParaRPr lang="zh-CN" altLang="en-US"/>
        </a:p>
      </dgm:t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3"/>
      <dgm:spPr/>
    </dgm:pt>
    <dgm:pt modelId="{D6C5C065-A308-417C-8ECC-04FC2BEC646C}" type="pres">
      <dgm:prSet presAssocID="{12714FC6-8B41-47E5-91DD-F02D34D23B93}" presName="hierRoot2" presStyleCnt="0">
        <dgm:presLayoutVars>
          <dgm:hierBranch val="init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3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F492B679-3C8C-4E72-95A8-8B81298826E7}" type="pres">
      <dgm:prSet presAssocID="{8D5FB264-0A5C-4C3A-85B7-453D9BD837DF}" presName="Name37" presStyleLbl="parChTrans1D2" presStyleIdx="1" presStyleCnt="3"/>
      <dgm:spPr/>
    </dgm:pt>
    <dgm:pt modelId="{C6F584B9-7EA2-46D8-913B-8F508509ECAB}" type="pres">
      <dgm:prSet presAssocID="{4EC42421-831D-4CD3-8215-2AF4300F9C01}" presName="hierRoot2" presStyleCnt="0">
        <dgm:presLayoutVars>
          <dgm:hierBranch val="init"/>
        </dgm:presLayoutVars>
      </dgm:prSet>
      <dgm:spPr/>
    </dgm:pt>
    <dgm:pt modelId="{6CAD9CE6-86A1-4F7D-98A6-3AF53F55F9E3}" type="pres">
      <dgm:prSet presAssocID="{4EC42421-831D-4CD3-8215-2AF4300F9C01}" presName="rootComposite" presStyleCnt="0"/>
      <dgm:spPr/>
    </dgm:pt>
    <dgm:pt modelId="{08A0D1D2-3A20-4D63-8E35-B7C8B6B16D48}" type="pres">
      <dgm:prSet presAssocID="{4EC42421-831D-4CD3-8215-2AF4300F9C01}" presName="rootText" presStyleLbl="node2" presStyleIdx="1" presStyleCnt="3">
        <dgm:presLayoutVars>
          <dgm:chPref val="3"/>
        </dgm:presLayoutVars>
      </dgm:prSet>
      <dgm:spPr/>
    </dgm:pt>
    <dgm:pt modelId="{6238C53E-A961-488B-8FBD-6EC13507B069}" type="pres">
      <dgm:prSet presAssocID="{4EC42421-831D-4CD3-8215-2AF4300F9C01}" presName="rootConnector" presStyleCnt="0"/>
      <dgm:spPr/>
    </dgm:pt>
    <dgm:pt modelId="{A9C46FD3-3BE9-4E6E-BFF6-B0B42B13F857}" type="pres">
      <dgm:prSet presAssocID="{4EC42421-831D-4CD3-8215-2AF4300F9C01}" presName="hierChild4" presStyleCnt="0"/>
      <dgm:spPr/>
    </dgm:pt>
    <dgm:pt modelId="{A663BBFB-A120-4F5B-82EC-DB644DB9966B}" type="pres">
      <dgm:prSet presAssocID="{4EC42421-831D-4CD3-8215-2AF4300F9C01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2" presStyleCnt="3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2" presStyleCnt="3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</dgm:ptLst>
  <dgm:cxnLst>
    <dgm:cxn modelId="{C8F080DD-4B92-420B-9F6A-FF0C7D78B20B}" srcId="{A77D31B3-3808-4FBA-8FA4-CC8D448A173E}" destId="{47C757F0-AA23-46BE-9311-EA432CDEEAA1}" srcOrd="0" destOrd="0" parTransId="{AB39B06D-FE6C-48B2-B5B4-77CD0C8CF7AD}" sibTransId="{DF0D1C21-B79E-4875-B7FA-EF183CB48B88}"/>
    <dgm:cxn modelId="{DC0B1EEE-3E17-4B6A-ADC0-25728F407AE7}" srcId="{47C757F0-AA23-46BE-9311-EA432CDEEAA1}" destId="{12714FC6-8B41-47E5-91DD-F02D34D23B93}" srcOrd="0" destOrd="0" parTransId="{EACD17F5-D793-4A43-B489-D1804D50CFEF}" sibTransId="{FA45D93F-0724-4936-AA45-E6762732A19D}"/>
    <dgm:cxn modelId="{048178F4-3E5C-4502-AA6B-2A72283EF06E}" srcId="{47C757F0-AA23-46BE-9311-EA432CDEEAA1}" destId="{4EC42421-831D-4CD3-8215-2AF4300F9C01}" srcOrd="1" destOrd="0" parTransId="{8D5FB264-0A5C-4C3A-85B7-453D9BD837DF}" sibTransId="{A1825131-D805-48C8-BFCE-E45C02E6F5CE}"/>
    <dgm:cxn modelId="{7FCB65AF-E166-49A9-9FB8-742A40A426D7}" srcId="{47C757F0-AA23-46BE-9311-EA432CDEEAA1}" destId="{CF717C8A-B40B-4AFF-BF49-65ABB7DF8190}" srcOrd="2" destOrd="0" parTransId="{CCF68ADE-40B6-47D0-93C1-88EC13ADC8AC}" sibTransId="{630D3E0B-D1D7-4E1A-8193-515AA5E1866F}"/>
    <dgm:cxn modelId="{69B099D4-4AB6-4741-936C-ECDF1CBF82B1}" type="presOf" srcId="{A77D31B3-3808-4FBA-8FA4-CC8D448A173E}" destId="{E498DC9C-C5AC-4482-A26F-3B99DC5D79F0}" srcOrd="0" destOrd="0" presId="urn:microsoft.com/office/officeart/2005/8/layout/orgChart1"/>
    <dgm:cxn modelId="{69BC6A28-4D6D-4661-B2D6-05F75946CE57}" type="presParOf" srcId="{E498DC9C-C5AC-4482-A26F-3B99DC5D79F0}" destId="{F728C3E8-5128-4BB6-90CC-A86769ECE335}" srcOrd="0" destOrd="0" presId="urn:microsoft.com/office/officeart/2005/8/layout/orgChart1"/>
    <dgm:cxn modelId="{65B51216-71D5-4B6B-AA16-DDD8CC45D3E5}" type="presParOf" srcId="{F728C3E8-5128-4BB6-90CC-A86769ECE335}" destId="{79147750-B6BF-43FD-83A0-7ACDC9B53EFF}" srcOrd="0" destOrd="0" presId="urn:microsoft.com/office/officeart/2005/8/layout/orgChart1"/>
    <dgm:cxn modelId="{96FF4257-0FB2-4AAD-A0F1-02F219C82736}" type="presOf" srcId="{47C757F0-AA23-46BE-9311-EA432CDEEAA1}" destId="{79147750-B6BF-43FD-83A0-7ACDC9B53EFF}" srcOrd="0" destOrd="0" presId="urn:microsoft.com/office/officeart/2005/8/layout/orgChart1"/>
    <dgm:cxn modelId="{828D21A6-92E1-4B1F-9928-C2EBECEBD40E}" type="presParOf" srcId="{79147750-B6BF-43FD-83A0-7ACDC9B53EFF}" destId="{AE79172D-D441-42BB-84EA-E3D989670DED}" srcOrd="0" destOrd="0" presId="urn:microsoft.com/office/officeart/2005/8/layout/orgChart1"/>
    <dgm:cxn modelId="{8A80583E-C1DA-4513-8605-F2C9D9A8E81D}" type="presOf" srcId="{47C757F0-AA23-46BE-9311-EA432CDEEAA1}" destId="{AE79172D-D441-42BB-84EA-E3D989670DED}" srcOrd="0" destOrd="0" presId="urn:microsoft.com/office/officeart/2005/8/layout/orgChart1"/>
    <dgm:cxn modelId="{C63F1E9D-A6CD-4B14-B8ED-1CFFEFB0FBF3}" type="presParOf" srcId="{79147750-B6BF-43FD-83A0-7ACDC9B53EFF}" destId="{86420519-308D-4A6A-8FEA-6FB2E39BA448}" srcOrd="1" destOrd="0" presId="urn:microsoft.com/office/officeart/2005/8/layout/orgChart1"/>
    <dgm:cxn modelId="{E1FF5117-710A-47FB-A0D4-A6D46BD03DEE}" type="presOf" srcId="{47C757F0-AA23-46BE-9311-EA432CDEEAA1}" destId="{86420519-308D-4A6A-8FEA-6FB2E39BA448}" srcOrd="0" destOrd="0" presId="urn:microsoft.com/office/officeart/2005/8/layout/orgChart1"/>
    <dgm:cxn modelId="{C0D96FE7-1B95-4779-B6F9-D8AE346098CD}" type="presParOf" srcId="{F728C3E8-5128-4BB6-90CC-A86769ECE335}" destId="{9A0FF10C-81C7-47CD-A320-768F2009480B}" srcOrd="1" destOrd="0" presId="urn:microsoft.com/office/officeart/2005/8/layout/orgChart1"/>
    <dgm:cxn modelId="{BA5F6B20-130F-452C-B2FB-DA5F6F1FE432}" type="presParOf" srcId="{9A0FF10C-81C7-47CD-A320-768F2009480B}" destId="{6A259130-4455-44E0-969B-948D1249687E}" srcOrd="0" destOrd="1" presId="urn:microsoft.com/office/officeart/2005/8/layout/orgChart1"/>
    <dgm:cxn modelId="{CD41950A-BCE0-44E7-B91F-C67C751BC6B3}" type="presOf" srcId="{EACD17F5-D793-4A43-B489-D1804D50CFEF}" destId="{6A259130-4455-44E0-969B-948D1249687E}" srcOrd="0" destOrd="0" presId="urn:microsoft.com/office/officeart/2005/8/layout/orgChart1"/>
    <dgm:cxn modelId="{1F754870-E0B1-457D-BE7E-6B57F9C6562A}" type="presParOf" srcId="{9A0FF10C-81C7-47CD-A320-768F2009480B}" destId="{D6C5C065-A308-417C-8ECC-04FC2BEC646C}" srcOrd="1" destOrd="1" presId="urn:microsoft.com/office/officeart/2005/8/layout/orgChart1"/>
    <dgm:cxn modelId="{CE8F3AB8-ABD6-4AB3-BF6B-FFC854E4F69F}" type="presParOf" srcId="{D6C5C065-A308-417C-8ECC-04FC2BEC646C}" destId="{E36491EF-5019-46FD-BC82-1BD579B9EE0E}" srcOrd="0" destOrd="1" presId="urn:microsoft.com/office/officeart/2005/8/layout/orgChart1"/>
    <dgm:cxn modelId="{01016ABB-5717-446A-883D-9A069B944CAC}" type="presOf" srcId="{12714FC6-8B41-47E5-91DD-F02D34D23B93}" destId="{E36491EF-5019-46FD-BC82-1BD579B9EE0E}" srcOrd="0" destOrd="0" presId="urn:microsoft.com/office/officeart/2005/8/layout/orgChart1"/>
    <dgm:cxn modelId="{863613A0-87D9-4975-8F87-DC7389199460}" type="presParOf" srcId="{E36491EF-5019-46FD-BC82-1BD579B9EE0E}" destId="{43B7C837-49D6-40CE-BBAB-953D9E4BA7ED}" srcOrd="0" destOrd="0" presId="urn:microsoft.com/office/officeart/2005/8/layout/orgChart1"/>
    <dgm:cxn modelId="{C03327BF-C03C-4518-B3AF-28D86E885F65}" type="presOf" srcId="{12714FC6-8B41-47E5-91DD-F02D34D23B93}" destId="{43B7C837-49D6-40CE-BBAB-953D9E4BA7ED}" srcOrd="0" destOrd="0" presId="urn:microsoft.com/office/officeart/2005/8/layout/orgChart1"/>
    <dgm:cxn modelId="{F8D37B05-3FEA-4260-AE31-C491025689B0}" type="presParOf" srcId="{E36491EF-5019-46FD-BC82-1BD579B9EE0E}" destId="{9A037140-9B69-4B9F-A134-F2F2EB0F2E32}" srcOrd="1" destOrd="0" presId="urn:microsoft.com/office/officeart/2005/8/layout/orgChart1"/>
    <dgm:cxn modelId="{1A4D6DFA-6A2F-4192-A0EE-293544A4E7C7}" type="presOf" srcId="{12714FC6-8B41-47E5-91DD-F02D34D23B93}" destId="{9A037140-9B69-4B9F-A134-F2F2EB0F2E32}" srcOrd="0" destOrd="0" presId="urn:microsoft.com/office/officeart/2005/8/layout/orgChart1"/>
    <dgm:cxn modelId="{4CFE5461-9C10-4853-B463-F8436EE01F24}" type="presParOf" srcId="{D6C5C065-A308-417C-8ECC-04FC2BEC646C}" destId="{FA37AA5D-87C2-47F6-9B72-B753C073E744}" srcOrd="1" destOrd="1" presId="urn:microsoft.com/office/officeart/2005/8/layout/orgChart1"/>
    <dgm:cxn modelId="{1888B5D6-8001-4247-B6BD-FF2FADCB2854}" type="presParOf" srcId="{D6C5C065-A308-417C-8ECC-04FC2BEC646C}" destId="{A7309641-2A58-41EA-9E42-56812CF298ED}" srcOrd="2" destOrd="1" presId="urn:microsoft.com/office/officeart/2005/8/layout/orgChart1"/>
    <dgm:cxn modelId="{25162B88-B6A1-4BD1-8667-ACE14AD98A20}" type="presParOf" srcId="{9A0FF10C-81C7-47CD-A320-768F2009480B}" destId="{F492B679-3C8C-4E72-95A8-8B81298826E7}" srcOrd="2" destOrd="1" presId="urn:microsoft.com/office/officeart/2005/8/layout/orgChart1"/>
    <dgm:cxn modelId="{EB3CE052-3C15-46F5-967B-B697619F857A}" type="presOf" srcId="{8D5FB264-0A5C-4C3A-85B7-453D9BD837DF}" destId="{F492B679-3C8C-4E72-95A8-8B81298826E7}" srcOrd="0" destOrd="0" presId="urn:microsoft.com/office/officeart/2005/8/layout/orgChart1"/>
    <dgm:cxn modelId="{E584871F-4E8C-492E-85A4-7ED8149BAE29}" type="presParOf" srcId="{9A0FF10C-81C7-47CD-A320-768F2009480B}" destId="{C6F584B9-7EA2-46D8-913B-8F508509ECAB}" srcOrd="3" destOrd="1" presId="urn:microsoft.com/office/officeart/2005/8/layout/orgChart1"/>
    <dgm:cxn modelId="{E29E3BB1-B3A0-4ACB-B34B-8D7CE1109594}" type="presParOf" srcId="{C6F584B9-7EA2-46D8-913B-8F508509ECAB}" destId="{6CAD9CE6-86A1-4F7D-98A6-3AF53F55F9E3}" srcOrd="0" destOrd="3" presId="urn:microsoft.com/office/officeart/2005/8/layout/orgChart1"/>
    <dgm:cxn modelId="{E117C8D4-5015-45E3-ADFC-FC5AB0C27D3B}" type="presOf" srcId="{4EC42421-831D-4CD3-8215-2AF4300F9C01}" destId="{6CAD9CE6-86A1-4F7D-98A6-3AF53F55F9E3}" srcOrd="0" destOrd="0" presId="urn:microsoft.com/office/officeart/2005/8/layout/orgChart1"/>
    <dgm:cxn modelId="{2EA7B8D8-E9C9-4FB8-8145-EF43037B6BF3}" type="presParOf" srcId="{6CAD9CE6-86A1-4F7D-98A6-3AF53F55F9E3}" destId="{08A0D1D2-3A20-4D63-8E35-B7C8B6B16D48}" srcOrd="0" destOrd="0" presId="urn:microsoft.com/office/officeart/2005/8/layout/orgChart1"/>
    <dgm:cxn modelId="{C2509F71-4918-45C5-A205-19E0E3069296}" type="presOf" srcId="{4EC42421-831D-4CD3-8215-2AF4300F9C01}" destId="{08A0D1D2-3A20-4D63-8E35-B7C8B6B16D48}" srcOrd="0" destOrd="0" presId="urn:microsoft.com/office/officeart/2005/8/layout/orgChart1"/>
    <dgm:cxn modelId="{FC32DDC0-216E-406D-A816-F52B946F93AE}" type="presParOf" srcId="{6CAD9CE6-86A1-4F7D-98A6-3AF53F55F9E3}" destId="{6238C53E-A961-488B-8FBD-6EC13507B069}" srcOrd="1" destOrd="0" presId="urn:microsoft.com/office/officeart/2005/8/layout/orgChart1"/>
    <dgm:cxn modelId="{5121685E-AD1C-467E-8EEC-2D0B76FE165D}" type="presOf" srcId="{4EC42421-831D-4CD3-8215-2AF4300F9C01}" destId="{6238C53E-A961-488B-8FBD-6EC13507B069}" srcOrd="0" destOrd="0" presId="urn:microsoft.com/office/officeart/2005/8/layout/orgChart1"/>
    <dgm:cxn modelId="{3498EA65-9B26-4B48-B9DA-67D4D492B2AB}" type="presParOf" srcId="{C6F584B9-7EA2-46D8-913B-8F508509ECAB}" destId="{A9C46FD3-3BE9-4E6E-BFF6-B0B42B13F857}" srcOrd="1" destOrd="3" presId="urn:microsoft.com/office/officeart/2005/8/layout/orgChart1"/>
    <dgm:cxn modelId="{20FA9A2B-BE2A-4503-89D8-B41FC1F41E55}" type="presParOf" srcId="{C6F584B9-7EA2-46D8-913B-8F508509ECAB}" destId="{A663BBFB-A120-4F5B-82EC-DB644DB9966B}" srcOrd="2" destOrd="3" presId="urn:microsoft.com/office/officeart/2005/8/layout/orgChart1"/>
    <dgm:cxn modelId="{4A9EB141-6C49-4B03-9A30-E8053E64E95A}" type="presParOf" srcId="{9A0FF10C-81C7-47CD-A320-768F2009480B}" destId="{AB3A8128-6C86-49B7-B5CC-0153888815E5}" srcOrd="4" destOrd="1" presId="urn:microsoft.com/office/officeart/2005/8/layout/orgChart1"/>
    <dgm:cxn modelId="{F60B2326-50EB-4553-9079-52B05CAC9C51}" type="presOf" srcId="{CCF68ADE-40B6-47D0-93C1-88EC13ADC8AC}" destId="{AB3A8128-6C86-49B7-B5CC-0153888815E5}" srcOrd="0" destOrd="0" presId="urn:microsoft.com/office/officeart/2005/8/layout/orgChart1"/>
    <dgm:cxn modelId="{585EB711-6E67-442D-823D-488F5CF74CB6}" type="presParOf" srcId="{9A0FF10C-81C7-47CD-A320-768F2009480B}" destId="{1A917F9A-DDE6-4568-B35C-7FABCEF0A586}" srcOrd="5" destOrd="1" presId="urn:microsoft.com/office/officeart/2005/8/layout/orgChart1"/>
    <dgm:cxn modelId="{5E7C6407-40F2-449C-8810-C9B32603E4DD}" type="presParOf" srcId="{1A917F9A-DDE6-4568-B35C-7FABCEF0A586}" destId="{FA949B67-3DB7-47FA-97C9-4A653E762F22}" srcOrd="0" destOrd="5" presId="urn:microsoft.com/office/officeart/2005/8/layout/orgChart1"/>
    <dgm:cxn modelId="{CF568333-16C7-452D-ADA7-7D0C18141460}" type="presOf" srcId="{CF717C8A-B40B-4AFF-BF49-65ABB7DF8190}" destId="{FA949B67-3DB7-47FA-97C9-4A653E762F22}" srcOrd="0" destOrd="0" presId="urn:microsoft.com/office/officeart/2005/8/layout/orgChart1"/>
    <dgm:cxn modelId="{B2325A56-CBE3-42D8-A90F-2181C1DC3812}" type="presParOf" srcId="{FA949B67-3DB7-47FA-97C9-4A653E762F22}" destId="{7D64F4A3-0E55-47AC-A59B-9D5A9DC25552}" srcOrd="0" destOrd="0" presId="urn:microsoft.com/office/officeart/2005/8/layout/orgChart1"/>
    <dgm:cxn modelId="{66E1E097-B5B9-4CFD-9205-58754D5FCC02}" type="presOf" srcId="{CF717C8A-B40B-4AFF-BF49-65ABB7DF8190}" destId="{7D64F4A3-0E55-47AC-A59B-9D5A9DC25552}" srcOrd="0" destOrd="0" presId="urn:microsoft.com/office/officeart/2005/8/layout/orgChart1"/>
    <dgm:cxn modelId="{A79E7274-1C32-4659-A426-934074997CCC}" type="presParOf" srcId="{FA949B67-3DB7-47FA-97C9-4A653E762F22}" destId="{5667CB49-EC34-46BC-AD2D-72F3BD95D049}" srcOrd="1" destOrd="0" presId="urn:microsoft.com/office/officeart/2005/8/layout/orgChart1"/>
    <dgm:cxn modelId="{08669D36-8734-49CF-AE6D-C4FBA5943B0E}" type="presOf" srcId="{CF717C8A-B40B-4AFF-BF49-65ABB7DF8190}" destId="{5667CB49-EC34-46BC-AD2D-72F3BD95D049}" srcOrd="0" destOrd="0" presId="urn:microsoft.com/office/officeart/2005/8/layout/orgChart1"/>
    <dgm:cxn modelId="{06DAFD2A-BF55-42FB-8FF0-5DACB99AE1E4}" type="presParOf" srcId="{1A917F9A-DDE6-4568-B35C-7FABCEF0A586}" destId="{EB3A10DA-2FA4-4DAD-8341-8078D7F83716}" srcOrd="1" destOrd="5" presId="urn:microsoft.com/office/officeart/2005/8/layout/orgChart1"/>
    <dgm:cxn modelId="{925431AB-0533-4E65-A15A-F09793376F2E}" type="presParOf" srcId="{1A917F9A-DDE6-4568-B35C-7FABCEF0A586}" destId="{B05C5608-85C8-433E-A928-1755312B673B}" srcOrd="2" destOrd="5" presId="urn:microsoft.com/office/officeart/2005/8/layout/orgChart1"/>
    <dgm:cxn modelId="{7A6192CD-CCD5-4849-B87E-89329617233E}" type="presParOf" srcId="{F728C3E8-5128-4BB6-90CC-A86769ECE335}" destId="{0E819307-1B4E-434E-BA76-D5A4192B06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172075" cy="4027805"/>
        <a:chOff x="0" y="0"/>
        <a:chExt cx="5172075" cy="4027805"/>
      </a:xfrm>
    </dsp:grpSpPr>
    <dsp:sp modelId="{6A259130-4455-44E0-969B-948D1249687E}">
      <dsp:nvSpPr>
        <dsp:cNvPr id="5" name="任意多边形 4"/>
        <dsp:cNvSpPr/>
      </dsp:nvSpPr>
      <dsp:spPr bwMode="white">
        <a:xfrm>
          <a:off x="756151" y="1855111"/>
          <a:ext cx="1829886" cy="317584"/>
        </a:xfrm>
        <a:custGeom>
          <a:avLst/>
          <a:gdLst/>
          <a:ahLst/>
          <a:cxnLst/>
          <a:pathLst>
            <a:path w="2882" h="500">
              <a:moveTo>
                <a:pt x="2882" y="0"/>
              </a:moveTo>
              <a:lnTo>
                <a:pt x="2882" y="250"/>
              </a:lnTo>
              <a:lnTo>
                <a:pt x="0" y="250"/>
              </a:lnTo>
              <a:lnTo>
                <a:pt x="0" y="50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756151" y="1855111"/>
        <a:ext cx="1829886" cy="317584"/>
      </dsp:txXfrm>
    </dsp:sp>
    <dsp:sp modelId="{F492B679-3C8C-4E72-95A8-8B81298826E7}">
      <dsp:nvSpPr>
        <dsp:cNvPr id="8" name="任意多边形 7"/>
        <dsp:cNvSpPr/>
      </dsp:nvSpPr>
      <dsp:spPr bwMode="white">
        <a:xfrm>
          <a:off x="2586037" y="1855111"/>
          <a:ext cx="0" cy="317584"/>
        </a:xfrm>
        <a:custGeom>
          <a:avLst/>
          <a:gdLst/>
          <a:ahLst/>
          <a:cxnLst/>
          <a:pathLst>
            <a:path h="500">
              <a:moveTo>
                <a:pt x="0" y="0"/>
              </a:moveTo>
              <a:lnTo>
                <a:pt x="0" y="50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586037" y="1855111"/>
        <a:ext cx="0" cy="317584"/>
      </dsp:txXfrm>
    </dsp:sp>
    <dsp:sp modelId="{AB3A8128-6C86-49B7-B5CC-0153888815E5}">
      <dsp:nvSpPr>
        <dsp:cNvPr id="11" name="任意多边形 10"/>
        <dsp:cNvSpPr/>
      </dsp:nvSpPr>
      <dsp:spPr bwMode="white">
        <a:xfrm>
          <a:off x="2586037" y="1855111"/>
          <a:ext cx="1829886" cy="317584"/>
        </a:xfrm>
        <a:custGeom>
          <a:avLst/>
          <a:gdLst/>
          <a:ahLst/>
          <a:cxnLst/>
          <a:pathLst>
            <a:path w="2882" h="500">
              <a:moveTo>
                <a:pt x="0" y="0"/>
              </a:moveTo>
              <a:lnTo>
                <a:pt x="0" y="250"/>
              </a:lnTo>
              <a:lnTo>
                <a:pt x="2882" y="250"/>
              </a:lnTo>
              <a:lnTo>
                <a:pt x="2882" y="50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586037" y="1855111"/>
        <a:ext cx="1829886" cy="317584"/>
      </dsp:txXfrm>
    </dsp:sp>
    <dsp:sp modelId="{AE79172D-D441-42BB-84EA-E3D989670DED}">
      <dsp:nvSpPr>
        <dsp:cNvPr id="3" name="矩形 2"/>
        <dsp:cNvSpPr/>
      </dsp:nvSpPr>
      <dsp:spPr bwMode="white">
        <a:xfrm>
          <a:off x="1829886" y="1098959"/>
          <a:ext cx="1512303" cy="756151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信息</a:t>
          </a:r>
          <a:r>
            <a:rPr lang="zh-CN" altLang="en-US" b="1"/>
            <a:t>抽取</a:t>
          </a:r>
          <a:endParaRPr lang="zh-CN" altLang="en-US" b="1"/>
        </a:p>
      </dsp:txBody>
      <dsp:txXfrm>
        <a:off x="1829886" y="1098959"/>
        <a:ext cx="1512303" cy="756151"/>
      </dsp:txXfrm>
    </dsp:sp>
    <dsp:sp modelId="{43B7C837-49D6-40CE-BBAB-953D9E4BA7ED}">
      <dsp:nvSpPr>
        <dsp:cNvPr id="6" name="矩形 5"/>
        <dsp:cNvSpPr/>
      </dsp:nvSpPr>
      <dsp:spPr bwMode="white">
        <a:xfrm>
          <a:off x="0" y="2172694"/>
          <a:ext cx="1512303" cy="756151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命名</a:t>
          </a:r>
          <a:r>
            <a:rPr lang="zh-CN" altLang="en-US" b="1"/>
            <a:t>实体</a:t>
          </a:r>
          <a:endParaRPr lang="zh-CN" altLang="en-US" b="1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识别</a:t>
          </a:r>
          <a:endParaRPr lang="zh-CN" altLang="en-US" b="1"/>
        </a:p>
      </dsp:txBody>
      <dsp:txXfrm>
        <a:off x="0" y="2172694"/>
        <a:ext cx="1512303" cy="756151"/>
      </dsp:txXfrm>
    </dsp:sp>
    <dsp:sp modelId="{08A0D1D2-3A20-4D63-8E35-B7C8B6B16D48}">
      <dsp:nvSpPr>
        <dsp:cNvPr id="9" name="矩形 8"/>
        <dsp:cNvSpPr/>
      </dsp:nvSpPr>
      <dsp:spPr bwMode="white">
        <a:xfrm>
          <a:off x="1829886" y="2172694"/>
          <a:ext cx="1512303" cy="756151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关系</a:t>
          </a:r>
          <a:r>
            <a:rPr lang="zh-CN" altLang="en-US" b="1"/>
            <a:t>抽取</a:t>
          </a:r>
          <a:endParaRPr lang="zh-CN" altLang="en-US" b="1"/>
        </a:p>
      </dsp:txBody>
      <dsp:txXfrm>
        <a:off x="1829886" y="2172694"/>
        <a:ext cx="1512303" cy="756151"/>
      </dsp:txXfrm>
    </dsp:sp>
    <dsp:sp modelId="{7D64F4A3-0E55-47AC-A59B-9D5A9DC25552}">
      <dsp:nvSpPr>
        <dsp:cNvPr id="12" name="矩形 11"/>
        <dsp:cNvSpPr/>
      </dsp:nvSpPr>
      <dsp:spPr bwMode="white">
        <a:xfrm>
          <a:off x="3659772" y="2172694"/>
          <a:ext cx="1512303" cy="756151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/>
            <a:t>事件</a:t>
          </a:r>
          <a:r>
            <a:rPr lang="zh-CN" altLang="en-US" b="1"/>
            <a:t>抽取</a:t>
          </a:r>
          <a:endParaRPr lang="zh-CN" altLang="en-US" b="1"/>
        </a:p>
      </dsp:txBody>
      <dsp:txXfrm>
        <a:off x="3659772" y="2172694"/>
        <a:ext cx="1512303" cy="756151"/>
      </dsp:txXfrm>
    </dsp:sp>
    <dsp:sp modelId="{86420519-308D-4A6A-8FEA-6FB2E39BA448}">
      <dsp:nvSpPr>
        <dsp:cNvPr id="4" name="矩形 3" hidden="1"/>
        <dsp:cNvSpPr/>
      </dsp:nvSpPr>
      <dsp:spPr>
        <a:xfrm>
          <a:off x="1829886" y="1098959"/>
          <a:ext cx="302461" cy="756151"/>
        </a:xfrm>
        <a:prstGeom prst="rect">
          <a:avLst/>
        </a:prstGeom>
      </dsp:spPr>
      <dsp:txXfrm>
        <a:off x="1829886" y="1098959"/>
        <a:ext cx="302461" cy="756151"/>
      </dsp:txXfrm>
    </dsp:sp>
    <dsp:sp modelId="{9A037140-9B69-4B9F-A134-F2F2EB0F2E32}">
      <dsp:nvSpPr>
        <dsp:cNvPr id="7" name="矩形 6" hidden="1"/>
        <dsp:cNvSpPr/>
      </dsp:nvSpPr>
      <dsp:spPr>
        <a:xfrm>
          <a:off x="0" y="2172694"/>
          <a:ext cx="302461" cy="756151"/>
        </a:xfrm>
        <a:prstGeom prst="rect">
          <a:avLst/>
        </a:prstGeom>
      </dsp:spPr>
      <dsp:txXfrm>
        <a:off x="0" y="2172694"/>
        <a:ext cx="302461" cy="756151"/>
      </dsp:txXfrm>
    </dsp:sp>
    <dsp:sp modelId="{6238C53E-A961-488B-8FBD-6EC13507B069}">
      <dsp:nvSpPr>
        <dsp:cNvPr id="10" name="矩形 9" hidden="1"/>
        <dsp:cNvSpPr/>
      </dsp:nvSpPr>
      <dsp:spPr>
        <a:xfrm>
          <a:off x="1829886" y="2172694"/>
          <a:ext cx="302461" cy="756151"/>
        </a:xfrm>
        <a:prstGeom prst="rect">
          <a:avLst/>
        </a:prstGeom>
      </dsp:spPr>
      <dsp:txXfrm>
        <a:off x="1829886" y="2172694"/>
        <a:ext cx="302461" cy="756151"/>
      </dsp:txXfrm>
    </dsp:sp>
    <dsp:sp modelId="{5667CB49-EC34-46BC-AD2D-72F3BD95D049}">
      <dsp:nvSpPr>
        <dsp:cNvPr id="13" name="矩形 12" hidden="1"/>
        <dsp:cNvSpPr/>
      </dsp:nvSpPr>
      <dsp:spPr>
        <a:xfrm>
          <a:off x="3659772" y="2172694"/>
          <a:ext cx="302461" cy="756151"/>
        </a:xfrm>
        <a:prstGeom prst="rect">
          <a:avLst/>
        </a:prstGeom>
      </dsp:spPr>
      <dsp:txXfrm>
        <a:off x="3659772" y="2172694"/>
        <a:ext cx="302461" cy="7561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5.jpeg"/><Relationship Id="rId7" Type="http://schemas.openxmlformats.org/officeDocument/2006/relationships/tags" Target="../tags/tag68.xml"/><Relationship Id="rId6" Type="http://schemas.openxmlformats.org/officeDocument/2006/relationships/image" Target="../media/image4.jpe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72.xml"/><Relationship Id="rId13" Type="http://schemas.openxmlformats.org/officeDocument/2006/relationships/image" Target="../media/image2.jpeg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image" Target="../media/image8.png"/><Relationship Id="rId5" Type="http://schemas.openxmlformats.org/officeDocument/2006/relationships/tags" Target="../tags/tag76.xml"/><Relationship Id="rId4" Type="http://schemas.openxmlformats.org/officeDocument/2006/relationships/image" Target="../media/image7.png"/><Relationship Id="rId3" Type="http://schemas.openxmlformats.org/officeDocument/2006/relationships/tags" Target="../tags/tag75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85.xml"/><Relationship Id="rId20" Type="http://schemas.openxmlformats.org/officeDocument/2006/relationships/image" Target="../media/image14.png"/><Relationship Id="rId2" Type="http://schemas.openxmlformats.org/officeDocument/2006/relationships/tags" Target="../tags/tag74.xml"/><Relationship Id="rId19" Type="http://schemas.openxmlformats.org/officeDocument/2006/relationships/image" Target="../media/image13.png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image" Target="../media/image12.png"/><Relationship Id="rId15" Type="http://schemas.openxmlformats.org/officeDocument/2006/relationships/tags" Target="../tags/tag82.xml"/><Relationship Id="rId14" Type="http://schemas.openxmlformats.org/officeDocument/2006/relationships/image" Target="../media/image11.jpeg"/><Relationship Id="rId13" Type="http://schemas.openxmlformats.org/officeDocument/2006/relationships/tags" Target="../tags/tag81.xml"/><Relationship Id="rId12" Type="http://schemas.openxmlformats.org/officeDocument/2006/relationships/image" Target="../media/image10.png"/><Relationship Id="rId11" Type="http://schemas.openxmlformats.org/officeDocument/2006/relationships/tags" Target="../tags/tag80.xml"/><Relationship Id="rId10" Type="http://schemas.openxmlformats.org/officeDocument/2006/relationships/image" Target="../media/image9.png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tags" Target="../tags/tag8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7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emf"/><Relationship Id="rId2" Type="http://schemas.openxmlformats.org/officeDocument/2006/relationships/tags" Target="../tags/tag88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1" Type="http://schemas.openxmlformats.org/officeDocument/2006/relationships/tags" Target="../tags/tag8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4689552" y="-8702"/>
            <a:ext cx="2222069" cy="160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4688" y="-1072"/>
            <a:ext cx="2288484" cy="1605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67201" y="-2549"/>
            <a:ext cx="2299923" cy="1605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>
            <p:custDataLst>
              <p:tags r:id="rId11"/>
            </p:custDataLst>
          </p:nvPr>
        </p:nvSpPr>
        <p:spPr>
          <a:xfrm>
            <a:off x="-103035" y="3137841"/>
            <a:ext cx="12183571" cy="58229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第十章：通用信息抽取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(IE)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与序列标注</a:t>
            </a:r>
            <a:r>
              <a:rPr lang="en-US" altLang="zh-CN" sz="3035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endParaRPr lang="zh-CN" altLang="en-US" sz="3035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16510" y="4546600"/>
            <a:ext cx="12169140" cy="1522730"/>
          </a:xfrm>
          <a:prstGeom prst="rect">
            <a:avLst/>
          </a:prstGeom>
        </p:spPr>
        <p:txBody>
          <a:bodyPr wrap="square" lIns="91430" tIns="45715" rIns="91430" bIns="45715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zh-CN" altLang="en-US" sz="265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哈尔滨工业大学（深圳）计算与智能研究院</a:t>
            </a:r>
            <a:r>
              <a:rPr lang="zh-CN" altLang="en-US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zh-CN" altLang="en-US" b="1">
              <a:solidFill>
                <a:srgbClr val="9B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Lychee Lab</a:t>
            </a:r>
            <a:r>
              <a:rPr lang="zh-CN" altLang="en-US" b="1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endParaRPr lang="en-US" altLang="zh-CN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3"/>
          <a:srcRect t="36843" b="36463"/>
          <a:stretch>
            <a:fillRect/>
          </a:stretch>
        </p:blipFill>
        <p:spPr>
          <a:xfrm>
            <a:off x="9108440" y="1617980"/>
            <a:ext cx="3077210" cy="82169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216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目录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51610" y="1718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b="1"/>
              <a:t>信息抽取任务谱</a:t>
            </a:r>
            <a:r>
              <a:rPr lang="zh-CN" altLang="en-US" sz="1600" b="1"/>
              <a:t>系</a:t>
            </a:r>
            <a:endParaRPr lang="zh-CN" altLang="en-US" sz="1600" b="1"/>
          </a:p>
        </p:txBody>
      </p:sp>
      <p:sp>
        <p:nvSpPr>
          <p:cNvPr id="4" name="矩形 3"/>
          <p:cNvSpPr/>
          <p:nvPr/>
        </p:nvSpPr>
        <p:spPr>
          <a:xfrm>
            <a:off x="1160145" y="1756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1610" y="2099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b="1"/>
              <a:t>序列标注：</a:t>
            </a:r>
            <a:r>
              <a:rPr lang="en-US" altLang="zh-CN" sz="1600" b="1"/>
              <a:t>IE</a:t>
            </a:r>
            <a:r>
              <a:rPr lang="zh-CN" altLang="en-US" sz="1600" b="1"/>
              <a:t>的底层逻辑与经典</a:t>
            </a:r>
            <a:r>
              <a:rPr lang="zh-CN" altLang="en-US" sz="1600" b="1"/>
              <a:t>建模</a:t>
            </a:r>
            <a:endParaRPr lang="zh-CN" altLang="en-US" sz="1600" b="1"/>
          </a:p>
        </p:txBody>
      </p:sp>
      <p:sp>
        <p:nvSpPr>
          <p:cNvPr id="8" name="矩形 7"/>
          <p:cNvSpPr/>
          <p:nvPr/>
        </p:nvSpPr>
        <p:spPr>
          <a:xfrm>
            <a:off x="1160145" y="2137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1610" y="2480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b="1"/>
              <a:t>从序列标注到生成式</a:t>
            </a:r>
            <a:r>
              <a:rPr lang="en-US" altLang="zh-CN" sz="1600" b="1"/>
              <a:t>IE</a:t>
            </a:r>
            <a:endParaRPr lang="en-US" altLang="zh-CN" sz="1600" b="1"/>
          </a:p>
        </p:txBody>
      </p:sp>
      <p:sp>
        <p:nvSpPr>
          <p:cNvPr id="10" name="矩形 9"/>
          <p:cNvSpPr/>
          <p:nvPr/>
        </p:nvSpPr>
        <p:spPr>
          <a:xfrm>
            <a:off x="1160145" y="2518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216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目录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51610" y="1718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b="1"/>
              <a:t>信息抽取任务谱</a:t>
            </a:r>
            <a:r>
              <a:rPr lang="zh-CN" altLang="en-US" sz="1600" b="1"/>
              <a:t>系</a:t>
            </a:r>
            <a:endParaRPr lang="zh-CN" altLang="en-US" sz="1600" b="1"/>
          </a:p>
        </p:txBody>
      </p:sp>
      <p:sp>
        <p:nvSpPr>
          <p:cNvPr id="4" name="矩形 3"/>
          <p:cNvSpPr/>
          <p:nvPr/>
        </p:nvSpPr>
        <p:spPr>
          <a:xfrm>
            <a:off x="1160145" y="1756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1610" y="2099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b="1">
                <a:solidFill>
                  <a:schemeClr val="bg1">
                    <a:lumMod val="65000"/>
                  </a:schemeClr>
                </a:solidFill>
              </a:rPr>
              <a:t>序列标注：</a:t>
            </a:r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IE</a:t>
            </a:r>
            <a:r>
              <a:rPr lang="zh-CN" altLang="en-US" sz="1600" b="1">
                <a:solidFill>
                  <a:schemeClr val="bg1">
                    <a:lumMod val="65000"/>
                  </a:schemeClr>
                </a:solidFill>
              </a:rPr>
              <a:t>的底层逻辑与经典建模</a:t>
            </a:r>
            <a:endParaRPr lang="zh-CN" altLang="en-US" sz="16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60145" y="2137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1610" y="2480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b="1">
                <a:solidFill>
                  <a:schemeClr val="bg1">
                    <a:lumMod val="65000"/>
                  </a:schemeClr>
                </a:solidFill>
              </a:rPr>
              <a:t>从序列标注到生成式</a:t>
            </a:r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IE</a:t>
            </a:r>
            <a:endParaRPr lang="en-US" altLang="zh-CN" sz="16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60145" y="2518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7"/>
          <p:cNvSpPr/>
          <p:nvPr>
            <p:custDataLst>
              <p:tags r:id="rId1"/>
            </p:custDataLst>
          </p:nvPr>
        </p:nvSpPr>
        <p:spPr>
          <a:xfrm>
            <a:off x="7906385" y="1760855"/>
            <a:ext cx="3930650" cy="3455035"/>
          </a:xfrm>
          <a:prstGeom prst="roundRect">
            <a:avLst>
              <a:gd name="adj" fmla="val 4545"/>
            </a:avLst>
          </a:prstGeom>
          <a:ln w="254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"/>
          <p:cNvSpPr txBox="1"/>
          <p:nvPr/>
        </p:nvSpPr>
        <p:spPr>
          <a:xfrm>
            <a:off x="387891" y="441479"/>
            <a:ext cx="308864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什么是信息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抽取？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5" name="矩形: 圆角 7"/>
          <p:cNvSpPr/>
          <p:nvPr>
            <p:custDataLst>
              <p:tags r:id="rId2"/>
            </p:custDataLst>
          </p:nvPr>
        </p:nvSpPr>
        <p:spPr>
          <a:xfrm>
            <a:off x="184785" y="1760855"/>
            <a:ext cx="3930650" cy="3455035"/>
          </a:xfrm>
          <a:prstGeom prst="roundRect">
            <a:avLst>
              <a:gd name="adj" fmla="val 4545"/>
            </a:avLst>
          </a:prstGeom>
          <a:ln w="254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7040" y="3963035"/>
            <a:ext cx="1652905" cy="10750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99970" y="2762250"/>
            <a:ext cx="1624965" cy="96012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762000" y="1743075"/>
            <a:ext cx="2776855" cy="8299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p>
            <a:pPr marR="345440" lvl="0" algn="ctr">
              <a:spcAft>
                <a:spcPts val="0"/>
              </a:spcAft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真实世界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  <a:p>
            <a:pPr marR="345440" lvl="0" algn="ctr">
              <a:spcAft>
                <a:spcPts val="0"/>
              </a:spcAft>
              <a:buClrTx/>
              <a:buSzTx/>
              <a:buFontTx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非结构化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内容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45" name="文本框 44"/>
          <p:cNvSpPr txBox="1"/>
          <p:nvPr>
            <p:custDataLst>
              <p:tags r:id="rId8"/>
            </p:custDataLst>
          </p:nvPr>
        </p:nvSpPr>
        <p:spPr>
          <a:xfrm>
            <a:off x="496570" y="5243830"/>
            <a:ext cx="3308350" cy="13049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p>
            <a:pPr marR="345440" lvl="0" indent="0" algn="ctr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数据多样、场景复杂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  <a:p>
            <a:pPr marR="345440" lvl="0" indent="0" algn="ctr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多种模态相互交错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47040" y="2589530"/>
            <a:ext cx="1624965" cy="1222375"/>
          </a:xfrm>
          <a:prstGeom prst="rect">
            <a:avLst/>
          </a:prstGeom>
        </p:spPr>
      </p:pic>
      <p:pic>
        <p:nvPicPr>
          <p:cNvPr id="6" name="图片 5" descr="11.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247833" y="2485708"/>
            <a:ext cx="3526155" cy="1886585"/>
          </a:xfrm>
          <a:prstGeom prst="rect">
            <a:avLst/>
          </a:prstGeom>
        </p:spPr>
      </p:pic>
      <p:pic>
        <p:nvPicPr>
          <p:cNvPr id="7" name="picture 2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 rot="21600000">
            <a:off x="2258725" y="3911001"/>
            <a:ext cx="1623600" cy="1127091"/>
          </a:xfrm>
          <a:prstGeom prst="rect">
            <a:avLst/>
          </a:prstGeom>
        </p:spPr>
      </p:pic>
      <p:pic>
        <p:nvPicPr>
          <p:cNvPr id="9" name="图片 8" descr="11.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113395" y="1784985"/>
            <a:ext cx="752475" cy="78803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7"/>
            </p:custDataLst>
          </p:nvPr>
        </p:nvSpPr>
        <p:spPr>
          <a:xfrm>
            <a:off x="8527415" y="1725295"/>
            <a:ext cx="2776855" cy="8299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p>
            <a:pPr marR="345440" lvl="0" algn="ctr">
              <a:spcAft>
                <a:spcPts val="0"/>
              </a:spcAft>
              <a:buClrTx/>
              <a:buSzTx/>
              <a:buFontTx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计算机系统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  <a:p>
            <a:pPr marR="345440" lvl="0" algn="ctr">
              <a:spcAft>
                <a:spcPts val="0"/>
              </a:spcAft>
              <a:buClrTx/>
              <a:buSzTx/>
              <a:buFontTx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结构化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知识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r="41924"/>
          <a:stretch>
            <a:fillRect/>
          </a:stretch>
        </p:blipFill>
        <p:spPr>
          <a:xfrm flipH="1">
            <a:off x="11135995" y="1760855"/>
            <a:ext cx="488315" cy="6978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59725" y="2762250"/>
            <a:ext cx="3820160" cy="214185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8261350" y="5243830"/>
            <a:ext cx="3308350" cy="13049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p>
            <a:pPr marR="345440" lvl="0" indent="0" algn="ctr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结构化、语义化与机器可读性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115435" y="4417060"/>
            <a:ext cx="37826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kumimoji="1" lang="zh-CN" altLang="en-US" sz="1400" b="1" dirty="0">
                <a:solidFill>
                  <a:srgbClr val="B1000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从非结构化文本到结构化知识的桥梁</a:t>
            </a:r>
            <a:endParaRPr kumimoji="1" lang="zh-CN" altLang="en-US" sz="1400" b="1" dirty="0">
              <a:solidFill>
                <a:srgbClr val="B1000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308864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什么是信息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抽取？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87985" y="1183005"/>
            <a:ext cx="11390630" cy="3416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kumimoji="1"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信息抽取</a:t>
            </a:r>
            <a:r>
              <a:rPr kumimoji="1"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(lnformation Extraction,IE)</a:t>
            </a:r>
            <a:r>
              <a:rPr kumimoji="1"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是自然语言处理领域中的一项任务，旨在从文本中自动识别和提取特定类型的结构化信息例如实体、关系和事件等。</a:t>
            </a: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信息抽取任务广泛应用于</a:t>
            </a:r>
            <a:r>
              <a:rPr kumimoji="1"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信息检索</a:t>
            </a:r>
            <a:r>
              <a:rPr kumimoji="1"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知识图谱构建</a:t>
            </a:r>
            <a:r>
              <a:rPr kumimoji="1"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自然语言问答</a:t>
            </a:r>
            <a:r>
              <a:rPr kumimoji="1"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等领域。</a:t>
            </a: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6972935" y="1835150"/>
          <a:ext cx="5172075" cy="4027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87985" y="2139950"/>
            <a:ext cx="6633210" cy="3461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通常情况下，信息抽取任务包括</a:t>
            </a:r>
            <a:r>
              <a:rPr kumimoji="1"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命名实体识别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关系抽取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kumimoji="1"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事件抽取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三个子任务</a:t>
            </a:r>
            <a:r>
              <a:rPr kumimoji="1"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endParaRPr kumimoji="1"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kumimoji="1"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命名实体识别</a:t>
            </a:r>
            <a:r>
              <a:rPr kumimoji="1"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(NER)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：识别文本中具有特定含义的命名实体，如人名、地名、组织机构名等；</a:t>
            </a: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kumimoji="1"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关系抽取</a:t>
            </a:r>
            <a:r>
              <a:rPr kumimoji="1"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(RE)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：在文本中识别并提取实体之间的语义关系，如</a:t>
            </a:r>
            <a:r>
              <a:rPr kumimoji="1"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“X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kumimoji="1"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的父亲</a:t>
            </a:r>
            <a:r>
              <a:rPr kumimoji="1"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“X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kumimoji="1"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是夫妻关系</a:t>
            </a:r>
            <a:r>
              <a:rPr kumimoji="1"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等；</a:t>
            </a:r>
            <a:endParaRPr kumimoji="1"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kumimoji="1"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事件抽取</a:t>
            </a:r>
            <a:r>
              <a:rPr kumimoji="1"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(EE)</a:t>
            </a:r>
            <a:r>
              <a: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：从文本中抽取事件，并识别出事件的组成要素，如触发词、事件类型、参与者、时间等。</a:t>
            </a:r>
            <a:endParaRPr kumimoji="1"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1.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918" y="1400175"/>
            <a:ext cx="7009765" cy="3515360"/>
          </a:xfrm>
          <a:prstGeom prst="rect">
            <a:avLst/>
          </a:prstGeom>
        </p:spPr>
      </p:pic>
      <p:sp>
        <p:nvSpPr>
          <p:cNvPr id="39" name="文本框 3"/>
          <p:cNvSpPr txBox="1"/>
          <p:nvPr/>
        </p:nvSpPr>
        <p:spPr>
          <a:xfrm>
            <a:off x="387891" y="441479"/>
            <a:ext cx="231648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命名实体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识别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87985" y="1664970"/>
            <a:ext cx="5186045" cy="3416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kumimoji="1"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NER</a:t>
            </a:r>
            <a:r>
              <a:rPr kumimoji="1"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是指在给定的文本中，自动识别和分类出命名实体，即将文本中的实体识别出来，并将其分类为人名，组织机构，地名，时间、日期、货币、百分比等标准实体类型。</a:t>
            </a:r>
            <a:r>
              <a:rPr kumimoji="1"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NER</a:t>
            </a:r>
            <a:r>
              <a:rPr kumimoji="1"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可以应用于很多领域，比如信息提取、问答系统、机器翻译等，是自然语言处理中的重要任务之一。</a:t>
            </a:r>
            <a:endParaRPr kumimoji="1"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: 圆角 1094"/>
          <p:cNvSpPr/>
          <p:nvPr/>
        </p:nvSpPr>
        <p:spPr>
          <a:xfrm>
            <a:off x="5321935" y="4958080"/>
            <a:ext cx="6870065" cy="430530"/>
          </a:xfrm>
          <a:prstGeom prst="roundRect">
            <a:avLst>
              <a:gd name="adj" fmla="val 1988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2000" tIns="0" rIns="0" bIns="0" rtlCol="0" anchor="ctr"/>
          <a:p>
            <a:pPr algn="ctr">
              <a:lnSpc>
                <a:spcPct val="130000"/>
              </a:lnSpc>
              <a:buClr>
                <a:srgbClr val="9B0000"/>
              </a:buClr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命名实体识别主流算法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269" name="组合 4"/>
          <p:cNvGrpSpPr/>
          <p:nvPr/>
        </p:nvGrpSpPr>
        <p:grpSpPr>
          <a:xfrm>
            <a:off x="210820" y="4917440"/>
            <a:ext cx="6101080" cy="1200150"/>
            <a:chOff x="2133057" y="4644180"/>
            <a:chExt cx="7002379" cy="1055154"/>
          </a:xfrm>
          <a:solidFill>
            <a:schemeClr val="bg2"/>
          </a:solidFill>
        </p:grpSpPr>
        <p:sp>
          <p:nvSpPr>
            <p:cNvPr id="6" name="同侧圆角矩形 5"/>
            <p:cNvSpPr/>
            <p:nvPr/>
          </p:nvSpPr>
          <p:spPr>
            <a:xfrm>
              <a:off x="2133057" y="4644180"/>
              <a:ext cx="7002379" cy="288779"/>
            </a:xfrm>
            <a:prstGeom prst="round2SameRect">
              <a:avLst/>
            </a:prstGeom>
            <a:grpFill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文本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743861" y="4644180"/>
              <a:ext cx="1491038" cy="288779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实体</a:t>
              </a:r>
              <a:r>
                <a:rPr kumimoji="1" lang="en-US" altLang="zh-CN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2502643" y="5410555"/>
              <a:ext cx="1973475" cy="288779"/>
            </a:xfrm>
            <a:prstGeom prst="roundRect">
              <a:avLst/>
            </a:prstGeom>
            <a:solidFill>
              <a:srgbClr val="AEB6BF"/>
            </a:soli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规则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0" name="直线连接符 8"/>
            <p:cNvCxnSpPr/>
            <p:nvPr/>
          </p:nvCxnSpPr>
          <p:spPr>
            <a:xfrm>
              <a:off x="2743861" y="4932959"/>
              <a:ext cx="0" cy="477596"/>
            </a:xfrm>
            <a:prstGeom prst="line">
              <a:avLst/>
            </a:prstGeom>
            <a:grpFill/>
            <a:ln w="38100">
              <a:solidFill>
                <a:schemeClr val="dk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9"/>
            <p:cNvCxnSpPr/>
            <p:nvPr/>
          </p:nvCxnSpPr>
          <p:spPr>
            <a:xfrm>
              <a:off x="4201044" y="4932959"/>
              <a:ext cx="0" cy="477596"/>
            </a:xfrm>
            <a:prstGeom prst="line">
              <a:avLst/>
            </a:prstGeom>
            <a:grpFill/>
            <a:ln w="38100">
              <a:solidFill>
                <a:schemeClr val="dk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0"/>
            <p:cNvCxnSpPr/>
            <p:nvPr/>
          </p:nvCxnSpPr>
          <p:spPr>
            <a:xfrm>
              <a:off x="2973794" y="4932959"/>
              <a:ext cx="0" cy="477596"/>
            </a:xfrm>
            <a:prstGeom prst="line">
              <a:avLst/>
            </a:prstGeom>
            <a:grpFill/>
            <a:ln w="38100">
              <a:solidFill>
                <a:schemeClr val="dk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1"/>
            <p:cNvCxnSpPr/>
            <p:nvPr/>
          </p:nvCxnSpPr>
          <p:spPr>
            <a:xfrm>
              <a:off x="3220655" y="4932959"/>
              <a:ext cx="0" cy="477596"/>
            </a:xfrm>
            <a:prstGeom prst="line">
              <a:avLst/>
            </a:prstGeom>
            <a:grpFill/>
            <a:ln w="38100">
              <a:solidFill>
                <a:schemeClr val="dk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线连接符 12"/>
            <p:cNvCxnSpPr/>
            <p:nvPr/>
          </p:nvCxnSpPr>
          <p:spPr>
            <a:xfrm>
              <a:off x="3488675" y="4932959"/>
              <a:ext cx="0" cy="477596"/>
            </a:xfrm>
            <a:prstGeom prst="line">
              <a:avLst/>
            </a:prstGeom>
            <a:grpFill/>
            <a:ln w="38100">
              <a:solidFill>
                <a:schemeClr val="dk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13"/>
            <p:cNvCxnSpPr/>
            <p:nvPr/>
          </p:nvCxnSpPr>
          <p:spPr>
            <a:xfrm>
              <a:off x="3748231" y="4932959"/>
              <a:ext cx="0" cy="477596"/>
            </a:xfrm>
            <a:prstGeom prst="line">
              <a:avLst/>
            </a:prstGeom>
            <a:grpFill/>
            <a:ln w="38100">
              <a:solidFill>
                <a:schemeClr val="dk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连接符 14"/>
            <p:cNvCxnSpPr/>
            <p:nvPr/>
          </p:nvCxnSpPr>
          <p:spPr>
            <a:xfrm>
              <a:off x="3965469" y="4932959"/>
              <a:ext cx="0" cy="477596"/>
            </a:xfrm>
            <a:prstGeom prst="line">
              <a:avLst/>
            </a:prstGeom>
            <a:grpFill/>
            <a:ln w="38100">
              <a:solidFill>
                <a:schemeClr val="dk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1.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720" y="729615"/>
            <a:ext cx="7009200" cy="5279657"/>
          </a:xfrm>
          <a:prstGeom prst="rect">
            <a:avLst/>
          </a:prstGeom>
        </p:spPr>
      </p:pic>
      <p:sp>
        <p:nvSpPr>
          <p:cNvPr id="39" name="文本框 3"/>
          <p:cNvSpPr txBox="1"/>
          <p:nvPr/>
        </p:nvSpPr>
        <p:spPr>
          <a:xfrm>
            <a:off x="387891" y="441479"/>
            <a:ext cx="154432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关系抽取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87985" y="1402715"/>
            <a:ext cx="5362575" cy="3416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kumimoji="1"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关系抽取</a:t>
            </a:r>
            <a:r>
              <a:rPr kumimoji="1"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(Relation Extraction)</a:t>
            </a:r>
            <a:r>
              <a:rPr kumimoji="1"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是自然语言处理领域中的一项任务，其目标是从文本中抽取出实体之间的关系。</a:t>
            </a:r>
            <a:endParaRPr kumimoji="1"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在关系抽取任务中，通常需要先进行实体识别，即识别文本中的实体，并确定它们的类别。接着，需要对这些实体进行关系抽取，找出它们之间的关系类型和关系结构。</a:t>
            </a:r>
            <a:endParaRPr kumimoji="1"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: 圆角 1094"/>
          <p:cNvSpPr/>
          <p:nvPr/>
        </p:nvSpPr>
        <p:spPr>
          <a:xfrm>
            <a:off x="5468620" y="5933440"/>
            <a:ext cx="6870065" cy="430530"/>
          </a:xfrm>
          <a:prstGeom prst="roundRect">
            <a:avLst>
              <a:gd name="adj" fmla="val 1988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2000" tIns="0" rIns="0" bIns="0" rtlCol="0" anchor="ctr"/>
          <a:p>
            <a:pPr algn="ctr">
              <a:lnSpc>
                <a:spcPct val="130000"/>
              </a:lnSpc>
              <a:buClr>
                <a:srgbClr val="9B0000"/>
              </a:buClr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关系抽取主流算法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58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5" y="4148455"/>
            <a:ext cx="5299075" cy="25768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154432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事件抽取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122045"/>
            <a:ext cx="8893175" cy="1802130"/>
          </a:xfrm>
        </p:spPr>
        <p:txBody>
          <a:bodyPr vert="horz" wrap="square" lIns="91440" tIns="45720" rIns="91440" bIns="45720" anchor="t" anchorCtr="0"/>
          <a:p>
            <a:pPr marL="0" lvl="1" algn="l" defTabSz="914400">
              <a:lnSpc>
                <a:spcPct val="150000"/>
              </a:lnSpc>
              <a:spcBef>
                <a:spcPts val="690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z="180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事件抽取是信息抽取中的难点问题</a:t>
            </a:r>
            <a:endParaRPr kumimoji="1" lang="zh-CN" altLang="en-US" sz="1800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" lvl="1" indent="-285750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Char char="p"/>
            </a:pPr>
            <a:r>
              <a:rPr kumimoji="1" lang="zh-CN" altLang="en-US" sz="180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事件抽取依赖实体抽取和关系抽取</a:t>
            </a:r>
            <a:endParaRPr kumimoji="1" lang="zh-CN" altLang="en-US" sz="1800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" lvl="1" indent="-28575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Char char="p"/>
            </a:pPr>
            <a:r>
              <a:rPr kumimoji="1" lang="zh-CN" altLang="en-US" sz="180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相较于实体抽取和关系抽取，事件抽取难度更大</a:t>
            </a:r>
            <a:endParaRPr kumimoji="1" lang="zh-CN" altLang="en-US" sz="1800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8455" indent="-327025" algn="just" defTabSz="914400" eaLnBrk="1" hangingPunct="1">
              <a:buFont typeface="Wingdings" panose="05000000000000000000" pitchFamily="2" charset="2"/>
              <a:buChar char="§"/>
              <a:tabLst>
                <a:tab pos="339725" algn="l"/>
              </a:tabLst>
            </a:pPr>
            <a:endParaRPr lang="zh-CN" altLang="en-US" sz="2600" b="1" dirty="0">
              <a:latin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698750" y="5036820"/>
            <a:ext cx="6794500" cy="1170305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     </a:t>
            </a: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1992 </a:t>
            </a:r>
            <a:r>
              <a:rPr kumimoji="1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 </a:t>
            </a:r>
            <a:r>
              <a:rPr kumimoji="1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 </a:t>
            </a:r>
            <a:r>
              <a:rPr kumimoji="1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日，奥巴马</a:t>
            </a:r>
            <a:r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米歇尔</a:t>
            </a:r>
            <a:r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三一联合基督教堂</a:t>
            </a:r>
            <a:r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结婚</a:t>
            </a:r>
            <a:endParaRPr kumimoji="1" lang="zh-CN" altLang="en-US" sz="2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920875" y="3086100"/>
            <a:ext cx="2552065" cy="140144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实体抽取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1992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奥巴马，米歇尔，三一联合基督教堂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648200" y="3088005"/>
            <a:ext cx="2522855" cy="140017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关系抽取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夫妻关系：奥巴马，米歇尔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430770" y="3086100"/>
            <a:ext cx="3020695" cy="140144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事件抽取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事件类型：结婚事件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配偶：奥巴马，配偶：米歇尔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时间：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1992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地点：三一联合基督教堂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上箭头 7"/>
          <p:cNvSpPr/>
          <p:nvPr/>
        </p:nvSpPr>
        <p:spPr>
          <a:xfrm>
            <a:off x="5827395" y="4624070"/>
            <a:ext cx="344805" cy="34226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 rot="19680000">
            <a:off x="3253740" y="4591050"/>
            <a:ext cx="344805" cy="34226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上箭头 12"/>
          <p:cNvSpPr/>
          <p:nvPr/>
        </p:nvSpPr>
        <p:spPr>
          <a:xfrm rot="1920000" flipH="1">
            <a:off x="8768715" y="4558665"/>
            <a:ext cx="344805" cy="34226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11.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4385" y="956310"/>
            <a:ext cx="6021070" cy="199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270256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信息抽取的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挑战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362710"/>
            <a:ext cx="11402060" cy="1802130"/>
          </a:xfrm>
        </p:spPr>
        <p:txBody>
          <a:bodyPr vert="horz" wrap="square" lIns="91440" tIns="45720" rIns="91440" bIns="45720" anchor="t" anchorCtr="0">
            <a:noAutofit/>
          </a:bodyPr>
          <a:p>
            <a:pPr marL="57150" lvl="1" indent="-28575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Char char="p"/>
            </a:pP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实体嵌套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(Nested NER)</a:t>
            </a:r>
            <a:endParaRPr kumimoji="1" lang="en-US" altLang="zh-CN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指一个实体在文本中完全包含了另一个或多个实体。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传统序列标注模型在解码时存在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标签冲突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，无法同时识别同一位置的多个语义层级。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" lvl="1" indent="-28575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Char char="p"/>
            </a:pPr>
            <a:r>
              <a:rPr kumimoji="1" lang="zh-CN" altLang="en-US" b="1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非连续实体</a:t>
            </a:r>
            <a:r>
              <a:rPr kumimoji="1" lang="en-US" altLang="zh-CN" b="1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(Discontinuous Entities)</a:t>
            </a:r>
            <a:endParaRPr kumimoji="1" lang="en-US" altLang="zh-CN" b="1" spc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构成实体的词汇在文本空间上是不连续的，但逻辑语义上是一个整体。</a:t>
            </a:r>
            <a:endParaRPr kumimoji="1" lang="zh-CN" altLang="en-US" spc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如何跨越</a:t>
            </a:r>
            <a:r>
              <a:rPr kumimoji="1" lang="en-US" altLang="zh-CN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语义孤岛</a:t>
            </a:r>
            <a:r>
              <a:rPr kumimoji="1" lang="en-US" altLang="zh-CN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进行正确配对？这要求模型不仅能识别边界，还能通过图结构或指针网络进行逻辑聚合。</a:t>
            </a:r>
            <a:endParaRPr kumimoji="1" lang="zh-CN" altLang="en-US" spc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" lvl="1" indent="-28575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</a:pPr>
            <a:r>
              <a:rPr kumimoji="1" lang="zh-CN" altLang="en-US" b="1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</a:t>
            </a:r>
            <a:r>
              <a:rPr kumimoji="1" lang="en-US" altLang="zh-CN" b="1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zh-CN" altLang="en-US" b="1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依赖与零样本 (Schema Dependency &amp; Zero-shot)</a:t>
            </a:r>
            <a:endParaRPr kumimoji="1" lang="zh-CN" altLang="en-US" b="1" spc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IE 强依赖于预先定义的标签集</a:t>
            </a:r>
            <a:r>
              <a:rPr kumimoji="1" lang="en-US" altLang="zh-CN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</a:t>
            </a:r>
            <a:r>
              <a:rPr kumimoji="1" lang="en-US" altLang="zh-CN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spc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</a:t>
            </a:r>
            <a:r>
              <a:rPr kumimoji="1" lang="en-US" altLang="zh-CN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IE </a:t>
            </a: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模型像是一个</a:t>
            </a:r>
            <a:r>
              <a:rPr kumimoji="1" lang="en-US" altLang="zh-CN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偏科生</a:t>
            </a:r>
            <a:r>
              <a:rPr kumimoji="1" lang="en-US" altLang="zh-CN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，只认识训练集里的类别，换个领域就罢工。领域迁移成本高。</a:t>
            </a:r>
            <a:endParaRPr kumimoji="1" lang="zh-CN" altLang="en-US" spc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同侧圆角矩形 3"/>
          <p:cNvSpPr/>
          <p:nvPr/>
        </p:nvSpPr>
        <p:spPr>
          <a:xfrm>
            <a:off x="7597140" y="1351915"/>
            <a:ext cx="4570730" cy="328295"/>
          </a:xfrm>
          <a:prstGeom prst="round2SameRect">
            <a:avLst/>
          </a:prstGeom>
          <a:solidFill>
            <a:schemeClr val="bg2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哈尔滨工业大学计算学院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627745" y="1259205"/>
            <a:ext cx="2529205" cy="56007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0228580" y="1287780"/>
            <a:ext cx="907415" cy="460375"/>
          </a:xfrm>
          <a:prstGeom prst="roundRect">
            <a:avLst/>
          </a:prstGeom>
          <a:noFill/>
          <a:ln w="28575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342505" y="19065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lang="zh-CN" altLang="en-US" sz="1600" b="1"/>
              <a:t>包含多个实体级别</a:t>
            </a:r>
            <a:endParaRPr lang="zh-CN" altLang="en-US" sz="1600" b="1"/>
          </a:p>
        </p:txBody>
      </p:sp>
      <p:sp>
        <p:nvSpPr>
          <p:cNvPr id="15" name="同侧圆角矩形 14"/>
          <p:cNvSpPr/>
          <p:nvPr/>
        </p:nvSpPr>
        <p:spPr>
          <a:xfrm>
            <a:off x="8458200" y="2931795"/>
            <a:ext cx="2803525" cy="328295"/>
          </a:xfrm>
          <a:prstGeom prst="round2SameRect">
            <a:avLst/>
          </a:prstGeom>
          <a:solidFill>
            <a:schemeClr val="bg2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腹部剧烈疼痛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9741535" y="3346450"/>
            <a:ext cx="237490" cy="18542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同侧圆角矩形 16"/>
          <p:cNvSpPr/>
          <p:nvPr/>
        </p:nvSpPr>
        <p:spPr>
          <a:xfrm>
            <a:off x="9201785" y="3618230"/>
            <a:ext cx="1361440" cy="328295"/>
          </a:xfrm>
          <a:prstGeom prst="round2SameRect">
            <a:avLst/>
          </a:prstGeom>
          <a:solidFill>
            <a:schemeClr val="bg2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腹痛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979025" y="3267075"/>
            <a:ext cx="643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实体</a:t>
            </a:r>
            <a:endParaRPr lang="zh-CN" altLang="en-US" sz="1400"/>
          </a:p>
        </p:txBody>
      </p:sp>
      <p:sp>
        <p:nvSpPr>
          <p:cNvPr id="19" name="椭圆 18"/>
          <p:cNvSpPr/>
          <p:nvPr/>
        </p:nvSpPr>
        <p:spPr>
          <a:xfrm>
            <a:off x="8323580" y="4511675"/>
            <a:ext cx="3466465" cy="105664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768080" y="4839335"/>
            <a:ext cx="1134110" cy="42545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传统</a:t>
            </a:r>
            <a:r>
              <a:rPr lang="en-US" altLang="zh-CN" sz="1600"/>
              <a:t>IE</a:t>
            </a:r>
            <a:endParaRPr lang="en-US" altLang="zh-CN" sz="1600"/>
          </a:p>
        </p:txBody>
      </p:sp>
      <p:sp>
        <p:nvSpPr>
          <p:cNvPr id="21" name="文本框 20"/>
          <p:cNvSpPr txBox="1"/>
          <p:nvPr/>
        </p:nvSpPr>
        <p:spPr>
          <a:xfrm>
            <a:off x="10228580" y="4839335"/>
            <a:ext cx="1374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Open </a:t>
            </a:r>
            <a:r>
              <a:rPr lang="en-US" altLang="zh-CN"/>
              <a:t>IE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216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目录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51610" y="1718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buClrTx/>
              <a:buSzTx/>
              <a:buFontTx/>
            </a:pPr>
            <a:r>
              <a:rPr lang="zh-CN" altLang="en-US" sz="1600" b="1">
                <a:solidFill>
                  <a:schemeClr val="bg1">
                    <a:lumMod val="65000"/>
                  </a:schemeClr>
                </a:solidFill>
              </a:rPr>
              <a:t>信息抽取任务谱系</a:t>
            </a:r>
            <a:endParaRPr lang="zh-CN" altLang="en-US" sz="16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0145" y="1756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1610" y="2099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buClrTx/>
              <a:buSzTx/>
              <a:buFontTx/>
            </a:pPr>
            <a:r>
              <a:rPr lang="zh-CN" altLang="en-US" sz="1600" b="1"/>
              <a:t>序列标注：IE的底层逻辑与经典建模</a:t>
            </a:r>
            <a:endParaRPr lang="zh-CN" altLang="en-US" sz="1600" b="1"/>
          </a:p>
        </p:txBody>
      </p:sp>
      <p:sp>
        <p:nvSpPr>
          <p:cNvPr id="8" name="矩形 7"/>
          <p:cNvSpPr/>
          <p:nvPr/>
        </p:nvSpPr>
        <p:spPr>
          <a:xfrm>
            <a:off x="1160145" y="2137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1610" y="2480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b="1">
                <a:solidFill>
                  <a:schemeClr val="bg1">
                    <a:lumMod val="65000"/>
                  </a:schemeClr>
                </a:solidFill>
              </a:rPr>
              <a:t>从序列标注到生成式</a:t>
            </a:r>
            <a:r>
              <a:rPr lang="en-US" altLang="zh-CN" sz="1600" b="1">
                <a:solidFill>
                  <a:schemeClr val="bg1">
                    <a:lumMod val="65000"/>
                  </a:schemeClr>
                </a:solidFill>
              </a:rPr>
              <a:t>IE</a:t>
            </a:r>
            <a:endParaRPr lang="en-US" altLang="zh-CN" sz="16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60145" y="2518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87985" y="2762885"/>
            <a:ext cx="7320280" cy="4095115"/>
          </a:xfrm>
          <a:prstGeom prst="rect">
            <a:avLst/>
          </a:prstGeom>
        </p:spPr>
        <p:txBody>
          <a:bodyPr wrap="square">
            <a:spAutoFit/>
          </a:bodyPr>
          <a:p>
            <a:pPr marL="57150" lvl="1" indent="-285750" algn="l">
              <a:lnSpc>
                <a:spcPct val="150000"/>
              </a:lnSpc>
              <a:spcBef>
                <a:spcPts val="575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p"/>
            </a:pPr>
            <a:r>
              <a:rPr kumimoji="1" lang="zh-CN" altLang="en-US" sz="1600" b="1" i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典型应用场景</a:t>
            </a:r>
            <a:endParaRPr kumimoji="1" lang="zh-CN" altLang="en-US" sz="1600" b="1" i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中文分词：将连续汉字划分为有意义的词语（如“上海自来水”→“上海/自来水”）</a:t>
            </a:r>
            <a:endParaRPr kumimoji="1"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词性标注：为词语标注语法属性（如“苹果”→“名词”，“吃”→“动词”）</a:t>
            </a:r>
            <a:endParaRPr kumimoji="1"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命名实体识别（NER）：识别文本中的人名、地名、机构名（如“杨幂”→“人名”，“北医三院”→“机构”）</a:t>
            </a:r>
            <a:endParaRPr kumimoji="1"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句法分析：标注句子中词语的语法关系（如“主语-谓语”“定语-中心语”）</a:t>
            </a:r>
            <a:endParaRPr kumimoji="1"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z="1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文本加标点：为语音识别/机器翻译输出的无标点文本添加标点（如“我去北京”→“我去北京。”）</a:t>
            </a:r>
            <a:endParaRPr kumimoji="1" lang="zh-CN" altLang="en-US" sz="1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"/>
          <p:cNvSpPr txBox="1"/>
          <p:nvPr/>
        </p:nvSpPr>
        <p:spPr>
          <a:xfrm>
            <a:off x="387891" y="441479"/>
            <a:ext cx="231648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序列标注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协议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362710"/>
            <a:ext cx="11217910" cy="1493520"/>
          </a:xfrm>
        </p:spPr>
        <p:txBody>
          <a:bodyPr vert="horz" wrap="square" lIns="91440" tIns="45720" rIns="91440" bIns="45720" anchor="t" anchorCtr="0">
            <a:noAutofit/>
          </a:bodyPr>
          <a:p>
            <a:pPr marL="57150" lvl="1" indent="-28575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Char char="p"/>
            </a:pP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标注范式：将抽取任务转化为对序列中每个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的分类任务</a:t>
            </a:r>
            <a:endParaRPr kumimoji="1" lang="en-US" altLang="zh-CN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BIO： Begin, Inside, Outside (最通用)</a:t>
            </a:r>
            <a:endParaRPr kumimoji="1" lang="zh-CN" altLang="en-US" spc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BILOU： Begin, Inside, Last, Outside, Unit (更精细的边界描述)</a:t>
            </a:r>
            <a:endParaRPr kumimoji="1" lang="zh-CN" altLang="en-US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87350" y="882015"/>
            <a:ext cx="185610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kumimoji="1" lang="en-US" altLang="zh-CN" sz="1400" b="1" dirty="0">
                <a:solidFill>
                  <a:srgbClr val="B1000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IE</a:t>
            </a:r>
            <a:r>
              <a:rPr kumimoji="1" lang="zh-CN" altLang="en-US" sz="1400" b="1" dirty="0">
                <a:solidFill>
                  <a:srgbClr val="B1000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的底层数学</a:t>
            </a:r>
            <a:r>
              <a:rPr kumimoji="1" lang="zh-CN" altLang="en-US" sz="1400" b="1" dirty="0">
                <a:solidFill>
                  <a:srgbClr val="B1000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语言</a:t>
            </a:r>
            <a:endParaRPr kumimoji="1" lang="zh-CN" altLang="en-US" sz="1400" b="1" dirty="0">
              <a:solidFill>
                <a:srgbClr val="B1000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5" name="矩形: 圆角 104"/>
          <p:cNvSpPr/>
          <p:nvPr/>
        </p:nvSpPr>
        <p:spPr>
          <a:xfrm rot="5400000">
            <a:off x="9477375" y="2752725"/>
            <a:ext cx="788670" cy="135191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序列标注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4" name="箭头: 右 114"/>
          <p:cNvSpPr/>
          <p:nvPr/>
        </p:nvSpPr>
        <p:spPr>
          <a:xfrm rot="5400000">
            <a:off x="9701530" y="4018280"/>
            <a:ext cx="440690" cy="22034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1" name="箭头: 右 114"/>
          <p:cNvSpPr/>
          <p:nvPr/>
        </p:nvSpPr>
        <p:spPr>
          <a:xfrm rot="5400000">
            <a:off x="9701530" y="2592070"/>
            <a:ext cx="440690" cy="22034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496175" y="1466850"/>
                <a:ext cx="4750435" cy="9036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lvl="1" algn="ctr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长度为</a:t>
                </a:r>
                <a14:m>
                  <m:oMath xmlns:m="http://schemas.openxmlformats.org/officeDocument/2006/math">
                    <m:r>
                      <a:rPr kumimoji="1" lang="en-US" altLang="zh-CN" sz="1600" b="1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𝒏</m:t>
                    </m:r>
                  </m:oMath>
                </a14:m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的序列</a:t>
                </a:r>
                <a:r>
                  <a:rPr kumimoji="1"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𝐗</m:t>
                    </m:r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 = [</m:t>
                    </m:r>
                    <m:sSub>
                      <m:sSubPr>
                        <m:ctrlP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𝑿</m:t>
                        </m:r>
                      </m:e>
                      <m:sub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𝟏</m:t>
                        </m:r>
                      </m:sub>
                    </m:sSub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𝑿</m:t>
                        </m:r>
                      </m:e>
                      <m:sub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𝟐</m:t>
                        </m:r>
                      </m:sub>
                    </m:sSub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𝑿</m:t>
                        </m:r>
                      </m:e>
                      <m:sub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𝟑</m:t>
                        </m:r>
                      </m:sub>
                    </m:sSub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...</m:t>
                    </m:r>
                    <m:sSub>
                      <m:sSubPr>
                        <m:ctrlP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𝑿</m:t>
                        </m:r>
                      </m:e>
                      <m:sub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𝒏</m:t>
                        </m:r>
                      </m:sub>
                    </m:sSub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]</m:t>
                    </m:r>
                  </m:oMath>
                </a14:m>
                <a:endParaRPr kumimoji="1" lang="en-US" altLang="zh-CN" sz="1600" b="1" dirty="0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  <a:sym typeface="+mn-ea"/>
                </a:endParaRPr>
              </a:p>
              <a:p>
                <a:pPr marL="0" lvl="1" algn="ctr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（例：</a:t>
                </a:r>
                <a:r>
                  <a:rPr kumimoji="1"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“</a:t>
                </a: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上</a:t>
                </a:r>
                <a:r>
                  <a:rPr kumimoji="1"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海</a:t>
                </a:r>
                <a:r>
                  <a:rPr kumimoji="1"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自</a:t>
                </a:r>
                <a:r>
                  <a:rPr kumimoji="1"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来</a:t>
                </a:r>
                <a:r>
                  <a:rPr kumimoji="1"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水</a:t>
                </a:r>
                <a:r>
                  <a:rPr kumimoji="1" lang="en-US" altLang="zh-CN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”</a:t>
                </a: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</a:t>
                </a:r>
                <a:endPara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175" y="1466850"/>
                <a:ext cx="4750435" cy="90360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823710" y="4350385"/>
                <a:ext cx="6096000" cy="178943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lvl="1" algn="ctr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长度为</a:t>
                </a:r>
                <a14:m>
                  <m:oMath xmlns:m="http://schemas.openxmlformats.org/officeDocument/2006/math">
                    <m:r>
                      <a:rPr kumimoji="1" lang="en-US" altLang="zh-CN" sz="1600" b="1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𝒏</m:t>
                    </m:r>
                  </m:oMath>
                </a14:m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的标签序列</a:t>
                </a:r>
                <a14:m>
                  <m:oMath xmlns:m="http://schemas.openxmlformats.org/officeDocument/2006/math"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𝐘</m:t>
                    </m:r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 = [</m:t>
                    </m:r>
                    <m:sSub>
                      <m:sSubPr>
                        <m:ctrlP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𝒀</m:t>
                        </m:r>
                      </m:e>
                      <m:sub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𝟏</m:t>
                        </m:r>
                      </m:sub>
                    </m:sSub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𝒀</m:t>
                        </m:r>
                      </m:e>
                      <m:sub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𝟐</m:t>
                        </m:r>
                      </m:sub>
                    </m:sSub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𝒀</m:t>
                        </m:r>
                      </m:e>
                      <m:sub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𝟑</m:t>
                        </m:r>
                      </m:sub>
                    </m:sSub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,...</m:t>
                    </m:r>
                    <m:sSub>
                      <m:sSubPr>
                        <m:ctrlP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𝒀</m:t>
                        </m:r>
                      </m:e>
                      <m:sub>
                        <m:r>
                          <a:rPr kumimoji="1" lang="en-US" altLang="zh-CN" sz="1600" b="1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𝒏</m:t>
                        </m:r>
                      </m:sub>
                    </m:sSub>
                    <m:r>
                      <a:rPr kumimoji="1" lang="en-US" altLang="zh-CN" sz="1600" b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]</m:t>
                    </m:r>
                  </m:oMath>
                </a14:m>
                <a:endParaRPr kumimoji="1" lang="en-US" altLang="zh-CN" sz="1600" b="1" dirty="0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  <a:sym typeface="+mn-ea"/>
                </a:endParaRPr>
              </a:p>
              <a:p>
                <a:pPr marL="0" lvl="1" algn="ctr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（例：“0 1 0 0 1”）</a:t>
                </a:r>
                <a:endPara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lvl="1" algn="ctr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1就表示在这个位置分词</a:t>
                </a:r>
                <a:endPara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lvl="1" algn="ctr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这里1的位置就是输入的“海”和“水”</a:t>
                </a:r>
                <a:endPara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710" y="4350385"/>
                <a:ext cx="6096000" cy="17894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10149205" y="2548890"/>
            <a:ext cx="643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输入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10149205" y="4002405"/>
            <a:ext cx="643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输出</a:t>
            </a:r>
            <a:endParaRPr lang="zh-CN" alt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347472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序列标注的实现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技术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149985"/>
            <a:ext cx="11217910" cy="1493520"/>
          </a:xfrm>
        </p:spPr>
        <p:txBody>
          <a:bodyPr vert="horz" wrap="square" lIns="91440" tIns="45720" rIns="91440" bIns="45720" anchor="t" anchorCtr="0">
            <a:noAutofit/>
          </a:bodyPr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基于深度学习的序列标注</a:t>
            </a:r>
            <a:endParaRPr kumimoji="1" lang="en-US" altLang="zh-CN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流程：用神经网络（如BERT、LSTM）将每个Token转化为向量，再预测其分类标签；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典型模型：BLSTM（双向LSTM）——能同时捕捉Token的上下文信息，比如对“花园北路的北”标注实体时，BLSTM会结合前后Token的语义。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3131185"/>
            <a:ext cx="8618220" cy="29184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347472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序列标注的实现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技术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216025"/>
            <a:ext cx="11217910" cy="1493520"/>
          </a:xfrm>
        </p:spPr>
        <p:txBody>
          <a:bodyPr vert="horz" wrap="square" lIns="91440" tIns="45720" rIns="91440" bIns="45720" anchor="t" anchorCtr="0">
            <a:noAutofit/>
          </a:bodyPr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条件随机场（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CRF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）：让序列标注更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合理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的模型</a:t>
            </a:r>
            <a:endParaRPr kumimoji="1" lang="en-US" altLang="zh-CN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None/>
            </a:pP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CRF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是一种概率图模型，用于处理序列标注任务，核心优势是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考虑标签之间的依赖关系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“MA”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标签通常跟随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“BA”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，而非直接跟随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“EO”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），避免独立分类导致的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标签逻辑错误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811206" y="2777744"/>
                <a:ext cx="4570095" cy="6553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∣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;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𝑍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𝑒𝑥𝑝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;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206" y="2777744"/>
                <a:ext cx="4570095" cy="655320"/>
              </a:xfrm>
              <a:prstGeom prst="rect">
                <a:avLst/>
              </a:prstGeom>
              <a:blipFill rotWithShape="1">
                <a:blip r:embed="rId1"/>
                <a:stretch>
                  <a:fillRect l="-12" t="-39" r="12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3"/>
              <p:cNvSpPr>
                <a:spLocks noGrp="1"/>
              </p:cNvSpPr>
              <p:nvPr/>
            </p:nvSpPr>
            <p:spPr>
              <a:xfrm>
                <a:off x="387985" y="3432810"/>
                <a:ext cx="11217910" cy="149352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t" anchorCtr="0">
                <a:noAutofit/>
              </a:bodyPr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zh-CN" altLang="en-US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目标：找到标签序列</a:t>
                </a:r>
                <a14:m>
                  <m:oMath xmlns:m="http://schemas.openxmlformats.org/officeDocument/2006/math">
                    <m:r>
                      <a:rPr kumimoji="1" lang="en-US" altLang="zh-CN" i="1" spc="0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zh-CN" altLang="en-US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，最大化条件概率</a:t>
                </a:r>
                <a:r>
                  <a:rPr kumimoji="1" lang="en-US" altLang="zh-CN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∣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;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𝜃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0" lvl="1" algn="l" defTabSz="914400">
                  <a:lnSpc>
                    <a:spcPct val="150000"/>
                  </a:lnSpc>
                  <a:spcBef>
                    <a:spcPts val="940"/>
                  </a:spcBef>
                  <a:buClrTx/>
                  <a:buSzTx/>
                  <a:buFont typeface="Wingdings" panose="05000000000000000000" charset="0"/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𝑍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kumimoji="1" lang="zh-CN" altLang="en-US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：归一化项，确保所有标签序列的概率和为1</a:t>
                </a:r>
                <a:r>
                  <a:rPr kumimoji="1" lang="zh-CN" altLang="en-US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;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𝜃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r>
                  <a:rPr kumimoji="1" lang="zh-CN" altLang="en-US" spc="0">
                    <a:solidFill>
                      <a:schemeClr val="tx1"/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特征函数，衡量</a:t>
                </a:r>
                <a:r>
                  <a:rPr kumimoji="1" lang="en-US" altLang="zh-CN" spc="0">
                    <a:solidFill>
                      <a:schemeClr val="tx1"/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“</a:t>
                </a:r>
                <a:r>
                  <a:rPr kumimoji="1" lang="zh-CN" altLang="en-US" spc="0">
                    <a:solidFill>
                      <a:schemeClr val="tx1"/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标签转移</a:t>
                </a:r>
                <a:r>
                  <a:rPr kumimoji="1" lang="en-US" altLang="zh-CN" spc="0">
                    <a:solidFill>
                      <a:schemeClr val="tx1"/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Token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-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标签匹配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合理性；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𝜃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：特征函数的权重参数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lvl="1" algn="just" defTabSz="914400">
                  <a:lnSpc>
                    <a:spcPct val="150000"/>
                  </a:lnSpc>
                  <a:spcBef>
                    <a:spcPts val="940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损失函数：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lvl="1" algn="ctr" defTabSz="914400">
                  <a:lnSpc>
                    <a:spcPct val="150000"/>
                  </a:lnSpc>
                  <a:spcBef>
                    <a:spcPts val="940"/>
                  </a:spcBef>
                  <a:buClrTx/>
                  <a:buSzTx/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𝐿𝑜𝑠𝑠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func>
                        <m:funcPr>
                          <m:ctrl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𝑠</m:t>
                                  </m:r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lvl="1" algn="just" defTabSz="914400">
                  <a:lnSpc>
                    <a:spcPct val="150000"/>
                  </a:lnSpc>
                  <a:spcBef>
                    <a:spcPts val="940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S(X,y)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：真实序列的分数（发射矩阵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+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转移矩阵的分数和）</a:t>
                </a:r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lvl="1" algn="l" defTabSz="914400">
                  <a:lnSpc>
                    <a:spcPct val="150000"/>
                  </a:lnSpc>
                  <a:spcBef>
                    <a:spcPts val="940"/>
                  </a:spcBef>
                  <a:buClrTx/>
                  <a:buSzTx/>
                  <a:buFont typeface="Wingdings" panose="05000000000000000000" charset="0"/>
                  <a:buNone/>
                </a:pPr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85" y="3432810"/>
                <a:ext cx="11217910" cy="1493520"/>
              </a:xfrm>
              <a:prstGeom prst="rect">
                <a:avLst/>
              </a:prstGeom>
              <a:blipFill rotWithShape="1">
                <a:blip r:embed="rId2"/>
                <a:stretch>
                  <a:fillRect b="-165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347472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序列标注的实现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技术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362710"/>
            <a:ext cx="11217910" cy="1493520"/>
          </a:xfrm>
        </p:spPr>
        <p:txBody>
          <a:bodyPr vert="horz" wrap="square" lIns="91440" tIns="45720" rIns="91440" bIns="45720" anchor="t" anchorCtr="0">
            <a:noAutofit/>
          </a:bodyPr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条件随机场（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CRF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）的两大核心矩阵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" lvl="1" indent="-285750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Char char="p"/>
            </a:pP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发射矩阵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(Emission Matrix)——“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每个词对应什么标签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的得分表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" lvl="1" indent="-285750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Char char="p"/>
            </a:pP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" lvl="1" indent="-285750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Char char="p"/>
            </a:pP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" lvl="1" indent="-285750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Char char="p"/>
            </a:pPr>
            <a:endParaRPr kumimoji="1" lang="en-US" altLang="zh-CN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" lvl="1" indent="-285750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Char char="p"/>
            </a:pP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转移矩阵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(Transition Matrix)——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从一个标签转移到另一个标签的得分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 defTabSz="914400">
              <a:lnSpc>
                <a:spcPct val="150000"/>
              </a:lnSpc>
              <a:spcBef>
                <a:spcPts val="940"/>
              </a:spcBef>
              <a:buClrTx/>
              <a:buSzTx/>
              <a:buFont typeface="Wingdings" panose="05000000000000000000" charset="0"/>
              <a:buNone/>
            </a:pPr>
            <a:endParaRPr kumimoji="1" lang="en-US" altLang="zh-CN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0" y="2334895"/>
            <a:ext cx="9212580" cy="1905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665980"/>
            <a:ext cx="9212580" cy="1569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424688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序列标注的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常见解码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算法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964" name="Rectangle 3"/>
              <p:cNvSpPr>
                <a:spLocks noGrp="1"/>
              </p:cNvSpPr>
              <p:nvPr>
                <p:ph idx="1"/>
              </p:nvPr>
            </p:nvSpPr>
            <p:spPr>
              <a:xfrm>
                <a:off x="387985" y="1362710"/>
                <a:ext cx="11217910" cy="1493520"/>
              </a:xfrm>
            </p:spPr>
            <p:txBody>
              <a:bodyPr vert="horz" wrap="square" lIns="91440" tIns="45720" rIns="91440" bIns="45720" anchor="t" anchorCtr="0">
                <a:noAutofit/>
              </a:bodyPr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en-US" altLang="zh-CN" b="1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1.</a:t>
                </a:r>
                <a:r>
                  <a:rPr kumimoji="1" lang="zh-CN" altLang="en-US" b="1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穷举法</a:t>
                </a:r>
                <a:endParaRPr kumimoji="1" lang="zh-CN" altLang="en-US" b="1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zh-CN" altLang="en-US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遍历所有可能的标签序列，计算每个序列的总得分，选择最高分序列</a:t>
                </a:r>
                <a:endParaRPr kumimoji="1" lang="zh-CN" altLang="en-US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lvl="1" indent="-28575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Char char="p"/>
                </a:pPr>
                <a:r>
                  <a:rPr kumimoji="1" lang="zh-CN" altLang="en-US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复杂度：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pc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i="1" spc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zh-CN" i="1" spc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en-US" altLang="zh-CN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i="1" spc="0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kumimoji="1" lang="zh-CN" altLang="en-US" spc="0">
                    <a:solidFill>
                      <a:schemeClr val="tx1"/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为序列长度，</a:t>
                </a:r>
                <a14:m>
                  <m:oMath xmlns:m="http://schemas.openxmlformats.org/officeDocument/2006/math">
                    <m:r>
                      <a:rPr kumimoji="1" lang="en-US" altLang="zh-CN" i="1" spc="0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kumimoji="1" lang="zh-CN" altLang="en-US" spc="0">
                    <a:solidFill>
                      <a:schemeClr val="tx1"/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rPr>
                  <a:t>为标签数量</a:t>
                </a:r>
                <a:r>
                  <a:rPr kumimoji="1" lang="en-US" altLang="zh-CN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)</a:t>
                </a:r>
                <a:endParaRPr kumimoji="1" lang="en-US" altLang="zh-CN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lvl="1" indent="-28575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Char char="p"/>
                </a:pPr>
                <a:r>
                  <a:rPr kumimoji="1" lang="zh-CN" altLang="en-US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短板：效率极低，</a:t>
                </a:r>
                <a:r>
                  <a:rPr kumimoji="1" lang="zh-CN" altLang="en-US" spc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仅适用于短序列</a:t>
                </a:r>
                <a:endParaRPr kumimoji="1" lang="zh-CN" altLang="en-US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40964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985" y="1362710"/>
                <a:ext cx="11217910" cy="1493520"/>
              </a:xfrm>
              <a:blipFill rotWithShape="1">
                <a:blip r:embed="rId1"/>
                <a:stretch>
                  <a:fillRect b="-30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387350" y="882015"/>
            <a:ext cx="1154557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kumimoji="1" lang="zh-CN" altLang="en-US" sz="1400" b="1" dirty="0">
                <a:solidFill>
                  <a:srgbClr val="B1000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模型已经给出了每个</a:t>
            </a:r>
            <a:r>
              <a:rPr kumimoji="1" lang="en-US" altLang="zh-CN" sz="1400" b="1" dirty="0">
                <a:solidFill>
                  <a:srgbClr val="B1000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</a:t>
            </a:r>
            <a:r>
              <a:rPr kumimoji="1" lang="zh-CN" altLang="en-US" sz="1400" b="1" dirty="0">
                <a:solidFill>
                  <a:srgbClr val="B1000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的标签得分（发射矩阵）和标签间的转移规则（转移矩阵），解码算法要做的就是</a:t>
            </a:r>
            <a:r>
              <a:rPr kumimoji="1" lang="en-US" altLang="zh-CN" sz="1400" b="1" dirty="0">
                <a:solidFill>
                  <a:srgbClr val="B1000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1400" b="1" dirty="0">
                <a:solidFill>
                  <a:srgbClr val="B1000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筛选，找到总得分最高的最优序列</a:t>
            </a:r>
            <a:endParaRPr kumimoji="1" lang="zh-CN" altLang="en-US" sz="1400" b="1" dirty="0">
              <a:solidFill>
                <a:srgbClr val="B1000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38" y="4218305"/>
            <a:ext cx="5038725" cy="22948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39585" y="3520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495800" y="2997835"/>
                <a:ext cx="7110095" cy="380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rgbClr val="FF0000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10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5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时，需要遍历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9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765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625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种序列！</a:t>
                </a:r>
                <a:endParaRPr lang="zh-CN" altLang="en-US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2997835"/>
                <a:ext cx="7110095" cy="3803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385" y="3429000"/>
            <a:ext cx="2842260" cy="1798320"/>
          </a:xfrm>
          <a:prstGeom prst="rect">
            <a:avLst/>
          </a:prstGeom>
        </p:spPr>
      </p:pic>
      <p:sp>
        <p:nvSpPr>
          <p:cNvPr id="39" name="文本框 3"/>
          <p:cNvSpPr txBox="1"/>
          <p:nvPr/>
        </p:nvSpPr>
        <p:spPr>
          <a:xfrm>
            <a:off x="387891" y="441479"/>
            <a:ext cx="424688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序列标注的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常见解码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算法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104265"/>
            <a:ext cx="11217910" cy="1493520"/>
          </a:xfrm>
        </p:spPr>
        <p:txBody>
          <a:bodyPr vert="horz" wrap="square" lIns="91440" tIns="45720" rIns="91440" bIns="45720" anchor="t" anchorCtr="0">
            <a:noAutofit/>
          </a:bodyPr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维特比解码（</a:t>
            </a:r>
            <a:r>
              <a:rPr kumimoji="1" 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Viterbi Decoding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kumimoji="1" lang="en-US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动态规划，通过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局部最优累积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全局最优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，避免重复计算。用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走一步记一步最优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的方式，快速找到全局最好的标签序列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9585" y="3520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88620" y="1776095"/>
                <a:ext cx="8914765" cy="475361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endParaRPr kumimoji="1" lang="zh-CN" altLang="en-US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lvl="1" indent="-28575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Char char="p"/>
                </a:pP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步骤</a:t>
                </a:r>
                <a:endParaRPr kumimoji="1" lang="zh-CN" altLang="en-US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a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）初始化：先算第一步（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A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列）的得分。从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start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走到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A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列的每个标签，记下每个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A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标签的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“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初始得分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”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（比如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A2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的得分比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A1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、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A3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高）。</a:t>
                </a:r>
                <a:endParaRPr kumimoji="1" lang="zh-CN" altLang="en-US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）递推：每一步只记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“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到当前位置的最优路径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”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。走到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B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列时，对每个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B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标签（比如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B2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），只算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“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从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A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列哪个标签来，得分最高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”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。</a:t>
                </a:r>
                <a:endParaRPr kumimoji="1" lang="zh-CN" altLang="en-US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c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）回溯：从最后一步往回找最优路径。看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B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列里得分最高的标签（比如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B2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），然后反向找它的前驱（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A2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），再找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A2 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的前驱（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start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），就能得到完整的最优路径：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start</a:t>
                </a:r>
                <a:r>
                  <a:rPr kumimoji="1" lang="en-US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→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A2</a:t>
                </a:r>
                <a:r>
                  <a:rPr kumimoji="1" lang="en-US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→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B2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。</a:t>
                </a:r>
                <a:endParaRPr kumimoji="1" lang="zh-CN" altLang="en-US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lvl="1" indent="-28575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Char char="p"/>
                </a:pP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复杂度：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pc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i="1" spc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𝑛</m:t>
                        </m:r>
                        <m:r>
                          <a:rPr kumimoji="1" lang="en-US" altLang="zh-CN" i="1" spc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∗</m:t>
                        </m:r>
                        <m:r>
                          <a:rPr kumimoji="1" lang="en-US" altLang="zh-CN" i="1" spc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zh-CN" i="1" spc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i="1" spc="0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kumimoji="1"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为序列长度，</a:t>
                </a:r>
                <a14:m>
                  <m:oMath xmlns:m="http://schemas.openxmlformats.org/officeDocument/2006/math">
                    <m:r>
                      <a:rPr kumimoji="1" lang="en-US" altLang="zh-CN" i="1" spc="0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kumimoji="1"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为标签数量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)</a:t>
                </a:r>
                <a:endParaRPr kumimoji="1" lang="en-US" altLang="zh-CN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lvl="1" indent="-28575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Char char="p"/>
                </a:pP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优势：效率远高于穷举法，且能保证找到全局最优序列，是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CRF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的标准解码算法</a:t>
                </a:r>
                <a:endParaRPr kumimoji="1"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" y="1776095"/>
                <a:ext cx="8914765" cy="4753610"/>
              </a:xfrm>
              <a:prstGeom prst="rect">
                <a:avLst/>
              </a:prstGeom>
              <a:blipFill rotWithShape="1">
                <a:blip r:embed="rId2"/>
                <a:stretch>
                  <a:fillRect b="-5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424688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序列标注的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常见解码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算法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104265"/>
            <a:ext cx="11217910" cy="1493520"/>
          </a:xfrm>
        </p:spPr>
        <p:txBody>
          <a:bodyPr vert="horz" wrap="square" lIns="91440" tIns="45720" rIns="91440" bIns="45720" anchor="t" anchorCtr="0">
            <a:noAutofit/>
          </a:bodyPr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束搜索（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Beam Search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kumimoji="1" lang="zh-CN" altLang="en-US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贪心策略，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每一步仅保留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得分最高的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个候选序列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为束宽，如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B=2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B=5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），减少计算量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9585" y="3520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88620" y="2104390"/>
                <a:ext cx="8914765" cy="475361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marL="285750" lvl="1" indent="-28575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Char char="p"/>
                </a:pP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步骤</a:t>
                </a:r>
                <a:endParaRPr kumimoji="1" lang="zh-CN" altLang="en-US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a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）初始化：对第一个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token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，选择得分最高的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个标签作为初始候选序列</a:t>
                </a:r>
                <a:endParaRPr kumimoji="1"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）递推：对每个候选序列，扩展所有可能的下一个标签，计算新序列的得分，再保留得分最高的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个序列</a:t>
                </a:r>
                <a:endParaRPr kumimoji="1"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lvl="1" indent="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None/>
                </a:pP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c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终止：序列结束后，从最终的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个候选序列中选择得分最高的作为最优序列</a:t>
                </a:r>
                <a:endParaRPr kumimoji="1"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285750" lvl="1" indent="-28575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Char char="p"/>
                </a:pP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复杂度：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kumimoji="1"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∗</m:t>
                    </m:r>
                    <m:r>
                      <a:rPr kumimoji="1"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𝐷</m:t>
                    </m:r>
                    <m:r>
                      <a:rPr kumimoji="1"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∗</m:t>
                    </m:r>
                    <m:r>
                      <a:rPr kumimoji="1"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i="1" spc="0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kumimoji="1"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为序列长度，</a:t>
                </a:r>
                <a14:m>
                  <m:oMath xmlns:m="http://schemas.openxmlformats.org/officeDocument/2006/math">
                    <m:r>
                      <a:rPr kumimoji="1" lang="en-US" altLang="zh-CN" i="1" spc="0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kumimoji="1"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为标签数量，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kumimoji="1" lang="zh-CN" altLang="en-US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为束宽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)</a:t>
                </a:r>
                <a:endParaRPr kumimoji="1" lang="en-US" altLang="zh-CN" spc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lvl="1" indent="-285750" algn="l" defTabSz="914400">
                  <a:lnSpc>
                    <a:spcPct val="150000"/>
                  </a:lnSpc>
                  <a:spcBef>
                    <a:spcPts val="575"/>
                  </a:spcBef>
                  <a:buClrTx/>
                  <a:buSzTx/>
                  <a:buFont typeface="Wingdings" panose="05000000000000000000" charset="0"/>
                  <a:buChar char="p"/>
                </a:pP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优势：效率可调（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越小效率越高，</a:t>
                </a:r>
                <a:r>
                  <a:rPr kumimoji="1"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r>
                  <a:rPr kumimoji="1"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越大精度越接近维特比），适用于长序列、大标签集场景</a:t>
                </a:r>
                <a:endParaRPr kumimoji="1"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" y="2104390"/>
                <a:ext cx="8914765" cy="47536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610" y="3333115"/>
            <a:ext cx="30099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424688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序列标注的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常见解码</a:t>
            </a: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算法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104265"/>
            <a:ext cx="11217910" cy="1493520"/>
          </a:xfrm>
        </p:spPr>
        <p:txBody>
          <a:bodyPr vert="horz" wrap="square" lIns="91440" tIns="45720" rIns="91440" bIns="45720" anchor="t" anchorCtr="0">
            <a:noAutofit/>
          </a:bodyPr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效率对比</a:t>
            </a:r>
            <a:endParaRPr kumimoji="1" lang="zh-CN" altLang="en-US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9585" y="3520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/>
              <p:nvPr/>
            </p:nvGraphicFramePr>
            <p:xfrm>
              <a:off x="1830070" y="2004060"/>
              <a:ext cx="8533765" cy="15240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2132965"/>
                    <a:gridCol w="2132965"/>
                    <a:gridCol w="2132965"/>
                    <a:gridCol w="2132965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解码算法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时间复杂度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核心特点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适用场景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穷举法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1" lang="en-US" altLang="zh-CN" sz="1800" spc="0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1800" spc="0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kumimoji="1" lang="en-US" altLang="zh-CN" sz="1800" spc="0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zh-CN" sz="1800" spc="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精度最高（遍历所有可能），效率极低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短序列、少标签（如</a:t>
                          </a:r>
                          <a:r>
                            <a:rPr lang="en-US" altLang="zh-CN"/>
                            <a:t>n≤5</a:t>
                          </a:r>
                          <a:r>
                            <a:rPr lang="zh-CN" altLang="en-US"/>
                            <a:t>、</a:t>
                          </a:r>
                          <a:r>
                            <a:rPr lang="en-US" altLang="zh-CN"/>
                            <a:t>D≤3</a:t>
                          </a:r>
                          <a:r>
                            <a:rPr lang="zh-CN" altLang="en-US"/>
                            <a:t>）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维特比解码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1" lang="en-US" altLang="zh-CN" sz="1800" spc="0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1800" spc="0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𝑛</m:t>
                                    </m:r>
                                    <m:r>
                                      <a:rPr kumimoji="1" lang="en-US" altLang="zh-CN" sz="1800" spc="0">
                                        <a:latin typeface="Cambria Math" panose="02040503050406030204" charset="0"/>
                                        <a:ea typeface="MS Mincho" charset="0"/>
                                        <a:cs typeface="Cambria Math" panose="02040503050406030204" charset="0"/>
                                      </a:rPr>
                                      <m:t>∗</m:t>
                                    </m:r>
                                    <m:r>
                                      <a:rPr kumimoji="1" lang="en-US" altLang="zh-CN" sz="1800" spc="0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kumimoji="1" lang="en-US" altLang="zh-CN" sz="1800" spc="0">
                                        <a:latin typeface="Cambria Math" panose="02040503050406030204" charset="0"/>
                                        <a:ea typeface="MS Mincho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zh-CN" sz="1800" spc="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效率高，精度最优（全局最优）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大部分序列标注场景（如</a:t>
                          </a:r>
                          <a:r>
                            <a:rPr lang="en-US" altLang="zh-CN"/>
                            <a:t>NER</a:t>
                          </a:r>
                          <a:r>
                            <a:rPr lang="zh-CN" altLang="en-US"/>
                            <a:t>）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束搜索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1800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  <m:r>
                                  <a:rPr kumimoji="1" lang="en-US" altLang="zh-CN" sz="1800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∗</m:t>
                                </m:r>
                                <m:r>
                                  <a:rPr kumimoji="1" lang="en-US" altLang="zh-CN" sz="1800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𝐷</m:t>
                                </m:r>
                                <m:r>
                                  <a:rPr kumimoji="1" lang="en-US" altLang="zh-CN" sz="1800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∗</m:t>
                                </m:r>
                                <m:r>
                                  <a:rPr kumimoji="1" lang="en-US" altLang="zh-CN" sz="1800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1" lang="en-US" altLang="zh-CN" sz="1800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效率可调，精度接近最优（</a:t>
                          </a:r>
                          <a:r>
                            <a:rPr lang="en-US" altLang="zh-CN"/>
                            <a:t>B=5</a:t>
                          </a:r>
                          <a:r>
                            <a:rPr lang="zh-CN" altLang="en-US"/>
                            <a:t>时精度接近维特比）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长序列（如</a:t>
                          </a:r>
                          <a:r>
                            <a:rPr lang="en-US" altLang="zh-CN"/>
                            <a:t>n≥50</a:t>
                          </a:r>
                          <a:r>
                            <a:rPr lang="zh-CN" altLang="en-US"/>
                            <a:t>）、大标签集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/>
              <p:nvPr/>
            </p:nvGraphicFramePr>
            <p:xfrm>
              <a:off x="1830070" y="2004060"/>
              <a:ext cx="8533765" cy="15240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2132965"/>
                    <a:gridCol w="2132965"/>
                    <a:gridCol w="2132965"/>
                    <a:gridCol w="2132965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解码算法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时间复杂度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核心特点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适用场景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</a:tr>
                  <a:tr h="914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穷举法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精度最高（遍历所有可能），效率极低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短序列、少标签（如</a:t>
                          </a:r>
                          <a:r>
                            <a:rPr lang="en-US" altLang="zh-CN"/>
                            <a:t>n≤5</a:t>
                          </a:r>
                          <a:r>
                            <a:rPr lang="zh-CN" altLang="en-US"/>
                            <a:t>、</a:t>
                          </a:r>
                          <a:r>
                            <a:rPr lang="en-US" altLang="zh-CN"/>
                            <a:t>D≤3</a:t>
                          </a:r>
                          <a:r>
                            <a:rPr lang="zh-CN" altLang="en-US"/>
                            <a:t>）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</a:tr>
                  <a:tr h="64008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维特比解码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效率高，精度最优（全局最优）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大部分序列标注场景（如</a:t>
                          </a:r>
                          <a:r>
                            <a:rPr lang="en-US" altLang="zh-CN"/>
                            <a:t>NER</a:t>
                          </a:r>
                          <a:r>
                            <a:rPr lang="zh-CN" altLang="en-US"/>
                            <a:t>）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</a:tr>
                  <a:tr h="914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束搜索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效率可调，精度接近最优（</a:t>
                          </a:r>
                          <a:r>
                            <a:rPr lang="en-US" altLang="zh-CN"/>
                            <a:t>B=5</a:t>
                          </a:r>
                          <a:r>
                            <a:rPr lang="zh-CN" altLang="en-US"/>
                            <a:t>时精度接近维特比）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长序列（如</a:t>
                          </a:r>
                          <a:r>
                            <a:rPr lang="en-US" altLang="zh-CN"/>
                            <a:t>n≥50</a:t>
                          </a:r>
                          <a:r>
                            <a:rPr lang="zh-CN" altLang="en-US"/>
                            <a:t>）、大标签集</a:t>
                          </a:r>
                          <a:endParaRPr lang="zh-CN" altLang="en-US"/>
                        </a:p>
                      </a:txBody>
                      <a:tcPr anchor="ctr" anchorCtr="0"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216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目录</a:t>
            </a:r>
            <a:endParaRPr 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51610" y="1718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buClrTx/>
              <a:buSzTx/>
              <a:buFontTx/>
            </a:pPr>
            <a:r>
              <a:rPr lang="zh-CN" altLang="en-US" sz="1600" b="1">
                <a:solidFill>
                  <a:schemeClr val="bg1">
                    <a:lumMod val="65000"/>
                  </a:schemeClr>
                </a:solidFill>
              </a:rPr>
              <a:t>信息抽取任务谱系</a:t>
            </a:r>
            <a:endParaRPr lang="zh-CN" altLang="en-US" sz="16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0145" y="1756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1610" y="2099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buClrTx/>
              <a:buSzTx/>
              <a:buFontTx/>
            </a:pPr>
            <a:r>
              <a:rPr lang="zh-CN" altLang="en-US" sz="1600" b="1">
                <a:solidFill>
                  <a:schemeClr val="bg1">
                    <a:lumMod val="65000"/>
                  </a:schemeClr>
                </a:solidFill>
              </a:rPr>
              <a:t>序列标注：IE的底层逻辑与经典建模</a:t>
            </a:r>
            <a:endParaRPr lang="zh-CN" altLang="en-US" sz="16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60145" y="2137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1610" y="2480310"/>
            <a:ext cx="5299075" cy="291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buClrTx/>
              <a:buSzTx/>
              <a:buFontTx/>
            </a:pPr>
            <a:r>
              <a:rPr lang="zh-CN" altLang="en-US" sz="1600" b="1"/>
              <a:t>从序列标注到生成式IE</a:t>
            </a:r>
            <a:endParaRPr lang="zh-CN" altLang="en-US" sz="1600" b="1"/>
          </a:p>
        </p:txBody>
      </p:sp>
      <p:sp>
        <p:nvSpPr>
          <p:cNvPr id="10" name="矩形 9"/>
          <p:cNvSpPr/>
          <p:nvPr/>
        </p:nvSpPr>
        <p:spPr>
          <a:xfrm>
            <a:off x="1160145" y="2518410"/>
            <a:ext cx="216000" cy="216000"/>
          </a:xfrm>
          <a:prstGeom prst="rect">
            <a:avLst/>
          </a:prstGeom>
          <a:noFill/>
          <a:ln w="28575">
            <a:solidFill>
              <a:srgbClr val="B0030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216400" y="3331210"/>
            <a:ext cx="1816735" cy="794385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2228850" y="3331210"/>
            <a:ext cx="1338580" cy="794385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"/>
          <p:cNvSpPr txBox="1"/>
          <p:nvPr/>
        </p:nvSpPr>
        <p:spPr>
          <a:xfrm>
            <a:off x="387891" y="441479"/>
            <a:ext cx="656336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范式转移：从判别式标注到生成式抽取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104265"/>
            <a:ext cx="5708015" cy="1089025"/>
          </a:xfrm>
        </p:spPr>
        <p:txBody>
          <a:bodyPr vert="horz" wrap="square" lIns="91440" tIns="45720" rIns="91440" bIns="45720" anchor="t" anchorCtr="0">
            <a:noAutofit/>
          </a:bodyPr>
          <a:p>
            <a:pPr marL="0" lvl="1" indent="0" algn="ctr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判别式</a:t>
            </a: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(Discriminative)</a:t>
            </a:r>
            <a:endParaRPr kumimoji="1" lang="en-US" altLang="zh-CN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ctr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b="1" kern="0" spc="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Sequence</a:t>
            </a:r>
            <a:r>
              <a:rPr b="1" kern="0" spc="38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b="1" kern="0" spc="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Labeling</a:t>
            </a:r>
            <a:endParaRPr kumimoji="1" lang="en-US" altLang="zh-CN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9585" y="3520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cxnSp>
        <p:nvCxnSpPr>
          <p:cNvPr id="2" name="直接连接符 1"/>
          <p:cNvCxnSpPr/>
          <p:nvPr/>
        </p:nvCxnSpPr>
        <p:spPr>
          <a:xfrm>
            <a:off x="6076950" y="1205865"/>
            <a:ext cx="0" cy="4672330"/>
          </a:xfrm>
          <a:prstGeom prst="line">
            <a:avLst/>
          </a:prstGeom>
          <a:ln w="31750" cap="rnd">
            <a:solidFill>
              <a:srgbClr val="A30303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2" name="textbox 152"/>
          <p:cNvSpPr/>
          <p:nvPr/>
        </p:nvSpPr>
        <p:spPr>
          <a:xfrm>
            <a:off x="197562" y="2732491"/>
            <a:ext cx="5879465" cy="1393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ts val="3475"/>
              </a:lnSpc>
            </a:pP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[0]→</a:t>
            </a:r>
            <a:r>
              <a:rPr sz="2500" kern="0" spc="-5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[0]→</a:t>
            </a:r>
            <a:r>
              <a:rPr sz="2500" kern="0" spc="-5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B-LOC]—→</a:t>
            </a:r>
            <a:r>
              <a:rPr sz="2500" kern="0" spc="-5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[I-LOC]</a:t>
            </a:r>
            <a:endParaRPr sz="2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</a:pPr>
            <a:r>
              <a:rPr sz="4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</a:t>
            </a:r>
            <a:r>
              <a:rPr sz="4500" kern="0" spc="16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爱</a:t>
            </a:r>
            <a:r>
              <a:rPr sz="4500" kern="0" spc="1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北京</a:t>
            </a:r>
            <a:r>
              <a:rPr sz="4700" kern="0" spc="5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4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天安门</a:t>
            </a:r>
            <a:endParaRPr sz="4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3390" y="47993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分类问题</a:t>
            </a:r>
            <a:r>
              <a:rPr lang="en-US"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: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受限于预定义标签集</a:t>
            </a:r>
            <a:endParaRPr lang="zh-CN" altLang="en-US" sz="2800" kern="0" spc="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8" name="Rectangle 3"/>
          <p:cNvSpPr>
            <a:spLocks noGrp="1"/>
          </p:cNvSpPr>
          <p:nvPr/>
        </p:nvSpPr>
        <p:spPr>
          <a:xfrm>
            <a:off x="6283960" y="1104265"/>
            <a:ext cx="5708015" cy="108902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生成式 (Generative)</a:t>
            </a:r>
            <a:endParaRPr kumimoji="1" lang="en-US" altLang="zh-CN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algn="ctr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b="1" kern="0" spc="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Seq2Seq</a:t>
            </a:r>
            <a:endParaRPr b="1" kern="0" spc="0" dirty="0">
              <a:solidFill>
                <a:srgbClr val="20305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lvl="1" algn="ctr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endParaRPr b="1" kern="0" spc="380" dirty="0">
              <a:solidFill>
                <a:srgbClr val="20305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8420" y="47993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翻译问题</a:t>
            </a:r>
            <a:r>
              <a:rPr lang="en-US" altLang="zh-CN"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:</a:t>
            </a:r>
            <a:r>
              <a:rPr lang="zh-CN" altLang="en-US"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直接生成结构化文本</a:t>
            </a:r>
            <a:endParaRPr lang="zh-CN" altLang="en-US" sz="2800" kern="0" spc="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9928900" y="2389160"/>
            <a:ext cx="2181860" cy="1922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buClrTx/>
              <a:buSzTx/>
              <a:buFontTx/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JSON:{</a:t>
            </a:r>
            <a:endParaRPr sz="2300" kern="0" spc="-20" dirty="0">
              <a:solidFill>
                <a:srgbClr val="000000">
                  <a:alpha val="100000"/>
                </a:srgbClr>
              </a:solidFill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  <a:p>
            <a:pPr marL="12700" algn="l" rtl="0" eaLnBrk="0">
              <a:lnSpc>
                <a:spcPct val="82000"/>
              </a:lnSpc>
              <a:spcBef>
                <a:spcPts val="570"/>
              </a:spcBef>
              <a:buClrTx/>
              <a:buSzTx/>
              <a:buFontTx/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"地名":[  "北京",  "天安门"]</a:t>
            </a:r>
            <a:endParaRPr sz="2300" kern="0" spc="-20" dirty="0">
              <a:solidFill>
                <a:srgbClr val="000000">
                  <a:alpha val="100000"/>
                </a:srgbClr>
              </a:solidFill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  <a:p>
            <a:pPr marL="12700" algn="l" rtl="0" eaLnBrk="0">
              <a:lnSpc>
                <a:spcPct val="82000"/>
              </a:lnSpc>
              <a:buClrTx/>
              <a:buSzTx/>
              <a:buFontTx/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}</a:t>
            </a:r>
            <a:endParaRPr sz="2300" kern="0" spc="-20" dirty="0">
              <a:solidFill>
                <a:srgbClr val="000000">
                  <a:alpha val="100000"/>
                </a:srgbClr>
              </a:solidFill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6283935" y="2565482"/>
            <a:ext cx="1621155" cy="1252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9000"/>
              </a:lnSpc>
            </a:pP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Input:</a:t>
            </a: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爱</a:t>
            </a:r>
            <a:r>
              <a:rPr sz="2500" kern="0" spc="-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北</a:t>
            </a:r>
            <a:r>
              <a:rPr sz="2500"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京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8000"/>
              </a:lnSpc>
              <a:spcBef>
                <a:spcPts val="200"/>
              </a:spcBef>
            </a:pPr>
            <a:r>
              <a:rPr sz="2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天安门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41924"/>
          <a:stretch>
            <a:fillRect/>
          </a:stretch>
        </p:blipFill>
        <p:spPr>
          <a:xfrm flipH="1">
            <a:off x="8333105" y="2732405"/>
            <a:ext cx="678815" cy="970280"/>
          </a:xfrm>
          <a:prstGeom prst="rect">
            <a:avLst/>
          </a:prstGeom>
        </p:spPr>
      </p:pic>
      <p:sp>
        <p:nvSpPr>
          <p:cNvPr id="61" name="箭头: 右 114"/>
          <p:cNvSpPr/>
          <p:nvPr/>
        </p:nvSpPr>
        <p:spPr>
          <a:xfrm>
            <a:off x="7782560" y="3110865"/>
            <a:ext cx="440690" cy="22034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0" name="箭头: 右 114"/>
          <p:cNvSpPr/>
          <p:nvPr/>
        </p:nvSpPr>
        <p:spPr>
          <a:xfrm>
            <a:off x="9121775" y="3110865"/>
            <a:ext cx="440690" cy="22034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95680" y="6062980"/>
            <a:ext cx="10444480" cy="434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670050" algn="l" rtl="0" eaLnBrk="0">
              <a:lnSpc>
                <a:spcPct val="93000"/>
              </a:lnSpc>
              <a:spcBef>
                <a:spcPts val="1170"/>
              </a:spcBef>
            </a:pPr>
            <a:r>
              <a:rPr sz="2400" b="1" kern="0" spc="-20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核心优势：统一</a:t>
            </a:r>
            <a:r>
              <a:rPr sz="2400" kern="0" spc="-65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2400" b="1" kern="0" spc="-200" dirty="0">
                <a:solidFill>
                  <a:srgbClr val="102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NER/RE/EE</a:t>
            </a:r>
            <a:r>
              <a:rPr sz="2400" b="1" kern="0" spc="-200" dirty="0">
                <a:solidFill>
                  <a:srgbClr val="102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形式，易于处理嵌套结构。</a:t>
            </a:r>
            <a:endParaRPr lang="zh-CN" altLang="en-US" sz="2400" b="1" kern="0" spc="-200" dirty="0">
              <a:solidFill>
                <a:srgbClr val="10204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162814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生成式</a:t>
            </a: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 IE</a:t>
            </a:r>
            <a:endParaRPr lang="en-US" alt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387985" y="1104265"/>
            <a:ext cx="11217910" cy="1493520"/>
          </a:xfrm>
        </p:spPr>
        <p:txBody>
          <a:bodyPr vert="horz" wrap="square" lIns="91440" tIns="45720" rIns="91440" bIns="45720" anchor="t" anchorCtr="0">
            <a:noAutofit/>
          </a:bodyPr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en-US" altLang="zh-CN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Text-to-Structure </a:t>
            </a:r>
            <a:r>
              <a:rPr kumimoji="1" lang="zh-CN" altLang="en-US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范式</a:t>
            </a:r>
            <a:endParaRPr kumimoji="1" lang="zh-CN" altLang="en-US" b="1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l" defTabSz="914400">
              <a:lnSpc>
                <a:spcPct val="150000"/>
              </a:lnSpc>
              <a:spcBef>
                <a:spcPts val="575"/>
              </a:spcBef>
              <a:buClrTx/>
              <a:buSzTx/>
              <a:buFont typeface="Wingdings" panose="05000000000000000000" charset="0"/>
              <a:buNone/>
            </a:pP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不再是对词元（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）做分类，而是将抽取任务定义为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将非结构化文本翻译成结构化标记语言</a:t>
            </a:r>
            <a:r>
              <a:rPr kumimoji="1"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kumimoji="1"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67170" y="3520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54" name="textbox 154"/>
          <p:cNvSpPr/>
          <p:nvPr/>
        </p:nvSpPr>
        <p:spPr>
          <a:xfrm>
            <a:off x="6941820" y="2947670"/>
            <a:ext cx="4455160" cy="142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buClrTx/>
              <a:buSzTx/>
              <a:buFontTx/>
            </a:pPr>
            <a:r>
              <a:rPr lang="en-US" altLang="zh-CN"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Output: {"</a:t>
            </a:r>
            <a:r>
              <a:rPr lang="zh-CN" altLang="en-US"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人名</a:t>
            </a:r>
            <a:r>
              <a:rPr lang="en-US" altLang="zh-CN"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": "</a:t>
            </a:r>
            <a:r>
              <a:rPr lang="zh-CN" altLang="en-US"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张三</a:t>
            </a:r>
            <a:r>
              <a:rPr lang="en-US" altLang="zh-CN"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", "</a:t>
            </a:r>
            <a:r>
              <a:rPr lang="zh-CN" altLang="en-US"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就读</a:t>
            </a:r>
            <a:r>
              <a:rPr lang="en-US" altLang="zh-CN"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": "</a:t>
            </a:r>
            <a:r>
              <a:rPr lang="zh-CN" altLang="en-US"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北京大学</a:t>
            </a:r>
            <a:r>
              <a:rPr lang="en-US" altLang="zh-CN" sz="2300" kern="0" spc="-20" dirty="0">
                <a:solidFill>
                  <a:srgbClr val="000000">
                    <a:alpha val="100000"/>
                  </a:srgbClr>
                </a:solidFill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"}</a:t>
            </a:r>
            <a:endParaRPr lang="en-US" altLang="zh-CN" sz="2300" kern="0" spc="-20" dirty="0">
              <a:solidFill>
                <a:srgbClr val="000000">
                  <a:alpha val="100000"/>
                </a:srgbClr>
              </a:solidFill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745490" y="3034030"/>
            <a:ext cx="4107815" cy="545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9000"/>
              </a:lnSpc>
            </a:pP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Input:</a:t>
            </a: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 altLang="en-US" sz="2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张三在</a:t>
            </a:r>
            <a:r>
              <a:rPr lang="zh-CN" altLang="en-US" sz="2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北京大学读书</a:t>
            </a:r>
            <a:endParaRPr lang="zh-CN" altLang="en-US"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41924"/>
          <a:stretch>
            <a:fillRect/>
          </a:stretch>
        </p:blipFill>
        <p:spPr>
          <a:xfrm flipH="1">
            <a:off x="5346065" y="2764790"/>
            <a:ext cx="678815" cy="970280"/>
          </a:xfrm>
          <a:prstGeom prst="rect">
            <a:avLst/>
          </a:prstGeom>
        </p:spPr>
      </p:pic>
      <p:sp>
        <p:nvSpPr>
          <p:cNvPr id="61" name="箭头: 右 114"/>
          <p:cNvSpPr/>
          <p:nvPr/>
        </p:nvSpPr>
        <p:spPr>
          <a:xfrm>
            <a:off x="4795520" y="3143250"/>
            <a:ext cx="440690" cy="22034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0" name="箭头: 右 114"/>
          <p:cNvSpPr/>
          <p:nvPr/>
        </p:nvSpPr>
        <p:spPr>
          <a:xfrm>
            <a:off x="6134735" y="3143250"/>
            <a:ext cx="440690" cy="22034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7985" y="4015740"/>
            <a:ext cx="10414635" cy="16700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/>
              <a:t>打破“孤岛”效应</a:t>
            </a:r>
            <a:endParaRPr lang="zh-CN" altLang="en-US" sz="1600"/>
          </a:p>
          <a:p>
            <a:pPr marL="0" lvl="1" algn="l">
              <a:lnSpc>
                <a:spcPct val="150000"/>
              </a:lnSpc>
              <a:spcBef>
                <a:spcPts val="575"/>
              </a:spcBef>
              <a:spcAft>
                <a:spcPts val="600"/>
              </a:spcAft>
              <a:buClrTx/>
              <a:buSzTx/>
              <a:buFont typeface="Wingdings" panose="05000000000000000000" charset="0"/>
            </a:pPr>
            <a:r>
              <a:rPr kumimoji="1" lang="zh-CN" altLang="en-US" sz="160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跨领域泛化：凭借 LLM 内部庞大的知识储备，模型可以理解未曾见过的实体类型。</a:t>
            </a:r>
            <a:endParaRPr kumimoji="1" lang="zh-CN" altLang="en-US" sz="160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  <a:spcBef>
                <a:spcPts val="575"/>
              </a:spcBef>
              <a:spcAft>
                <a:spcPts val="600"/>
              </a:spcAft>
              <a:buClrTx/>
              <a:buSzTx/>
              <a:buFont typeface="Wingdings" panose="05000000000000000000" charset="0"/>
            </a:pPr>
            <a:r>
              <a:rPr kumimoji="1" lang="zh-CN" altLang="en-US" sz="160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Schema-free 的力量：用户可以通过自然语言即时定义抽取目标（如：“请提取文中提到的所有‘反派人物’及其‘超能力’”），无需重新训练。</a:t>
            </a:r>
            <a:endParaRPr kumimoji="1" lang="zh-CN" altLang="en-US" sz="160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74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75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76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77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78.xml><?xml version="1.0" encoding="utf-8"?>
<p:tagLst xmlns:p="http://schemas.openxmlformats.org/presentationml/2006/main">
  <p:tag name="KSO_WM_DIAGRAM_VIRTUALLY_FRAME" val="{&quot;height&quot;:300.30283464566924,&quot;left&quot;:45.85,&quot;top&quot;:132.16417322834644,&quot;width&quot;:347.39606299212596}"/>
</p:tagLst>
</file>

<file path=ppt/tags/tag79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80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81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82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83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84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85.xml><?xml version="1.0" encoding="utf-8"?>
<p:tagLst xmlns:p="http://schemas.openxmlformats.org/presentationml/2006/main">
  <p:tag name="KSO_WM_DIAGRAM_VIRTUALLY_FRAME" val="{&quot;height&quot;:300.30283464566924,&quot;left&quot;:45.85,&quot;top&quot;:132.16417322834644,&quot;width&quot;:347.39606299212596}"/>
</p:tagLst>
</file>

<file path=ppt/tags/tag86.xml><?xml version="1.0" encoding="utf-8"?>
<p:tagLst xmlns:p="http://schemas.openxmlformats.org/presentationml/2006/main">
  <p:tag name="KSO_WM_DIAGRAM_VIRTUALLY_FRAME" val="{&quot;height&quot;:482.7,&quot;left&quot;:30.55,&quot;top&quot;:83.05,&quot;width&quot;:582.4}"/>
</p:tagLst>
</file>

<file path=ppt/tags/tag87.xml><?xml version="1.0" encoding="utf-8"?>
<p:tagLst xmlns:p="http://schemas.openxmlformats.org/presentationml/2006/main">
  <p:tag name="KSO_WM_DIAGRAM_VIRTUALLY_FRAME" val="{&quot;height&quot;:482.7,&quot;left&quot;:30.55,&quot;top&quot;:83.05,&quot;width&quot;:582.4}"/>
</p:tagLst>
</file>

<file path=ppt/tags/tag88.xml><?xml version="1.0" encoding="utf-8"?>
<p:tagLst xmlns:p="http://schemas.openxmlformats.org/presentationml/2006/main">
  <p:tag name="KSO_WM_DIAGRAM_VIRTUALLY_FRAME" val="{&quot;height&quot;:482.7,&quot;left&quot;:30.55,&quot;top&quot;:83.05,&quot;width&quot;:582.4}"/>
</p:tagLst>
</file>

<file path=ppt/tags/tag89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ags/tag90.xml><?xml version="1.0" encoding="utf-8"?>
<p:tagLst xmlns:p="http://schemas.openxmlformats.org/presentationml/2006/main">
  <p:tag name="KSO_WM_DIAGRAM_VIRTUALLY_FRAME" val="{&quot;height&quot;:317.53582677165355,&quot;left&quot;:14.55,&quot;top&quot;:132.16417322834644,&quot;width&quot;:920.9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4264</Words>
  <Application>WPS 演示</Application>
  <PresentationFormat>宽屏</PresentationFormat>
  <Paragraphs>309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宋体</vt:lpstr>
      <vt:lpstr>Wingdings</vt:lpstr>
      <vt:lpstr>Wingdings</vt:lpstr>
      <vt:lpstr>微软雅黑</vt:lpstr>
      <vt:lpstr>Microsoft Sans Serif</vt:lpstr>
      <vt:lpstr>Times New Roman</vt:lpstr>
      <vt:lpstr>Verdana</vt:lpstr>
      <vt:lpstr>Arial Unicode MS</vt:lpstr>
      <vt:lpstr>Calibri</vt:lpstr>
      <vt:lpstr>思源黑体 CN Bold</vt:lpstr>
      <vt:lpstr>Cambria Math</vt:lpstr>
      <vt:lpstr>MS Mincho</vt:lpstr>
      <vt:lpstr>Segoe Print</vt:lpstr>
      <vt:lpstr>Times New Roman</vt:lpstr>
      <vt:lpstr>Arial</vt:lpstr>
      <vt:lpstr>黑体</vt:lpstr>
      <vt:lpstr>Cascadia Code</vt:lpstr>
      <vt:lpstr>WPS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Sakura</cp:lastModifiedBy>
  <cp:revision>191</cp:revision>
  <dcterms:created xsi:type="dcterms:W3CDTF">2019-06-19T02:08:00Z</dcterms:created>
  <dcterms:modified xsi:type="dcterms:W3CDTF">2026-02-07T15:30:11Z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13E347ED179448C28BF424329039EBD0_11</vt:lpwstr>
  </property>
</Properties>
</file>