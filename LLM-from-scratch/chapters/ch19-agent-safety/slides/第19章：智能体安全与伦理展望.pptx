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2" r:id="rId5"/>
    <p:sldId id="518" r:id="rId6"/>
    <p:sldId id="493" r:id="rId7"/>
    <p:sldId id="601" r:id="rId8"/>
    <p:sldId id="602" r:id="rId9"/>
    <p:sldId id="603" r:id="rId10"/>
    <p:sldId id="606" r:id="rId11"/>
    <p:sldId id="605" r:id="rId12"/>
    <p:sldId id="607" r:id="rId13"/>
    <p:sldId id="608" r:id="rId14"/>
    <p:sldId id="609" r:id="rId15"/>
    <p:sldId id="610" r:id="rId16"/>
    <p:sldId id="611" r:id="rId17"/>
    <p:sldId id="612" r:id="rId18"/>
    <p:sldId id="613" r:id="rId19"/>
    <p:sldId id="614" r:id="rId20"/>
    <p:sldId id="616" r:id="rId21"/>
    <p:sldId id="619" r:id="rId22"/>
    <p:sldId id="620" r:id="rId23"/>
    <p:sldId id="621" r:id="rId24"/>
    <p:sldId id="622" r:id="rId25"/>
    <p:sldId id="623" r:id="rId26"/>
    <p:sldId id="624" r:id="rId27"/>
    <p:sldId id="626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7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015"/>
    <a:srgbClr val="FFFFFF"/>
    <a:srgbClr val="FFBBCD"/>
    <a:srgbClr val="FFEEF2"/>
    <a:srgbClr val="FFEFF2"/>
    <a:srgbClr val="FFC0CD"/>
    <a:srgbClr val="FF005F"/>
    <a:srgbClr val="AC6E6E"/>
    <a:srgbClr val="FFF0F2"/>
    <a:srgbClr val="FFC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47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74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3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6f0fefd-df93-41ce-a6cb-17c2565ab5a2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汉仪旗黑-55简" panose="00020600040101010101" pitchFamily="18" charset="-122"/>
          <a:ea typeface="汉仪旗黑-55简" panose="00020600040101010101" pitchFamily="18" charset="-122"/>
          <a:cs typeface="等线" panose="02010600030101010101" charset="-122"/>
          <a:sym typeface="汉仪旗黑-55简" panose="00020600040101010101" pitchFamily="18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33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195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1195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1195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195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alignAccFollowNode1">
    <dgm:fillClrLst meth="repeat">
      <a:srgbClr val="9B0D14">
        <a:alpha val="90000"/>
        <a:tint val="40000"/>
      </a:srgbClr>
    </dgm:fillClrLst>
    <dgm:linClrLst meth="repeat">
      <a:srgbClr val="9B0D14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alignImgPlace1">
    <dgm:fillClrLst meth="repeat">
      <a:srgbClr val="9B0D14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alignNode1">
    <dgm:fillClrLst meth="repeat">
      <a:srgbClr val="9B0D14"/>
    </dgm:fillClrLst>
    <dgm:linClrLst meth="repeat">
      <a:srgbClr val="9B0D14"/>
    </dgm:linClrLst>
    <dgm:effectClrLst/>
    <dgm:txLinClrLst/>
    <dgm:txFillClrLst/>
    <dgm:txEffectClrLst/>
  </dgm:styleLbl>
  <dgm:styleLbl name="asst0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asst1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asst2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asst3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asst4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bgAcc1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bgAccFollowNode1">
    <dgm:fillClrLst meth="repeat">
      <a:srgbClr val="9B0D14">
        <a:alpha val="90000"/>
        <a:tint val="40000"/>
      </a:srgbClr>
    </dgm:fillClrLst>
    <dgm:linClrLst meth="repeat">
      <a:srgbClr val="9B0D14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bgImgPlace1">
    <dgm:fillClrLst meth="repeat">
      <a:srgbClr val="9B0D14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bgShp">
    <dgm:fillClrLst meth="repeat">
      <a:srgbClr val="9B0D14">
        <a:tint val="40000"/>
      </a:srgb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bgSibTrans2D1">
    <dgm:fillClrLst meth="repeat">
      <a:srgbClr val="9B0D14">
        <a:tint val="60000"/>
      </a:srgbClr>
    </dgm:fillClrLst>
    <dgm:linClrLst meth="repeat">
      <a:srgbClr val="9B0D14">
        <a:tint val="60000"/>
      </a:srgbClr>
    </dgm:linClrLst>
    <dgm:effectClrLst/>
    <dgm:txLinClrLst/>
    <dgm:txFillClrLst/>
    <dgm:txEffectClrLst/>
  </dgm:styleLbl>
  <dgm:styleLbl name="callout">
    <dgm:fillClrLst meth="repeat">
      <a:srgbClr val="9B0D14"/>
    </dgm:fillClrLst>
    <dgm:linClrLst meth="repeat">
      <a:srgbClr val="9B0D14">
        <a:tint val="50000"/>
      </a:srgbClr>
    </dgm:linClrLst>
    <dgm:effectClrLst/>
    <dgm:txLinClrLst/>
    <dgm:txFillClrLst meth="repeat">
      <a:sysClr val="windowText" lastClr="000000"/>
    </dgm:txFillClrLst>
    <dgm:txEffectClrLst/>
  </dgm:styleLbl>
  <dgm:styleLbl name="conFgAcc1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dkBgShp">
    <dgm:fillClrLst meth="repeat">
      <a:srgbClr val="9B0D14">
        <a:shade val="80000"/>
      </a:srgbClr>
    </dgm:fillClrLst>
    <dgm:linClrLst meth="repeat">
      <a:srgbClr val="9B0D14"/>
    </dgm:linClrLst>
    <dgm:effectClrLst/>
    <dgm:txLinClrLst/>
    <dgm:txFillClrLst meth="repeat">
      <a:sysClr val="window" lastClr="FFFFFF"/>
    </dgm:txFillClrLst>
    <dgm:txEffectClrLst/>
  </dgm:styleLbl>
  <dgm:styleLbl name="fgAcc0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fgAcc1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fgAcc2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fgAcc3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fgAcc4">
    <dgm:fillClrLst meth="repeat">
      <a:sysClr val="window" lastClr="FFFFFF">
        <a:alpha val="9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fgAccFollowNode1">
    <dgm:fillClrLst meth="repeat">
      <a:srgbClr val="9B0D14">
        <a:alpha val="90000"/>
        <a:tint val="40000"/>
      </a:srgbClr>
    </dgm:fillClrLst>
    <dgm:linClrLst meth="repeat">
      <a:srgbClr val="9B0D14">
        <a:alpha val="90000"/>
        <a:tint val="40000"/>
      </a:srgbClr>
    </dgm:linClrLst>
    <dgm:effectClrLst/>
    <dgm:txLinClrLst/>
    <dgm:txFillClrLst meth="repeat">
      <a:sysClr val="windowText" lastClr="000000"/>
    </dgm:txFillClrLst>
    <dgm:txEffectClrLst/>
  </dgm:styleLbl>
  <dgm:styleLbl name="fgImgPlace1">
    <dgm:fillClrLst meth="repeat">
      <a:srgbClr val="9B0D14">
        <a:tint val="50000"/>
      </a:srgbClr>
    </dgm:fillClrLst>
    <dgm:linClrLst meth="repeat">
      <a:sysClr val="window" lastClr="FFFFFF"/>
    </dgm:linClrLst>
    <dgm:effectClrLst/>
    <dgm:txLinClrLst/>
    <dgm:txFillClrLst meth="repeat">
      <a:sysClr val="window" lastClr="FFFFFF"/>
    </dgm:txFillClrLst>
    <dgm:txEffectClrLst/>
  </dgm:styleLbl>
  <dgm:styleLbl name="fgShp">
    <dgm:fillClrLst meth="repeat">
      <a:srgbClr val="9B0D14">
        <a:tint val="60000"/>
      </a:srgbClr>
    </dgm:fillClrLst>
    <dgm:linClrLst meth="repeat">
      <a:sysClr val="window" lastClr="FFFFFF"/>
    </dgm:linClrLst>
    <dgm:effectClrLst/>
    <dgm:txLinClrLst/>
    <dgm:txFillClrLst meth="repeat">
      <a:sysClr val="windowText" lastClr="000000"/>
    </dgm:txFillClrLst>
    <dgm:txEffectClrLst/>
  </dgm:styleLbl>
  <dgm:styleLbl name="fgSibTrans2D1">
    <dgm:fillClrLst meth="repeat">
      <a:srgbClr val="9B0D14">
        <a:tint val="60000"/>
      </a:srgbClr>
    </dgm:fillClrLst>
    <dgm:linClrLst meth="repeat">
      <a:srgbClr val="9B0D14">
        <a:tint val="60000"/>
      </a:srgbClr>
    </dgm:linClrLst>
    <dgm:effectClrLst/>
    <dgm:txLinClrLst/>
    <dgm:txFillClrLst/>
    <dgm:txEffectClrLst/>
  </dgm:styleLbl>
  <dgm:styleLbl name="lnNode1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node0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node1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node2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node3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node4">
    <dgm:fillClrLst meth="repeat">
      <a:srgbClr val="9B0D14"/>
    </dgm:fillClrLst>
    <dgm:linClrLst meth="repeat">
      <a:sysClr val="window" lastClr="FFFFFF"/>
    </dgm:linClrLst>
    <dgm:effectClrLst/>
    <dgm:txLinClrLst/>
    <dgm:txFillClrLst/>
    <dgm:txEffectClrLst/>
  </dgm:styleLbl>
  <dgm:styleLbl name="parChTrans1D1">
    <dgm:fillClrLst meth="repeat">
      <a:srgbClr val="9B0D14"/>
    </dgm:fillClrLst>
    <dgm:linClrLst meth="repeat">
      <a:srgbClr val="9B0D14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2">
    <dgm:fillClrLst meth="repeat">
      <a:srgbClr val="9B0D14"/>
    </dgm:fillClrLst>
    <dgm:linClrLst meth="repeat">
      <a:srgbClr val="9B0D14">
        <a:shade val="6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3">
    <dgm:fillClrLst meth="repeat">
      <a:srgbClr val="9B0D14"/>
    </dgm:fillClrLst>
    <dgm:linClrLst meth="repeat">
      <a:srgbClr val="9B0D14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1D4">
    <dgm:fillClrLst meth="repeat">
      <a:srgbClr val="9B0D14"/>
    </dgm:fillClrLst>
    <dgm:linClrLst meth="repeat">
      <a:srgbClr val="9B0D14">
        <a:shade val="80000"/>
      </a:srgbClr>
    </dgm:linClrLst>
    <dgm:effectClrLst/>
    <dgm:txLinClrLst/>
    <dgm:txFillClrLst meth="repeat">
      <a:sysClr val="windowText" lastClr="000000"/>
    </dgm:txFillClrLst>
    <dgm:txEffectClrLst/>
  </dgm:styleLbl>
  <dgm:styleLbl name="parChTrans2D1">
    <dgm:fillClrLst meth="repeat">
      <a:srgbClr val="9B0D14">
        <a:tint val="60000"/>
      </a:srgbClr>
    </dgm:fillClrLst>
    <dgm:linClrLst meth="repeat">
      <a:srgbClr val="9B0D14">
        <a:tint val="60000"/>
      </a:srgbClr>
    </dgm:linClrLst>
    <dgm:effectClrLst/>
    <dgm:txLinClrLst/>
    <dgm:txFillClrLst meth="repeat">
      <a:sysClr val="window" lastClr="FFFFFF"/>
    </dgm:txFillClrLst>
    <dgm:txEffectClrLst/>
  </dgm:styleLbl>
  <dgm:styleLbl name="parChTrans2D2">
    <dgm:fillClrLst meth="repeat">
      <a:srgbClr val="9B0D14"/>
    </dgm:fillClrLst>
    <dgm:linClrLst meth="repeat">
      <a:srgbClr val="9B0D14"/>
    </dgm:linClrLst>
    <dgm:effectClrLst/>
    <dgm:txLinClrLst/>
    <dgm:txFillClrLst meth="repeat">
      <a:sysClr val="window" lastClr="FFFFFF"/>
    </dgm:txFillClrLst>
    <dgm:txEffectClrLst/>
  </dgm:styleLbl>
  <dgm:styleLbl name="parChTrans2D3">
    <dgm:fillClrLst meth="repeat">
      <a:srgbClr val="9B0D14"/>
    </dgm:fillClrLst>
    <dgm:linClrLst meth="repeat">
      <a:srgbClr val="9B0D14"/>
    </dgm:linClrLst>
    <dgm:effectClrLst/>
    <dgm:txLinClrLst/>
    <dgm:txFillClrLst meth="repeat">
      <a:sysClr val="window" lastClr="FFFFFF"/>
    </dgm:txFillClrLst>
    <dgm:txEffectClrLst/>
  </dgm:styleLbl>
  <dgm:styleLbl name="parChTrans2D4">
    <dgm:fillClrLst meth="repeat">
      <a:srgbClr val="9B0D14"/>
    </dgm:fillClrLst>
    <dgm:linClrLst meth="repeat">
      <a:srgbClr val="9B0D14"/>
    </dgm:linClrLst>
    <dgm:effectClrLst/>
    <dgm:txLinClrLst/>
    <dgm:txFillClrLst meth="repeat">
      <a:sysClr val="window" lastClr="FFFFFF"/>
    </dgm:txFillClrLst>
    <dgm:txEffectClrLst/>
  </dgm:styleLbl>
  <dgm:styleLbl name="revTx">
    <dgm:fillClrLst meth="repeat">
      <a:sysClr val="window" lastClr="FFFFFF">
        <a:alpha val="0"/>
      </a:sysClr>
    </dgm:fillClrLst>
    <dgm:linClrLst meth="repeat">
      <a:sysClr val="windowText" lastClr="000000">
        <a:alpha val="0"/>
      </a:sysClr>
    </dgm:linClrLst>
    <dgm:effectClrLst/>
    <dgm:txLinClrLst/>
    <dgm:txFillClrLst meth="repeat">
      <a:sysClr val="windowText" lastClr="000000"/>
    </dgm:txFillClrLst>
    <dgm:txEffectClrLst/>
  </dgm:styleLbl>
  <dgm:styleLbl name="sibTrans1D1">
    <dgm:fillClrLst meth="repeat">
      <a:srgbClr val="9B0D14"/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sibTrans2D1">
    <dgm:fillClrLst meth="repeat">
      <a:srgbClr val="9B0D14">
        <a:tint val="60000"/>
      </a:srgbClr>
    </dgm:fillClrLst>
    <dgm:linClrLst meth="repeat">
      <a:srgbClr val="9B0D14">
        <a:tint val="60000"/>
      </a:srgbClr>
    </dgm:linClrLst>
    <dgm:effectClrLst/>
    <dgm:txLinClrLst/>
    <dgm:txFillClrLst/>
    <dgm:txEffectClrLst/>
  </dgm:styleLbl>
  <dgm:styleLbl name="solidAlignAcc1">
    <dgm:fillClrLst meth="repeat">
      <a:sysClr val="window" lastClr="FFFFFF"/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solidBgAcc1">
    <dgm:fillClrLst meth="repeat">
      <a:sysClr val="window" lastClr="FFFFFF"/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solidFgAcc1">
    <dgm:fillClrLst meth="repeat">
      <a:sysClr val="window" lastClr="FFFFFF"/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trAlignAcc1">
    <dgm:fillClrLst meth="repeat">
      <a:sysClr val="window" lastClr="FFFFFF">
        <a:alpha val="40000"/>
      </a:sysClr>
    </dgm:fillClrLst>
    <dgm:linClrLst meth="repeat">
      <a:srgbClr val="9B0D14"/>
    </dgm:linClrLst>
    <dgm:effectClrLst/>
    <dgm:txLinClrLst/>
    <dgm:txFillClrLst meth="repeat">
      <a:sysClr val="windowText" lastClr="000000"/>
    </dgm:txFillClrLst>
    <dgm:txEffectClrLst/>
  </dgm:styleLbl>
  <dgm:styleLbl name="trBgShp">
    <dgm:fillClrLst meth="repeat">
      <a:srgbClr val="9B0D14">
        <a:tint val="50000"/>
        <a:alpha val="40000"/>
      </a:srgbClr>
    </dgm:fillClrLst>
    <dgm:linClrLst meth="repeat">
      <a:srgbClr val="9B0D14"/>
    </dgm:linClrLst>
    <dgm:effectClrLst/>
    <dgm:txLinClrLst/>
    <dgm:txFillClrLst meth="repeat">
      <a:sysClr val="window" lastClr="FFFFFF"/>
    </dgm:txFillClrLst>
    <dgm:txEffectClrLst/>
  </dgm:styleLbl>
  <dgm:styleLbl name="vennNode1">
    <dgm:fillClrLst meth="repeat">
      <a:srgbClr val="9B0D14">
        <a:alpha val="50000"/>
      </a:srgbClr>
    </dgm:fillClrLst>
    <dgm:linClrLst meth="repeat">
      <a:sysClr val="window" lastClr="FFFFFF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47C04-40C0-4F66-9DF8-E4F77479148B}" type="doc">
      <dgm:prSet loTypeId="urn:microsoft.com/office/officeart/2005/8/layout/pyramid1" loCatId="pyramid" qsTypeId="urn:microsoft.com/office/officeart/2005/8/quickstyle/3d5" qsCatId="3D" csTypeId="urn:microsoft.com/office/officeart/2005/8/colors/accent1_2" csCatId="accent1" phldr="1"/>
      <dgm:spPr>
        <a:scene3d>
          <a:camera prst="isometricOffAxis1Right" zoom="95000"/>
          <a:lightRig rig="flat" dir="t"/>
        </a:scene3d>
      </dgm:spPr>
    </dgm:pt>
    <dgm:pt modelId="{C7AAD326-ABA5-47AE-BB31-C6C965443D64}">
      <dgm:prSet phldrT="[文本]" phldr="0" custT="0"/>
      <dgm:spPr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ysClr val="window" lastClr="FFFFFF"/>
              </a:solidFill>
            </a:rPr>
            <a:t>3</a:t>
          </a:r>
          <a:r>
            <a:rPr lang="en-US" altLang="zh-CN" dirty="0">
              <a:solidFill>
                <a:sysClr val="window" lastClr="FFFFFF"/>
              </a:solidFill>
            </a:rPr>
            <a:t/>
          </a:r>
          <a:endParaRPr lang="en-US" altLang="zh-CN" dirty="0">
            <a:solidFill>
              <a:sysClr val="window" lastClr="FFFFFF"/>
            </a:solidFill>
          </a:endParaRPr>
        </a:p>
      </dgm:t>
    </dgm:pt>
    <dgm:pt modelId="{03344C24-1C1B-4ED3-B319-079A578A52F9}" cxnId="{B7B82D05-0DD1-4735-96EB-44C41A860636}" type="parTrans">
      <dgm:prSet/>
      <dgm:spPr/>
      <dgm:t>
        <a:bodyPr/>
        <a:lstStyle/>
        <a:p>
          <a:endParaRPr lang="zh-CN" altLang="en-US"/>
        </a:p>
      </dgm:t>
    </dgm:pt>
    <dgm:pt modelId="{BC60F399-1C56-436A-9773-C0DB09ADC8F6}" cxnId="{B7B82D05-0DD1-4735-96EB-44C41A860636}" type="sibTrans">
      <dgm:prSet/>
      <dgm:spPr/>
      <dgm:t>
        <a:bodyPr/>
        <a:lstStyle/>
        <a:p>
          <a:endParaRPr lang="zh-CN" altLang="en-US"/>
        </a:p>
      </dgm:t>
    </dgm:pt>
    <dgm:pt modelId="{3C043E90-A847-41B2-85CF-3C7E99A90FD1}">
      <dgm:prSet phldrT="[文本]"/>
      <dgm:spPr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gm:spPr>
      <dgm:t>
        <a:bodyPr/>
        <a:lstStyle/>
        <a:p>
          <a:r>
            <a:rPr lang="en-US" altLang="zh-CN" dirty="0">
              <a:solidFill>
                <a:sysClr val="window" lastClr="FFFFFF"/>
              </a:solidFill>
            </a:rPr>
            <a:t>2</a:t>
          </a:r>
          <a:endParaRPr lang="zh-CN" altLang="en-US" dirty="0">
            <a:solidFill>
              <a:sysClr val="window" lastClr="FFFFFF"/>
            </a:solidFill>
          </a:endParaRPr>
        </a:p>
      </dgm:t>
    </dgm:pt>
    <dgm:pt modelId="{19CA85EF-BA7B-4BA3-B893-9F07A4ED75AB}" cxnId="{6C1EDA9D-38FD-45B2-A6F7-AA1DAE597585}" type="parTrans">
      <dgm:prSet/>
      <dgm:spPr/>
      <dgm:t>
        <a:bodyPr/>
        <a:lstStyle/>
        <a:p>
          <a:endParaRPr lang="zh-CN" altLang="en-US"/>
        </a:p>
      </dgm:t>
    </dgm:pt>
    <dgm:pt modelId="{9A8559EA-7DB5-4D94-8752-4C30F3C5721A}" cxnId="{6C1EDA9D-38FD-45B2-A6F7-AA1DAE597585}" type="sibTrans">
      <dgm:prSet/>
      <dgm:spPr/>
      <dgm:t>
        <a:bodyPr/>
        <a:lstStyle/>
        <a:p>
          <a:endParaRPr lang="zh-CN" altLang="en-US"/>
        </a:p>
      </dgm:t>
    </dgm:pt>
    <dgm:pt modelId="{1C44AD0A-7BBA-4CC7-86F8-A79F37C9F97C}">
      <dgm:prSet phldrT="[文本]" phldr="0" custT="0"/>
      <dgm:spPr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ysClr val="window" lastClr="FFFFFF"/>
              </a:solidFill>
            </a:rPr>
            <a:t>1</a:t>
          </a:r>
          <a:r>
            <a:rPr lang="en-US" altLang="zh-CN" dirty="0">
              <a:solidFill>
                <a:sysClr val="window" lastClr="FFFFFF"/>
              </a:solidFill>
            </a:rPr>
            <a:t/>
          </a:r>
          <a:endParaRPr lang="en-US" altLang="zh-CN" dirty="0">
            <a:solidFill>
              <a:sysClr val="window" lastClr="FFFFFF"/>
            </a:solidFill>
          </a:endParaRPr>
        </a:p>
      </dgm:t>
    </dgm:pt>
    <dgm:pt modelId="{E12ECEE0-2D94-484C-80A6-915E13F5B334}" cxnId="{6108C59B-1617-45F6-9E9A-857B1C5C44FF}" type="parTrans">
      <dgm:prSet/>
      <dgm:spPr/>
      <dgm:t>
        <a:bodyPr/>
        <a:lstStyle/>
        <a:p>
          <a:endParaRPr lang="zh-CN" altLang="en-US"/>
        </a:p>
      </dgm:t>
    </dgm:pt>
    <dgm:pt modelId="{347844AE-B792-432B-8A9A-91A756A97744}" cxnId="{6108C59B-1617-45F6-9E9A-857B1C5C44FF}" type="sibTrans">
      <dgm:prSet/>
      <dgm:spPr/>
      <dgm:t>
        <a:bodyPr/>
        <a:lstStyle/>
        <a:p>
          <a:endParaRPr lang="zh-CN" altLang="en-US"/>
        </a:p>
      </dgm:t>
    </dgm:pt>
    <dgm:pt modelId="{0AE233F8-DCC8-4A9E-A77B-C2B41CFFD409}" type="pres">
      <dgm:prSet presAssocID="{51C47C04-40C0-4F66-9DF8-E4F77479148B}" presName="Name0" presStyleCnt="0">
        <dgm:presLayoutVars>
          <dgm:dir/>
          <dgm:animLvl val="lvl"/>
          <dgm:resizeHandles val="exact"/>
        </dgm:presLayoutVars>
      </dgm:prSet>
      <dgm:spPr/>
    </dgm:pt>
    <dgm:pt modelId="{F59A20D7-543F-4A68-9B2E-E45A6D299443}" type="pres">
      <dgm:prSet presAssocID="{C7AAD326-ABA5-47AE-BB31-C6C965443D64}" presName="Name8" presStyleCnt="0"/>
      <dgm:spPr/>
    </dgm:pt>
    <dgm:pt modelId="{DE66AB46-B18C-4910-B2D4-5BFA6420167A}" type="pres">
      <dgm:prSet presAssocID="{C7AAD326-ABA5-47AE-BB31-C6C965443D64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40DAC22-7334-4A18-80F6-1F43BDB1ADA3}" type="pres">
      <dgm:prSet presAssocID="{C7AAD326-ABA5-47AE-BB31-C6C965443D64}" presName="levelTx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CFD96C-7F7A-4A99-9993-12DA0D10305A}" type="pres">
      <dgm:prSet presAssocID="{3C043E90-A847-41B2-85CF-3C7E99A90FD1}" presName="Name8" presStyleCnt="0"/>
      <dgm:spPr/>
    </dgm:pt>
    <dgm:pt modelId="{6495E7B5-0F8F-4CE9-A3B8-97D2F3CD441F}" type="pres">
      <dgm:prSet presAssocID="{3C043E90-A847-41B2-85CF-3C7E99A90FD1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F34C045-22A0-49A6-8712-20B08257502B}" type="pres">
      <dgm:prSet presAssocID="{3C043E90-A847-41B2-85CF-3C7E99A90FD1}" presName="levelTx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FAE6B0-BED4-4767-86EB-282A190124AD}" type="pres">
      <dgm:prSet presAssocID="{1C44AD0A-7BBA-4CC7-86F8-A79F37C9F97C}" presName="Name8" presStyleCnt="0"/>
      <dgm:spPr/>
    </dgm:pt>
    <dgm:pt modelId="{F7501776-9A8E-4AA8-9691-306061606758}" type="pres">
      <dgm:prSet presAssocID="{1C44AD0A-7BBA-4CC7-86F8-A79F37C9F97C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DA96BE8-08EC-4EDE-BC36-89D3046553CA}" type="pres">
      <dgm:prSet presAssocID="{1C44AD0A-7BBA-4CC7-86F8-A79F37C9F97C}" presName="levelTx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7B82D05-0DD1-4735-96EB-44C41A860636}" srcId="{51C47C04-40C0-4F66-9DF8-E4F77479148B}" destId="{C7AAD326-ABA5-47AE-BB31-C6C965443D64}" srcOrd="0" destOrd="0" parTransId="{03344C24-1C1B-4ED3-B319-079A578A52F9}" sibTransId="{BC60F399-1C56-436A-9773-C0DB09ADC8F6}"/>
    <dgm:cxn modelId="{6C1EDA9D-38FD-45B2-A6F7-AA1DAE597585}" srcId="{51C47C04-40C0-4F66-9DF8-E4F77479148B}" destId="{3C043E90-A847-41B2-85CF-3C7E99A90FD1}" srcOrd="1" destOrd="0" parTransId="{19CA85EF-BA7B-4BA3-B893-9F07A4ED75AB}" sibTransId="{9A8559EA-7DB5-4D94-8752-4C30F3C5721A}"/>
    <dgm:cxn modelId="{6108C59B-1617-45F6-9E9A-857B1C5C44FF}" srcId="{51C47C04-40C0-4F66-9DF8-E4F77479148B}" destId="{1C44AD0A-7BBA-4CC7-86F8-A79F37C9F97C}" srcOrd="2" destOrd="0" parTransId="{E12ECEE0-2D94-484C-80A6-915E13F5B334}" sibTransId="{347844AE-B792-432B-8A9A-91A756A97744}"/>
    <dgm:cxn modelId="{7875BE34-ECF6-45A7-902F-32B539756E55}" type="presOf" srcId="{51C47C04-40C0-4F66-9DF8-E4F77479148B}" destId="{0AE233F8-DCC8-4A9E-A77B-C2B41CFFD409}" srcOrd="0" destOrd="0" presId="urn:microsoft.com/office/officeart/2005/8/layout/pyramid1"/>
    <dgm:cxn modelId="{C7E03FD7-1A64-4821-8B2D-0BEC2016BF6C}" type="presParOf" srcId="{0AE233F8-DCC8-4A9E-A77B-C2B41CFFD409}" destId="{F59A20D7-543F-4A68-9B2E-E45A6D299443}" srcOrd="0" destOrd="0" presId="urn:microsoft.com/office/officeart/2005/8/layout/pyramid1"/>
    <dgm:cxn modelId="{48ECB50B-CE39-475C-8218-B6F0E1098E94}" type="presParOf" srcId="{F59A20D7-543F-4A68-9B2E-E45A6D299443}" destId="{DE66AB46-B18C-4910-B2D4-5BFA6420167A}" srcOrd="0" destOrd="0" presId="urn:microsoft.com/office/officeart/2005/8/layout/pyramid1"/>
    <dgm:cxn modelId="{A4B148E9-FFF4-4302-AD96-19FF934E3B6A}" type="presOf" srcId="{C7AAD326-ABA5-47AE-BB31-C6C965443D64}" destId="{DE66AB46-B18C-4910-B2D4-5BFA6420167A}" srcOrd="0" destOrd="0" presId="urn:microsoft.com/office/officeart/2005/8/layout/pyramid1"/>
    <dgm:cxn modelId="{7030E1D6-5DC5-4F69-B634-4BD6FE0DAE49}" type="presParOf" srcId="{F59A20D7-543F-4A68-9B2E-E45A6D299443}" destId="{F40DAC22-7334-4A18-80F6-1F43BDB1ADA3}" srcOrd="1" destOrd="0" presId="urn:microsoft.com/office/officeart/2005/8/layout/pyramid1"/>
    <dgm:cxn modelId="{D9A968D6-965D-47B0-85F0-92906BCC3449}" type="presOf" srcId="{C7AAD326-ABA5-47AE-BB31-C6C965443D64}" destId="{F40DAC22-7334-4A18-80F6-1F43BDB1ADA3}" srcOrd="1" destOrd="0" presId="urn:microsoft.com/office/officeart/2005/8/layout/pyramid1"/>
    <dgm:cxn modelId="{3E37DC34-8C87-4F52-84E4-A4D6BA056DA0}" type="presParOf" srcId="{0AE233F8-DCC8-4A9E-A77B-C2B41CFFD409}" destId="{ECCFD96C-7F7A-4A99-9993-12DA0D10305A}" srcOrd="1" destOrd="0" presId="urn:microsoft.com/office/officeart/2005/8/layout/pyramid1"/>
    <dgm:cxn modelId="{F57E9E84-A056-4747-9BE1-39D6C9BBEC27}" type="presParOf" srcId="{ECCFD96C-7F7A-4A99-9993-12DA0D10305A}" destId="{6495E7B5-0F8F-4CE9-A3B8-97D2F3CD441F}" srcOrd="0" destOrd="1" presId="urn:microsoft.com/office/officeart/2005/8/layout/pyramid1"/>
    <dgm:cxn modelId="{911CF290-CD26-4643-BE13-21A6BE528EA4}" type="presOf" srcId="{3C043E90-A847-41B2-85CF-3C7E99A90FD1}" destId="{6495E7B5-0F8F-4CE9-A3B8-97D2F3CD441F}" srcOrd="0" destOrd="0" presId="urn:microsoft.com/office/officeart/2005/8/layout/pyramid1"/>
    <dgm:cxn modelId="{5DA101EA-B43C-40B9-9EB9-F35AEDC75E37}" type="presParOf" srcId="{ECCFD96C-7F7A-4A99-9993-12DA0D10305A}" destId="{0F34C045-22A0-49A6-8712-20B08257502B}" srcOrd="1" destOrd="1" presId="urn:microsoft.com/office/officeart/2005/8/layout/pyramid1"/>
    <dgm:cxn modelId="{6E649C26-EBAA-493C-911E-5426FCFDE1F3}" type="presOf" srcId="{3C043E90-A847-41B2-85CF-3C7E99A90FD1}" destId="{0F34C045-22A0-49A6-8712-20B08257502B}" srcOrd="1" destOrd="0" presId="urn:microsoft.com/office/officeart/2005/8/layout/pyramid1"/>
    <dgm:cxn modelId="{12B1ECEF-235B-42DF-90D1-18BCB125D946}" type="presParOf" srcId="{0AE233F8-DCC8-4A9E-A77B-C2B41CFFD409}" destId="{D0FAE6B0-BED4-4767-86EB-282A190124AD}" srcOrd="2" destOrd="0" presId="urn:microsoft.com/office/officeart/2005/8/layout/pyramid1"/>
    <dgm:cxn modelId="{8139E125-6D3A-4D3B-847E-82324C9FF129}" type="presParOf" srcId="{D0FAE6B0-BED4-4767-86EB-282A190124AD}" destId="{F7501776-9A8E-4AA8-9691-306061606758}" srcOrd="0" destOrd="2" presId="urn:microsoft.com/office/officeart/2005/8/layout/pyramid1"/>
    <dgm:cxn modelId="{D6DF6BD9-1582-48D7-9F2E-97358A78B104}" type="presOf" srcId="{1C44AD0A-7BBA-4CC7-86F8-A79F37C9F97C}" destId="{F7501776-9A8E-4AA8-9691-306061606758}" srcOrd="0" destOrd="0" presId="urn:microsoft.com/office/officeart/2005/8/layout/pyramid1"/>
    <dgm:cxn modelId="{F5CE0295-65CD-4115-A071-53E93D4F895D}" type="presParOf" srcId="{D0FAE6B0-BED4-4767-86EB-282A190124AD}" destId="{FDA96BE8-08EC-4EDE-BC36-89D3046553CA}" srcOrd="1" destOrd="2" presId="urn:microsoft.com/office/officeart/2005/8/layout/pyramid1"/>
    <dgm:cxn modelId="{573D02EB-22F1-432A-AB0A-87F573F28C7D}" type="presOf" srcId="{1C44AD0A-7BBA-4CC7-86F8-A79F37C9F97C}" destId="{FDA96BE8-08EC-4EDE-BC36-89D3046553CA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623335" cy="4889388"/>
        <a:chOff x="0" y="0"/>
        <a:chExt cx="4623335" cy="4889388"/>
      </a:xfrm>
      <a:scene3d>
        <a:camera prst="isometricOffAxis1Right" zoom="95000"/>
        <a:lightRig rig="flat" dir="t"/>
      </a:scene3d>
    </dsp:grpSpPr>
    <dsp:sp modelId="{DE66AB46-B18C-4910-B2D4-5BFA6420167A}">
      <dsp:nvSpPr>
        <dsp:cNvPr id="3" name="梯形 2"/>
        <dsp:cNvSpPr/>
      </dsp:nvSpPr>
      <dsp:spPr bwMode="white">
        <a:xfrm>
          <a:off x="1541112" y="0"/>
          <a:ext cx="1541112" cy="1629796"/>
        </a:xfrm>
        <a:prstGeom prst="trapezoid">
          <a:avLst>
            <a:gd name="adj" fmla="val 50000"/>
          </a:avLst>
        </a:prstGeom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sp:spPr>
      <dsp:style>
        <a:lnRef idx="0">
          <a:sysClr val="window" lastClr="FFFFFF"/>
        </a:lnRef>
        <a:fillRef idx="1">
          <a:srgbClr val="9B0D14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vert="horz" wrap="square" lIns="82550" tIns="82550" rIns="82550" bIns="825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ysClr val="window" lastClr="FFFFFF"/>
              </a:solidFill>
            </a:rPr>
            <a:t>3</a:t>
          </a:r>
          <a:endParaRPr lang="en-US" altLang="zh-CN" dirty="0">
            <a:solidFill>
              <a:sysClr val="window" lastClr="FFFFFF"/>
            </a:solidFill>
          </a:endParaRPr>
        </a:p>
      </dsp:txBody>
      <dsp:txXfrm>
        <a:off x="1541112" y="0"/>
        <a:ext cx="1541112" cy="1629796"/>
      </dsp:txXfrm>
    </dsp:sp>
    <dsp:sp modelId="{6495E7B5-0F8F-4CE9-A3B8-97D2F3CD441F}">
      <dsp:nvSpPr>
        <dsp:cNvPr id="4" name="梯形 3"/>
        <dsp:cNvSpPr/>
      </dsp:nvSpPr>
      <dsp:spPr bwMode="white">
        <a:xfrm>
          <a:off x="770556" y="1629796"/>
          <a:ext cx="3082223" cy="1629796"/>
        </a:xfrm>
        <a:prstGeom prst="trapezoid">
          <a:avLst>
            <a:gd name="adj" fmla="val 47279"/>
          </a:avLst>
        </a:prstGeom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sp:spPr>
      <dsp:style>
        <a:lnRef idx="0">
          <a:sysClr val="window" lastClr="FFFFFF"/>
        </a:lnRef>
        <a:fillRef idx="1">
          <a:srgbClr val="9B0D14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lIns="82550" tIns="82550" rIns="82550" bIns="825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ysClr val="window" lastClr="FFFFFF"/>
              </a:solidFill>
            </a:rPr>
            <a:t>2</a:t>
          </a:r>
          <a:endParaRPr lang="zh-CN" altLang="en-US" dirty="0">
            <a:solidFill>
              <a:sysClr val="window" lastClr="FFFFFF"/>
            </a:solidFill>
          </a:endParaRPr>
        </a:p>
      </dsp:txBody>
      <dsp:txXfrm>
        <a:off x="770556" y="1629796"/>
        <a:ext cx="3082223" cy="1629796"/>
      </dsp:txXfrm>
    </dsp:sp>
    <dsp:sp modelId="{F7501776-9A8E-4AA8-9691-306061606758}">
      <dsp:nvSpPr>
        <dsp:cNvPr id="5" name="梯形 4"/>
        <dsp:cNvSpPr/>
      </dsp:nvSpPr>
      <dsp:spPr bwMode="white">
        <a:xfrm>
          <a:off x="0" y="3259592"/>
          <a:ext cx="4623335" cy="1629796"/>
        </a:xfrm>
        <a:prstGeom prst="trapezoid">
          <a:avLst>
            <a:gd name="adj" fmla="val 47279"/>
          </a:avLst>
        </a:prstGeom>
        <a:sp3d extrusionH="1270000" contourW="38100" prstMaterial="matte">
          <a:extrusionClr>
            <a:srgbClr val="9B0D14">
              <a:lumMod val="75000"/>
            </a:srgbClr>
          </a:extrusionClr>
          <a:contourClr>
            <a:sysClr val="window" lastClr="FFFFFF"/>
          </a:contourClr>
        </a:sp3d>
      </dsp:spPr>
      <dsp:style>
        <a:lnRef idx="0">
          <a:sysClr val="window" lastClr="FFFFFF"/>
        </a:lnRef>
        <a:fillRef idx="1">
          <a:srgbClr val="9B0D14"/>
        </a:fillRef>
        <a:effectRef idx="0">
          <a:scrgbClr r="0" g="0" b="0"/>
        </a:effectRef>
        <a:fontRef idx="minor">
          <a:sysClr val="window" lastClr="FFFFFF"/>
        </a:fontRef>
      </dsp:style>
      <dsp:txBody>
        <a:bodyPr vert="horz" wrap="square" lIns="82550" tIns="82550" rIns="82550" bIns="825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ysClr val="window" lastClr="FFFFFF"/>
              </a:solidFill>
            </a:rPr>
            <a:t>1</a:t>
          </a:r>
          <a:endParaRPr lang="en-US" altLang="zh-CN" dirty="0">
            <a:solidFill>
              <a:sysClr val="window" lastClr="FFFFFF"/>
            </a:solidFill>
          </a:endParaRPr>
        </a:p>
      </dsp:txBody>
      <dsp:txXfrm>
        <a:off x="0" y="3259592"/>
        <a:ext cx="4623335" cy="162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aft"/>
          <dgm:param type="pyraAcctTxMar" val="step"/>
        </dgm:alg>
      </dgm:if>
      <dgm:else name="Name3">
        <dgm:alg type="pyra">
          <dgm:param type="pyraLvlNode" val="level"/>
          <dgm:param type="pyraAcctTxNode" val="acctTx"/>
          <dgm:param type="pyraAcctBkgdNode" val="acctBkgd"/>
          <dgm:param type="linDir" val="fromB"/>
          <dgm:param type="txDir" val="fromT"/>
          <dgm:param type="pyraAcctPos" val="bef"/>
          <dgm:param type="pyraAcctTxMar" val="step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ysClr val="window" lastClr="FFFFFF">
          <a:tint val="50000"/>
        </a:sys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ysClr val="windowText" lastClr="000000">
          <a:tint val="20000"/>
        </a:sys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ysClr val="windowText" lastClr="000000">
          <a:tint val="20000"/>
        </a:sys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ysClr val="window" lastClr="FFFFFF">
          <a:tint val="50000"/>
        </a:sys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ysClr val="windowText" lastClr="000000">
          <a:tint val="20000"/>
        </a:sys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0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ysClr val="window" lastClr="FFFFFF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ysClr val="window" lastClr="FFFFFF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" lastClr="FFFFFF"/>
      </a:fontRef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ysClr val="window" lastClr="FFFFFF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ysClr val="windowText" lastClr="000000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19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智能体安全与伦理展望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6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学习目标与主线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70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学习目标与主线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8192" y="1992916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识别主线：理解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Agent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相比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Chatbot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的新增风险面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能行动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有记忆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吃外部输入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，因此攻击会从注入扩展到越权、持久化与外泄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663603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掌握方法：掌握可落地的纵深防御栈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最小权限与分级授权、注入隔离、记忆治理、预算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熔断、沙箱与审计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29435" y="5215890"/>
            <a:ext cx="9316720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5" name="矩形: 单圆角 69"/>
          <p:cNvSpPr/>
          <p:nvPr/>
        </p:nvSpPr>
        <p:spPr>
          <a:xfrm>
            <a:off x="1045845" y="5407660"/>
            <a:ext cx="142748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5845" y="5484495"/>
            <a:ext cx="1231265" cy="646430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8192" y="5379720"/>
            <a:ext cx="791972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形成闭环：建立治理与合规的安全闭环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自主权边界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人机审批设计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红队评测与在线监控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事故响应，支撑行业上线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总览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7891" y="441479"/>
            <a:ext cx="503301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为什么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 Agent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风险不同于纯聊天模型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9590" y="1015365"/>
            <a:ext cx="11182350" cy="5527040"/>
          </a:xfrm>
          <a:prstGeom prst="rect">
            <a:avLst/>
          </a:prstGeom>
          <a:solidFill>
            <a:sysClr val="window" lastClr="FFFFFF">
              <a:alpha val="94000"/>
            </a:sysClr>
          </a:solidFill>
          <a:ln w="127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flipV="1">
            <a:off x="479425" y="1648460"/>
            <a:ext cx="50165" cy="54610"/>
          </a:xfrm>
          <a:prstGeom prst="triangle">
            <a:avLst>
              <a:gd name="adj" fmla="val 100000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79425" y="1040130"/>
            <a:ext cx="10814050" cy="783590"/>
            <a:chOff x="755" y="1638"/>
            <a:chExt cx="17030" cy="1234"/>
          </a:xfrm>
        </p:grpSpPr>
        <p:sp>
          <p:nvSpPr>
            <p:cNvPr id="5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73" y="1918"/>
              <a:ext cx="2912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sz="16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rPr>
                <a:t>重点</a:t>
              </a:r>
              <a:endParaRPr lang="zh-CN" altLang="en-US" sz="1600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361" y="1638"/>
              <a:ext cx="13424" cy="12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Chatbot 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的风险主要是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输出错误信息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”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，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Agent 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的风险是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把错误变成行动、状态、传播链条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”</a:t>
              </a:r>
              <a:endParaRPr lang="en-US" altLang="zh-CN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0890" y="4069080"/>
            <a:ext cx="3503295" cy="442595"/>
            <a:chOff x="747066" y="4069151"/>
            <a:chExt cx="3503017" cy="442523"/>
          </a:xfrm>
          <a:solidFill>
            <a:srgbClr val="9B1313"/>
          </a:solidFill>
        </p:grpSpPr>
        <p:sp>
          <p:nvSpPr>
            <p:cNvPr id="10" name="矩形: 剪去单角 104"/>
            <p:cNvSpPr/>
            <p:nvPr/>
          </p:nvSpPr>
          <p:spPr>
            <a:xfrm flipV="1">
              <a:off x="747066" y="4069151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12149" y="4152640"/>
              <a:ext cx="3372852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1）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行动能力（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Actionability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344670" y="4108450"/>
            <a:ext cx="3527426" cy="442595"/>
            <a:chOff x="747066" y="4108515"/>
            <a:chExt cx="3527146" cy="442523"/>
          </a:xfrm>
          <a:solidFill>
            <a:srgbClr val="9B1313"/>
          </a:solidFill>
        </p:grpSpPr>
        <p:sp>
          <p:nvSpPr>
            <p:cNvPr id="13" name="矩形: 剪去单角 107"/>
            <p:cNvSpPr/>
            <p:nvPr/>
          </p:nvSpPr>
          <p:spPr>
            <a:xfrm flipV="1">
              <a:off x="747066" y="4108515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8337" y="4192004"/>
              <a:ext cx="3525875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2）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长期状态（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Statefulness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918609" y="4069080"/>
            <a:ext cx="3505835" cy="442595"/>
            <a:chOff x="747066" y="4069151"/>
            <a:chExt cx="3505557" cy="442523"/>
          </a:xfrm>
          <a:solidFill>
            <a:srgbClr val="9B1313"/>
          </a:solidFill>
        </p:grpSpPr>
        <p:sp>
          <p:nvSpPr>
            <p:cNvPr id="16" name="矩形: 剪去单角 110"/>
            <p:cNvSpPr/>
            <p:nvPr/>
          </p:nvSpPr>
          <p:spPr>
            <a:xfrm flipV="1">
              <a:off x="747066" y="4069151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71194" y="4152640"/>
              <a:ext cx="3481429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3）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外部输入面（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External Attack Surface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8" name="任意多边形: 形状 112"/>
          <p:cNvSpPr/>
          <p:nvPr/>
        </p:nvSpPr>
        <p:spPr>
          <a:xfrm>
            <a:off x="2257425" y="4599305"/>
            <a:ext cx="3768725" cy="624840"/>
          </a:xfrm>
          <a:custGeom>
            <a:avLst/>
            <a:gdLst/>
            <a:ahLst/>
            <a:cxnLst/>
            <a:rect l="0" t="0" r="0" b="0"/>
            <a:pathLst>
              <a:path w="3718561" h="616375">
                <a:moveTo>
                  <a:pt x="0" y="0"/>
                </a:moveTo>
                <a:lnTo>
                  <a:pt x="0" y="225214"/>
                </a:lnTo>
                <a:cubicBezTo>
                  <a:pt x="0" y="295318"/>
                  <a:pt x="56896" y="352214"/>
                  <a:pt x="127000" y="352214"/>
                </a:cubicBezTo>
                <a:lnTo>
                  <a:pt x="3591560" y="352214"/>
                </a:lnTo>
                <a:cubicBezTo>
                  <a:pt x="3661664" y="352214"/>
                  <a:pt x="3718560" y="409110"/>
                  <a:pt x="3718560" y="479214"/>
                </a:cubicBezTo>
                <a:lnTo>
                  <a:pt x="3718560" y="616374"/>
                </a:lnTo>
              </a:path>
            </a:pathLst>
          </a:cu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19" name="任意多边形: 形状 113"/>
          <p:cNvSpPr/>
          <p:nvPr/>
        </p:nvSpPr>
        <p:spPr>
          <a:xfrm>
            <a:off x="6165850" y="4599305"/>
            <a:ext cx="3768725" cy="624840"/>
          </a:xfrm>
          <a:custGeom>
            <a:avLst/>
            <a:gdLst/>
            <a:ahLst/>
            <a:cxnLst/>
            <a:rect l="0" t="0" r="0" b="0"/>
            <a:pathLst>
              <a:path w="3718561" h="616375">
                <a:moveTo>
                  <a:pt x="3718560" y="0"/>
                </a:moveTo>
                <a:lnTo>
                  <a:pt x="3718560" y="225214"/>
                </a:lnTo>
                <a:cubicBezTo>
                  <a:pt x="3718560" y="295318"/>
                  <a:pt x="3661664" y="352214"/>
                  <a:pt x="3591560" y="352214"/>
                </a:cubicBezTo>
                <a:lnTo>
                  <a:pt x="127000" y="352214"/>
                </a:lnTo>
                <a:cubicBezTo>
                  <a:pt x="56896" y="352214"/>
                  <a:pt x="0" y="409110"/>
                  <a:pt x="0" y="479214"/>
                </a:cubicBezTo>
                <a:lnTo>
                  <a:pt x="0" y="616374"/>
                </a:lnTo>
              </a:path>
            </a:pathLst>
          </a:cu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096000" y="4599305"/>
            <a:ext cx="0" cy="62484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1" name="组合 20"/>
          <p:cNvGrpSpPr/>
          <p:nvPr/>
        </p:nvGrpSpPr>
        <p:grpSpPr>
          <a:xfrm>
            <a:off x="746760" y="5224146"/>
            <a:ext cx="10638790" cy="1089026"/>
            <a:chOff x="747066" y="5265054"/>
            <a:chExt cx="10638905" cy="577372"/>
          </a:xfrm>
        </p:grpSpPr>
        <p:sp>
          <p:nvSpPr>
            <p:cNvPr id="22" name="文本框 21"/>
            <p:cNvSpPr txBox="1"/>
            <p:nvPr/>
          </p:nvSpPr>
          <p:spPr>
            <a:xfrm>
              <a:off x="1694496" y="5358646"/>
              <a:ext cx="8743410" cy="39018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因为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Agent 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做事能力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，所以必须有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权限</a:t>
              </a:r>
              <a:r>
                <a:rPr lang="en-US" altLang="zh-CN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预算</a:t>
              </a:r>
              <a:r>
                <a:rPr lang="en-US" altLang="zh-CN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确认</a:t>
              </a:r>
              <a:r>
                <a:rPr lang="en-US" altLang="zh-CN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审计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（否则就是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无限授权机器人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）</a:t>
              </a:r>
              <a:endParaRPr lang="zh-CN" altLang="en-US" sz="14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因为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Agent 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长期状态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，所以必须有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记忆写入策略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（字段、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TTL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、来源标注、审批）</a:t>
              </a:r>
              <a:endParaRPr lang="zh-CN" altLang="en-US" sz="14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因为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Agent 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外部输入面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，所以必须有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内容</a:t>
              </a:r>
              <a:r>
                <a:rPr lang="en-US" altLang="zh-CN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指令分离与检索隔离</a:t>
              </a:r>
              <a:r>
                <a:rPr lang="en-US" altLang="zh-CN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accent6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清洗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（外部内容默认不可信）</a:t>
              </a:r>
              <a:endParaRPr lang="zh-CN" altLang="en-US" sz="14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47066" y="5265054"/>
              <a:ext cx="10638905" cy="577372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C00000">
                  <a:alpha val="2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752475" y="204279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1060" y="2042795"/>
            <a:ext cx="3245485" cy="183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Chatbot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：输出文本为主，最多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建议你做什么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Agent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：能调用工具（发邮件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下单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改仓库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改配置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转账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创建工单），输出会直接触发真实世界变化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风险升级点：错误或被注入的指令不再停留在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说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，而是变成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做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（不可逆、可连锁）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51020" y="204279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481195" y="2042795"/>
            <a:ext cx="3245485" cy="183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Chatbot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：相对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短会话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，上下文多为临时；即便说错，通常不会自动在未来再次触发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Agent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：有记忆、任务队列、计划（甚至跨天跨周持续运行），错误可能被写入状态后</a:t>
            </a:r>
            <a:r>
              <a:rPr lang="zh-CN" altLang="en-US" sz="1000" dirty="0">
                <a:solidFill>
                  <a:schemeClr val="accent6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反复放大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风险升级点：从一次性失误变成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持久化风险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（今天埋、下周炸；一次污染，多次触发）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25435" y="203644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47990" y="2036445"/>
            <a:ext cx="3245485" cy="18351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Chatbot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：主要输入来自用户对话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Agent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：会摄取网页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文档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邮件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工单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日志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传感器等外部内容，并可能把内容回灌进上下文当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依据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风险升级点：出现间接注入与供应链式攻击：攻击者不必直接对话，只要污染网页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邮件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文档就能影响行为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86715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威胁模型与攻击面总览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04513" y="1063625"/>
            <a:ext cx="11293884" cy="5808560"/>
            <a:chOff x="604513" y="1063625"/>
            <a:chExt cx="11293884" cy="5808560"/>
          </a:xfrm>
        </p:grpSpPr>
        <p:grpSp>
          <p:nvGrpSpPr>
            <p:cNvPr id="49" name="组合 48"/>
            <p:cNvGrpSpPr/>
            <p:nvPr/>
          </p:nvGrpSpPr>
          <p:grpSpPr>
            <a:xfrm>
              <a:off x="604513" y="1297409"/>
              <a:ext cx="4579839" cy="3759835"/>
              <a:chOff x="611286" y="1568342"/>
              <a:chExt cx="4579839" cy="3759835"/>
            </a:xfrm>
          </p:grpSpPr>
          <p:sp>
            <p:nvSpPr>
              <p:cNvPr id="84" name="文本框 83"/>
              <p:cNvSpPr txBox="1"/>
              <p:nvPr/>
            </p:nvSpPr>
            <p:spPr>
              <a:xfrm>
                <a:off x="611286" y="2121427"/>
                <a:ext cx="3512185" cy="320675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凭证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密钥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——</a:t>
                </a:r>
                <a:r>
                  <a:rPr lang="en-US" altLang="zh-CN" sz="1000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API key</a:t>
                </a:r>
                <a:r>
                  <a:rPr lang="zh-CN" altLang="en-US" sz="1000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、</a:t>
                </a:r>
                <a:r>
                  <a:rPr lang="en-US" altLang="zh-CN" sz="1000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OAuth token</a:t>
                </a:r>
                <a:r>
                  <a:rPr lang="zh-CN" altLang="en-US" sz="1000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、云账号临时凭证、数据库密码、</a:t>
                </a:r>
                <a:r>
                  <a:rPr lang="en-US" altLang="zh-CN" sz="1000" kern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SSH key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风险：一旦被拿走，攻击者不需要再操控模型，直接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“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拿钥匙进门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”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私有数据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——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用户隐私、企业文档、邮件、工单、客户信息、代码与内部知识库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风险：合规与商业损失（数据外泄、越权访问、跨租户泄露）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钱包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预算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——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付费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 API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、云资源费用、检索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浏览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代码执行成本、转账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下单权限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风险：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Denial-of-Wallet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（把钱烧光）或引导资金流向错误目的地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生产系统权限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——CI/CD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、仓库写权限、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K8s/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云控制台、运维系统、工单系统、支付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财务系统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汉仪旗黑-55简" panose="00020600040101010101" pitchFamily="18" charset="-122"/>
                  </a:rPr>
                  <a:t>风险：最严重（篡改配置、植入后门、删库、停机事故）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85" name="组合 84"/>
              <p:cNvGrpSpPr/>
              <p:nvPr/>
            </p:nvGrpSpPr>
            <p:grpSpPr>
              <a:xfrm>
                <a:off x="611287" y="1568342"/>
                <a:ext cx="2694099" cy="461665"/>
                <a:chOff x="798505" y="1478577"/>
                <a:chExt cx="3034294" cy="461665"/>
              </a:xfrm>
            </p:grpSpPr>
            <p:sp>
              <p:nvSpPr>
                <p:cNvPr id="90" name="矩形: 圆角 89"/>
                <p:cNvSpPr/>
                <p:nvPr/>
              </p:nvSpPr>
              <p:spPr>
                <a:xfrm flipV="1">
                  <a:off x="798505" y="1478577"/>
                  <a:ext cx="3034294" cy="46166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B1313"/>
                </a:solidFill>
                <a:ln w="12700" cap="flat" cmpd="sng" algn="ctr">
                  <a:solidFill>
                    <a:srgbClr val="9B1313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1198535" y="1524932"/>
                  <a:ext cx="2234235" cy="3683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ea"/>
                      <a:sym typeface="汉仪旗黑-55简" panose="00020600040101010101" pitchFamily="18" charset="-122"/>
                    </a:rPr>
                    <a:t>资产（</a:t>
                  </a:r>
                  <a:r>
                    <a:rPr kumimoji="0" lang="en-US" altLang="zh-CN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ea"/>
                      <a:sym typeface="汉仪旗黑-55简" panose="00020600040101010101" pitchFamily="18" charset="-122"/>
                    </a:rPr>
                    <a:t>Assets</a:t>
                  </a:r>
                  <a:r>
                    <a: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ea"/>
                      <a:sym typeface="汉仪旗黑-55简" panose="00020600040101010101" pitchFamily="18" charset="-122"/>
                    </a:rPr>
                    <a:t>）</a:t>
                  </a: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cxnSp>
            <p:nvCxnSpPr>
              <p:cNvPr id="86" name="直接连接符 85"/>
              <p:cNvCxnSpPr/>
              <p:nvPr/>
            </p:nvCxnSpPr>
            <p:spPr>
              <a:xfrm>
                <a:off x="3305387" y="1815253"/>
                <a:ext cx="1761066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dash"/>
                <a:miter lim="800000"/>
                <a:tailEnd type="oval"/>
              </a:ln>
              <a:effectLst/>
            </p:spPr>
          </p:cxnSp>
          <p:grpSp>
            <p:nvGrpSpPr>
              <p:cNvPr id="87" name="组合 86"/>
              <p:cNvGrpSpPr/>
              <p:nvPr/>
            </p:nvGrpSpPr>
            <p:grpSpPr>
              <a:xfrm>
                <a:off x="4981575" y="1766683"/>
                <a:ext cx="209550" cy="209550"/>
                <a:chOff x="4981575" y="1766683"/>
                <a:chExt cx="209550" cy="209550"/>
              </a:xfrm>
            </p:grpSpPr>
            <p:sp>
              <p:nvSpPr>
                <p:cNvPr id="88" name="椭圆 87"/>
                <p:cNvSpPr/>
                <p:nvPr/>
              </p:nvSpPr>
              <p:spPr>
                <a:xfrm>
                  <a:off x="4981575" y="1766683"/>
                  <a:ext cx="209550" cy="209550"/>
                </a:xfrm>
                <a:prstGeom prst="ellipse">
                  <a:avLst/>
                </a:prstGeom>
                <a:solidFill>
                  <a:srgbClr val="9B1313"/>
                </a:solidFill>
                <a:ln w="2222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89" name="十字形 88"/>
                <p:cNvSpPr/>
                <p:nvPr/>
              </p:nvSpPr>
              <p:spPr>
                <a:xfrm>
                  <a:off x="5029200" y="1774825"/>
                  <a:ext cx="114300" cy="114300"/>
                </a:xfrm>
                <a:prstGeom prst="plus">
                  <a:avLst>
                    <a:gd name="adj" fmla="val 41667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</p:grpSp>
        <p:grpSp>
          <p:nvGrpSpPr>
            <p:cNvPr id="50" name="组合 49"/>
            <p:cNvGrpSpPr/>
            <p:nvPr/>
          </p:nvGrpSpPr>
          <p:grpSpPr>
            <a:xfrm flipH="1">
              <a:off x="7063289" y="1376376"/>
              <a:ext cx="4835108" cy="3794125"/>
              <a:chOff x="356017" y="1568342"/>
              <a:chExt cx="4835108" cy="3794125"/>
            </a:xfrm>
          </p:grpSpPr>
          <p:sp>
            <p:nvSpPr>
              <p:cNvPr id="70" name="文本框 69"/>
              <p:cNvSpPr txBox="1"/>
              <p:nvPr/>
            </p:nvSpPr>
            <p:spPr>
              <a:xfrm>
                <a:off x="356017" y="2121427"/>
                <a:ext cx="3512820" cy="324104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每层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“</a:t>
                </a: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攻击者能做什么</a:t>
                </a:r>
                <a:r>
                  <a:rPr kumimoji="0" lang="en-US" altLang="zh-CN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”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Prompt 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层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（指令入口）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攻击：直接注入、角色混淆、越权指令、提示绕过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RAG / 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记忆层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（证据与状态层）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攻击：间接注入（网页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文档藏指令）、记忆投毒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embedding/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向量检索弱点、跨租户召回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Tool 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层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（行动接口层）</a:t>
                </a: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攻击：诱导调用高权限工具、参数注入（危险参数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目的地）、输出处理不当导致执行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环境层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（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Runtime/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系统边界）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攻击：沙箱逃逸、滥用网络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 egress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、文件系统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/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日志侧漏、依赖供应链污染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10015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人与流程层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（</a:t>
                </a: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People &amp; Process</a:t>
                </a: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）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742950" marR="0" lvl="1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r>
                  <a: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rPr>
                  <a:t>攻击：社工、审批疲劳、权限配置错误、值班响应缺失、审计不可回放</a:t>
                </a: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R="0" lvl="0" indent="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None/>
                  <a:defRPr/>
                </a:pPr>
                <a:endPara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charset="0"/>
                  <a:buChar char=""/>
                  <a:defRPr/>
                </a:pP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802395" y="1568342"/>
                <a:ext cx="2694099" cy="461665"/>
                <a:chOff x="1013745" y="1478577"/>
                <a:chExt cx="3034294" cy="461665"/>
              </a:xfrm>
            </p:grpSpPr>
            <p:sp>
              <p:nvSpPr>
                <p:cNvPr id="82" name="矩形: 圆角 81"/>
                <p:cNvSpPr/>
                <p:nvPr/>
              </p:nvSpPr>
              <p:spPr>
                <a:xfrm flipV="1">
                  <a:off x="1013745" y="1478577"/>
                  <a:ext cx="3034294" cy="46166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B1313"/>
                </a:solidFill>
                <a:ln w="12700" cap="flat" cmpd="sng" algn="ctr">
                  <a:solidFill>
                    <a:srgbClr val="9B1313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1266295" y="1524743"/>
                  <a:ext cx="2445777" cy="3683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ea"/>
                      <a:sym typeface="汉仪旗黑-55简" panose="00020600040101010101" pitchFamily="18" charset="-122"/>
                    </a:rPr>
                    <a:t>Attack Surface</a:t>
                  </a:r>
                  <a:endPara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cxnSp>
            <p:nvCxnSpPr>
              <p:cNvPr id="72" name="直接连接符 71"/>
              <p:cNvCxnSpPr/>
              <p:nvPr/>
            </p:nvCxnSpPr>
            <p:spPr>
              <a:xfrm>
                <a:off x="3496494" y="1815253"/>
                <a:ext cx="1569959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dash"/>
                <a:miter lim="800000"/>
                <a:tailEnd type="oval"/>
              </a:ln>
              <a:effectLst/>
            </p:spPr>
          </p:cxnSp>
          <p:grpSp>
            <p:nvGrpSpPr>
              <p:cNvPr id="78" name="组合 77"/>
              <p:cNvGrpSpPr/>
              <p:nvPr/>
            </p:nvGrpSpPr>
            <p:grpSpPr>
              <a:xfrm>
                <a:off x="4981575" y="1687716"/>
                <a:ext cx="209550" cy="209550"/>
                <a:chOff x="4981575" y="1687716"/>
                <a:chExt cx="209550" cy="209550"/>
              </a:xfrm>
            </p:grpSpPr>
            <p:sp>
              <p:nvSpPr>
                <p:cNvPr id="80" name="椭圆 79"/>
                <p:cNvSpPr/>
                <p:nvPr/>
              </p:nvSpPr>
              <p:spPr>
                <a:xfrm>
                  <a:off x="4981575" y="1687716"/>
                  <a:ext cx="209550" cy="209550"/>
                </a:xfrm>
                <a:prstGeom prst="ellipse">
                  <a:avLst/>
                </a:prstGeom>
                <a:solidFill>
                  <a:srgbClr val="9B1313"/>
                </a:solidFill>
                <a:ln w="2222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81" name="十字形 80"/>
                <p:cNvSpPr/>
                <p:nvPr/>
              </p:nvSpPr>
              <p:spPr>
                <a:xfrm>
                  <a:off x="5029200" y="1774825"/>
                  <a:ext cx="114300" cy="114300"/>
                </a:xfrm>
                <a:prstGeom prst="plus">
                  <a:avLst>
                    <a:gd name="adj" fmla="val 41667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</p:grpSp>
        <p:sp>
          <p:nvSpPr>
            <p:cNvPr id="51" name="文本框 50"/>
            <p:cNvSpPr txBox="1"/>
            <p:nvPr/>
          </p:nvSpPr>
          <p:spPr>
            <a:xfrm flipH="1">
              <a:off x="863177" y="5857455"/>
              <a:ext cx="10452100" cy="1014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ctr" defTabSz="9144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攻击者目标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：拿到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Secrets / Data / Money / Privileges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（资产）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marR="0" lvl="0" indent="-285750" algn="ctr" defTabSz="91440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攻击路径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：从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Prompt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或外部内容进入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→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污染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Retrieval/Memory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→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触发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Tool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执行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→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借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Environment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扩大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→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利用流程漏洞持续化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 flipH="1">
              <a:off x="4685027" y="5346974"/>
              <a:ext cx="2694099" cy="461665"/>
              <a:chOff x="1013745" y="1478577"/>
              <a:chExt cx="3034294" cy="461665"/>
            </a:xfrm>
          </p:grpSpPr>
          <p:sp>
            <p:nvSpPr>
              <p:cNvPr id="68" name="矩形: 圆角 67"/>
              <p:cNvSpPr/>
              <p:nvPr/>
            </p:nvSpPr>
            <p:spPr>
              <a:xfrm flipV="1">
                <a:off x="1013745" y="1478577"/>
                <a:ext cx="3034294" cy="461665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solidFill>
                  <a:srgbClr val="9B131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134611" y="1571922"/>
                <a:ext cx="2759180" cy="275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关键理解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——“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资产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 </a:t>
                </a: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×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 </a:t>
                </a:r>
                <a:r>
                  <a: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攻击面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  <a:sym typeface="汉仪旗黑-55简" panose="00020600040101010101" pitchFamily="18" charset="-122"/>
                  </a:rPr>
                  <a:t>”</a:t>
                </a: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53" name="直接连接符 52"/>
            <p:cNvCxnSpPr/>
            <p:nvPr/>
          </p:nvCxnSpPr>
          <p:spPr>
            <a:xfrm>
              <a:off x="6089227" y="5007677"/>
              <a:ext cx="1" cy="2904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dash"/>
              <a:miter lim="800000"/>
              <a:tailEnd type="oval"/>
            </a:ln>
            <a:effectLst/>
          </p:spPr>
        </p:cxnSp>
        <p:grpSp>
          <p:nvGrpSpPr>
            <p:cNvPr id="54" name="组合 53"/>
            <p:cNvGrpSpPr/>
            <p:nvPr/>
          </p:nvGrpSpPr>
          <p:grpSpPr>
            <a:xfrm flipH="1">
              <a:off x="5984452" y="4757469"/>
              <a:ext cx="209550" cy="209550"/>
              <a:chOff x="4981575" y="1727200"/>
              <a:chExt cx="209550" cy="209550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4981575" y="1727200"/>
                <a:ext cx="209550" cy="209550"/>
              </a:xfrm>
              <a:prstGeom prst="ellipse">
                <a:avLst/>
              </a:prstGeom>
              <a:solidFill>
                <a:srgbClr val="9B1313"/>
              </a:solidFill>
              <a:ln w="222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7" name="十字形 66"/>
              <p:cNvSpPr/>
              <p:nvPr/>
            </p:nvSpPr>
            <p:spPr>
              <a:xfrm>
                <a:off x="5029200" y="1774825"/>
                <a:ext cx="114300" cy="114300"/>
              </a:xfrm>
              <a:prstGeom prst="plus">
                <a:avLst>
                  <a:gd name="adj" fmla="val 41667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4258945" y="1063625"/>
              <a:ext cx="3788410" cy="3815080"/>
              <a:chOff x="6707" y="1675"/>
              <a:chExt cx="5966" cy="6008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6707" y="1675"/>
                <a:ext cx="5967" cy="6009"/>
                <a:chOff x="7208334" y="3778690"/>
                <a:chExt cx="668337" cy="673100"/>
              </a:xfrm>
            </p:grpSpPr>
            <p:sp>
              <p:nvSpPr>
                <p:cNvPr id="63" name="Freeform 52"/>
                <p:cNvSpPr/>
                <p:nvPr/>
              </p:nvSpPr>
              <p:spPr bwMode="auto">
                <a:xfrm>
                  <a:off x="7208334" y="3778690"/>
                  <a:ext cx="390525" cy="434975"/>
                </a:xfrm>
                <a:custGeom>
                  <a:avLst/>
                  <a:gdLst>
                    <a:gd name="T0" fmla="*/ 294 w 1039"/>
                    <a:gd name="T1" fmla="*/ 465 h 1158"/>
                    <a:gd name="T2" fmla="*/ 735 w 1039"/>
                    <a:gd name="T3" fmla="*/ 219 h 1158"/>
                    <a:gd name="T4" fmla="*/ 748 w 1039"/>
                    <a:gd name="T5" fmla="*/ 218 h 1158"/>
                    <a:gd name="T6" fmla="*/ 760 w 1039"/>
                    <a:gd name="T7" fmla="*/ 216 h 1158"/>
                    <a:gd name="T8" fmla="*/ 759 w 1039"/>
                    <a:gd name="T9" fmla="*/ 309 h 1158"/>
                    <a:gd name="T10" fmla="*/ 772 w 1039"/>
                    <a:gd name="T11" fmla="*/ 327 h 1158"/>
                    <a:gd name="T12" fmla="*/ 776 w 1039"/>
                    <a:gd name="T13" fmla="*/ 326 h 1158"/>
                    <a:gd name="T14" fmla="*/ 1029 w 1039"/>
                    <a:gd name="T15" fmla="*/ 184 h 1158"/>
                    <a:gd name="T16" fmla="*/ 1039 w 1039"/>
                    <a:gd name="T17" fmla="*/ 168 h 1158"/>
                    <a:gd name="T18" fmla="*/ 1030 w 1039"/>
                    <a:gd name="T19" fmla="*/ 151 h 1158"/>
                    <a:gd name="T20" fmla="*/ 780 w 1039"/>
                    <a:gd name="T21" fmla="*/ 2 h 1158"/>
                    <a:gd name="T22" fmla="*/ 777 w 1039"/>
                    <a:gd name="T23" fmla="*/ 0 h 1158"/>
                    <a:gd name="T24" fmla="*/ 763 w 1039"/>
                    <a:gd name="T25" fmla="*/ 18 h 1158"/>
                    <a:gd name="T26" fmla="*/ 762 w 1039"/>
                    <a:gd name="T27" fmla="*/ 98 h 1158"/>
                    <a:gd name="T28" fmla="*/ 752 w 1039"/>
                    <a:gd name="T29" fmla="*/ 100 h 1158"/>
                    <a:gd name="T30" fmla="*/ 740 w 1039"/>
                    <a:gd name="T31" fmla="*/ 101 h 1158"/>
                    <a:gd name="T32" fmla="*/ 0 w 1039"/>
                    <a:gd name="T33" fmla="*/ 943 h 1158"/>
                    <a:gd name="T34" fmla="*/ 28 w 1039"/>
                    <a:gd name="T35" fmla="*/ 1158 h 1158"/>
                    <a:gd name="T36" fmla="*/ 28 w 1039"/>
                    <a:gd name="T37" fmla="*/ 1141 h 1158"/>
                    <a:gd name="T38" fmla="*/ 51 w 1039"/>
                    <a:gd name="T39" fmla="*/ 1106 h 1158"/>
                    <a:gd name="T40" fmla="*/ 93 w 1039"/>
                    <a:gd name="T41" fmla="*/ 1107 h 1158"/>
                    <a:gd name="T42" fmla="*/ 144 w 1039"/>
                    <a:gd name="T43" fmla="*/ 1140 h 1158"/>
                    <a:gd name="T44" fmla="*/ 117 w 1039"/>
                    <a:gd name="T45" fmla="*/ 943 h 1158"/>
                    <a:gd name="T46" fmla="*/ 294 w 1039"/>
                    <a:gd name="T47" fmla="*/ 465 h 1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039" h="1158">
                      <a:moveTo>
                        <a:pt x="294" y="465"/>
                      </a:moveTo>
                      <a:cubicBezTo>
                        <a:pt x="408" y="333"/>
                        <a:pt x="564" y="246"/>
                        <a:pt x="735" y="219"/>
                      </a:cubicBezTo>
                      <a:cubicBezTo>
                        <a:pt x="739" y="219"/>
                        <a:pt x="743" y="218"/>
                        <a:pt x="748" y="218"/>
                      </a:cubicBezTo>
                      <a:cubicBezTo>
                        <a:pt x="760" y="216"/>
                        <a:pt x="760" y="216"/>
                        <a:pt x="760" y="216"/>
                      </a:cubicBezTo>
                      <a:cubicBezTo>
                        <a:pt x="759" y="309"/>
                        <a:pt x="759" y="309"/>
                        <a:pt x="759" y="309"/>
                      </a:cubicBezTo>
                      <a:cubicBezTo>
                        <a:pt x="759" y="319"/>
                        <a:pt x="766" y="325"/>
                        <a:pt x="772" y="327"/>
                      </a:cubicBezTo>
                      <a:cubicBezTo>
                        <a:pt x="774" y="327"/>
                        <a:pt x="775" y="327"/>
                        <a:pt x="776" y="326"/>
                      </a:cubicBezTo>
                      <a:cubicBezTo>
                        <a:pt x="1029" y="184"/>
                        <a:pt x="1029" y="184"/>
                        <a:pt x="1029" y="184"/>
                      </a:cubicBezTo>
                      <a:cubicBezTo>
                        <a:pt x="1035" y="181"/>
                        <a:pt x="1039" y="175"/>
                        <a:pt x="1039" y="168"/>
                      </a:cubicBezTo>
                      <a:cubicBezTo>
                        <a:pt x="1039" y="161"/>
                        <a:pt x="1036" y="154"/>
                        <a:pt x="1030" y="151"/>
                      </a:cubicBezTo>
                      <a:cubicBezTo>
                        <a:pt x="780" y="2"/>
                        <a:pt x="780" y="2"/>
                        <a:pt x="780" y="2"/>
                      </a:cubicBezTo>
                      <a:cubicBezTo>
                        <a:pt x="779" y="1"/>
                        <a:pt x="778" y="1"/>
                        <a:pt x="777" y="0"/>
                      </a:cubicBezTo>
                      <a:cubicBezTo>
                        <a:pt x="770" y="2"/>
                        <a:pt x="763" y="9"/>
                        <a:pt x="763" y="18"/>
                      </a:cubicBezTo>
                      <a:cubicBezTo>
                        <a:pt x="762" y="98"/>
                        <a:pt x="762" y="98"/>
                        <a:pt x="762" y="98"/>
                      </a:cubicBezTo>
                      <a:cubicBezTo>
                        <a:pt x="752" y="100"/>
                        <a:pt x="752" y="100"/>
                        <a:pt x="752" y="100"/>
                      </a:cubicBezTo>
                      <a:cubicBezTo>
                        <a:pt x="748" y="100"/>
                        <a:pt x="744" y="100"/>
                        <a:pt x="740" y="101"/>
                      </a:cubicBezTo>
                      <a:cubicBezTo>
                        <a:pt x="318" y="155"/>
                        <a:pt x="0" y="517"/>
                        <a:pt x="0" y="943"/>
                      </a:cubicBezTo>
                      <a:cubicBezTo>
                        <a:pt x="0" y="1016"/>
                        <a:pt x="9" y="1088"/>
                        <a:pt x="28" y="1158"/>
                      </a:cubicBezTo>
                      <a:cubicBezTo>
                        <a:pt x="28" y="1141"/>
                        <a:pt x="28" y="1141"/>
                        <a:pt x="28" y="1141"/>
                      </a:cubicBezTo>
                      <a:cubicBezTo>
                        <a:pt x="29" y="1126"/>
                        <a:pt x="38" y="1113"/>
                        <a:pt x="51" y="1106"/>
                      </a:cubicBezTo>
                      <a:cubicBezTo>
                        <a:pt x="64" y="1099"/>
                        <a:pt x="80" y="1099"/>
                        <a:pt x="93" y="1107"/>
                      </a:cubicBezTo>
                      <a:cubicBezTo>
                        <a:pt x="144" y="1140"/>
                        <a:pt x="144" y="1140"/>
                        <a:pt x="144" y="1140"/>
                      </a:cubicBezTo>
                      <a:cubicBezTo>
                        <a:pt x="126" y="1076"/>
                        <a:pt x="117" y="1010"/>
                        <a:pt x="117" y="943"/>
                      </a:cubicBezTo>
                      <a:cubicBezTo>
                        <a:pt x="117" y="767"/>
                        <a:pt x="180" y="597"/>
                        <a:pt x="294" y="465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64" name="Freeform 53"/>
                <p:cNvSpPr/>
                <p:nvPr/>
              </p:nvSpPr>
              <p:spPr bwMode="auto">
                <a:xfrm>
                  <a:off x="7225796" y="4205727"/>
                  <a:ext cx="576262" cy="246063"/>
                </a:xfrm>
                <a:custGeom>
                  <a:avLst/>
                  <a:gdLst>
                    <a:gd name="T0" fmla="*/ 472 w 1535"/>
                    <a:gd name="T1" fmla="*/ 458 h 655"/>
                    <a:gd name="T2" fmla="*/ 219 w 1535"/>
                    <a:gd name="T3" fmla="*/ 244 h 655"/>
                    <a:gd name="T4" fmla="*/ 209 w 1535"/>
                    <a:gd name="T5" fmla="*/ 231 h 655"/>
                    <a:gd name="T6" fmla="*/ 202 w 1535"/>
                    <a:gd name="T7" fmla="*/ 220 h 655"/>
                    <a:gd name="T8" fmla="*/ 281 w 1535"/>
                    <a:gd name="T9" fmla="*/ 179 h 655"/>
                    <a:gd name="T10" fmla="*/ 292 w 1535"/>
                    <a:gd name="T11" fmla="*/ 164 h 655"/>
                    <a:gd name="T12" fmla="*/ 288 w 1535"/>
                    <a:gd name="T13" fmla="*/ 160 h 655"/>
                    <a:gd name="T14" fmla="*/ 43 w 1535"/>
                    <a:gd name="T15" fmla="*/ 4 h 655"/>
                    <a:gd name="T16" fmla="*/ 23 w 1535"/>
                    <a:gd name="T17" fmla="*/ 3 h 655"/>
                    <a:gd name="T18" fmla="*/ 13 w 1535"/>
                    <a:gd name="T19" fmla="*/ 20 h 655"/>
                    <a:gd name="T20" fmla="*/ 0 w 1535"/>
                    <a:gd name="T21" fmla="*/ 309 h 655"/>
                    <a:gd name="T22" fmla="*/ 23 w 1535"/>
                    <a:gd name="T23" fmla="*/ 313 h 655"/>
                    <a:gd name="T24" fmla="*/ 98 w 1535"/>
                    <a:gd name="T25" fmla="*/ 274 h 655"/>
                    <a:gd name="T26" fmla="*/ 104 w 1535"/>
                    <a:gd name="T27" fmla="*/ 283 h 655"/>
                    <a:gd name="T28" fmla="*/ 112 w 1535"/>
                    <a:gd name="T29" fmla="*/ 295 h 655"/>
                    <a:gd name="T30" fmla="*/ 806 w 1535"/>
                    <a:gd name="T31" fmla="*/ 655 h 655"/>
                    <a:gd name="T32" fmla="*/ 1535 w 1535"/>
                    <a:gd name="T33" fmla="*/ 242 h 655"/>
                    <a:gd name="T34" fmla="*/ 1498 w 1535"/>
                    <a:gd name="T35" fmla="*/ 267 h 655"/>
                    <a:gd name="T36" fmla="*/ 1456 w 1535"/>
                    <a:gd name="T37" fmla="*/ 271 h 655"/>
                    <a:gd name="T38" fmla="*/ 1432 w 1535"/>
                    <a:gd name="T39" fmla="*/ 236 h 655"/>
                    <a:gd name="T40" fmla="*/ 1429 w 1535"/>
                    <a:gd name="T41" fmla="*/ 192 h 655"/>
                    <a:gd name="T42" fmla="*/ 806 w 1535"/>
                    <a:gd name="T43" fmla="*/ 539 h 655"/>
                    <a:gd name="T44" fmla="*/ 472 w 1535"/>
                    <a:gd name="T45" fmla="*/ 458 h 6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5" h="655">
                      <a:moveTo>
                        <a:pt x="472" y="458"/>
                      </a:moveTo>
                      <a:cubicBezTo>
                        <a:pt x="373" y="407"/>
                        <a:pt x="286" y="333"/>
                        <a:pt x="219" y="244"/>
                      </a:cubicBezTo>
                      <a:cubicBezTo>
                        <a:pt x="216" y="239"/>
                        <a:pt x="212" y="235"/>
                        <a:pt x="209" y="231"/>
                      </a:cubicBezTo>
                      <a:cubicBezTo>
                        <a:pt x="202" y="220"/>
                        <a:pt x="202" y="220"/>
                        <a:pt x="202" y="220"/>
                      </a:cubicBezTo>
                      <a:cubicBezTo>
                        <a:pt x="281" y="179"/>
                        <a:pt x="281" y="179"/>
                        <a:pt x="281" y="179"/>
                      </a:cubicBezTo>
                      <a:cubicBezTo>
                        <a:pt x="288" y="175"/>
                        <a:pt x="291" y="169"/>
                        <a:pt x="292" y="164"/>
                      </a:cubicBezTo>
                      <a:cubicBezTo>
                        <a:pt x="290" y="162"/>
                        <a:pt x="289" y="161"/>
                        <a:pt x="288" y="160"/>
                      </a:cubicBezTo>
                      <a:cubicBezTo>
                        <a:pt x="43" y="4"/>
                        <a:pt x="43" y="4"/>
                        <a:pt x="43" y="4"/>
                      </a:cubicBezTo>
                      <a:cubicBezTo>
                        <a:pt x="37" y="0"/>
                        <a:pt x="29" y="0"/>
                        <a:pt x="23" y="3"/>
                      </a:cubicBezTo>
                      <a:cubicBezTo>
                        <a:pt x="17" y="7"/>
                        <a:pt x="13" y="13"/>
                        <a:pt x="13" y="20"/>
                      </a:cubicBezTo>
                      <a:cubicBezTo>
                        <a:pt x="0" y="309"/>
                        <a:pt x="0" y="309"/>
                        <a:pt x="0" y="309"/>
                      </a:cubicBezTo>
                      <a:cubicBezTo>
                        <a:pt x="5" y="315"/>
                        <a:pt x="15" y="318"/>
                        <a:pt x="23" y="313"/>
                      </a:cubicBezTo>
                      <a:cubicBezTo>
                        <a:pt x="98" y="274"/>
                        <a:pt x="98" y="274"/>
                        <a:pt x="98" y="274"/>
                      </a:cubicBezTo>
                      <a:cubicBezTo>
                        <a:pt x="104" y="283"/>
                        <a:pt x="104" y="283"/>
                        <a:pt x="104" y="283"/>
                      </a:cubicBezTo>
                      <a:cubicBezTo>
                        <a:pt x="106" y="287"/>
                        <a:pt x="109" y="291"/>
                        <a:pt x="112" y="295"/>
                      </a:cubicBezTo>
                      <a:cubicBezTo>
                        <a:pt x="271" y="521"/>
                        <a:pt x="531" y="655"/>
                        <a:pt x="806" y="655"/>
                      </a:cubicBezTo>
                      <a:cubicBezTo>
                        <a:pt x="1107" y="655"/>
                        <a:pt x="1382" y="498"/>
                        <a:pt x="1535" y="242"/>
                      </a:cubicBezTo>
                      <a:cubicBezTo>
                        <a:pt x="1498" y="267"/>
                        <a:pt x="1498" y="267"/>
                        <a:pt x="1498" y="267"/>
                      </a:cubicBezTo>
                      <a:cubicBezTo>
                        <a:pt x="1485" y="276"/>
                        <a:pt x="1470" y="277"/>
                        <a:pt x="1456" y="271"/>
                      </a:cubicBezTo>
                      <a:cubicBezTo>
                        <a:pt x="1442" y="264"/>
                        <a:pt x="1433" y="251"/>
                        <a:pt x="1432" y="236"/>
                      </a:cubicBezTo>
                      <a:cubicBezTo>
                        <a:pt x="1429" y="192"/>
                        <a:pt x="1429" y="192"/>
                        <a:pt x="1429" y="192"/>
                      </a:cubicBezTo>
                      <a:cubicBezTo>
                        <a:pt x="1296" y="407"/>
                        <a:pt x="1060" y="539"/>
                        <a:pt x="806" y="539"/>
                      </a:cubicBezTo>
                      <a:cubicBezTo>
                        <a:pt x="689" y="539"/>
                        <a:pt x="576" y="512"/>
                        <a:pt x="472" y="458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65" name="Freeform 54"/>
                <p:cNvSpPr/>
                <p:nvPr/>
              </p:nvSpPr>
              <p:spPr bwMode="auto">
                <a:xfrm>
                  <a:off x="7587746" y="3819965"/>
                  <a:ext cx="288925" cy="474663"/>
                </a:xfrm>
                <a:custGeom>
                  <a:avLst/>
                  <a:gdLst>
                    <a:gd name="T0" fmla="*/ 65 w 767"/>
                    <a:gd name="T1" fmla="*/ 57 h 1262"/>
                    <a:gd name="T2" fmla="*/ 44 w 767"/>
                    <a:gd name="T3" fmla="*/ 93 h 1262"/>
                    <a:gd name="T4" fmla="*/ 0 w 767"/>
                    <a:gd name="T5" fmla="*/ 117 h 1262"/>
                    <a:gd name="T6" fmla="*/ 400 w 767"/>
                    <a:gd name="T7" fmla="*/ 360 h 1262"/>
                    <a:gd name="T8" fmla="*/ 573 w 767"/>
                    <a:gd name="T9" fmla="*/ 832 h 1262"/>
                    <a:gd name="T10" fmla="*/ 564 w 767"/>
                    <a:gd name="T11" fmla="*/ 948 h 1262"/>
                    <a:gd name="T12" fmla="*/ 560 w 767"/>
                    <a:gd name="T13" fmla="*/ 968 h 1262"/>
                    <a:gd name="T14" fmla="*/ 557 w 767"/>
                    <a:gd name="T15" fmla="*/ 982 h 1262"/>
                    <a:gd name="T16" fmla="*/ 494 w 767"/>
                    <a:gd name="T17" fmla="*/ 952 h 1262"/>
                    <a:gd name="T18" fmla="*/ 474 w 767"/>
                    <a:gd name="T19" fmla="*/ 954 h 1262"/>
                    <a:gd name="T20" fmla="*/ 496 w 767"/>
                    <a:gd name="T21" fmla="*/ 1243 h 1262"/>
                    <a:gd name="T22" fmla="*/ 507 w 767"/>
                    <a:gd name="T23" fmla="*/ 1259 h 1262"/>
                    <a:gd name="T24" fmla="*/ 526 w 767"/>
                    <a:gd name="T25" fmla="*/ 1258 h 1262"/>
                    <a:gd name="T26" fmla="*/ 766 w 767"/>
                    <a:gd name="T27" fmla="*/ 1094 h 1262"/>
                    <a:gd name="T28" fmla="*/ 767 w 767"/>
                    <a:gd name="T29" fmla="*/ 1093 h 1262"/>
                    <a:gd name="T30" fmla="*/ 756 w 767"/>
                    <a:gd name="T31" fmla="*/ 1077 h 1262"/>
                    <a:gd name="T32" fmla="*/ 665 w 767"/>
                    <a:gd name="T33" fmla="*/ 1034 h 1262"/>
                    <a:gd name="T34" fmla="*/ 667 w 767"/>
                    <a:gd name="T35" fmla="*/ 1025 h 1262"/>
                    <a:gd name="T36" fmla="*/ 671 w 767"/>
                    <a:gd name="T37" fmla="*/ 1006 h 1262"/>
                    <a:gd name="T38" fmla="*/ 689 w 767"/>
                    <a:gd name="T39" fmla="*/ 832 h 1262"/>
                    <a:gd name="T40" fmla="*/ 11 w 767"/>
                    <a:gd name="T41" fmla="*/ 0 h 1262"/>
                    <a:gd name="T42" fmla="*/ 45 w 767"/>
                    <a:gd name="T43" fmla="*/ 20 h 1262"/>
                    <a:gd name="T44" fmla="*/ 65 w 767"/>
                    <a:gd name="T45" fmla="*/ 57 h 1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767" h="1262">
                      <a:moveTo>
                        <a:pt x="65" y="57"/>
                      </a:moveTo>
                      <a:cubicBezTo>
                        <a:pt x="65" y="72"/>
                        <a:pt x="57" y="85"/>
                        <a:pt x="44" y="93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155" y="152"/>
                        <a:pt x="296" y="237"/>
                        <a:pt x="400" y="360"/>
                      </a:cubicBezTo>
                      <a:cubicBezTo>
                        <a:pt x="511" y="491"/>
                        <a:pt x="573" y="659"/>
                        <a:pt x="573" y="832"/>
                      </a:cubicBezTo>
                      <a:cubicBezTo>
                        <a:pt x="573" y="871"/>
                        <a:pt x="570" y="910"/>
                        <a:pt x="564" y="948"/>
                      </a:cubicBezTo>
                      <a:cubicBezTo>
                        <a:pt x="563" y="955"/>
                        <a:pt x="561" y="961"/>
                        <a:pt x="560" y="968"/>
                      </a:cubicBezTo>
                      <a:cubicBezTo>
                        <a:pt x="557" y="982"/>
                        <a:pt x="557" y="982"/>
                        <a:pt x="557" y="982"/>
                      </a:cubicBezTo>
                      <a:cubicBezTo>
                        <a:pt x="494" y="952"/>
                        <a:pt x="494" y="952"/>
                        <a:pt x="494" y="952"/>
                      </a:cubicBezTo>
                      <a:cubicBezTo>
                        <a:pt x="486" y="948"/>
                        <a:pt x="479" y="950"/>
                        <a:pt x="474" y="954"/>
                      </a:cubicBezTo>
                      <a:cubicBezTo>
                        <a:pt x="496" y="1243"/>
                        <a:pt x="496" y="1243"/>
                        <a:pt x="496" y="1243"/>
                      </a:cubicBezTo>
                      <a:cubicBezTo>
                        <a:pt x="497" y="1250"/>
                        <a:pt x="501" y="1256"/>
                        <a:pt x="507" y="1259"/>
                      </a:cubicBezTo>
                      <a:cubicBezTo>
                        <a:pt x="513" y="1262"/>
                        <a:pt x="521" y="1262"/>
                        <a:pt x="526" y="1258"/>
                      </a:cubicBezTo>
                      <a:cubicBezTo>
                        <a:pt x="766" y="1094"/>
                        <a:pt x="766" y="1094"/>
                        <a:pt x="766" y="1094"/>
                      </a:cubicBezTo>
                      <a:cubicBezTo>
                        <a:pt x="766" y="1093"/>
                        <a:pt x="767" y="1093"/>
                        <a:pt x="767" y="1093"/>
                      </a:cubicBezTo>
                      <a:cubicBezTo>
                        <a:pt x="766" y="1086"/>
                        <a:pt x="762" y="1080"/>
                        <a:pt x="756" y="1077"/>
                      </a:cubicBezTo>
                      <a:cubicBezTo>
                        <a:pt x="665" y="1034"/>
                        <a:pt x="665" y="1034"/>
                        <a:pt x="665" y="1034"/>
                      </a:cubicBezTo>
                      <a:cubicBezTo>
                        <a:pt x="667" y="1025"/>
                        <a:pt x="667" y="1025"/>
                        <a:pt x="667" y="1025"/>
                      </a:cubicBezTo>
                      <a:cubicBezTo>
                        <a:pt x="669" y="1019"/>
                        <a:pt x="670" y="1013"/>
                        <a:pt x="671" y="1006"/>
                      </a:cubicBezTo>
                      <a:cubicBezTo>
                        <a:pt x="683" y="949"/>
                        <a:pt x="689" y="891"/>
                        <a:pt x="689" y="832"/>
                      </a:cubicBezTo>
                      <a:cubicBezTo>
                        <a:pt x="689" y="427"/>
                        <a:pt x="401" y="80"/>
                        <a:pt x="11" y="0"/>
                      </a:cubicBez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58" y="28"/>
                        <a:pt x="65" y="42"/>
                        <a:pt x="65" y="57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grpSp>
            <p:nvGrpSpPr>
              <p:cNvPr id="59" name="组合 58"/>
              <p:cNvGrpSpPr/>
              <p:nvPr/>
            </p:nvGrpSpPr>
            <p:grpSpPr>
              <a:xfrm>
                <a:off x="7945" y="3211"/>
                <a:ext cx="3289" cy="3289"/>
                <a:chOff x="5051756" y="2126827"/>
                <a:chExt cx="2088487" cy="2088487"/>
              </a:xfrm>
              <a:solidFill>
                <a:srgbClr val="9B1313"/>
              </a:solidFill>
            </p:grpSpPr>
            <p:sp>
              <p:nvSpPr>
                <p:cNvPr id="61" name="椭圆 60"/>
                <p:cNvSpPr/>
                <p:nvPr/>
              </p:nvSpPr>
              <p:spPr>
                <a:xfrm>
                  <a:off x="5051756" y="2126827"/>
                  <a:ext cx="2088487" cy="2088487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5292782" y="3130810"/>
                  <a:ext cx="1606433" cy="953122"/>
                </a:xfrm>
                <a:prstGeom prst="rect">
                  <a:avLst/>
                </a:prstGeom>
                <a:grp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2800" b="1" kern="0" dirty="0">
                      <a:solidFill>
                        <a:prstClr val="white"/>
                      </a:solidFill>
                      <a:latin typeface="+mj-ea"/>
                      <a:ea typeface="+mj-ea"/>
                      <a:cs typeface="+mn-ea"/>
                      <a:sym typeface="汉仪旗黑-55简" panose="00020600040101010101" pitchFamily="18" charset="-122"/>
                    </a:rPr>
                    <a:t>Agent</a:t>
                  </a:r>
                  <a:endParaRPr lang="en-US" altLang="zh-CN" sz="2800" b="1" kern="0" dirty="0">
                    <a:solidFill>
                      <a:prstClr val="white"/>
                    </a:solidFill>
                    <a:latin typeface="+mj-ea"/>
                    <a:ea typeface="+mj-ea"/>
                    <a:cs typeface="+mn-ea"/>
                    <a:sym typeface="汉仪旗黑-55简" panose="00020600040101010101" pitchFamily="18" charset="-122"/>
                  </a:endParaRPr>
                </a:p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2800" b="1" kern="0" dirty="0">
                      <a:solidFill>
                        <a:prstClr val="white"/>
                      </a:solidFill>
                      <a:latin typeface="+mj-ea"/>
                      <a:ea typeface="+mj-ea"/>
                      <a:cs typeface="+mn-ea"/>
                      <a:sym typeface="汉仪旗黑-55简" panose="00020600040101010101" pitchFamily="18" charset="-122"/>
                    </a:rPr>
                    <a:t>安全</a:t>
                  </a:r>
                  <a:endParaRPr lang="zh-CN" altLang="en-US" sz="2800" b="1" kern="0" dirty="0">
                    <a:solidFill>
                      <a:prstClr val="white"/>
                    </a:solidFill>
                    <a:latin typeface="+mj-ea"/>
                    <a:ea typeface="+mj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pic>
            <p:nvPicPr>
              <p:cNvPr id="60" name="图形 59"/>
              <p:cNvPicPr>
                <a:picLocks noChangeAspect="1"/>
              </p:cNvPicPr>
              <p:nvPr/>
            </p:nvPicPr>
            <p:blipFill>
              <a:blip r:embed="rId1" cstate="screen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053" y="3736"/>
                <a:ext cx="914" cy="91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威胁清单与典型攻击链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7891" y="441479"/>
            <a:ext cx="789305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权威风险清单：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OWASP LLM Top 10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）如何映射到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 Agent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7" name="任意多边形: 形状 96"/>
          <p:cNvSpPr/>
          <p:nvPr/>
        </p:nvSpPr>
        <p:spPr>
          <a:xfrm>
            <a:off x="479426" y="1030485"/>
            <a:ext cx="2252747" cy="497412"/>
          </a:xfrm>
          <a:custGeom>
            <a:avLst/>
            <a:gdLst>
              <a:gd name="connsiteX0" fmla="*/ 0 w 2252751"/>
              <a:gd name="connsiteY0" fmla="*/ 0 h 461665"/>
              <a:gd name="connsiteX1" fmla="*/ 2252751 w 2252751"/>
              <a:gd name="connsiteY1" fmla="*/ 0 h 461665"/>
              <a:gd name="connsiteX2" fmla="*/ 2131458 w 2252751"/>
              <a:gd name="connsiteY2" fmla="*/ 230833 h 461665"/>
              <a:gd name="connsiteX3" fmla="*/ 2252751 w 2252751"/>
              <a:gd name="connsiteY3" fmla="*/ 461665 h 461665"/>
              <a:gd name="connsiteX4" fmla="*/ 0 w 2252751"/>
              <a:gd name="connsiteY4" fmla="*/ 461665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52751" h="461665">
                <a:moveTo>
                  <a:pt x="0" y="0"/>
                </a:moveTo>
                <a:lnTo>
                  <a:pt x="2252751" y="0"/>
                </a:lnTo>
                <a:lnTo>
                  <a:pt x="2131458" y="230833"/>
                </a:lnTo>
                <a:lnTo>
                  <a:pt x="2252751" y="461665"/>
                </a:lnTo>
                <a:lnTo>
                  <a:pt x="0" y="461665"/>
                </a:lnTo>
                <a:close/>
              </a:path>
            </a:pathLst>
          </a:cu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1196" y="1097534"/>
            <a:ext cx="1849207" cy="3371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 defTabSz="457200"/>
            <a:r>
              <a:rPr lang="zh-CN" altLang="en-US" sz="1600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rPr>
              <a:t>一句话定位</a:t>
            </a:r>
            <a:endParaRPr lang="zh-CN" altLang="en-US" sz="1600" dirty="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800985" y="972185"/>
            <a:ext cx="8969375" cy="629920"/>
          </a:xfrm>
          <a:prstGeom prst="rect">
            <a:avLst/>
          </a:prstGeom>
          <a:noFill/>
          <a:ln>
            <a:solidFill>
              <a:srgbClr val="B10015"/>
            </a:solidFill>
          </a:ln>
        </p:spPr>
        <p:txBody>
          <a:bodyPr wrap="square">
            <a:spAutoFit/>
          </a:bodyPr>
          <a:p>
            <a:pPr algn="just">
              <a:lnSpc>
                <a:spcPct val="125000"/>
              </a:lnSpc>
              <a:spcBef>
                <a:spcPts val="400"/>
              </a:spcBef>
            </a:pP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OWASP 2025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这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6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类风险，基本覆盖了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Agent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最常见的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注入</a:t>
            </a:r>
            <a:r>
              <a:rPr lang="en-US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→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越权</a:t>
            </a:r>
            <a:r>
              <a:rPr lang="en-US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→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执行</a:t>
            </a:r>
            <a:r>
              <a:rPr lang="en-US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→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泄露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烧钱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的主路径：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Prompt / RAG(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向量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&amp;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记忆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) / Tool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执行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/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自主权</a:t>
            </a:r>
            <a:r>
              <a:rPr lang="en-US" altLang="zh-CN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/ </a:t>
            </a:r>
            <a:r>
              <a:rPr lang="zh-CN" altLang="en-US" sz="14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成本边界</a:t>
            </a:r>
            <a:endParaRPr lang="zh-CN" altLang="en-US" sz="14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graphicFrame>
        <p:nvGraphicFramePr>
          <p:cNvPr id="84" name="表格 83"/>
          <p:cNvGraphicFramePr/>
          <p:nvPr>
            <p:custDataLst>
              <p:tags r:id="rId1"/>
            </p:custDataLst>
          </p:nvPr>
        </p:nvGraphicFramePr>
        <p:xfrm>
          <a:off x="479425" y="1665605"/>
          <a:ext cx="11290300" cy="5140960"/>
        </p:xfrm>
        <a:graphic>
          <a:graphicData uri="http://schemas.openxmlformats.org/drawingml/2006/table">
            <a:tbl>
              <a:tblPr/>
              <a:tblGrid>
                <a:gridCol w="2258060"/>
                <a:gridCol w="2258060"/>
                <a:gridCol w="2258060"/>
                <a:gridCol w="2258060"/>
                <a:gridCol w="2258060"/>
              </a:tblGrid>
              <a:tr h="321310">
                <a:tc>
                  <a:txBody>
                    <a:bodyPr/>
                    <a:p>
                      <a:pPr algn="ctr"/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OWASP 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风险（你选的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类）</a:t>
                      </a:r>
                      <a:endParaRPr lang="zh-CN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005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Agent 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典型入口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触发点</a:t>
                      </a:r>
                      <a:endParaRPr lang="zh-CN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005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资产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后果（更像事故描述）</a:t>
                      </a:r>
                      <a:endParaRPr lang="zh-CN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005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首要控制点（工程落地）</a:t>
                      </a:r>
                      <a:endParaRPr lang="zh-CN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005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评测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监控信号（上线前</a:t>
                      </a:r>
                      <a:r>
                        <a:rPr lang="en-US" altLang="zh-CN" sz="1100" b="1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100" b="1">
                          <a:solidFill>
                            <a:schemeClr val="bg1"/>
                          </a:solidFill>
                        </a:rPr>
                        <a:t>后）</a:t>
                      </a:r>
                      <a:endParaRPr lang="zh-CN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005F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LLM01 Prompt Injection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C0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用户对话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网页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邮件 </a:t>
                      </a:r>
                      <a:r>
                        <a:rPr lang="en-US" altLang="zh-CN" sz="1100"/>
                        <a:t>/ </a:t>
                      </a:r>
                      <a:r>
                        <a:rPr lang="zh-CN" altLang="en-US" sz="1100"/>
                        <a:t>文档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（间接注入）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C0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越权调用工具</a:t>
                      </a:r>
                      <a:r>
                        <a:rPr lang="zh-CN" altLang="en-US" sz="1100"/>
                        <a:t>、规则绕过、行动被劫持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C0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指令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数据分离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系统提示不可被外部覆盖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高风险动作二次确认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C0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注入成功率；“忽略规则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越权意图”触发次数；高危</a:t>
                      </a:r>
                      <a:r>
                        <a:rPr lang="en-US" altLang="zh-CN" sz="1100"/>
                        <a:t>tool-call</a:t>
                      </a:r>
                      <a:r>
                        <a:rPr lang="zh-CN" altLang="en-US" sz="1100"/>
                        <a:t>占比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C0CD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LLM02 Sensitive Info Disclosure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F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RAG</a:t>
                      </a:r>
                      <a:r>
                        <a:rPr lang="zh-CN" altLang="en-US" sz="1100"/>
                        <a:t>召回、工具返回、日志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记忆回灌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F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泄露密钥</a:t>
                      </a:r>
                      <a:r>
                        <a:rPr lang="en-US" altLang="zh-CN" sz="1100"/>
                        <a:t>/PII/</a:t>
                      </a:r>
                      <a:r>
                        <a:rPr lang="zh-CN" altLang="en-US" sz="1100"/>
                        <a:t>内部文档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（跨租户更严重）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F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输出脱敏与红线检测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检索权限绑定（</a:t>
                      </a:r>
                      <a:r>
                        <a:rPr lang="en-US" altLang="zh-CN" sz="1100"/>
                        <a:t>user/tenant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最小化上下文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F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敏感串命中率；脱敏触发次数；跨租户召回拦截数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FF2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LLM05 Improper Output Handling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 </a:t>
                      </a:r>
                      <a:r>
                        <a:rPr lang="zh-CN" altLang="en-US" sz="1100"/>
                        <a:t>输出被当成 </a:t>
                      </a:r>
                      <a:r>
                        <a:rPr lang="zh-CN" altLang="en-US" sz="1100"/>
                        <a:t>可执行输入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SQL/shell/URL/JSON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命令注入、危险参数执行、错误工单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配置落库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Tool Gateway </a:t>
                      </a:r>
                      <a:r>
                        <a:rPr lang="zh-CN" altLang="en-US" sz="1100"/>
                        <a:t>参数校验</a:t>
                      </a:r>
                      <a:r>
                        <a:rPr lang="en-US" altLang="zh-CN" sz="1100"/>
                        <a:t>+allowlist</a:t>
                      </a:r>
                      <a:endParaRPr lang="en-US" altLang="zh-CN" sz="1100"/>
                    </a:p>
                    <a:p>
                      <a:pPr algn="ctr"/>
                      <a:r>
                        <a:rPr lang="zh-CN" altLang="en-US" sz="1100"/>
                        <a:t>结构化输出</a:t>
                      </a:r>
                      <a:r>
                        <a:rPr lang="en-US" altLang="zh-CN" sz="1100"/>
                        <a:t>schema</a:t>
                      </a:r>
                      <a:r>
                        <a:rPr lang="zh-CN" altLang="en-US" sz="1100"/>
                        <a:t>校验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转义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编码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“校验失败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拦截”比例；危险参数命中；执行前后</a:t>
                      </a:r>
                      <a:r>
                        <a:rPr lang="en-US" altLang="zh-CN" sz="1100"/>
                        <a:t>diff</a:t>
                      </a:r>
                      <a:r>
                        <a:rPr lang="zh-CN" altLang="en-US" sz="1100"/>
                        <a:t>异常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LLM06 Excessive Agency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权限过大、自动化过强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（默认写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默认执行）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不可逆操作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（改仓库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改配置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转账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删除资源）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最小权限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能力分级（</a:t>
                      </a:r>
                      <a:r>
                        <a:rPr lang="en-US" altLang="zh-CN" sz="1100"/>
                        <a:t>read/write/money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审批聚合（证据包）</a:t>
                      </a:r>
                      <a:endParaRPr lang="en-US" altLang="zh-CN" sz="1100"/>
                    </a:p>
                    <a:p>
                      <a:pPr algn="ctr"/>
                      <a:r>
                        <a:rPr lang="en-US" altLang="zh-CN" sz="1100"/>
                        <a:t> kill switch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高权限动作频率；人工批准率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拒绝率；降级触发次数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LLM08 Vector &amp; Embedding Weaknesses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向量库投毒、相似度操控、召回越权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被操控输出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长期“错误事实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偏好”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数据混租泄露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记忆写入策略（字段</a:t>
                      </a:r>
                      <a:r>
                        <a:rPr lang="en-US" altLang="zh-CN" sz="1100"/>
                        <a:t>/TTL/</a:t>
                      </a:r>
                      <a:r>
                        <a:rPr lang="zh-CN" altLang="en-US" sz="1100"/>
                        <a:t>来源）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检索清洗与引用隔离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向量库</a:t>
                      </a:r>
                      <a:r>
                        <a:rPr lang="en-US" altLang="zh-CN" sz="1100"/>
                        <a:t>ACL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“可疑来源”召回占比；投毒样本命中；记忆写入拒绝率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BBCD"/>
                    </a:solidFill>
                  </a:tcPr>
                </a:tc>
              </a:tr>
              <a:tr h="803275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LLM10 Unbounded Consumption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循环计划、反复检索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重试、超长输入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DoS/</a:t>
                      </a:r>
                      <a:r>
                        <a:rPr lang="zh-CN" altLang="en-US" sz="1100"/>
                        <a:t>烧钱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服务退化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Denial-of-Wallet</a:t>
                      </a:r>
                      <a:r>
                        <a:rPr lang="zh-CN" altLang="en-US" sz="1100"/>
                        <a:t>）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Budget</a:t>
                      </a:r>
                      <a:r>
                        <a:rPr lang="zh-CN" altLang="en-US" sz="1100"/>
                        <a:t>（</a:t>
                      </a:r>
                      <a:r>
                        <a:rPr lang="en-US" altLang="zh-CN" sz="1100"/>
                        <a:t>token/</a:t>
                      </a:r>
                      <a:r>
                        <a:rPr lang="zh-CN" altLang="en-US" sz="1100"/>
                        <a:t>时间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钱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工具次数）</a:t>
                      </a:r>
                      <a:endParaRPr lang="zh-CN" altLang="en-US" sz="1100"/>
                    </a:p>
                    <a:p>
                      <a:pPr algn="ctr"/>
                      <a:r>
                        <a:rPr lang="en-US" altLang="zh-CN" sz="1100"/>
                        <a:t>Loop limits</a:t>
                      </a:r>
                      <a:endParaRPr lang="zh-CN" altLang="en-US" sz="1100"/>
                    </a:p>
                    <a:p>
                      <a:pPr algn="ctr"/>
                      <a:r>
                        <a:rPr lang="zh-CN" altLang="en-US" sz="1100"/>
                        <a:t>熔断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退避</a:t>
                      </a:r>
                      <a:r>
                        <a:rPr lang="en-US" altLang="zh-CN" sz="1100"/>
                        <a:t>+</a:t>
                      </a:r>
                      <a:r>
                        <a:rPr lang="zh-CN" altLang="en-US" sz="1100"/>
                        <a:t>降级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/>
                        <a:t>单任务</a:t>
                      </a:r>
                      <a:r>
                        <a:rPr lang="en-US" altLang="zh-CN" sz="1100"/>
                        <a:t>cost</a:t>
                      </a:r>
                      <a:r>
                        <a:rPr lang="zh-CN" altLang="en-US" sz="1100"/>
                        <a:t>分布；</a:t>
                      </a:r>
                      <a:r>
                        <a:rPr lang="en-US" altLang="zh-CN" sz="1100"/>
                        <a:t>tool-call</a:t>
                      </a:r>
                      <a:r>
                        <a:rPr lang="zh-CN" altLang="en-US" sz="1100"/>
                        <a:t>回路长度；异常速率告警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熔断次数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 w="6350">
                      <a:solidFill>
                        <a:schemeClr val="bg1"/>
                      </a:solidFill>
                      <a:prstDash val="solid"/>
                    </a:lnL>
                    <a:lnR w="6350">
                      <a:solidFill>
                        <a:schemeClr val="bg1"/>
                      </a:solidFill>
                      <a:prstDash val="solid"/>
                    </a:lnR>
                    <a:lnT w="6350">
                      <a:solidFill>
                        <a:schemeClr val="bg1"/>
                      </a:solidFill>
                      <a:prstDash val="solid"/>
                    </a:lnT>
                    <a:lnB w="6350">
                      <a:solidFill>
                        <a:schemeClr val="bg1"/>
                      </a:solidFill>
                      <a:prstDash val="solid"/>
                    </a:lnB>
                    <a:solidFill>
                      <a:srgbClr val="FF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椭圆 81"/>
          <p:cNvSpPr/>
          <p:nvPr/>
        </p:nvSpPr>
        <p:spPr>
          <a:xfrm>
            <a:off x="4031881" y="2098724"/>
            <a:ext cx="3406951" cy="3407865"/>
          </a:xfrm>
          <a:prstGeom prst="ellipse">
            <a:avLst/>
          </a:prstGeom>
          <a:noFill/>
          <a:ln w="381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rgbClr val="AC6E6E"/>
                </a:gs>
              </a:gsLst>
              <a:lin ang="5400000" scaled="1"/>
            </a:gradFill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2" name="文本框 3"/>
          <p:cNvSpPr txBox="1"/>
          <p:nvPr/>
        </p:nvSpPr>
        <p:spPr>
          <a:xfrm>
            <a:off x="387891" y="441479"/>
            <a:ext cx="66319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Agent 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攻击链：从注入到持久化与外泄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51217" y="2643353"/>
            <a:ext cx="2544445" cy="2543810"/>
            <a:chOff x="744538" y="2081530"/>
            <a:chExt cx="3606800" cy="3605213"/>
          </a:xfrm>
        </p:grpSpPr>
        <p:grpSp>
          <p:nvGrpSpPr>
            <p:cNvPr id="65" name="Group 4"/>
            <p:cNvGrpSpPr>
              <a:grpSpLocks noChangeAspect="1"/>
            </p:cNvGrpSpPr>
            <p:nvPr/>
          </p:nvGrpSpPr>
          <p:grpSpPr bwMode="auto">
            <a:xfrm>
              <a:off x="744538" y="2081530"/>
              <a:ext cx="3606800" cy="3605213"/>
              <a:chOff x="2629" y="1172"/>
              <a:chExt cx="2272" cy="2271"/>
            </a:xfrm>
          </p:grpSpPr>
          <p:sp>
            <p:nvSpPr>
              <p:cNvPr id="76" name="Freeform 5"/>
              <p:cNvSpPr/>
              <p:nvPr/>
            </p:nvSpPr>
            <p:spPr bwMode="auto">
              <a:xfrm>
                <a:off x="3840" y="1172"/>
                <a:ext cx="1061" cy="1590"/>
              </a:xfrm>
              <a:custGeom>
                <a:avLst/>
                <a:gdLst>
                  <a:gd name="T0" fmla="*/ 0 w 8833"/>
                  <a:gd name="T1" fmla="*/ 0 h 13248"/>
                  <a:gd name="T2" fmla="*/ 8833 w 8833"/>
                  <a:gd name="T3" fmla="*/ 8832 h 13248"/>
                  <a:gd name="T4" fmla="*/ 7650 w 8833"/>
                  <a:gd name="T5" fmla="*/ 13248 h 13248"/>
                  <a:gd name="T6" fmla="*/ 6273 w 8833"/>
                  <a:gd name="T7" fmla="*/ 12453 h 13248"/>
                  <a:gd name="T8" fmla="*/ 3622 w 8833"/>
                  <a:gd name="T9" fmla="*/ 2560 h 13248"/>
                  <a:gd name="T10" fmla="*/ 0 w 8833"/>
                  <a:gd name="T11" fmla="*/ 1590 h 13248"/>
                  <a:gd name="T12" fmla="*/ 0 w 8833"/>
                  <a:gd name="T13" fmla="*/ 0 h 13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33" h="13248">
                    <a:moveTo>
                      <a:pt x="0" y="0"/>
                    </a:moveTo>
                    <a:cubicBezTo>
                      <a:pt x="4878" y="0"/>
                      <a:pt x="8833" y="3954"/>
                      <a:pt x="8833" y="8832"/>
                    </a:cubicBezTo>
                    <a:cubicBezTo>
                      <a:pt x="8833" y="10383"/>
                      <a:pt x="8425" y="11906"/>
                      <a:pt x="7650" y="13248"/>
                    </a:cubicBezTo>
                    <a:lnTo>
                      <a:pt x="6273" y="12453"/>
                    </a:lnTo>
                    <a:cubicBezTo>
                      <a:pt x="8273" y="8989"/>
                      <a:pt x="7086" y="4560"/>
                      <a:pt x="3622" y="2560"/>
                    </a:cubicBezTo>
                    <a:cubicBezTo>
                      <a:pt x="2521" y="1924"/>
                      <a:pt x="1272" y="1590"/>
                      <a:pt x="0" y="159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1313">
                  <a:lumMod val="60000"/>
                  <a:lumOff val="40000"/>
                  <a:alpha val="8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7" name="Freeform 6"/>
              <p:cNvSpPr/>
              <p:nvPr/>
            </p:nvSpPr>
            <p:spPr bwMode="auto">
              <a:xfrm>
                <a:off x="3840" y="1172"/>
                <a:ext cx="1061" cy="1590"/>
              </a:xfrm>
              <a:custGeom>
                <a:avLst/>
                <a:gdLst>
                  <a:gd name="T0" fmla="*/ 0 w 8833"/>
                  <a:gd name="T1" fmla="*/ 0 h 13248"/>
                  <a:gd name="T2" fmla="*/ 8833 w 8833"/>
                  <a:gd name="T3" fmla="*/ 8832 h 13248"/>
                  <a:gd name="T4" fmla="*/ 7650 w 8833"/>
                  <a:gd name="T5" fmla="*/ 13248 h 13248"/>
                  <a:gd name="T6" fmla="*/ 6273 w 8833"/>
                  <a:gd name="T7" fmla="*/ 12453 h 13248"/>
                  <a:gd name="T8" fmla="*/ 3622 w 8833"/>
                  <a:gd name="T9" fmla="*/ 2560 h 13248"/>
                  <a:gd name="T10" fmla="*/ 0 w 8833"/>
                  <a:gd name="T11" fmla="*/ 1590 h 13248"/>
                  <a:gd name="T12" fmla="*/ 0 w 8833"/>
                  <a:gd name="T13" fmla="*/ 0 h 13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33" h="13248">
                    <a:moveTo>
                      <a:pt x="0" y="0"/>
                    </a:moveTo>
                    <a:cubicBezTo>
                      <a:pt x="4878" y="0"/>
                      <a:pt x="8833" y="3954"/>
                      <a:pt x="8833" y="8832"/>
                    </a:cubicBezTo>
                    <a:cubicBezTo>
                      <a:pt x="8833" y="10383"/>
                      <a:pt x="8425" y="11906"/>
                      <a:pt x="7650" y="13248"/>
                    </a:cubicBezTo>
                    <a:lnTo>
                      <a:pt x="6273" y="12453"/>
                    </a:lnTo>
                    <a:cubicBezTo>
                      <a:pt x="8273" y="8989"/>
                      <a:pt x="7086" y="4560"/>
                      <a:pt x="3622" y="2560"/>
                    </a:cubicBezTo>
                    <a:cubicBezTo>
                      <a:pt x="2521" y="1924"/>
                      <a:pt x="1272" y="1590"/>
                      <a:pt x="0" y="159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8" name="Freeform 7"/>
              <p:cNvSpPr/>
              <p:nvPr/>
            </p:nvSpPr>
            <p:spPr bwMode="auto">
              <a:xfrm>
                <a:off x="2922" y="2667"/>
                <a:ext cx="1837" cy="776"/>
              </a:xfrm>
              <a:custGeom>
                <a:avLst/>
                <a:gdLst>
                  <a:gd name="T0" fmla="*/ 15299 w 15299"/>
                  <a:gd name="T1" fmla="*/ 795 h 6467"/>
                  <a:gd name="T2" fmla="*/ 3233 w 15299"/>
                  <a:gd name="T3" fmla="*/ 4028 h 6467"/>
                  <a:gd name="T4" fmla="*/ 0 w 15299"/>
                  <a:gd name="T5" fmla="*/ 795 h 6467"/>
                  <a:gd name="T6" fmla="*/ 1377 w 15299"/>
                  <a:gd name="T7" fmla="*/ 0 h 6467"/>
                  <a:gd name="T8" fmla="*/ 11271 w 15299"/>
                  <a:gd name="T9" fmla="*/ 2651 h 6467"/>
                  <a:gd name="T10" fmla="*/ 13922 w 15299"/>
                  <a:gd name="T11" fmla="*/ 0 h 6467"/>
                  <a:gd name="T12" fmla="*/ 15299 w 15299"/>
                  <a:gd name="T13" fmla="*/ 795 h 6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299" h="6467">
                    <a:moveTo>
                      <a:pt x="15299" y="795"/>
                    </a:moveTo>
                    <a:cubicBezTo>
                      <a:pt x="12860" y="5020"/>
                      <a:pt x="7458" y="6467"/>
                      <a:pt x="3233" y="4028"/>
                    </a:cubicBezTo>
                    <a:cubicBezTo>
                      <a:pt x="1891" y="3253"/>
                      <a:pt x="776" y="2138"/>
                      <a:pt x="0" y="795"/>
                    </a:cubicBezTo>
                    <a:lnTo>
                      <a:pt x="1377" y="0"/>
                    </a:lnTo>
                    <a:cubicBezTo>
                      <a:pt x="3377" y="3465"/>
                      <a:pt x="7807" y="4651"/>
                      <a:pt x="11271" y="2651"/>
                    </a:cubicBezTo>
                    <a:cubicBezTo>
                      <a:pt x="12372" y="2016"/>
                      <a:pt x="13286" y="1101"/>
                      <a:pt x="13922" y="0"/>
                    </a:cubicBezTo>
                    <a:lnTo>
                      <a:pt x="15299" y="795"/>
                    </a:lnTo>
                    <a:close/>
                  </a:path>
                </a:pathLst>
              </a:custGeom>
              <a:solidFill>
                <a:srgbClr val="9B1313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9" name="Freeform 8"/>
              <p:cNvSpPr/>
              <p:nvPr/>
            </p:nvSpPr>
            <p:spPr bwMode="auto">
              <a:xfrm>
                <a:off x="2922" y="2667"/>
                <a:ext cx="1837" cy="776"/>
              </a:xfrm>
              <a:custGeom>
                <a:avLst/>
                <a:gdLst>
                  <a:gd name="T0" fmla="*/ 15299 w 15299"/>
                  <a:gd name="T1" fmla="*/ 795 h 6467"/>
                  <a:gd name="T2" fmla="*/ 3233 w 15299"/>
                  <a:gd name="T3" fmla="*/ 4028 h 6467"/>
                  <a:gd name="T4" fmla="*/ 0 w 15299"/>
                  <a:gd name="T5" fmla="*/ 795 h 6467"/>
                  <a:gd name="T6" fmla="*/ 1377 w 15299"/>
                  <a:gd name="T7" fmla="*/ 0 h 6467"/>
                  <a:gd name="T8" fmla="*/ 11271 w 15299"/>
                  <a:gd name="T9" fmla="*/ 2651 h 6467"/>
                  <a:gd name="T10" fmla="*/ 13922 w 15299"/>
                  <a:gd name="T11" fmla="*/ 0 h 6467"/>
                  <a:gd name="T12" fmla="*/ 15299 w 15299"/>
                  <a:gd name="T13" fmla="*/ 795 h 6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299" h="6467">
                    <a:moveTo>
                      <a:pt x="15299" y="795"/>
                    </a:moveTo>
                    <a:cubicBezTo>
                      <a:pt x="12860" y="5020"/>
                      <a:pt x="7458" y="6467"/>
                      <a:pt x="3233" y="4028"/>
                    </a:cubicBezTo>
                    <a:cubicBezTo>
                      <a:pt x="1891" y="3253"/>
                      <a:pt x="776" y="2138"/>
                      <a:pt x="0" y="795"/>
                    </a:cubicBezTo>
                    <a:lnTo>
                      <a:pt x="1377" y="0"/>
                    </a:lnTo>
                    <a:cubicBezTo>
                      <a:pt x="3377" y="3465"/>
                      <a:pt x="7807" y="4651"/>
                      <a:pt x="11271" y="2651"/>
                    </a:cubicBezTo>
                    <a:cubicBezTo>
                      <a:pt x="12372" y="2016"/>
                      <a:pt x="13286" y="1101"/>
                      <a:pt x="13922" y="0"/>
                    </a:cubicBezTo>
                    <a:lnTo>
                      <a:pt x="15299" y="795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80" name="Freeform 9"/>
              <p:cNvSpPr/>
              <p:nvPr/>
            </p:nvSpPr>
            <p:spPr bwMode="auto">
              <a:xfrm>
                <a:off x="2629" y="1172"/>
                <a:ext cx="1211" cy="1590"/>
              </a:xfrm>
              <a:custGeom>
                <a:avLst/>
                <a:gdLst>
                  <a:gd name="T0" fmla="*/ 4878 w 20176"/>
                  <a:gd name="T1" fmla="*/ 26497 h 26497"/>
                  <a:gd name="T2" fmla="*/ 11344 w 20176"/>
                  <a:gd name="T3" fmla="*/ 2367 h 26497"/>
                  <a:gd name="T4" fmla="*/ 20176 w 20176"/>
                  <a:gd name="T5" fmla="*/ 0 h 26497"/>
                  <a:gd name="T6" fmla="*/ 20176 w 20176"/>
                  <a:gd name="T7" fmla="*/ 3180 h 26497"/>
                  <a:gd name="T8" fmla="*/ 5691 w 20176"/>
                  <a:gd name="T9" fmla="*/ 17665 h 26497"/>
                  <a:gd name="T10" fmla="*/ 7632 w 20176"/>
                  <a:gd name="T11" fmla="*/ 24907 h 26497"/>
                  <a:gd name="T12" fmla="*/ 4878 w 20176"/>
                  <a:gd name="T13" fmla="*/ 26497 h 26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176" h="26497">
                    <a:moveTo>
                      <a:pt x="4878" y="26497"/>
                    </a:moveTo>
                    <a:cubicBezTo>
                      <a:pt x="0" y="18048"/>
                      <a:pt x="2895" y="7245"/>
                      <a:pt x="11344" y="2367"/>
                    </a:cubicBezTo>
                    <a:cubicBezTo>
                      <a:pt x="14029" y="816"/>
                      <a:pt x="17076" y="0"/>
                      <a:pt x="20176" y="0"/>
                    </a:cubicBezTo>
                    <a:lnTo>
                      <a:pt x="20176" y="3180"/>
                    </a:lnTo>
                    <a:cubicBezTo>
                      <a:pt x="12177" y="3180"/>
                      <a:pt x="5691" y="9665"/>
                      <a:pt x="5691" y="17665"/>
                    </a:cubicBezTo>
                    <a:cubicBezTo>
                      <a:pt x="5691" y="20208"/>
                      <a:pt x="6361" y="22705"/>
                      <a:pt x="7632" y="24907"/>
                    </a:cubicBezTo>
                    <a:lnTo>
                      <a:pt x="4878" y="26497"/>
                    </a:lnTo>
                    <a:close/>
                  </a:path>
                </a:pathLst>
              </a:custGeom>
              <a:solidFill>
                <a:srgbClr val="9B1313">
                  <a:lumMod val="75000"/>
                  <a:alpha val="60000"/>
                </a:srgb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81" name="Freeform 10"/>
              <p:cNvSpPr/>
              <p:nvPr/>
            </p:nvSpPr>
            <p:spPr bwMode="auto">
              <a:xfrm>
                <a:off x="2629" y="1172"/>
                <a:ext cx="1211" cy="1590"/>
              </a:xfrm>
              <a:custGeom>
                <a:avLst/>
                <a:gdLst>
                  <a:gd name="T0" fmla="*/ 4878 w 20176"/>
                  <a:gd name="T1" fmla="*/ 26497 h 26497"/>
                  <a:gd name="T2" fmla="*/ 11344 w 20176"/>
                  <a:gd name="T3" fmla="*/ 2367 h 26497"/>
                  <a:gd name="T4" fmla="*/ 20176 w 20176"/>
                  <a:gd name="T5" fmla="*/ 0 h 26497"/>
                  <a:gd name="T6" fmla="*/ 20176 w 20176"/>
                  <a:gd name="T7" fmla="*/ 3180 h 26497"/>
                  <a:gd name="T8" fmla="*/ 5691 w 20176"/>
                  <a:gd name="T9" fmla="*/ 17665 h 26497"/>
                  <a:gd name="T10" fmla="*/ 7632 w 20176"/>
                  <a:gd name="T11" fmla="*/ 24907 h 26497"/>
                  <a:gd name="T12" fmla="*/ 4878 w 20176"/>
                  <a:gd name="T13" fmla="*/ 26497 h 264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176" h="26497">
                    <a:moveTo>
                      <a:pt x="4878" y="26497"/>
                    </a:moveTo>
                    <a:cubicBezTo>
                      <a:pt x="0" y="18048"/>
                      <a:pt x="2895" y="7245"/>
                      <a:pt x="11344" y="2367"/>
                    </a:cubicBezTo>
                    <a:cubicBezTo>
                      <a:pt x="14029" y="816"/>
                      <a:pt x="17076" y="0"/>
                      <a:pt x="20176" y="0"/>
                    </a:cubicBezTo>
                    <a:lnTo>
                      <a:pt x="20176" y="3180"/>
                    </a:lnTo>
                    <a:cubicBezTo>
                      <a:pt x="12177" y="3180"/>
                      <a:pt x="5691" y="9665"/>
                      <a:pt x="5691" y="17665"/>
                    </a:cubicBezTo>
                    <a:cubicBezTo>
                      <a:pt x="5691" y="20208"/>
                      <a:pt x="6361" y="22705"/>
                      <a:pt x="7632" y="24907"/>
                    </a:cubicBezTo>
                    <a:lnTo>
                      <a:pt x="4878" y="26497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FFFFFF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66" name="椭圆 65"/>
            <p:cNvSpPr/>
            <p:nvPr/>
          </p:nvSpPr>
          <p:spPr>
            <a:xfrm>
              <a:off x="1572898" y="2724082"/>
              <a:ext cx="2136774" cy="2136775"/>
            </a:xfrm>
            <a:prstGeom prst="ellipse">
              <a:avLst/>
            </a:prstGeom>
            <a:solidFill>
              <a:sysClr val="window" lastClr="FFFFFF">
                <a:alpha val="76000"/>
              </a:sysClr>
            </a:solidFill>
            <a:ln w="6350" cap="flat" cmpd="sng" algn="ctr">
              <a:gradFill>
                <a:gsLst>
                  <a:gs pos="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842342" y="3835112"/>
              <a:ext cx="1670080" cy="1001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latin typeface="+mn-ea"/>
                  <a:cs typeface="+mn-ea"/>
                  <a:sym typeface="汉仪旗黑-55简" panose="00020600040101010101" pitchFamily="18" charset="-122"/>
                </a:rPr>
                <a:t>链路</a:t>
              </a:r>
              <a:endParaRPr lang="zh-CN" altLang="en-US" sz="2000" b="1" dirty="0"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algn="ctr"/>
              <a:r>
                <a:rPr lang="zh-CN" altLang="en-US" sz="2000" b="1" dirty="0">
                  <a:latin typeface="+mn-ea"/>
                  <a:cs typeface="+mn-ea"/>
                  <a:sym typeface="汉仪旗黑-55简" panose="00020600040101010101" pitchFamily="18" charset="-122"/>
                </a:rPr>
                <a:t>（</a:t>
              </a:r>
              <a:r>
                <a:rPr lang="en-US" altLang="zh-CN" sz="2000" b="1" dirty="0">
                  <a:latin typeface="+mn-ea"/>
                  <a:cs typeface="+mn-ea"/>
                  <a:sym typeface="汉仪旗黑-55简" panose="00020600040101010101" pitchFamily="18" charset="-122"/>
                </a:rPr>
                <a:t>5</a:t>
              </a:r>
              <a:r>
                <a:rPr lang="zh-CN" altLang="en-US" sz="2000" b="1" dirty="0">
                  <a:latin typeface="+mn-ea"/>
                  <a:cs typeface="+mn-ea"/>
                  <a:sym typeface="汉仪旗黑-55简" panose="00020600040101010101" pitchFamily="18" charset="-122"/>
                </a:rPr>
                <a:t>步）</a:t>
              </a:r>
              <a:endParaRPr lang="zh-CN" altLang="en-US" sz="2000" b="1" dirty="0"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grpSp>
          <p:nvGrpSpPr>
            <p:cNvPr id="68" name="Group 279"/>
            <p:cNvGrpSpPr>
              <a:grpSpLocks noChangeAspect="1"/>
            </p:cNvGrpSpPr>
            <p:nvPr/>
          </p:nvGrpSpPr>
          <p:grpSpPr bwMode="auto">
            <a:xfrm>
              <a:off x="2253956" y="2905764"/>
              <a:ext cx="955168" cy="978490"/>
              <a:chOff x="2094" y="-344"/>
              <a:chExt cx="3768" cy="3860"/>
            </a:xfrm>
            <a:gradFill>
              <a:gsLst>
                <a:gs pos="0">
                  <a:srgbClr val="C00000"/>
                </a:gs>
                <a:gs pos="100000">
                  <a:srgbClr val="9B1313"/>
                </a:gs>
              </a:gsLst>
              <a:lin ang="5400000" scaled="1"/>
            </a:gradFill>
          </p:grpSpPr>
          <p:sp>
            <p:nvSpPr>
              <p:cNvPr id="69" name="Freeform 280"/>
              <p:cNvSpPr>
                <a:spLocks noEditPoints="1"/>
              </p:cNvSpPr>
              <p:nvPr/>
            </p:nvSpPr>
            <p:spPr bwMode="auto">
              <a:xfrm>
                <a:off x="2094" y="-344"/>
                <a:ext cx="3768" cy="3860"/>
              </a:xfrm>
              <a:custGeom>
                <a:avLst/>
                <a:gdLst>
                  <a:gd name="T0" fmla="*/ 2 w 1586"/>
                  <a:gd name="T1" fmla="*/ 182 h 1625"/>
                  <a:gd name="T2" fmla="*/ 267 w 1586"/>
                  <a:gd name="T3" fmla="*/ 96 h 1625"/>
                  <a:gd name="T4" fmla="*/ 368 w 1586"/>
                  <a:gd name="T5" fmla="*/ 68 h 1625"/>
                  <a:gd name="T6" fmla="*/ 757 w 1586"/>
                  <a:gd name="T7" fmla="*/ 65 h 1625"/>
                  <a:gd name="T8" fmla="*/ 857 w 1586"/>
                  <a:gd name="T9" fmla="*/ 93 h 1625"/>
                  <a:gd name="T10" fmla="*/ 1041 w 1586"/>
                  <a:gd name="T11" fmla="*/ 104 h 1625"/>
                  <a:gd name="T12" fmla="*/ 1141 w 1586"/>
                  <a:gd name="T13" fmla="*/ 526 h 1625"/>
                  <a:gd name="T14" fmla="*/ 1401 w 1586"/>
                  <a:gd name="T15" fmla="*/ 529 h 1625"/>
                  <a:gd name="T16" fmla="*/ 1527 w 1586"/>
                  <a:gd name="T17" fmla="*/ 519 h 1625"/>
                  <a:gd name="T18" fmla="*/ 1519 w 1586"/>
                  <a:gd name="T19" fmla="*/ 648 h 1625"/>
                  <a:gd name="T20" fmla="*/ 1524 w 1586"/>
                  <a:gd name="T21" fmla="*/ 1134 h 1625"/>
                  <a:gd name="T22" fmla="*/ 105 w 1586"/>
                  <a:gd name="T23" fmla="*/ 1485 h 1625"/>
                  <a:gd name="T24" fmla="*/ 155 w 1586"/>
                  <a:gd name="T25" fmla="*/ 257 h 1625"/>
                  <a:gd name="T26" fmla="*/ 611 w 1586"/>
                  <a:gd name="T27" fmla="*/ 1326 h 1625"/>
                  <a:gd name="T28" fmla="*/ 490 w 1586"/>
                  <a:gd name="T29" fmla="*/ 1178 h 1625"/>
                  <a:gd name="T30" fmla="*/ 522 w 1586"/>
                  <a:gd name="T31" fmla="*/ 1126 h 1625"/>
                  <a:gd name="T32" fmla="*/ 461 w 1586"/>
                  <a:gd name="T33" fmla="*/ 922 h 1625"/>
                  <a:gd name="T34" fmla="*/ 532 w 1586"/>
                  <a:gd name="T35" fmla="*/ 883 h 1625"/>
                  <a:gd name="T36" fmla="*/ 597 w 1586"/>
                  <a:gd name="T37" fmla="*/ 717 h 1625"/>
                  <a:gd name="T38" fmla="*/ 461 w 1586"/>
                  <a:gd name="T39" fmla="*/ 691 h 1625"/>
                  <a:gd name="T40" fmla="*/ 671 w 1586"/>
                  <a:gd name="T41" fmla="*/ 654 h 1625"/>
                  <a:gd name="T42" fmla="*/ 972 w 1586"/>
                  <a:gd name="T43" fmla="*/ 267 h 1625"/>
                  <a:gd name="T44" fmla="*/ 858 w 1586"/>
                  <a:gd name="T45" fmla="*/ 264 h 1625"/>
                  <a:gd name="T46" fmla="*/ 269 w 1586"/>
                  <a:gd name="T47" fmla="*/ 264 h 1625"/>
                  <a:gd name="T48" fmla="*/ 1313 w 1586"/>
                  <a:gd name="T49" fmla="*/ 770 h 1625"/>
                  <a:gd name="T50" fmla="*/ 728 w 1586"/>
                  <a:gd name="T51" fmla="*/ 776 h 1625"/>
                  <a:gd name="T52" fmla="*/ 1293 w 1586"/>
                  <a:gd name="T53" fmla="*/ 651 h 1625"/>
                  <a:gd name="T54" fmla="*/ 1116 w 1586"/>
                  <a:gd name="T55" fmla="*/ 1475 h 1625"/>
                  <a:gd name="T56" fmla="*/ 1340 w 1586"/>
                  <a:gd name="T57" fmla="*/ 745 h 1625"/>
                  <a:gd name="T58" fmla="*/ 1188 w 1586"/>
                  <a:gd name="T59" fmla="*/ 1221 h 1625"/>
                  <a:gd name="T60" fmla="*/ 1184 w 1586"/>
                  <a:gd name="T61" fmla="*/ 823 h 1625"/>
                  <a:gd name="T62" fmla="*/ 795 w 1586"/>
                  <a:gd name="T63" fmla="*/ 1267 h 1625"/>
                  <a:gd name="T64" fmla="*/ 1224 w 1586"/>
                  <a:gd name="T65" fmla="*/ 863 h 1625"/>
                  <a:gd name="T66" fmla="*/ 112 w 1586"/>
                  <a:gd name="T67" fmla="*/ 154 h 1625"/>
                  <a:gd name="T68" fmla="*/ 113 w 1586"/>
                  <a:gd name="T69" fmla="*/ 1434 h 1625"/>
                  <a:gd name="T70" fmla="*/ 669 w 1586"/>
                  <a:gd name="T71" fmla="*/ 1392 h 1625"/>
                  <a:gd name="T72" fmla="*/ 102 w 1586"/>
                  <a:gd name="T73" fmla="*/ 1322 h 1625"/>
                  <a:gd name="T74" fmla="*/ 254 w 1586"/>
                  <a:gd name="T75" fmla="*/ 204 h 1625"/>
                  <a:gd name="T76" fmla="*/ 864 w 1586"/>
                  <a:gd name="T77" fmla="*/ 896 h 1625"/>
                  <a:gd name="T78" fmla="*/ 1186 w 1586"/>
                  <a:gd name="T79" fmla="*/ 903 h 1625"/>
                  <a:gd name="T80" fmla="*/ 1104 w 1586"/>
                  <a:gd name="T81" fmla="*/ 1124 h 1625"/>
                  <a:gd name="T82" fmla="*/ 1084 w 1586"/>
                  <a:gd name="T83" fmla="*/ 910 h 1625"/>
                  <a:gd name="T84" fmla="*/ 309 w 1586"/>
                  <a:gd name="T85" fmla="*/ 229 h 1625"/>
                  <a:gd name="T86" fmla="*/ 752 w 1586"/>
                  <a:gd name="T87" fmla="*/ 129 h 1625"/>
                  <a:gd name="T88" fmla="*/ 677 w 1586"/>
                  <a:gd name="T89" fmla="*/ 51 h 1625"/>
                  <a:gd name="T90" fmla="*/ 411 w 1586"/>
                  <a:gd name="T91" fmla="*/ 104 h 1625"/>
                  <a:gd name="T92" fmla="*/ 309 w 1586"/>
                  <a:gd name="T93" fmla="*/ 229 h 1625"/>
                  <a:gd name="T94" fmla="*/ 1024 w 1586"/>
                  <a:gd name="T95" fmla="*/ 263 h 1625"/>
                  <a:gd name="T96" fmla="*/ 1033 w 1586"/>
                  <a:gd name="T97" fmla="*/ 512 h 1625"/>
                  <a:gd name="T98" fmla="*/ 1075 w 1586"/>
                  <a:gd name="T99" fmla="*/ 213 h 1625"/>
                  <a:gd name="T100" fmla="*/ 871 w 1586"/>
                  <a:gd name="T101" fmla="*/ 155 h 1625"/>
                  <a:gd name="T102" fmla="*/ 962 w 1586"/>
                  <a:gd name="T103" fmla="*/ 980 h 1625"/>
                  <a:gd name="T104" fmla="*/ 1091 w 1586"/>
                  <a:gd name="T105" fmla="*/ 993 h 1625"/>
                  <a:gd name="T106" fmla="*/ 1002 w 1586"/>
                  <a:gd name="T107" fmla="*/ 1037 h 1625"/>
                  <a:gd name="T108" fmla="*/ 1436 w 1586"/>
                  <a:gd name="T109" fmla="*/ 562 h 1625"/>
                  <a:gd name="T110" fmla="*/ 1384 w 1586"/>
                  <a:gd name="T111" fmla="*/ 690 h 1625"/>
                  <a:gd name="T112" fmla="*/ 1436 w 1586"/>
                  <a:gd name="T113" fmla="*/ 562 h 1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86" h="1625">
                    <a:moveTo>
                      <a:pt x="0" y="1401"/>
                    </a:moveTo>
                    <a:cubicBezTo>
                      <a:pt x="0" y="996"/>
                      <a:pt x="0" y="591"/>
                      <a:pt x="0" y="186"/>
                    </a:cubicBezTo>
                    <a:cubicBezTo>
                      <a:pt x="1" y="185"/>
                      <a:pt x="2" y="184"/>
                      <a:pt x="2" y="182"/>
                    </a:cubicBezTo>
                    <a:cubicBezTo>
                      <a:pt x="18" y="129"/>
                      <a:pt x="54" y="102"/>
                      <a:pt x="109" y="102"/>
                    </a:cubicBezTo>
                    <a:cubicBezTo>
                      <a:pt x="156" y="102"/>
                      <a:pt x="204" y="102"/>
                      <a:pt x="251" y="102"/>
                    </a:cubicBezTo>
                    <a:cubicBezTo>
                      <a:pt x="257" y="102"/>
                      <a:pt x="263" y="100"/>
                      <a:pt x="267" y="96"/>
                    </a:cubicBezTo>
                    <a:cubicBezTo>
                      <a:pt x="279" y="82"/>
                      <a:pt x="294" y="76"/>
                      <a:pt x="312" y="76"/>
                    </a:cubicBezTo>
                    <a:cubicBezTo>
                      <a:pt x="327" y="76"/>
                      <a:pt x="342" y="77"/>
                      <a:pt x="356" y="76"/>
                    </a:cubicBezTo>
                    <a:cubicBezTo>
                      <a:pt x="361" y="75"/>
                      <a:pt x="367" y="71"/>
                      <a:pt x="368" y="68"/>
                    </a:cubicBezTo>
                    <a:cubicBezTo>
                      <a:pt x="376" y="34"/>
                      <a:pt x="397" y="12"/>
                      <a:pt x="429" y="0"/>
                    </a:cubicBezTo>
                    <a:cubicBezTo>
                      <a:pt x="518" y="0"/>
                      <a:pt x="607" y="0"/>
                      <a:pt x="696" y="0"/>
                    </a:cubicBezTo>
                    <a:cubicBezTo>
                      <a:pt x="729" y="10"/>
                      <a:pt x="750" y="32"/>
                      <a:pt x="757" y="65"/>
                    </a:cubicBezTo>
                    <a:cubicBezTo>
                      <a:pt x="759" y="75"/>
                      <a:pt x="765" y="77"/>
                      <a:pt x="773" y="76"/>
                    </a:cubicBezTo>
                    <a:cubicBezTo>
                      <a:pt x="787" y="76"/>
                      <a:pt x="801" y="76"/>
                      <a:pt x="815" y="76"/>
                    </a:cubicBezTo>
                    <a:cubicBezTo>
                      <a:pt x="831" y="77"/>
                      <a:pt x="845" y="82"/>
                      <a:pt x="857" y="93"/>
                    </a:cubicBezTo>
                    <a:cubicBezTo>
                      <a:pt x="862" y="98"/>
                      <a:pt x="870" y="102"/>
                      <a:pt x="877" y="102"/>
                    </a:cubicBezTo>
                    <a:cubicBezTo>
                      <a:pt x="918" y="103"/>
                      <a:pt x="959" y="102"/>
                      <a:pt x="1000" y="102"/>
                    </a:cubicBezTo>
                    <a:cubicBezTo>
                      <a:pt x="1014" y="102"/>
                      <a:pt x="1028" y="101"/>
                      <a:pt x="1041" y="104"/>
                    </a:cubicBezTo>
                    <a:cubicBezTo>
                      <a:pt x="1094" y="114"/>
                      <a:pt x="1127" y="154"/>
                      <a:pt x="1127" y="211"/>
                    </a:cubicBezTo>
                    <a:cubicBezTo>
                      <a:pt x="1127" y="310"/>
                      <a:pt x="1127" y="409"/>
                      <a:pt x="1127" y="508"/>
                    </a:cubicBezTo>
                    <a:cubicBezTo>
                      <a:pt x="1127" y="519"/>
                      <a:pt x="1130" y="523"/>
                      <a:pt x="1141" y="526"/>
                    </a:cubicBezTo>
                    <a:cubicBezTo>
                      <a:pt x="1167" y="533"/>
                      <a:pt x="1192" y="540"/>
                      <a:pt x="1216" y="550"/>
                    </a:cubicBezTo>
                    <a:cubicBezTo>
                      <a:pt x="1253" y="567"/>
                      <a:pt x="1287" y="586"/>
                      <a:pt x="1325" y="606"/>
                    </a:cubicBezTo>
                    <a:cubicBezTo>
                      <a:pt x="1349" y="581"/>
                      <a:pt x="1375" y="555"/>
                      <a:pt x="1401" y="529"/>
                    </a:cubicBezTo>
                    <a:cubicBezTo>
                      <a:pt x="1418" y="512"/>
                      <a:pt x="1441" y="508"/>
                      <a:pt x="1462" y="517"/>
                    </a:cubicBezTo>
                    <a:cubicBezTo>
                      <a:pt x="1469" y="520"/>
                      <a:pt x="1475" y="525"/>
                      <a:pt x="1481" y="529"/>
                    </a:cubicBezTo>
                    <a:cubicBezTo>
                      <a:pt x="1502" y="511"/>
                      <a:pt x="1515" y="508"/>
                      <a:pt x="1527" y="519"/>
                    </a:cubicBezTo>
                    <a:cubicBezTo>
                      <a:pt x="1540" y="530"/>
                      <a:pt x="1539" y="541"/>
                      <a:pt x="1519" y="568"/>
                    </a:cubicBezTo>
                    <a:cubicBezTo>
                      <a:pt x="1520" y="569"/>
                      <a:pt x="1521" y="571"/>
                      <a:pt x="1523" y="572"/>
                    </a:cubicBezTo>
                    <a:cubicBezTo>
                      <a:pt x="1543" y="598"/>
                      <a:pt x="1541" y="624"/>
                      <a:pt x="1519" y="648"/>
                    </a:cubicBezTo>
                    <a:cubicBezTo>
                      <a:pt x="1493" y="674"/>
                      <a:pt x="1467" y="700"/>
                      <a:pt x="1441" y="726"/>
                    </a:cubicBezTo>
                    <a:cubicBezTo>
                      <a:pt x="1443" y="730"/>
                      <a:pt x="1445" y="733"/>
                      <a:pt x="1447" y="736"/>
                    </a:cubicBezTo>
                    <a:cubicBezTo>
                      <a:pt x="1528" y="858"/>
                      <a:pt x="1555" y="991"/>
                      <a:pt x="1524" y="1134"/>
                    </a:cubicBezTo>
                    <a:cubicBezTo>
                      <a:pt x="1456" y="1451"/>
                      <a:pt x="1107" y="1625"/>
                      <a:pt x="814" y="1491"/>
                    </a:cubicBezTo>
                    <a:cubicBezTo>
                      <a:pt x="806" y="1487"/>
                      <a:pt x="797" y="1485"/>
                      <a:pt x="788" y="1485"/>
                    </a:cubicBezTo>
                    <a:cubicBezTo>
                      <a:pt x="560" y="1485"/>
                      <a:pt x="332" y="1485"/>
                      <a:pt x="105" y="1485"/>
                    </a:cubicBezTo>
                    <a:cubicBezTo>
                      <a:pt x="61" y="1485"/>
                      <a:pt x="29" y="1464"/>
                      <a:pt x="10" y="1426"/>
                    </a:cubicBezTo>
                    <a:cubicBezTo>
                      <a:pt x="6" y="1418"/>
                      <a:pt x="3" y="1409"/>
                      <a:pt x="0" y="1401"/>
                    </a:cubicBezTo>
                    <a:close/>
                    <a:moveTo>
                      <a:pt x="155" y="257"/>
                    </a:moveTo>
                    <a:cubicBezTo>
                      <a:pt x="155" y="615"/>
                      <a:pt x="155" y="973"/>
                      <a:pt x="155" y="1330"/>
                    </a:cubicBezTo>
                    <a:cubicBezTo>
                      <a:pt x="308" y="1330"/>
                      <a:pt x="459" y="1330"/>
                      <a:pt x="611" y="1330"/>
                    </a:cubicBezTo>
                    <a:cubicBezTo>
                      <a:pt x="611" y="1328"/>
                      <a:pt x="612" y="1327"/>
                      <a:pt x="611" y="1326"/>
                    </a:cubicBezTo>
                    <a:cubicBezTo>
                      <a:pt x="579" y="1283"/>
                      <a:pt x="555" y="1236"/>
                      <a:pt x="537" y="1185"/>
                    </a:cubicBezTo>
                    <a:cubicBezTo>
                      <a:pt x="536" y="1182"/>
                      <a:pt x="530" y="1179"/>
                      <a:pt x="526" y="1179"/>
                    </a:cubicBezTo>
                    <a:cubicBezTo>
                      <a:pt x="514" y="1178"/>
                      <a:pt x="502" y="1179"/>
                      <a:pt x="490" y="1178"/>
                    </a:cubicBezTo>
                    <a:cubicBezTo>
                      <a:pt x="472" y="1178"/>
                      <a:pt x="461" y="1167"/>
                      <a:pt x="461" y="1153"/>
                    </a:cubicBezTo>
                    <a:cubicBezTo>
                      <a:pt x="460" y="1137"/>
                      <a:pt x="472" y="1126"/>
                      <a:pt x="490" y="1126"/>
                    </a:cubicBezTo>
                    <a:cubicBezTo>
                      <a:pt x="501" y="1125"/>
                      <a:pt x="511" y="1126"/>
                      <a:pt x="522" y="1126"/>
                    </a:cubicBezTo>
                    <a:cubicBezTo>
                      <a:pt x="509" y="1066"/>
                      <a:pt x="510" y="1007"/>
                      <a:pt x="517" y="948"/>
                    </a:cubicBezTo>
                    <a:cubicBezTo>
                      <a:pt x="507" y="948"/>
                      <a:pt x="497" y="948"/>
                      <a:pt x="488" y="948"/>
                    </a:cubicBezTo>
                    <a:cubicBezTo>
                      <a:pt x="472" y="947"/>
                      <a:pt x="461" y="936"/>
                      <a:pt x="461" y="922"/>
                    </a:cubicBezTo>
                    <a:cubicBezTo>
                      <a:pt x="461" y="908"/>
                      <a:pt x="471" y="897"/>
                      <a:pt x="486" y="896"/>
                    </a:cubicBezTo>
                    <a:cubicBezTo>
                      <a:pt x="496" y="895"/>
                      <a:pt x="506" y="895"/>
                      <a:pt x="515" y="896"/>
                    </a:cubicBezTo>
                    <a:cubicBezTo>
                      <a:pt x="525" y="897"/>
                      <a:pt x="530" y="893"/>
                      <a:pt x="532" y="883"/>
                    </a:cubicBezTo>
                    <a:cubicBezTo>
                      <a:pt x="547" y="831"/>
                      <a:pt x="569" y="784"/>
                      <a:pt x="599" y="740"/>
                    </a:cubicBezTo>
                    <a:cubicBezTo>
                      <a:pt x="604" y="733"/>
                      <a:pt x="608" y="726"/>
                      <a:pt x="614" y="717"/>
                    </a:cubicBezTo>
                    <a:cubicBezTo>
                      <a:pt x="607" y="717"/>
                      <a:pt x="602" y="717"/>
                      <a:pt x="597" y="717"/>
                    </a:cubicBezTo>
                    <a:cubicBezTo>
                      <a:pt x="564" y="717"/>
                      <a:pt x="530" y="717"/>
                      <a:pt x="497" y="717"/>
                    </a:cubicBezTo>
                    <a:cubicBezTo>
                      <a:pt x="494" y="717"/>
                      <a:pt x="491" y="717"/>
                      <a:pt x="488" y="717"/>
                    </a:cubicBezTo>
                    <a:cubicBezTo>
                      <a:pt x="471" y="716"/>
                      <a:pt x="461" y="706"/>
                      <a:pt x="461" y="691"/>
                    </a:cubicBezTo>
                    <a:cubicBezTo>
                      <a:pt x="461" y="677"/>
                      <a:pt x="471" y="666"/>
                      <a:pt x="487" y="666"/>
                    </a:cubicBezTo>
                    <a:cubicBezTo>
                      <a:pt x="538" y="666"/>
                      <a:pt x="590" y="665"/>
                      <a:pt x="641" y="666"/>
                    </a:cubicBezTo>
                    <a:cubicBezTo>
                      <a:pt x="654" y="666"/>
                      <a:pt x="662" y="662"/>
                      <a:pt x="671" y="654"/>
                    </a:cubicBezTo>
                    <a:cubicBezTo>
                      <a:pt x="752" y="576"/>
                      <a:pt x="848" y="530"/>
                      <a:pt x="959" y="516"/>
                    </a:cubicBezTo>
                    <a:cubicBezTo>
                      <a:pt x="970" y="515"/>
                      <a:pt x="973" y="511"/>
                      <a:pt x="972" y="501"/>
                    </a:cubicBezTo>
                    <a:cubicBezTo>
                      <a:pt x="972" y="423"/>
                      <a:pt x="972" y="345"/>
                      <a:pt x="972" y="267"/>
                    </a:cubicBezTo>
                    <a:cubicBezTo>
                      <a:pt x="972" y="264"/>
                      <a:pt x="972" y="261"/>
                      <a:pt x="971" y="256"/>
                    </a:cubicBezTo>
                    <a:cubicBezTo>
                      <a:pt x="937" y="256"/>
                      <a:pt x="903" y="256"/>
                      <a:pt x="870" y="257"/>
                    </a:cubicBezTo>
                    <a:cubicBezTo>
                      <a:pt x="866" y="257"/>
                      <a:pt x="861" y="261"/>
                      <a:pt x="858" y="264"/>
                    </a:cubicBezTo>
                    <a:cubicBezTo>
                      <a:pt x="847" y="276"/>
                      <a:pt x="833" y="282"/>
                      <a:pt x="817" y="282"/>
                    </a:cubicBezTo>
                    <a:cubicBezTo>
                      <a:pt x="648" y="282"/>
                      <a:pt x="479" y="282"/>
                      <a:pt x="310" y="282"/>
                    </a:cubicBezTo>
                    <a:cubicBezTo>
                      <a:pt x="293" y="282"/>
                      <a:pt x="280" y="276"/>
                      <a:pt x="269" y="264"/>
                    </a:cubicBezTo>
                    <a:cubicBezTo>
                      <a:pt x="266" y="261"/>
                      <a:pt x="262" y="257"/>
                      <a:pt x="258" y="257"/>
                    </a:cubicBezTo>
                    <a:cubicBezTo>
                      <a:pt x="224" y="256"/>
                      <a:pt x="190" y="257"/>
                      <a:pt x="155" y="257"/>
                    </a:cubicBezTo>
                    <a:close/>
                    <a:moveTo>
                      <a:pt x="1313" y="770"/>
                    </a:moveTo>
                    <a:cubicBezTo>
                      <a:pt x="1466" y="950"/>
                      <a:pt x="1422" y="1200"/>
                      <a:pt x="1264" y="1326"/>
                    </a:cubicBezTo>
                    <a:cubicBezTo>
                      <a:pt x="1110" y="1450"/>
                      <a:pt x="884" y="1436"/>
                      <a:pt x="746" y="1294"/>
                    </a:cubicBezTo>
                    <a:cubicBezTo>
                      <a:pt x="608" y="1151"/>
                      <a:pt x="601" y="925"/>
                      <a:pt x="728" y="776"/>
                    </a:cubicBezTo>
                    <a:cubicBezTo>
                      <a:pt x="859" y="623"/>
                      <a:pt x="1101" y="585"/>
                      <a:pt x="1276" y="734"/>
                    </a:cubicBezTo>
                    <a:cubicBezTo>
                      <a:pt x="1305" y="710"/>
                      <a:pt x="1305" y="710"/>
                      <a:pt x="1305" y="675"/>
                    </a:cubicBezTo>
                    <a:cubicBezTo>
                      <a:pt x="1306" y="664"/>
                      <a:pt x="1302" y="657"/>
                      <a:pt x="1293" y="651"/>
                    </a:cubicBezTo>
                    <a:cubicBezTo>
                      <a:pt x="1184" y="575"/>
                      <a:pt x="1065" y="548"/>
                      <a:pt x="935" y="573"/>
                    </a:cubicBezTo>
                    <a:cubicBezTo>
                      <a:pt x="689" y="620"/>
                      <a:pt x="528" y="853"/>
                      <a:pt x="570" y="1101"/>
                    </a:cubicBezTo>
                    <a:cubicBezTo>
                      <a:pt x="612" y="1357"/>
                      <a:pt x="861" y="1528"/>
                      <a:pt x="1116" y="1475"/>
                    </a:cubicBezTo>
                    <a:cubicBezTo>
                      <a:pt x="1434" y="1410"/>
                      <a:pt x="1586" y="1047"/>
                      <a:pt x="1410" y="774"/>
                    </a:cubicBezTo>
                    <a:cubicBezTo>
                      <a:pt x="1398" y="754"/>
                      <a:pt x="1386" y="737"/>
                      <a:pt x="1358" y="743"/>
                    </a:cubicBezTo>
                    <a:cubicBezTo>
                      <a:pt x="1352" y="744"/>
                      <a:pt x="1345" y="742"/>
                      <a:pt x="1340" y="745"/>
                    </a:cubicBezTo>
                    <a:cubicBezTo>
                      <a:pt x="1330" y="752"/>
                      <a:pt x="1322" y="762"/>
                      <a:pt x="1313" y="770"/>
                    </a:cubicBezTo>
                    <a:close/>
                    <a:moveTo>
                      <a:pt x="1224" y="863"/>
                    </a:moveTo>
                    <a:cubicBezTo>
                      <a:pt x="1318" y="985"/>
                      <a:pt x="1287" y="1139"/>
                      <a:pt x="1188" y="1221"/>
                    </a:cubicBezTo>
                    <a:cubicBezTo>
                      <a:pt x="1088" y="1305"/>
                      <a:pt x="940" y="1300"/>
                      <a:pt x="845" y="1209"/>
                    </a:cubicBezTo>
                    <a:cubicBezTo>
                      <a:pt x="752" y="1119"/>
                      <a:pt x="741" y="971"/>
                      <a:pt x="820" y="868"/>
                    </a:cubicBezTo>
                    <a:cubicBezTo>
                      <a:pt x="898" y="766"/>
                      <a:pt x="1058" y="726"/>
                      <a:pt x="1184" y="823"/>
                    </a:cubicBezTo>
                    <a:cubicBezTo>
                      <a:pt x="1202" y="806"/>
                      <a:pt x="1220" y="788"/>
                      <a:pt x="1237" y="771"/>
                    </a:cubicBezTo>
                    <a:cubicBezTo>
                      <a:pt x="1123" y="667"/>
                      <a:pt x="918" y="657"/>
                      <a:pt x="786" y="791"/>
                    </a:cubicBezTo>
                    <a:cubicBezTo>
                      <a:pt x="654" y="924"/>
                      <a:pt x="658" y="1137"/>
                      <a:pt x="795" y="1267"/>
                    </a:cubicBezTo>
                    <a:cubicBezTo>
                      <a:pt x="928" y="1396"/>
                      <a:pt x="1142" y="1388"/>
                      <a:pt x="1270" y="1249"/>
                    </a:cubicBezTo>
                    <a:cubicBezTo>
                      <a:pt x="1393" y="1114"/>
                      <a:pt x="1375" y="917"/>
                      <a:pt x="1277" y="811"/>
                    </a:cubicBezTo>
                    <a:cubicBezTo>
                      <a:pt x="1259" y="828"/>
                      <a:pt x="1242" y="845"/>
                      <a:pt x="1224" y="863"/>
                    </a:cubicBezTo>
                    <a:close/>
                    <a:moveTo>
                      <a:pt x="254" y="154"/>
                    </a:moveTo>
                    <a:cubicBezTo>
                      <a:pt x="249" y="154"/>
                      <a:pt x="244" y="154"/>
                      <a:pt x="239" y="154"/>
                    </a:cubicBezTo>
                    <a:cubicBezTo>
                      <a:pt x="197" y="154"/>
                      <a:pt x="154" y="154"/>
                      <a:pt x="112" y="154"/>
                    </a:cubicBezTo>
                    <a:cubicBezTo>
                      <a:pt x="71" y="154"/>
                      <a:pt x="51" y="174"/>
                      <a:pt x="51" y="215"/>
                    </a:cubicBezTo>
                    <a:cubicBezTo>
                      <a:pt x="51" y="600"/>
                      <a:pt x="51" y="986"/>
                      <a:pt x="51" y="1372"/>
                    </a:cubicBezTo>
                    <a:cubicBezTo>
                      <a:pt x="51" y="1414"/>
                      <a:pt x="71" y="1434"/>
                      <a:pt x="113" y="1434"/>
                    </a:cubicBezTo>
                    <a:cubicBezTo>
                      <a:pt x="308" y="1434"/>
                      <a:pt x="503" y="1434"/>
                      <a:pt x="697" y="1434"/>
                    </a:cubicBezTo>
                    <a:cubicBezTo>
                      <a:pt x="702" y="1434"/>
                      <a:pt x="707" y="1434"/>
                      <a:pt x="716" y="1434"/>
                    </a:cubicBezTo>
                    <a:cubicBezTo>
                      <a:pt x="698" y="1418"/>
                      <a:pt x="683" y="1406"/>
                      <a:pt x="669" y="1392"/>
                    </a:cubicBezTo>
                    <a:cubicBezTo>
                      <a:pt x="661" y="1385"/>
                      <a:pt x="654" y="1383"/>
                      <a:pt x="645" y="1383"/>
                    </a:cubicBezTo>
                    <a:cubicBezTo>
                      <a:pt x="484" y="1383"/>
                      <a:pt x="324" y="1383"/>
                      <a:pt x="163" y="1383"/>
                    </a:cubicBezTo>
                    <a:cubicBezTo>
                      <a:pt x="121" y="1383"/>
                      <a:pt x="102" y="1364"/>
                      <a:pt x="102" y="1322"/>
                    </a:cubicBezTo>
                    <a:cubicBezTo>
                      <a:pt x="102" y="970"/>
                      <a:pt x="103" y="619"/>
                      <a:pt x="102" y="267"/>
                    </a:cubicBezTo>
                    <a:cubicBezTo>
                      <a:pt x="101" y="225"/>
                      <a:pt x="129" y="202"/>
                      <a:pt x="165" y="204"/>
                    </a:cubicBezTo>
                    <a:cubicBezTo>
                      <a:pt x="194" y="206"/>
                      <a:pt x="224" y="204"/>
                      <a:pt x="254" y="204"/>
                    </a:cubicBezTo>
                    <a:cubicBezTo>
                      <a:pt x="254" y="187"/>
                      <a:pt x="254" y="171"/>
                      <a:pt x="254" y="154"/>
                    </a:cubicBezTo>
                    <a:close/>
                    <a:moveTo>
                      <a:pt x="1149" y="863"/>
                    </a:moveTo>
                    <a:cubicBezTo>
                      <a:pt x="1062" y="794"/>
                      <a:pt x="935" y="809"/>
                      <a:pt x="864" y="896"/>
                    </a:cubicBezTo>
                    <a:cubicBezTo>
                      <a:pt x="794" y="981"/>
                      <a:pt x="806" y="1109"/>
                      <a:pt x="892" y="1182"/>
                    </a:cubicBezTo>
                    <a:cubicBezTo>
                      <a:pt x="975" y="1253"/>
                      <a:pt x="1104" y="1243"/>
                      <a:pt x="1176" y="1161"/>
                    </a:cubicBezTo>
                    <a:cubicBezTo>
                      <a:pt x="1251" y="1078"/>
                      <a:pt x="1237" y="956"/>
                      <a:pt x="1186" y="903"/>
                    </a:cubicBezTo>
                    <a:cubicBezTo>
                      <a:pt x="1168" y="920"/>
                      <a:pt x="1151" y="937"/>
                      <a:pt x="1133" y="956"/>
                    </a:cubicBezTo>
                    <a:cubicBezTo>
                      <a:pt x="1134" y="959"/>
                      <a:pt x="1137" y="963"/>
                      <a:pt x="1139" y="968"/>
                    </a:cubicBezTo>
                    <a:cubicBezTo>
                      <a:pt x="1165" y="1021"/>
                      <a:pt x="1151" y="1088"/>
                      <a:pt x="1104" y="1124"/>
                    </a:cubicBezTo>
                    <a:cubicBezTo>
                      <a:pt x="1057" y="1162"/>
                      <a:pt x="989" y="1162"/>
                      <a:pt x="942" y="1124"/>
                    </a:cubicBezTo>
                    <a:cubicBezTo>
                      <a:pt x="895" y="1085"/>
                      <a:pt x="881" y="1020"/>
                      <a:pt x="909" y="966"/>
                    </a:cubicBezTo>
                    <a:cubicBezTo>
                      <a:pt x="941" y="902"/>
                      <a:pt x="1019" y="878"/>
                      <a:pt x="1084" y="910"/>
                    </a:cubicBezTo>
                    <a:cubicBezTo>
                      <a:pt x="1088" y="913"/>
                      <a:pt x="1097" y="913"/>
                      <a:pt x="1100" y="911"/>
                    </a:cubicBezTo>
                    <a:cubicBezTo>
                      <a:pt x="1117" y="896"/>
                      <a:pt x="1133" y="880"/>
                      <a:pt x="1149" y="863"/>
                    </a:cubicBezTo>
                    <a:close/>
                    <a:moveTo>
                      <a:pt x="309" y="229"/>
                    </a:moveTo>
                    <a:cubicBezTo>
                      <a:pt x="479" y="229"/>
                      <a:pt x="649" y="229"/>
                      <a:pt x="818" y="229"/>
                    </a:cubicBezTo>
                    <a:cubicBezTo>
                      <a:pt x="818" y="195"/>
                      <a:pt x="818" y="163"/>
                      <a:pt x="818" y="129"/>
                    </a:cubicBezTo>
                    <a:cubicBezTo>
                      <a:pt x="795" y="129"/>
                      <a:pt x="774" y="129"/>
                      <a:pt x="752" y="129"/>
                    </a:cubicBezTo>
                    <a:cubicBezTo>
                      <a:pt x="729" y="129"/>
                      <a:pt x="722" y="124"/>
                      <a:pt x="715" y="102"/>
                    </a:cubicBezTo>
                    <a:cubicBezTo>
                      <a:pt x="711" y="92"/>
                      <a:pt x="708" y="82"/>
                      <a:pt x="705" y="72"/>
                    </a:cubicBezTo>
                    <a:cubicBezTo>
                      <a:pt x="701" y="58"/>
                      <a:pt x="691" y="51"/>
                      <a:pt x="677" y="51"/>
                    </a:cubicBezTo>
                    <a:cubicBezTo>
                      <a:pt x="601" y="51"/>
                      <a:pt x="525" y="51"/>
                      <a:pt x="449" y="51"/>
                    </a:cubicBezTo>
                    <a:cubicBezTo>
                      <a:pt x="435" y="51"/>
                      <a:pt x="426" y="58"/>
                      <a:pt x="422" y="72"/>
                    </a:cubicBezTo>
                    <a:cubicBezTo>
                      <a:pt x="418" y="83"/>
                      <a:pt x="414" y="94"/>
                      <a:pt x="411" y="104"/>
                    </a:cubicBezTo>
                    <a:cubicBezTo>
                      <a:pt x="404" y="123"/>
                      <a:pt x="397" y="129"/>
                      <a:pt x="376" y="129"/>
                    </a:cubicBezTo>
                    <a:cubicBezTo>
                      <a:pt x="354" y="129"/>
                      <a:pt x="332" y="129"/>
                      <a:pt x="309" y="129"/>
                    </a:cubicBezTo>
                    <a:cubicBezTo>
                      <a:pt x="309" y="163"/>
                      <a:pt x="309" y="196"/>
                      <a:pt x="309" y="229"/>
                    </a:cubicBezTo>
                    <a:close/>
                    <a:moveTo>
                      <a:pt x="871" y="204"/>
                    </a:moveTo>
                    <a:cubicBezTo>
                      <a:pt x="904" y="204"/>
                      <a:pt x="935" y="204"/>
                      <a:pt x="966" y="204"/>
                    </a:cubicBezTo>
                    <a:cubicBezTo>
                      <a:pt x="1004" y="204"/>
                      <a:pt x="1024" y="224"/>
                      <a:pt x="1024" y="263"/>
                    </a:cubicBezTo>
                    <a:cubicBezTo>
                      <a:pt x="1025" y="297"/>
                      <a:pt x="1024" y="331"/>
                      <a:pt x="1024" y="364"/>
                    </a:cubicBezTo>
                    <a:cubicBezTo>
                      <a:pt x="1024" y="409"/>
                      <a:pt x="1024" y="453"/>
                      <a:pt x="1024" y="498"/>
                    </a:cubicBezTo>
                    <a:cubicBezTo>
                      <a:pt x="1024" y="504"/>
                      <a:pt x="1022" y="512"/>
                      <a:pt x="1033" y="512"/>
                    </a:cubicBezTo>
                    <a:cubicBezTo>
                      <a:pt x="1046" y="512"/>
                      <a:pt x="1059" y="512"/>
                      <a:pt x="1074" y="512"/>
                    </a:cubicBezTo>
                    <a:cubicBezTo>
                      <a:pt x="1074" y="507"/>
                      <a:pt x="1074" y="503"/>
                      <a:pt x="1074" y="498"/>
                    </a:cubicBezTo>
                    <a:cubicBezTo>
                      <a:pt x="1075" y="403"/>
                      <a:pt x="1074" y="308"/>
                      <a:pt x="1075" y="213"/>
                    </a:cubicBezTo>
                    <a:cubicBezTo>
                      <a:pt x="1076" y="176"/>
                      <a:pt x="1052" y="153"/>
                      <a:pt x="1016" y="153"/>
                    </a:cubicBezTo>
                    <a:cubicBezTo>
                      <a:pt x="972" y="154"/>
                      <a:pt x="929" y="154"/>
                      <a:pt x="885" y="154"/>
                    </a:cubicBezTo>
                    <a:cubicBezTo>
                      <a:pt x="881" y="154"/>
                      <a:pt x="876" y="154"/>
                      <a:pt x="871" y="155"/>
                    </a:cubicBezTo>
                    <a:cubicBezTo>
                      <a:pt x="871" y="172"/>
                      <a:pt x="871" y="187"/>
                      <a:pt x="871" y="204"/>
                    </a:cubicBezTo>
                    <a:close/>
                    <a:moveTo>
                      <a:pt x="1056" y="956"/>
                    </a:moveTo>
                    <a:cubicBezTo>
                      <a:pt x="1022" y="939"/>
                      <a:pt x="983" y="950"/>
                      <a:pt x="962" y="980"/>
                    </a:cubicBezTo>
                    <a:cubicBezTo>
                      <a:pt x="940" y="1011"/>
                      <a:pt x="944" y="1053"/>
                      <a:pt x="972" y="1080"/>
                    </a:cubicBezTo>
                    <a:cubicBezTo>
                      <a:pt x="999" y="1105"/>
                      <a:pt x="1041" y="1107"/>
                      <a:pt x="1071" y="1084"/>
                    </a:cubicBezTo>
                    <a:cubicBezTo>
                      <a:pt x="1097" y="1065"/>
                      <a:pt x="1110" y="1022"/>
                      <a:pt x="1091" y="993"/>
                    </a:cubicBezTo>
                    <a:cubicBezTo>
                      <a:pt x="1076" y="1008"/>
                      <a:pt x="1061" y="1024"/>
                      <a:pt x="1046" y="1038"/>
                    </a:cubicBezTo>
                    <a:cubicBezTo>
                      <a:pt x="1041" y="1043"/>
                      <a:pt x="1035" y="1048"/>
                      <a:pt x="1029" y="1049"/>
                    </a:cubicBezTo>
                    <a:cubicBezTo>
                      <a:pt x="1017" y="1052"/>
                      <a:pt x="1008" y="1048"/>
                      <a:pt x="1002" y="1037"/>
                    </a:cubicBezTo>
                    <a:cubicBezTo>
                      <a:pt x="996" y="1026"/>
                      <a:pt x="997" y="1015"/>
                      <a:pt x="1006" y="1006"/>
                    </a:cubicBezTo>
                    <a:cubicBezTo>
                      <a:pt x="1022" y="989"/>
                      <a:pt x="1039" y="973"/>
                      <a:pt x="1056" y="956"/>
                    </a:cubicBezTo>
                    <a:close/>
                    <a:moveTo>
                      <a:pt x="1436" y="562"/>
                    </a:moveTo>
                    <a:cubicBezTo>
                      <a:pt x="1417" y="583"/>
                      <a:pt x="1399" y="607"/>
                      <a:pt x="1377" y="625"/>
                    </a:cubicBezTo>
                    <a:cubicBezTo>
                      <a:pt x="1355" y="644"/>
                      <a:pt x="1357" y="665"/>
                      <a:pt x="1358" y="690"/>
                    </a:cubicBezTo>
                    <a:cubicBezTo>
                      <a:pt x="1367" y="690"/>
                      <a:pt x="1376" y="691"/>
                      <a:pt x="1384" y="690"/>
                    </a:cubicBezTo>
                    <a:cubicBezTo>
                      <a:pt x="1391" y="690"/>
                      <a:pt x="1401" y="691"/>
                      <a:pt x="1405" y="686"/>
                    </a:cubicBezTo>
                    <a:cubicBezTo>
                      <a:pt x="1432" y="661"/>
                      <a:pt x="1457" y="634"/>
                      <a:pt x="1483" y="608"/>
                    </a:cubicBezTo>
                    <a:cubicBezTo>
                      <a:pt x="1469" y="594"/>
                      <a:pt x="1455" y="580"/>
                      <a:pt x="1436" y="562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0" name="Freeform 292"/>
              <p:cNvSpPr/>
              <p:nvPr/>
            </p:nvSpPr>
            <p:spPr bwMode="auto">
              <a:xfrm>
                <a:off x="3105" y="1365"/>
                <a:ext cx="986" cy="124"/>
              </a:xfrm>
              <a:custGeom>
                <a:avLst/>
                <a:gdLst>
                  <a:gd name="T0" fmla="*/ 206 w 415"/>
                  <a:gd name="T1" fmla="*/ 51 h 52"/>
                  <a:gd name="T2" fmla="*/ 40 w 415"/>
                  <a:gd name="T3" fmla="*/ 51 h 52"/>
                  <a:gd name="T4" fmla="*/ 25 w 415"/>
                  <a:gd name="T5" fmla="*/ 51 h 52"/>
                  <a:gd name="T6" fmla="*/ 1 w 415"/>
                  <a:gd name="T7" fmla="*/ 25 h 52"/>
                  <a:gd name="T8" fmla="*/ 25 w 415"/>
                  <a:gd name="T9" fmla="*/ 0 h 52"/>
                  <a:gd name="T10" fmla="*/ 81 w 415"/>
                  <a:gd name="T11" fmla="*/ 0 h 52"/>
                  <a:gd name="T12" fmla="*/ 379 w 415"/>
                  <a:gd name="T13" fmla="*/ 0 h 52"/>
                  <a:gd name="T14" fmla="*/ 409 w 415"/>
                  <a:gd name="T15" fmla="*/ 19 h 52"/>
                  <a:gd name="T16" fmla="*/ 383 w 415"/>
                  <a:gd name="T17" fmla="*/ 51 h 52"/>
                  <a:gd name="T18" fmla="*/ 276 w 415"/>
                  <a:gd name="T19" fmla="*/ 51 h 52"/>
                  <a:gd name="T20" fmla="*/ 206 w 415"/>
                  <a:gd name="T21" fmla="*/ 5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5" h="52">
                    <a:moveTo>
                      <a:pt x="206" y="51"/>
                    </a:moveTo>
                    <a:cubicBezTo>
                      <a:pt x="150" y="51"/>
                      <a:pt x="95" y="51"/>
                      <a:pt x="40" y="51"/>
                    </a:cubicBezTo>
                    <a:cubicBezTo>
                      <a:pt x="35" y="51"/>
                      <a:pt x="29" y="52"/>
                      <a:pt x="25" y="51"/>
                    </a:cubicBezTo>
                    <a:cubicBezTo>
                      <a:pt x="10" y="50"/>
                      <a:pt x="0" y="39"/>
                      <a:pt x="1" y="25"/>
                    </a:cubicBezTo>
                    <a:cubicBezTo>
                      <a:pt x="1" y="12"/>
                      <a:pt x="11" y="1"/>
                      <a:pt x="25" y="0"/>
                    </a:cubicBezTo>
                    <a:cubicBezTo>
                      <a:pt x="44" y="0"/>
                      <a:pt x="62" y="0"/>
                      <a:pt x="81" y="0"/>
                    </a:cubicBezTo>
                    <a:cubicBezTo>
                      <a:pt x="180" y="0"/>
                      <a:pt x="280" y="0"/>
                      <a:pt x="379" y="0"/>
                    </a:cubicBezTo>
                    <a:cubicBezTo>
                      <a:pt x="394" y="0"/>
                      <a:pt x="405" y="4"/>
                      <a:pt x="409" y="19"/>
                    </a:cubicBezTo>
                    <a:cubicBezTo>
                      <a:pt x="415" y="36"/>
                      <a:pt x="403" y="51"/>
                      <a:pt x="383" y="51"/>
                    </a:cubicBezTo>
                    <a:cubicBezTo>
                      <a:pt x="347" y="52"/>
                      <a:pt x="312" y="51"/>
                      <a:pt x="276" y="51"/>
                    </a:cubicBezTo>
                    <a:cubicBezTo>
                      <a:pt x="253" y="51"/>
                      <a:pt x="229" y="51"/>
                      <a:pt x="206" y="51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1" name="Freeform 293"/>
              <p:cNvSpPr/>
              <p:nvPr/>
            </p:nvSpPr>
            <p:spPr bwMode="auto">
              <a:xfrm>
                <a:off x="2613" y="2327"/>
                <a:ext cx="380" cy="390"/>
              </a:xfrm>
              <a:custGeom>
                <a:avLst/>
                <a:gdLst>
                  <a:gd name="T0" fmla="*/ 52 w 160"/>
                  <a:gd name="T1" fmla="*/ 93 h 164"/>
                  <a:gd name="T2" fmla="*/ 107 w 160"/>
                  <a:gd name="T3" fmla="*/ 20 h 164"/>
                  <a:gd name="T4" fmla="*/ 146 w 160"/>
                  <a:gd name="T5" fmla="*/ 10 h 164"/>
                  <a:gd name="T6" fmla="*/ 148 w 160"/>
                  <a:gd name="T7" fmla="*/ 50 h 164"/>
                  <a:gd name="T8" fmla="*/ 78 w 160"/>
                  <a:gd name="T9" fmla="*/ 144 h 164"/>
                  <a:gd name="T10" fmla="*/ 31 w 160"/>
                  <a:gd name="T11" fmla="*/ 146 h 164"/>
                  <a:gd name="T12" fmla="*/ 13 w 160"/>
                  <a:gd name="T13" fmla="*/ 128 h 164"/>
                  <a:gd name="T14" fmla="*/ 9 w 160"/>
                  <a:gd name="T15" fmla="*/ 91 h 164"/>
                  <a:gd name="T16" fmla="*/ 47 w 160"/>
                  <a:gd name="T17" fmla="*/ 89 h 164"/>
                  <a:gd name="T18" fmla="*/ 52 w 160"/>
                  <a:gd name="T19" fmla="*/ 9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0" h="164">
                    <a:moveTo>
                      <a:pt x="52" y="93"/>
                    </a:moveTo>
                    <a:cubicBezTo>
                      <a:pt x="71" y="68"/>
                      <a:pt x="89" y="44"/>
                      <a:pt x="107" y="20"/>
                    </a:cubicBezTo>
                    <a:cubicBezTo>
                      <a:pt x="119" y="4"/>
                      <a:pt x="133" y="0"/>
                      <a:pt x="146" y="10"/>
                    </a:cubicBezTo>
                    <a:cubicBezTo>
                      <a:pt x="159" y="19"/>
                      <a:pt x="160" y="35"/>
                      <a:pt x="148" y="50"/>
                    </a:cubicBezTo>
                    <a:cubicBezTo>
                      <a:pt x="125" y="82"/>
                      <a:pt x="102" y="113"/>
                      <a:pt x="78" y="144"/>
                    </a:cubicBezTo>
                    <a:cubicBezTo>
                      <a:pt x="63" y="163"/>
                      <a:pt x="49" y="164"/>
                      <a:pt x="31" y="146"/>
                    </a:cubicBezTo>
                    <a:cubicBezTo>
                      <a:pt x="25" y="140"/>
                      <a:pt x="19" y="134"/>
                      <a:pt x="13" y="128"/>
                    </a:cubicBezTo>
                    <a:cubicBezTo>
                      <a:pt x="1" y="115"/>
                      <a:pt x="0" y="103"/>
                      <a:pt x="9" y="91"/>
                    </a:cubicBezTo>
                    <a:cubicBezTo>
                      <a:pt x="19" y="79"/>
                      <a:pt x="32" y="79"/>
                      <a:pt x="47" y="89"/>
                    </a:cubicBezTo>
                    <a:cubicBezTo>
                      <a:pt x="49" y="90"/>
                      <a:pt x="50" y="91"/>
                      <a:pt x="52" y="93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2" name="Freeform 294"/>
              <p:cNvSpPr/>
              <p:nvPr/>
            </p:nvSpPr>
            <p:spPr bwMode="auto">
              <a:xfrm>
                <a:off x="2613" y="1235"/>
                <a:ext cx="385" cy="382"/>
              </a:xfrm>
              <a:custGeom>
                <a:avLst/>
                <a:gdLst>
                  <a:gd name="T0" fmla="*/ 52 w 162"/>
                  <a:gd name="T1" fmla="*/ 92 h 161"/>
                  <a:gd name="T2" fmla="*/ 107 w 162"/>
                  <a:gd name="T3" fmla="*/ 18 h 161"/>
                  <a:gd name="T4" fmla="*/ 142 w 162"/>
                  <a:gd name="T5" fmla="*/ 6 h 161"/>
                  <a:gd name="T6" fmla="*/ 152 w 162"/>
                  <a:gd name="T7" fmla="*/ 44 h 161"/>
                  <a:gd name="T8" fmla="*/ 74 w 162"/>
                  <a:gd name="T9" fmla="*/ 148 h 161"/>
                  <a:gd name="T10" fmla="*/ 37 w 162"/>
                  <a:gd name="T11" fmla="*/ 151 h 161"/>
                  <a:gd name="T12" fmla="*/ 12 w 162"/>
                  <a:gd name="T13" fmla="*/ 127 h 161"/>
                  <a:gd name="T14" fmla="*/ 9 w 162"/>
                  <a:gd name="T15" fmla="*/ 90 h 161"/>
                  <a:gd name="T16" fmla="*/ 46 w 162"/>
                  <a:gd name="T17" fmla="*/ 88 h 161"/>
                  <a:gd name="T18" fmla="*/ 52 w 162"/>
                  <a:gd name="T19" fmla="*/ 9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61">
                    <a:moveTo>
                      <a:pt x="52" y="92"/>
                    </a:moveTo>
                    <a:cubicBezTo>
                      <a:pt x="71" y="67"/>
                      <a:pt x="89" y="43"/>
                      <a:pt x="107" y="18"/>
                    </a:cubicBezTo>
                    <a:cubicBezTo>
                      <a:pt x="118" y="4"/>
                      <a:pt x="129" y="0"/>
                      <a:pt x="142" y="6"/>
                    </a:cubicBezTo>
                    <a:cubicBezTo>
                      <a:pt x="156" y="13"/>
                      <a:pt x="162" y="30"/>
                      <a:pt x="152" y="44"/>
                    </a:cubicBezTo>
                    <a:cubicBezTo>
                      <a:pt x="127" y="79"/>
                      <a:pt x="101" y="114"/>
                      <a:pt x="74" y="148"/>
                    </a:cubicBezTo>
                    <a:cubicBezTo>
                      <a:pt x="65" y="160"/>
                      <a:pt x="49" y="161"/>
                      <a:pt x="37" y="151"/>
                    </a:cubicBezTo>
                    <a:cubicBezTo>
                      <a:pt x="28" y="143"/>
                      <a:pt x="20" y="135"/>
                      <a:pt x="12" y="127"/>
                    </a:cubicBezTo>
                    <a:cubicBezTo>
                      <a:pt x="1" y="115"/>
                      <a:pt x="0" y="101"/>
                      <a:pt x="9" y="90"/>
                    </a:cubicBezTo>
                    <a:cubicBezTo>
                      <a:pt x="18" y="79"/>
                      <a:pt x="32" y="78"/>
                      <a:pt x="46" y="88"/>
                    </a:cubicBezTo>
                    <a:cubicBezTo>
                      <a:pt x="48" y="89"/>
                      <a:pt x="50" y="90"/>
                      <a:pt x="52" y="92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3" name="Freeform 295"/>
              <p:cNvSpPr/>
              <p:nvPr/>
            </p:nvSpPr>
            <p:spPr bwMode="auto">
              <a:xfrm>
                <a:off x="2613" y="1783"/>
                <a:ext cx="375" cy="383"/>
              </a:xfrm>
              <a:custGeom>
                <a:avLst/>
                <a:gdLst>
                  <a:gd name="T0" fmla="*/ 52 w 158"/>
                  <a:gd name="T1" fmla="*/ 91 h 161"/>
                  <a:gd name="T2" fmla="*/ 109 w 158"/>
                  <a:gd name="T3" fmla="*/ 16 h 161"/>
                  <a:gd name="T4" fmla="*/ 137 w 158"/>
                  <a:gd name="T5" fmla="*/ 5 h 161"/>
                  <a:gd name="T6" fmla="*/ 155 w 158"/>
                  <a:gd name="T7" fmla="*/ 24 h 161"/>
                  <a:gd name="T8" fmla="*/ 150 w 158"/>
                  <a:gd name="T9" fmla="*/ 46 h 161"/>
                  <a:gd name="T10" fmla="*/ 76 w 158"/>
                  <a:gd name="T11" fmla="*/ 145 h 161"/>
                  <a:gd name="T12" fmla="*/ 35 w 158"/>
                  <a:gd name="T13" fmla="*/ 148 h 161"/>
                  <a:gd name="T14" fmla="*/ 13 w 158"/>
                  <a:gd name="T15" fmla="*/ 127 h 161"/>
                  <a:gd name="T16" fmla="*/ 10 w 158"/>
                  <a:gd name="T17" fmla="*/ 89 h 161"/>
                  <a:gd name="T18" fmla="*/ 48 w 158"/>
                  <a:gd name="T19" fmla="*/ 88 h 161"/>
                  <a:gd name="T20" fmla="*/ 52 w 158"/>
                  <a:gd name="T21" fmla="*/ 9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8" h="161">
                    <a:moveTo>
                      <a:pt x="52" y="91"/>
                    </a:moveTo>
                    <a:cubicBezTo>
                      <a:pt x="71" y="66"/>
                      <a:pt x="90" y="41"/>
                      <a:pt x="109" y="16"/>
                    </a:cubicBezTo>
                    <a:cubicBezTo>
                      <a:pt x="116" y="6"/>
                      <a:pt x="126" y="0"/>
                      <a:pt x="137" y="5"/>
                    </a:cubicBezTo>
                    <a:cubicBezTo>
                      <a:pt x="145" y="8"/>
                      <a:pt x="152" y="16"/>
                      <a:pt x="155" y="24"/>
                    </a:cubicBezTo>
                    <a:cubicBezTo>
                      <a:pt x="158" y="30"/>
                      <a:pt x="154" y="40"/>
                      <a:pt x="150" y="46"/>
                    </a:cubicBezTo>
                    <a:cubicBezTo>
                      <a:pt x="126" y="79"/>
                      <a:pt x="101" y="112"/>
                      <a:pt x="76" y="145"/>
                    </a:cubicBezTo>
                    <a:cubicBezTo>
                      <a:pt x="64" y="161"/>
                      <a:pt x="49" y="161"/>
                      <a:pt x="35" y="148"/>
                    </a:cubicBezTo>
                    <a:cubicBezTo>
                      <a:pt x="27" y="142"/>
                      <a:pt x="20" y="134"/>
                      <a:pt x="13" y="127"/>
                    </a:cubicBezTo>
                    <a:cubicBezTo>
                      <a:pt x="1" y="114"/>
                      <a:pt x="0" y="100"/>
                      <a:pt x="10" y="89"/>
                    </a:cubicBezTo>
                    <a:cubicBezTo>
                      <a:pt x="20" y="78"/>
                      <a:pt x="33" y="78"/>
                      <a:pt x="48" y="88"/>
                    </a:cubicBezTo>
                    <a:cubicBezTo>
                      <a:pt x="49" y="89"/>
                      <a:pt x="50" y="90"/>
                      <a:pt x="52" y="91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4" name="Freeform 296"/>
              <p:cNvSpPr/>
              <p:nvPr/>
            </p:nvSpPr>
            <p:spPr bwMode="auto">
              <a:xfrm>
                <a:off x="2611" y="2886"/>
                <a:ext cx="377" cy="377"/>
              </a:xfrm>
              <a:custGeom>
                <a:avLst/>
                <a:gdLst>
                  <a:gd name="T0" fmla="*/ 53 w 159"/>
                  <a:gd name="T1" fmla="*/ 88 h 159"/>
                  <a:gd name="T2" fmla="*/ 111 w 159"/>
                  <a:gd name="T3" fmla="*/ 12 h 159"/>
                  <a:gd name="T4" fmla="*/ 137 w 159"/>
                  <a:gd name="T5" fmla="*/ 2 h 159"/>
                  <a:gd name="T6" fmla="*/ 156 w 159"/>
                  <a:gd name="T7" fmla="*/ 21 h 159"/>
                  <a:gd name="T8" fmla="*/ 151 w 159"/>
                  <a:gd name="T9" fmla="*/ 43 h 159"/>
                  <a:gd name="T10" fmla="*/ 78 w 159"/>
                  <a:gd name="T11" fmla="*/ 141 h 159"/>
                  <a:gd name="T12" fmla="*/ 35 w 159"/>
                  <a:gd name="T13" fmla="*/ 144 h 159"/>
                  <a:gd name="T14" fmla="*/ 14 w 159"/>
                  <a:gd name="T15" fmla="*/ 124 h 159"/>
                  <a:gd name="T16" fmla="*/ 11 w 159"/>
                  <a:gd name="T17" fmla="*/ 86 h 159"/>
                  <a:gd name="T18" fmla="*/ 48 w 159"/>
                  <a:gd name="T19" fmla="*/ 85 h 159"/>
                  <a:gd name="T20" fmla="*/ 53 w 159"/>
                  <a:gd name="T21" fmla="*/ 8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9" h="159">
                    <a:moveTo>
                      <a:pt x="53" y="88"/>
                    </a:moveTo>
                    <a:cubicBezTo>
                      <a:pt x="73" y="62"/>
                      <a:pt x="91" y="36"/>
                      <a:pt x="111" y="12"/>
                    </a:cubicBezTo>
                    <a:cubicBezTo>
                      <a:pt x="116" y="5"/>
                      <a:pt x="129" y="0"/>
                      <a:pt x="137" y="2"/>
                    </a:cubicBezTo>
                    <a:cubicBezTo>
                      <a:pt x="145" y="3"/>
                      <a:pt x="153" y="13"/>
                      <a:pt x="156" y="21"/>
                    </a:cubicBezTo>
                    <a:cubicBezTo>
                      <a:pt x="159" y="27"/>
                      <a:pt x="155" y="37"/>
                      <a:pt x="151" y="43"/>
                    </a:cubicBezTo>
                    <a:cubicBezTo>
                      <a:pt x="127" y="76"/>
                      <a:pt x="103" y="109"/>
                      <a:pt x="78" y="141"/>
                    </a:cubicBezTo>
                    <a:cubicBezTo>
                      <a:pt x="65" y="158"/>
                      <a:pt x="50" y="159"/>
                      <a:pt x="35" y="144"/>
                    </a:cubicBezTo>
                    <a:cubicBezTo>
                      <a:pt x="28" y="137"/>
                      <a:pt x="21" y="131"/>
                      <a:pt x="14" y="124"/>
                    </a:cubicBezTo>
                    <a:cubicBezTo>
                      <a:pt x="2" y="111"/>
                      <a:pt x="0" y="97"/>
                      <a:pt x="11" y="86"/>
                    </a:cubicBezTo>
                    <a:cubicBezTo>
                      <a:pt x="21" y="75"/>
                      <a:pt x="34" y="74"/>
                      <a:pt x="48" y="85"/>
                    </a:cubicBezTo>
                    <a:cubicBezTo>
                      <a:pt x="49" y="86"/>
                      <a:pt x="51" y="86"/>
                      <a:pt x="53" y="88"/>
                    </a:cubicBezTo>
                    <a:close/>
                  </a:path>
                </a:pathLst>
              </a:custGeom>
              <a:solidFill>
                <a:srgbClr val="4444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5" name="Freeform 297"/>
              <p:cNvSpPr/>
              <p:nvPr/>
            </p:nvSpPr>
            <p:spPr bwMode="auto">
              <a:xfrm>
                <a:off x="3288" y="574"/>
                <a:ext cx="123" cy="124"/>
              </a:xfrm>
              <a:custGeom>
                <a:avLst/>
                <a:gdLst>
                  <a:gd name="T0" fmla="*/ 26 w 52"/>
                  <a:gd name="T1" fmla="*/ 51 h 52"/>
                  <a:gd name="T2" fmla="*/ 0 w 52"/>
                  <a:gd name="T3" fmla="*/ 26 h 52"/>
                  <a:gd name="T4" fmla="*/ 27 w 52"/>
                  <a:gd name="T5" fmla="*/ 0 h 52"/>
                  <a:gd name="T6" fmla="*/ 52 w 52"/>
                  <a:gd name="T7" fmla="*/ 26 h 52"/>
                  <a:gd name="T8" fmla="*/ 26 w 52"/>
                  <a:gd name="T9" fmla="*/ 5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52">
                    <a:moveTo>
                      <a:pt x="26" y="51"/>
                    </a:moveTo>
                    <a:cubicBezTo>
                      <a:pt x="11" y="51"/>
                      <a:pt x="0" y="40"/>
                      <a:pt x="0" y="26"/>
                    </a:cubicBezTo>
                    <a:cubicBezTo>
                      <a:pt x="1" y="12"/>
                      <a:pt x="13" y="0"/>
                      <a:pt x="27" y="0"/>
                    </a:cubicBezTo>
                    <a:cubicBezTo>
                      <a:pt x="41" y="0"/>
                      <a:pt x="52" y="12"/>
                      <a:pt x="52" y="26"/>
                    </a:cubicBezTo>
                    <a:cubicBezTo>
                      <a:pt x="51" y="41"/>
                      <a:pt x="41" y="52"/>
                      <a:pt x="26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 flipH="1">
            <a:off x="247898" y="1469177"/>
            <a:ext cx="4373255" cy="2645444"/>
            <a:chOff x="6312" y="-488"/>
            <a:chExt cx="8915" cy="5391"/>
          </a:xfrm>
        </p:grpSpPr>
        <p:grpSp>
          <p:nvGrpSpPr>
            <p:cNvPr id="54" name="组合 53"/>
            <p:cNvGrpSpPr/>
            <p:nvPr/>
          </p:nvGrpSpPr>
          <p:grpSpPr>
            <a:xfrm>
              <a:off x="6312" y="-387"/>
              <a:ext cx="8915" cy="5290"/>
              <a:chOff x="4522595" y="46539"/>
              <a:chExt cx="5661536" cy="3357462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4553060" y="1471688"/>
                <a:ext cx="1293300" cy="1293300"/>
                <a:chOff x="4553060" y="1471688"/>
                <a:chExt cx="1293300" cy="1293300"/>
              </a:xfrm>
            </p:grpSpPr>
            <p:sp>
              <p:nvSpPr>
                <p:cNvPr id="63" name="椭圆 62"/>
                <p:cNvSpPr/>
                <p:nvPr/>
              </p:nvSpPr>
              <p:spPr>
                <a:xfrm>
                  <a:off x="4553060" y="1471688"/>
                  <a:ext cx="1293300" cy="1293300"/>
                </a:xfrm>
                <a:prstGeom prst="ellipse">
                  <a:avLst/>
                </a:prstGeom>
                <a:solidFill>
                  <a:sysClr val="window" lastClr="FFFFFF">
                    <a:alpha val="76000"/>
                  </a:sysClr>
                </a:solidFill>
                <a:ln w="635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 sz="160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4675587" y="1594214"/>
                  <a:ext cx="1048247" cy="1048248"/>
                </a:xfrm>
                <a:prstGeom prst="ellipse">
                  <a:avLst/>
                </a:prstGeom>
                <a:solidFill>
                  <a:srgbClr val="BC686E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ysClr val="windowText" lastClr="00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57" name="文本框 56"/>
              <p:cNvSpPr txBox="1"/>
              <p:nvPr/>
            </p:nvSpPr>
            <p:spPr>
              <a:xfrm>
                <a:off x="4522595" y="1740952"/>
                <a:ext cx="1392044" cy="754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ysClr val="window" lastClr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等线" charset="0"/>
                    <a:sym typeface="汉仪旗黑-55简" panose="00020600040101010101" pitchFamily="18" charset="-122"/>
                  </a:rPr>
                  <a:t>初始</a:t>
                </a:r>
                <a:endParaRPr lang="zh-CN" altLang="en-US" sz="16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charset="0"/>
                  <a:sym typeface="汉仪旗黑-55简" panose="00020600040101010101" pitchFamily="18" charset="-122"/>
                </a:endParaRPr>
              </a:p>
              <a:p>
                <a:pPr algn="ctr"/>
                <a:r>
                  <a:rPr lang="zh-CN" altLang="en-US" sz="1600" dirty="0">
                    <a:solidFill>
                      <a:sysClr val="window" lastClr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等线" charset="0"/>
                    <a:sym typeface="汉仪旗黑-55简" panose="00020600040101010101" pitchFamily="18" charset="-122"/>
                  </a:rPr>
                  <a:t>进入</a:t>
                </a:r>
                <a:endParaRPr lang="zh-CN" altLang="en-US" sz="16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5454824" y="46539"/>
                <a:ext cx="4729307" cy="3357462"/>
                <a:chOff x="-40808" y="33654"/>
                <a:chExt cx="4729307" cy="3357462"/>
              </a:xfrm>
            </p:grpSpPr>
            <p:sp>
              <p:nvSpPr>
                <p:cNvPr id="59" name="文本框 58"/>
                <p:cNvSpPr txBox="1"/>
                <p:nvPr/>
              </p:nvSpPr>
              <p:spPr>
                <a:xfrm>
                  <a:off x="325008" y="113320"/>
                  <a:ext cx="4363491" cy="32777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lnSpc>
                      <a:spcPct val="125000"/>
                    </a:lnSpc>
                  </a:pPr>
                  <a:r>
                    <a:rPr lang="en-US" altLang="zh-CN" sz="1400" b="1" u="sng" dirty="0">
                      <a:latin typeface="+mn-ea"/>
                    </a:rPr>
                    <a:t>1</a:t>
                  </a:r>
                  <a:r>
                    <a:rPr lang="zh-CN" altLang="en-US" sz="1400" b="1" u="sng" dirty="0">
                      <a:latin typeface="+mn-ea"/>
                    </a:rPr>
                    <a:t>）初始进入</a:t>
                  </a:r>
                  <a:r>
                    <a:rPr lang="en-US" altLang="zh-CN" sz="1400" b="1" u="sng" dirty="0">
                      <a:latin typeface="+mn-ea"/>
                    </a:rPr>
                    <a:t>：</a:t>
                  </a:r>
                  <a:r>
                    <a:rPr lang="zh-CN" altLang="en-US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直接</a:t>
                  </a:r>
                  <a:r>
                    <a:rPr lang="en-US" altLang="zh-CN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间接注入（</a:t>
                  </a:r>
                  <a:r>
                    <a:rPr lang="en-US" altLang="zh-CN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Entry</a:t>
                  </a:r>
                  <a:r>
                    <a:rPr lang="zh-CN" altLang="en-US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）</a:t>
                  </a:r>
                  <a:endParaRPr lang="zh-CN" altLang="en-US" sz="1400" u="sng" dirty="0">
                    <a:latin typeface="+mn-ea"/>
                    <a:cs typeface="等线" charset="0"/>
                    <a:sym typeface="汉仪旗黑-55简" panose="00020600040101010101" pitchFamily="18" charset="-122"/>
                  </a:endParaRPr>
                </a:p>
                <a:p>
                  <a:pPr algn="l">
                    <a:lnSpc>
                      <a:spcPct val="125000"/>
                    </a:lnSpc>
                  </a:pPr>
                  <a:endParaRPr lang="zh-CN" altLang="en-US" sz="1400" u="sng" dirty="0">
                    <a:latin typeface="+mn-ea"/>
                    <a:cs typeface="等线" charset="0"/>
                    <a:sym typeface="汉仪旗黑-55简" panose="00020600040101010101" pitchFamily="18" charset="-122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</a:rPr>
                    <a:t>动作：把恶意指令塞进</a:t>
                  </a:r>
                  <a:r>
                    <a:rPr lang="en-US" altLang="zh-CN" sz="1100" dirty="0">
                      <a:latin typeface="+mn-ea"/>
                    </a:rPr>
                    <a:t>“</a:t>
                  </a:r>
                  <a:r>
                    <a:rPr lang="zh-CN" altLang="en-US" sz="1100" dirty="0">
                      <a:latin typeface="+mn-ea"/>
                    </a:rPr>
                    <a:t>你会读的输入</a:t>
                  </a:r>
                  <a:r>
                    <a:rPr lang="en-US" altLang="zh-CN" sz="1100" dirty="0">
                      <a:latin typeface="+mn-ea"/>
                    </a:rPr>
                    <a:t>”</a:t>
                  </a:r>
                  <a:r>
                    <a:rPr lang="zh-CN" altLang="en-US" sz="1100" dirty="0">
                      <a:latin typeface="+mn-ea"/>
                    </a:rPr>
                    <a:t>。</a:t>
                  </a:r>
                  <a:endParaRPr lang="en-US" altLang="zh-CN" sz="1100" dirty="0">
                    <a:latin typeface="+mn-ea"/>
                  </a:endParaRPr>
                </a:p>
                <a:p>
                  <a:pPr marL="628650" lvl="1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</a:rPr>
                    <a:t>直接：用户对话里下黑指令</a:t>
                  </a:r>
                  <a:endParaRPr lang="en-US" altLang="zh-CN" sz="1100" dirty="0">
                    <a:latin typeface="+mn-ea"/>
                  </a:endParaRPr>
                </a:p>
                <a:p>
                  <a:pPr marL="628650" lvl="1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</a:rPr>
                    <a:t>间接：网页</a:t>
                  </a:r>
                  <a:r>
                    <a:rPr lang="en-US" altLang="zh-CN" sz="1100" dirty="0">
                      <a:latin typeface="+mn-ea"/>
                    </a:rPr>
                    <a:t>/</a:t>
                  </a:r>
                  <a:r>
                    <a:rPr lang="zh-CN" altLang="en-US" sz="1100" dirty="0">
                      <a:latin typeface="+mn-ea"/>
                    </a:rPr>
                    <a:t>邮件</a:t>
                  </a:r>
                  <a:r>
                    <a:rPr lang="en-US" altLang="zh-CN" sz="1100" dirty="0">
                      <a:latin typeface="+mn-ea"/>
                    </a:rPr>
                    <a:t>/</a:t>
                  </a:r>
                  <a:r>
                    <a:rPr lang="zh-CN" altLang="en-US" sz="1100" dirty="0">
                      <a:latin typeface="+mn-ea"/>
                    </a:rPr>
                    <a:t>文档里藏指令，</a:t>
                  </a:r>
                  <a:r>
                    <a:rPr lang="en-US" altLang="zh-CN" sz="1100" dirty="0">
                      <a:latin typeface="+mn-ea"/>
                    </a:rPr>
                    <a:t>RAG/</a:t>
                  </a:r>
                  <a:r>
                    <a:rPr lang="zh-CN" altLang="en-US" sz="1100" dirty="0">
                      <a:latin typeface="+mn-ea"/>
                    </a:rPr>
                    <a:t>浏览器把它当内容回灌</a:t>
                  </a:r>
                  <a:endParaRPr lang="zh-CN" altLang="en-US" sz="1100" dirty="0">
                    <a:latin typeface="+mn-ea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endParaRPr lang="en-US" altLang="zh-CN" sz="1100" dirty="0">
                    <a:latin typeface="+mn-ea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</a:rPr>
                    <a:t>目标：劫持意图</a:t>
                  </a:r>
                  <a:r>
                    <a:rPr lang="en-US" altLang="zh-CN" sz="1100" dirty="0">
                      <a:latin typeface="+mn-ea"/>
                    </a:rPr>
                    <a:t>/</a:t>
                  </a:r>
                  <a:r>
                    <a:rPr lang="zh-CN" altLang="en-US" sz="1100" dirty="0">
                      <a:latin typeface="+mn-ea"/>
                    </a:rPr>
                    <a:t>规则，让模型把</a:t>
                  </a:r>
                  <a:r>
                    <a:rPr lang="en-US" altLang="zh-CN" sz="1100" dirty="0">
                      <a:latin typeface="+mn-ea"/>
                    </a:rPr>
                    <a:t>“</a:t>
                  </a:r>
                  <a:r>
                    <a:rPr lang="zh-CN" altLang="en-US" sz="1100" dirty="0">
                      <a:latin typeface="+mn-ea"/>
                    </a:rPr>
                    <a:t>外部内容</a:t>
                  </a:r>
                  <a:r>
                    <a:rPr lang="en-US" altLang="zh-CN" sz="1100" dirty="0">
                      <a:latin typeface="+mn-ea"/>
                    </a:rPr>
                    <a:t>”</a:t>
                  </a:r>
                  <a:r>
                    <a:rPr lang="zh-CN" altLang="en-US" sz="1100" dirty="0">
                      <a:latin typeface="+mn-ea"/>
                    </a:rPr>
                    <a:t>当</a:t>
                  </a:r>
                  <a:r>
                    <a:rPr lang="en-US" altLang="zh-CN" sz="1100" dirty="0">
                      <a:latin typeface="+mn-ea"/>
                    </a:rPr>
                    <a:t>“</a:t>
                  </a:r>
                  <a:r>
                    <a:rPr lang="zh-CN" altLang="en-US" sz="1100" dirty="0">
                      <a:latin typeface="+mn-ea"/>
                    </a:rPr>
                    <a:t>高优先级指令</a:t>
                  </a:r>
                  <a:r>
                    <a:rPr lang="en-US" altLang="zh-CN" sz="1100" dirty="0">
                      <a:latin typeface="+mn-ea"/>
                    </a:rPr>
                    <a:t>”</a:t>
                  </a:r>
                  <a:endParaRPr lang="en-US" altLang="zh-CN" sz="1100" dirty="0">
                    <a:latin typeface="+mn-ea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endParaRPr lang="en-US" altLang="zh-CN" sz="1100" dirty="0">
                    <a:latin typeface="+mn-ea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</a:rPr>
                    <a:t>结果：从</a:t>
                  </a:r>
                  <a:r>
                    <a:rPr lang="en-US" altLang="zh-CN" sz="1100" dirty="0">
                      <a:latin typeface="+mn-ea"/>
                    </a:rPr>
                    <a:t>“</a:t>
                  </a:r>
                  <a:r>
                    <a:rPr lang="zh-CN" altLang="en-US" sz="1100" dirty="0">
                      <a:latin typeface="+mn-ea"/>
                    </a:rPr>
                    <a:t>说什么</a:t>
                  </a:r>
                  <a:r>
                    <a:rPr lang="en-US" altLang="zh-CN" sz="1100" dirty="0">
                      <a:latin typeface="+mn-ea"/>
                    </a:rPr>
                    <a:t>”</a:t>
                  </a:r>
                  <a:r>
                    <a:rPr lang="zh-CN" altLang="en-US" sz="1100" dirty="0">
                      <a:latin typeface="+mn-ea"/>
                    </a:rPr>
                    <a:t>开始偏航</a:t>
                  </a:r>
                  <a:endParaRPr lang="zh-CN" altLang="en-US" sz="1100" dirty="0">
                    <a:latin typeface="+mn-ea"/>
                  </a:endParaRPr>
                </a:p>
              </p:txBody>
            </p:sp>
            <p:grpSp>
              <p:nvGrpSpPr>
                <p:cNvPr id="60" name="组合 59"/>
                <p:cNvGrpSpPr/>
                <p:nvPr/>
              </p:nvGrpSpPr>
              <p:grpSpPr>
                <a:xfrm>
                  <a:off x="-40808" y="33654"/>
                  <a:ext cx="185896" cy="185895"/>
                  <a:chOff x="-40808" y="33654"/>
                  <a:chExt cx="185896" cy="185895"/>
                </a:xfrm>
              </p:grpSpPr>
              <p:sp>
                <p:nvSpPr>
                  <p:cNvPr id="61" name="椭圆 60"/>
                  <p:cNvSpPr/>
                  <p:nvPr/>
                </p:nvSpPr>
                <p:spPr>
                  <a:xfrm>
                    <a:off x="-40808" y="33654"/>
                    <a:ext cx="185896" cy="185895"/>
                  </a:xfrm>
                  <a:prstGeom prst="ellipse">
                    <a:avLst/>
                  </a:prstGeom>
                  <a:solidFill>
                    <a:srgbClr val="9B1313"/>
                  </a:solidFill>
                  <a:ln w="19050" cap="flat" cmpd="sng" algn="ctr">
                    <a:gradFill>
                      <a:gsLst>
                        <a:gs pos="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  <p:sp>
                <p:nvSpPr>
                  <p:cNvPr id="62" name="任意多边形: 形状 27"/>
                  <p:cNvSpPr/>
                  <p:nvPr/>
                </p:nvSpPr>
                <p:spPr>
                  <a:xfrm>
                    <a:off x="20892" y="80844"/>
                    <a:ext cx="75118" cy="86459"/>
                  </a:xfrm>
                  <a:custGeom>
                    <a:avLst/>
                    <a:gdLst>
                      <a:gd name="connsiteX0" fmla="*/ 38144 w 889160"/>
                      <a:gd name="connsiteY0" fmla="*/ 3467 h 1023391"/>
                      <a:gd name="connsiteX1" fmla="*/ 876518 w 889160"/>
                      <a:gd name="connsiteY1" fmla="*/ 489724 h 1023391"/>
                      <a:gd name="connsiteX2" fmla="*/ 876518 w 889160"/>
                      <a:gd name="connsiteY2" fmla="*/ 533668 h 1023391"/>
                      <a:gd name="connsiteX3" fmla="*/ 38144 w 889160"/>
                      <a:gd name="connsiteY3" fmla="*/ 1019925 h 1023391"/>
                      <a:gd name="connsiteX4" fmla="*/ 0 w 889160"/>
                      <a:gd name="connsiteY4" fmla="*/ 997953 h 1023391"/>
                      <a:gd name="connsiteX5" fmla="*/ 0 w 889160"/>
                      <a:gd name="connsiteY5" fmla="*/ 25439 h 1023391"/>
                      <a:gd name="connsiteX6" fmla="*/ 38144 w 889160"/>
                      <a:gd name="connsiteY6" fmla="*/ 3467 h 1023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89160" h="1023391">
                        <a:moveTo>
                          <a:pt x="38144" y="3467"/>
                        </a:moveTo>
                        <a:lnTo>
                          <a:pt x="876518" y="489724"/>
                        </a:lnTo>
                        <a:cubicBezTo>
                          <a:pt x="893375" y="499502"/>
                          <a:pt x="893375" y="523890"/>
                          <a:pt x="876518" y="533668"/>
                        </a:cubicBezTo>
                        <a:lnTo>
                          <a:pt x="38144" y="1019925"/>
                        </a:lnTo>
                        <a:cubicBezTo>
                          <a:pt x="21208" y="1029747"/>
                          <a:pt x="0" y="1017531"/>
                          <a:pt x="0" y="997953"/>
                        </a:cubicBezTo>
                        <a:lnTo>
                          <a:pt x="0" y="25439"/>
                        </a:lnTo>
                        <a:cubicBezTo>
                          <a:pt x="0" y="5861"/>
                          <a:pt x="21208" y="-6355"/>
                          <a:pt x="38144" y="3467"/>
                        </a:cubicBezTo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</p:grpSp>
          </p:grpSp>
        </p:grpSp>
        <p:sp>
          <p:nvSpPr>
            <p:cNvPr id="55" name="任意多边形: 形状 50"/>
            <p:cNvSpPr/>
            <p:nvPr/>
          </p:nvSpPr>
          <p:spPr>
            <a:xfrm>
              <a:off x="7378" y="-488"/>
              <a:ext cx="6872" cy="2265"/>
            </a:xfrm>
            <a:custGeom>
              <a:avLst/>
              <a:gdLst>
                <a:gd name="connsiteX0" fmla="*/ 0 w 4210050"/>
                <a:gd name="connsiteY0" fmla="*/ 228600 h 228600"/>
                <a:gd name="connsiteX1" fmla="*/ 152400 w 4210050"/>
                <a:gd name="connsiteY1" fmla="*/ 0 h 228600"/>
                <a:gd name="connsiteX2" fmla="*/ 4210050 w 421005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0" h="228600">
                  <a:moveTo>
                    <a:pt x="0" y="228600"/>
                  </a:moveTo>
                  <a:lnTo>
                    <a:pt x="152400" y="0"/>
                  </a:lnTo>
                  <a:lnTo>
                    <a:pt x="4210050" y="0"/>
                  </a:lnTo>
                </a:path>
              </a:pathLst>
            </a:custGeom>
            <a:noFill/>
            <a:ln w="12700" cap="flat" cmpd="sng" algn="ctr">
              <a:solidFill>
                <a:srgbClr val="9B1313"/>
              </a:solidFill>
              <a:prstDash val="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72167" y="3106903"/>
            <a:ext cx="5067889" cy="1556350"/>
            <a:chOff x="6312" y="1858"/>
            <a:chExt cx="10330" cy="3172"/>
          </a:xfrm>
        </p:grpSpPr>
        <p:grpSp>
          <p:nvGrpSpPr>
            <p:cNvPr id="43" name="组合 42"/>
            <p:cNvGrpSpPr/>
            <p:nvPr/>
          </p:nvGrpSpPr>
          <p:grpSpPr>
            <a:xfrm>
              <a:off x="6312" y="1858"/>
              <a:ext cx="10330" cy="3172"/>
              <a:chOff x="4522593" y="1471688"/>
              <a:chExt cx="6559963" cy="2014803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4571965" y="1471688"/>
                <a:ext cx="1293300" cy="1293300"/>
                <a:chOff x="4571965" y="1471688"/>
                <a:chExt cx="1293300" cy="1293300"/>
              </a:xfrm>
            </p:grpSpPr>
            <p:sp>
              <p:nvSpPr>
                <p:cNvPr id="52" name="椭圆 51"/>
                <p:cNvSpPr/>
                <p:nvPr/>
              </p:nvSpPr>
              <p:spPr>
                <a:xfrm>
                  <a:off x="4571965" y="1471688"/>
                  <a:ext cx="1293300" cy="1293300"/>
                </a:xfrm>
                <a:prstGeom prst="ellipse">
                  <a:avLst/>
                </a:prstGeom>
                <a:solidFill>
                  <a:sysClr val="window" lastClr="FFFFFF">
                    <a:alpha val="76000"/>
                  </a:sysClr>
                </a:solidFill>
                <a:ln w="635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 sz="160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53" name="椭圆 52"/>
                <p:cNvSpPr/>
                <p:nvPr/>
              </p:nvSpPr>
              <p:spPr>
                <a:xfrm>
                  <a:off x="4694491" y="1594214"/>
                  <a:ext cx="1048247" cy="1048247"/>
                </a:xfrm>
                <a:prstGeom prst="ellipse">
                  <a:avLst/>
                </a:prstGeom>
                <a:solidFill>
                  <a:srgbClr val="FF5F70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ysClr val="windowText" lastClr="00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46" name="文本框 45"/>
              <p:cNvSpPr txBox="1"/>
              <p:nvPr/>
            </p:nvSpPr>
            <p:spPr>
              <a:xfrm>
                <a:off x="4522593" y="1899266"/>
                <a:ext cx="1392044" cy="436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ysClr val="window" lastClr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等线" charset="0"/>
                    <a:sym typeface="汉仪旗黑-55简" panose="00020600040101010101" pitchFamily="18" charset="-122"/>
                  </a:rPr>
                  <a:t>持久化</a:t>
                </a:r>
                <a:endParaRPr lang="en-US" altLang="zh-CN" sz="16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6048081" y="1650028"/>
                <a:ext cx="5034475" cy="1836463"/>
                <a:chOff x="552449" y="1637143"/>
                <a:chExt cx="5034475" cy="1836463"/>
              </a:xfrm>
            </p:grpSpPr>
            <p:sp>
              <p:nvSpPr>
                <p:cNvPr id="48" name="文本框 47"/>
                <p:cNvSpPr txBox="1"/>
                <p:nvPr/>
              </p:nvSpPr>
              <p:spPr>
                <a:xfrm>
                  <a:off x="738211" y="1637143"/>
                  <a:ext cx="4848713" cy="18364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lnSpc>
                      <a:spcPct val="125000"/>
                    </a:lnSpc>
                  </a:pPr>
                  <a:r>
                    <a:rPr lang="en-US" altLang="zh-CN" sz="1400" b="1" u="sng" dirty="0">
                      <a:solidFill>
                        <a:srgbClr val="C00000"/>
                      </a:solidFill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3) </a:t>
                  </a:r>
                  <a:r>
                    <a:rPr lang="zh-CN" altLang="en-US" sz="1400" b="1" u="sng" dirty="0">
                      <a:solidFill>
                        <a:srgbClr val="C00000"/>
                      </a:solidFill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持久化：写入长期记忆</a:t>
                  </a:r>
                  <a:r>
                    <a:rPr lang="en-US" altLang="zh-CN" sz="1400" b="1" u="sng" dirty="0">
                      <a:solidFill>
                        <a:srgbClr val="C00000"/>
                      </a:solidFill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400" b="1" u="sng" dirty="0">
                      <a:solidFill>
                        <a:srgbClr val="C00000"/>
                      </a:solidFill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知识库</a:t>
                  </a:r>
                  <a:endParaRPr lang="zh-CN" altLang="en-US" sz="1400" u="sng" dirty="0">
                    <a:solidFill>
                      <a:srgbClr val="C00000"/>
                    </a:solidFill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endParaRPr>
                </a:p>
                <a:p>
                  <a:pPr marL="285750" indent="-285750" algn="l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动作：让</a:t>
                  </a:r>
                  <a:r>
                    <a:rPr lang="en-US" altLang="zh-CN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 Agent </a:t>
                  </a: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把恶意内容写进长期状态（</a:t>
                  </a:r>
                  <a:r>
                    <a:rPr lang="en-US" altLang="zh-CN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Memory/KB/</a:t>
                  </a: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任务队列</a:t>
                  </a:r>
                  <a:r>
                    <a:rPr lang="en-US" altLang="zh-CN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偏好设置）</a:t>
                  </a:r>
                  <a:endParaRPr lang="en-US" altLang="zh-CN" sz="1100" dirty="0"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endParaRPr>
                </a:p>
                <a:p>
                  <a:pPr marL="285750" indent="-285750" algn="l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目标：跨会话、跨时间持续触发（今天埋，下周自动炸）</a:t>
                  </a:r>
                  <a:endParaRPr lang="en-US" altLang="zh-CN" sz="1100" dirty="0"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endParaRPr>
                </a:p>
                <a:p>
                  <a:pPr marL="285750" indent="-285750" algn="l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结果：攻击从一次性变成</a:t>
                  </a:r>
                  <a:r>
                    <a:rPr lang="en-US" altLang="zh-CN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“</a:t>
                  </a:r>
                  <a:r>
                    <a:rPr lang="zh-CN" altLang="en-US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自我复制的后门</a:t>
                  </a:r>
                  <a:r>
                    <a:rPr lang="en-US" altLang="zh-CN" sz="1100" dirty="0">
                      <a:latin typeface="微软雅黑" charset="0"/>
                      <a:ea typeface="微软雅黑" charset="0"/>
                      <a:cs typeface="微软雅黑" charset="0"/>
                      <a:sym typeface="汉仪旗黑-55简" panose="00020600040101010101" pitchFamily="18" charset="-122"/>
                    </a:rPr>
                    <a:t>”</a:t>
                  </a:r>
                  <a:endParaRPr lang="zh-CN" altLang="en-US" sz="1100" dirty="0">
                    <a:latin typeface="微软雅黑" charset="0"/>
                    <a:ea typeface="微软雅黑" charset="0"/>
                    <a:cs typeface="微软雅黑" charset="0"/>
                    <a:sym typeface="汉仪旗黑-55简" panose="00020600040101010101" pitchFamily="18" charset="-122"/>
                  </a:endParaRPr>
                </a:p>
              </p:txBody>
            </p:sp>
            <p:grpSp>
              <p:nvGrpSpPr>
                <p:cNvPr id="49" name="组合 48"/>
                <p:cNvGrpSpPr/>
                <p:nvPr/>
              </p:nvGrpSpPr>
              <p:grpSpPr>
                <a:xfrm>
                  <a:off x="552449" y="1734343"/>
                  <a:ext cx="185895" cy="185895"/>
                  <a:chOff x="552449" y="1734343"/>
                  <a:chExt cx="185895" cy="185895"/>
                </a:xfrm>
              </p:grpSpPr>
              <p:sp>
                <p:nvSpPr>
                  <p:cNvPr id="50" name="椭圆 49"/>
                  <p:cNvSpPr/>
                  <p:nvPr/>
                </p:nvSpPr>
                <p:spPr>
                  <a:xfrm>
                    <a:off x="552449" y="1734343"/>
                    <a:ext cx="185895" cy="185895"/>
                  </a:xfrm>
                  <a:prstGeom prst="ellipse">
                    <a:avLst/>
                  </a:prstGeom>
                  <a:solidFill>
                    <a:srgbClr val="9B1313"/>
                  </a:solidFill>
                  <a:ln w="19050" cap="flat" cmpd="sng" algn="ctr">
                    <a:gradFill>
                      <a:gsLst>
                        <a:gs pos="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  <p:sp>
                <p:nvSpPr>
                  <p:cNvPr id="51" name="任意多边形: 形状 27"/>
                  <p:cNvSpPr/>
                  <p:nvPr/>
                </p:nvSpPr>
                <p:spPr>
                  <a:xfrm>
                    <a:off x="614148" y="1781175"/>
                    <a:ext cx="75118" cy="86458"/>
                  </a:xfrm>
                  <a:custGeom>
                    <a:avLst/>
                    <a:gdLst>
                      <a:gd name="connsiteX0" fmla="*/ 38144 w 889160"/>
                      <a:gd name="connsiteY0" fmla="*/ 3467 h 1023391"/>
                      <a:gd name="connsiteX1" fmla="*/ 876518 w 889160"/>
                      <a:gd name="connsiteY1" fmla="*/ 489724 h 1023391"/>
                      <a:gd name="connsiteX2" fmla="*/ 876518 w 889160"/>
                      <a:gd name="connsiteY2" fmla="*/ 533668 h 1023391"/>
                      <a:gd name="connsiteX3" fmla="*/ 38144 w 889160"/>
                      <a:gd name="connsiteY3" fmla="*/ 1019925 h 1023391"/>
                      <a:gd name="connsiteX4" fmla="*/ 0 w 889160"/>
                      <a:gd name="connsiteY4" fmla="*/ 997953 h 1023391"/>
                      <a:gd name="connsiteX5" fmla="*/ 0 w 889160"/>
                      <a:gd name="connsiteY5" fmla="*/ 25439 h 1023391"/>
                      <a:gd name="connsiteX6" fmla="*/ 38144 w 889160"/>
                      <a:gd name="connsiteY6" fmla="*/ 3467 h 1023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89160" h="1023391">
                        <a:moveTo>
                          <a:pt x="38144" y="3467"/>
                        </a:moveTo>
                        <a:lnTo>
                          <a:pt x="876518" y="489724"/>
                        </a:lnTo>
                        <a:cubicBezTo>
                          <a:pt x="893375" y="499502"/>
                          <a:pt x="893375" y="523890"/>
                          <a:pt x="876518" y="533668"/>
                        </a:cubicBezTo>
                        <a:lnTo>
                          <a:pt x="38144" y="1019925"/>
                        </a:lnTo>
                        <a:cubicBezTo>
                          <a:pt x="21208" y="1029747"/>
                          <a:pt x="0" y="1017531"/>
                          <a:pt x="0" y="997953"/>
                        </a:cubicBezTo>
                        <a:lnTo>
                          <a:pt x="0" y="25439"/>
                        </a:lnTo>
                        <a:cubicBezTo>
                          <a:pt x="0" y="5861"/>
                          <a:pt x="21208" y="-6355"/>
                          <a:pt x="38144" y="3467"/>
                        </a:cubicBezTo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</p:grpSp>
          </p:grpSp>
        </p:grpSp>
        <p:sp>
          <p:nvSpPr>
            <p:cNvPr id="44" name="任意多边形: 形状 50"/>
            <p:cNvSpPr/>
            <p:nvPr/>
          </p:nvSpPr>
          <p:spPr>
            <a:xfrm>
              <a:off x="8033" y="1970"/>
              <a:ext cx="6872" cy="360"/>
            </a:xfrm>
            <a:custGeom>
              <a:avLst/>
              <a:gdLst>
                <a:gd name="connsiteX0" fmla="*/ 0 w 4210050"/>
                <a:gd name="connsiteY0" fmla="*/ 228600 h 228600"/>
                <a:gd name="connsiteX1" fmla="*/ 152400 w 4210050"/>
                <a:gd name="connsiteY1" fmla="*/ 0 h 228600"/>
                <a:gd name="connsiteX2" fmla="*/ 4210050 w 421005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0" h="228600">
                  <a:moveTo>
                    <a:pt x="0" y="228600"/>
                  </a:moveTo>
                  <a:lnTo>
                    <a:pt x="152400" y="0"/>
                  </a:lnTo>
                  <a:lnTo>
                    <a:pt x="4210050" y="0"/>
                  </a:lnTo>
                </a:path>
              </a:pathLst>
            </a:custGeom>
            <a:noFill/>
            <a:ln w="12700" cap="flat" cmpd="sng" algn="ctr">
              <a:solidFill>
                <a:srgbClr val="9B1313"/>
              </a:solidFill>
              <a:prstDash val="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235812" y="1485929"/>
            <a:ext cx="999091" cy="999359"/>
            <a:chOff x="4571965" y="1471688"/>
            <a:chExt cx="1293300" cy="1293300"/>
          </a:xfrm>
        </p:grpSpPr>
        <p:sp>
          <p:nvSpPr>
            <p:cNvPr id="41" name="椭圆 40"/>
            <p:cNvSpPr/>
            <p:nvPr/>
          </p:nvSpPr>
          <p:spPr>
            <a:xfrm>
              <a:off x="4571965" y="1471688"/>
              <a:ext cx="1293300" cy="1293300"/>
            </a:xfrm>
            <a:prstGeom prst="ellipse">
              <a:avLst/>
            </a:prstGeom>
            <a:solidFill>
              <a:sysClr val="window" lastClr="FFFFFF">
                <a:alpha val="76000"/>
              </a:sysClr>
            </a:solidFill>
            <a:ln w="6350" cap="flat" cmpd="sng" algn="ctr">
              <a:gradFill>
                <a:gsLst>
                  <a:gs pos="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694491" y="1594215"/>
              <a:ext cx="1048247" cy="1048248"/>
            </a:xfrm>
            <a:prstGeom prst="ellipse">
              <a:avLst/>
            </a:prstGeom>
            <a:solidFill>
              <a:srgbClr val="AC6E6E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5197672" y="1693826"/>
            <a:ext cx="107537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等线" charset="0"/>
                <a:sym typeface="汉仪旗黑-55简" panose="00020600040101010101" pitchFamily="18" charset="-122"/>
              </a:rPr>
              <a:t>越权</a:t>
            </a:r>
            <a:endParaRPr lang="zh-CN" altLang="en-US" sz="16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等线" charset="0"/>
              <a:sym typeface="汉仪旗黑-55简" panose="00020600040101010101" pitchFamily="18" charset="-122"/>
            </a:endParaRPr>
          </a:p>
          <a:p>
            <a:pPr algn="ctr"/>
            <a:r>
              <a:rPr lang="zh-CN" altLang="en-US" sz="16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等线" charset="0"/>
                <a:sym typeface="汉仪旗黑-55简" panose="00020600040101010101" pitchFamily="18" charset="-122"/>
              </a:rPr>
              <a:t>执行</a:t>
            </a:r>
            <a:endParaRPr lang="zh-CN" altLang="en-US" sz="16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736715" y="1468755"/>
            <a:ext cx="4295775" cy="1687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400" u="sng" dirty="0">
                <a:latin typeface="+mn-ea"/>
              </a:rPr>
              <a:t>2</a:t>
            </a:r>
            <a:r>
              <a:rPr lang="zh-CN" altLang="en-US" sz="1400" u="sng" dirty="0">
                <a:latin typeface="+mn-ea"/>
              </a:rPr>
              <a:t>）</a:t>
            </a:r>
            <a:r>
              <a:rPr lang="zh-CN" altLang="en-US" sz="1400" b="1" u="sng" dirty="0">
                <a:latin typeface="+mn-ea"/>
                <a:cs typeface="等线" charset="0"/>
                <a:sym typeface="汉仪旗黑-55简" panose="00020600040101010101" pitchFamily="18" charset="-122"/>
              </a:rPr>
              <a:t>越权执行：诱导调用高权限工具</a:t>
            </a:r>
            <a:endParaRPr lang="zh-CN" altLang="en-US" sz="1400" b="1" u="sng" dirty="0">
              <a:latin typeface="+mn-ea"/>
              <a:cs typeface="等线" charset="0"/>
              <a:sym typeface="汉仪旗黑-55简" panose="00020600040101010101" pitchFamily="18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1400" b="1" u="sng" dirty="0">
              <a:latin typeface="+mn-ea"/>
              <a:cs typeface="等线" charset="0"/>
              <a:sym typeface="汉仪旗黑-55简" panose="00020600040101010101" pitchFamily="18" charset="-122"/>
            </a:endParaRPr>
          </a:p>
          <a:p>
            <a:pPr marL="742950" lvl="1" indent="-285750" algn="just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动作：诱导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 Agent 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触发高权限工具（写库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/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发邮件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/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改配置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/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拉数据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/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转账）</a:t>
            </a:r>
            <a:endParaRPr lang="en-US" altLang="zh-CN" sz="1100" dirty="0">
              <a:latin typeface="+mn-ea"/>
              <a:cs typeface="等线" charset="0"/>
              <a:sym typeface="汉仪旗黑-55简" panose="00020600040101010101" pitchFamily="18" charset="-122"/>
            </a:endParaRPr>
          </a:p>
          <a:p>
            <a:pPr marL="742950" lvl="1" indent="-285750" algn="just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目标：把文本层面的操控升级成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“</a:t>
            </a: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真实行动</a:t>
            </a:r>
            <a:r>
              <a:rPr lang="en-US" altLang="zh-CN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”</a:t>
            </a:r>
            <a:endParaRPr lang="en-US" altLang="zh-CN" sz="1100" dirty="0">
              <a:latin typeface="+mn-ea"/>
              <a:cs typeface="等线" charset="0"/>
              <a:sym typeface="汉仪旗黑-55简" panose="00020600040101010101" pitchFamily="18" charset="-122"/>
            </a:endParaRPr>
          </a:p>
          <a:p>
            <a:pPr marL="742950" lvl="1" indent="-285750" algn="just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100" dirty="0">
                <a:latin typeface="+mn-ea"/>
                <a:cs typeface="等线" charset="0"/>
                <a:sym typeface="汉仪旗黑-55简" panose="00020600040101010101" pitchFamily="18" charset="-122"/>
              </a:rPr>
              <a:t>结果：哪怕只成功一次，也可能产生不可逆后果（改了配置、发出了邮件、创建了凭证）</a:t>
            </a:r>
            <a:endParaRPr lang="zh-CN" altLang="en-US" sz="1100" dirty="0">
              <a:latin typeface="+mn-ea"/>
              <a:cs typeface="等线" charset="0"/>
              <a:sym typeface="汉仪旗黑-55简" panose="00020600040101010101" pitchFamily="18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182171" y="1468720"/>
            <a:ext cx="143606" cy="143645"/>
            <a:chOff x="552449" y="1734343"/>
            <a:chExt cx="185895" cy="185895"/>
          </a:xfrm>
        </p:grpSpPr>
        <p:sp>
          <p:nvSpPr>
            <p:cNvPr id="39" name="椭圆 38"/>
            <p:cNvSpPr/>
            <p:nvPr/>
          </p:nvSpPr>
          <p:spPr>
            <a:xfrm>
              <a:off x="552449" y="1734343"/>
              <a:ext cx="185895" cy="185895"/>
            </a:xfrm>
            <a:prstGeom prst="ellipse">
              <a:avLst/>
            </a:prstGeom>
            <a:solidFill>
              <a:srgbClr val="9B1313"/>
            </a:solidFill>
            <a:ln w="19050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40" name="任意多边形: 形状 27"/>
            <p:cNvSpPr/>
            <p:nvPr/>
          </p:nvSpPr>
          <p:spPr>
            <a:xfrm>
              <a:off x="614148" y="1781175"/>
              <a:ext cx="75118" cy="86458"/>
            </a:xfrm>
            <a:custGeom>
              <a:avLst/>
              <a:gdLst>
                <a:gd name="connsiteX0" fmla="*/ 38144 w 889160"/>
                <a:gd name="connsiteY0" fmla="*/ 3467 h 1023391"/>
                <a:gd name="connsiteX1" fmla="*/ 876518 w 889160"/>
                <a:gd name="connsiteY1" fmla="*/ 489724 h 1023391"/>
                <a:gd name="connsiteX2" fmla="*/ 876518 w 889160"/>
                <a:gd name="connsiteY2" fmla="*/ 533668 h 1023391"/>
                <a:gd name="connsiteX3" fmla="*/ 38144 w 889160"/>
                <a:gd name="connsiteY3" fmla="*/ 1019925 h 1023391"/>
                <a:gd name="connsiteX4" fmla="*/ 0 w 889160"/>
                <a:gd name="connsiteY4" fmla="*/ 997953 h 1023391"/>
                <a:gd name="connsiteX5" fmla="*/ 0 w 889160"/>
                <a:gd name="connsiteY5" fmla="*/ 25439 h 1023391"/>
                <a:gd name="connsiteX6" fmla="*/ 38144 w 889160"/>
                <a:gd name="connsiteY6" fmla="*/ 3467 h 1023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9160" h="1023391">
                  <a:moveTo>
                    <a:pt x="38144" y="3467"/>
                  </a:moveTo>
                  <a:lnTo>
                    <a:pt x="876518" y="489724"/>
                  </a:lnTo>
                  <a:cubicBezTo>
                    <a:pt x="893375" y="499502"/>
                    <a:pt x="893375" y="523890"/>
                    <a:pt x="876518" y="533668"/>
                  </a:cubicBezTo>
                  <a:lnTo>
                    <a:pt x="38144" y="1019925"/>
                  </a:lnTo>
                  <a:cubicBezTo>
                    <a:pt x="21208" y="1029747"/>
                    <a:pt x="0" y="1017531"/>
                    <a:pt x="0" y="997953"/>
                  </a:cubicBezTo>
                  <a:lnTo>
                    <a:pt x="0" y="25439"/>
                  </a:lnTo>
                  <a:cubicBezTo>
                    <a:pt x="0" y="5861"/>
                    <a:pt x="21208" y="-6355"/>
                    <a:pt x="38144" y="3467"/>
                  </a:cubicBezTo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33" name="任意多边形: 形状 50"/>
          <p:cNvSpPr/>
          <p:nvPr/>
        </p:nvSpPr>
        <p:spPr>
          <a:xfrm>
            <a:off x="6041963" y="1408913"/>
            <a:ext cx="3371277" cy="308556"/>
          </a:xfrm>
          <a:custGeom>
            <a:avLst/>
            <a:gdLst>
              <a:gd name="connsiteX0" fmla="*/ 0 w 4210050"/>
              <a:gd name="connsiteY0" fmla="*/ 228600 h 228600"/>
              <a:gd name="connsiteX1" fmla="*/ 152400 w 4210050"/>
              <a:gd name="connsiteY1" fmla="*/ 0 h 228600"/>
              <a:gd name="connsiteX2" fmla="*/ 4210050 w 421005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0050" h="228600">
                <a:moveTo>
                  <a:pt x="0" y="228600"/>
                </a:moveTo>
                <a:lnTo>
                  <a:pt x="152400" y="0"/>
                </a:lnTo>
                <a:lnTo>
                  <a:pt x="4210050" y="0"/>
                </a:lnTo>
              </a:path>
            </a:pathLst>
          </a:custGeom>
          <a:noFill/>
          <a:ln w="12700" cap="flat" cmpd="sng" algn="ctr">
            <a:solidFill>
              <a:srgbClr val="9B1313"/>
            </a:solidFill>
            <a:prstDash val="dash"/>
            <a:miter lim="800000"/>
            <a:tailEnd type="oval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887630" y="4880023"/>
            <a:ext cx="5528327" cy="1556347"/>
            <a:chOff x="6312" y="1858"/>
            <a:chExt cx="10791" cy="3172"/>
          </a:xfrm>
        </p:grpSpPr>
        <p:grpSp>
          <p:nvGrpSpPr>
            <p:cNvPr id="21" name="组合 20"/>
            <p:cNvGrpSpPr/>
            <p:nvPr/>
          </p:nvGrpSpPr>
          <p:grpSpPr>
            <a:xfrm>
              <a:off x="6312" y="1858"/>
              <a:ext cx="10791" cy="3172"/>
              <a:chOff x="4522593" y="1471688"/>
              <a:chExt cx="6852812" cy="2014619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4571965" y="1471688"/>
                <a:ext cx="1293300" cy="1293300"/>
                <a:chOff x="4571965" y="1471688"/>
                <a:chExt cx="1293300" cy="1293300"/>
              </a:xfrm>
            </p:grpSpPr>
            <p:sp>
              <p:nvSpPr>
                <p:cNvPr id="30" name="椭圆 29"/>
                <p:cNvSpPr/>
                <p:nvPr/>
              </p:nvSpPr>
              <p:spPr>
                <a:xfrm>
                  <a:off x="4571965" y="1471688"/>
                  <a:ext cx="1293300" cy="1293300"/>
                </a:xfrm>
                <a:prstGeom prst="ellipse">
                  <a:avLst/>
                </a:prstGeom>
                <a:solidFill>
                  <a:sysClr val="window" lastClr="FFFFFF">
                    <a:alpha val="76000"/>
                  </a:sysClr>
                </a:solidFill>
                <a:ln w="635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 sz="160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>
                  <a:off x="4694491" y="1594215"/>
                  <a:ext cx="1048247" cy="1048246"/>
                </a:xfrm>
                <a:prstGeom prst="ellipse">
                  <a:avLst/>
                </a:prstGeom>
                <a:solidFill>
                  <a:srgbClr val="B10015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ysClr val="windowText" lastClr="00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24" name="文本框 23"/>
              <p:cNvSpPr txBox="1"/>
              <p:nvPr/>
            </p:nvSpPr>
            <p:spPr>
              <a:xfrm>
                <a:off x="4522593" y="1740639"/>
                <a:ext cx="1392044" cy="755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FFFFFF"/>
                    </a:solidFill>
                  </a:rPr>
                  <a:t>横向</a:t>
                </a:r>
                <a:endParaRPr lang="zh-CN" altLang="en-US" sz="1600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 sz="1600" dirty="0">
                    <a:solidFill>
                      <a:srgbClr val="FFFFFF"/>
                    </a:solidFill>
                  </a:rPr>
                  <a:t>移动</a:t>
                </a:r>
                <a:endParaRPr lang="en-US" altLang="zh-CN" sz="1600" dirty="0">
                  <a:solidFill>
                    <a:srgbClr val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6048081" y="1650008"/>
                <a:ext cx="5327324" cy="1836299"/>
                <a:chOff x="552449" y="1637123"/>
                <a:chExt cx="5327324" cy="1836299"/>
              </a:xfrm>
            </p:grpSpPr>
            <p:sp>
              <p:nvSpPr>
                <p:cNvPr id="26" name="文本框 25"/>
                <p:cNvSpPr txBox="1"/>
                <p:nvPr/>
              </p:nvSpPr>
              <p:spPr>
                <a:xfrm>
                  <a:off x="759465" y="1637123"/>
                  <a:ext cx="5120308" cy="18362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lnSpc>
                      <a:spcPct val="125000"/>
                    </a:lnSpc>
                  </a:pPr>
                  <a:r>
                    <a:rPr lang="en-US" altLang="zh-CN" sz="1400" b="1" u="sng" dirty="0">
                      <a:latin typeface="+mn-ea"/>
                    </a:rPr>
                    <a:t>4</a:t>
                  </a:r>
                  <a:r>
                    <a:rPr lang="zh-CN" altLang="en-US" sz="1400" b="1" u="sng" dirty="0">
                      <a:latin typeface="+mn-ea"/>
                    </a:rPr>
                    <a:t>）</a:t>
                  </a:r>
                  <a:r>
                    <a:rPr lang="zh-CN" altLang="en-US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横向移动：借工具</a:t>
                  </a:r>
                  <a:r>
                    <a:rPr lang="en-US" altLang="zh-CN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400" b="1" u="sng" dirty="0">
                      <a:latin typeface="+mn-ea"/>
                      <a:cs typeface="等线" charset="0"/>
                      <a:sym typeface="汉仪旗黑-55简" panose="00020600040101010101" pitchFamily="18" charset="-122"/>
                    </a:rPr>
                    <a:t>凭证访问更多系统</a:t>
                  </a:r>
                  <a:endParaRPr lang="zh-CN" altLang="en-US" sz="1400" b="1" u="sng" dirty="0">
                    <a:latin typeface="+mn-ea"/>
                    <a:cs typeface="等线" charset="0"/>
                    <a:sym typeface="汉仪旗黑-55简" panose="00020600040101010101" pitchFamily="18" charset="-122"/>
                  </a:endParaRPr>
                </a:p>
                <a:p>
                  <a:pPr marL="285750" indent="-2857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/>
                    <a:t>动作：利用已经拿到的工具能力</a:t>
                  </a:r>
                  <a:r>
                    <a:rPr lang="en-US" altLang="zh-CN" sz="1100" dirty="0"/>
                    <a:t>/</a:t>
                  </a:r>
                  <a:r>
                    <a:rPr lang="zh-CN" altLang="en-US" sz="1100" dirty="0"/>
                    <a:t>临时凭证</a:t>
                  </a:r>
                  <a:r>
                    <a:rPr lang="en-US" altLang="zh-CN" sz="1100" dirty="0"/>
                    <a:t>/</a:t>
                  </a:r>
                  <a:r>
                    <a:rPr lang="zh-CN" altLang="en-US" sz="1100" dirty="0"/>
                    <a:t>导出的信息，去碰更大权限域：</a:t>
                  </a:r>
                  <a:endParaRPr lang="en-US" altLang="zh-CN" sz="1100" dirty="0"/>
                </a:p>
                <a:p>
                  <a:pPr marL="742950" lvl="1" indent="-2857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/>
                    <a:t>从</a:t>
                  </a:r>
                  <a:r>
                    <a:rPr lang="en-US" altLang="zh-CN" sz="1100" dirty="0"/>
                    <a:t>“</a:t>
                  </a:r>
                  <a:r>
                    <a:rPr lang="zh-CN" altLang="en-US" sz="1100" dirty="0"/>
                    <a:t>工单系统</a:t>
                  </a:r>
                  <a:r>
                    <a:rPr lang="en-US" altLang="zh-CN" sz="1100" dirty="0"/>
                    <a:t>”</a:t>
                  </a:r>
                  <a:r>
                    <a:rPr lang="zh-CN" altLang="en-US" sz="1100" dirty="0"/>
                    <a:t>到</a:t>
                  </a:r>
                  <a:r>
                    <a:rPr lang="en-US" altLang="zh-CN" sz="1100" dirty="0"/>
                    <a:t>“</a:t>
                  </a:r>
                  <a:r>
                    <a:rPr lang="zh-CN" altLang="en-US" sz="1100" dirty="0"/>
                    <a:t>邮件</a:t>
                  </a:r>
                  <a:r>
                    <a:rPr lang="en-US" altLang="zh-CN" sz="1100" dirty="0"/>
                    <a:t>/</a:t>
                  </a:r>
                  <a:r>
                    <a:rPr lang="zh-CN" altLang="en-US" sz="1100" dirty="0"/>
                    <a:t>知识库</a:t>
                  </a:r>
                  <a:r>
                    <a:rPr lang="en-US" altLang="zh-CN" sz="1100" dirty="0"/>
                    <a:t>”</a:t>
                  </a:r>
                  <a:r>
                    <a:rPr lang="zh-CN" altLang="en-US" sz="1100" dirty="0"/>
                    <a:t>，再到</a:t>
                  </a:r>
                  <a:r>
                    <a:rPr lang="en-US" altLang="zh-CN" sz="1100" dirty="0"/>
                    <a:t>“</a:t>
                  </a:r>
                  <a:r>
                    <a:rPr lang="zh-CN" altLang="en-US" sz="1100" dirty="0"/>
                    <a:t>云控制台</a:t>
                  </a:r>
                  <a:r>
                    <a:rPr lang="en-US" altLang="zh-CN" sz="1100" dirty="0"/>
                    <a:t>/CI/CD”</a:t>
                  </a:r>
                  <a:endParaRPr lang="zh-CN" altLang="en-US" sz="1100" dirty="0"/>
                </a:p>
                <a:p>
                  <a:pPr marL="285750" indent="-2857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/>
                    <a:t>目标：扩大资产覆盖面（更多数据、更多密钥、更高权限）</a:t>
                  </a:r>
                  <a:endParaRPr lang="en-US" altLang="zh-CN" sz="1100" dirty="0"/>
                </a:p>
                <a:p>
                  <a:pPr marL="285750" indent="-2857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/>
                    <a:t>结果：影响面从单点变成多系统连锁</a:t>
                  </a:r>
                  <a:endParaRPr lang="zh-CN" altLang="en-US" sz="1100" dirty="0"/>
                </a:p>
              </p:txBody>
            </p:sp>
            <p:grpSp>
              <p:nvGrpSpPr>
                <p:cNvPr id="27" name="组合 26"/>
                <p:cNvGrpSpPr/>
                <p:nvPr/>
              </p:nvGrpSpPr>
              <p:grpSpPr>
                <a:xfrm>
                  <a:off x="552449" y="1734343"/>
                  <a:ext cx="185895" cy="185895"/>
                  <a:chOff x="552449" y="1734343"/>
                  <a:chExt cx="185895" cy="185895"/>
                </a:xfrm>
              </p:grpSpPr>
              <p:sp>
                <p:nvSpPr>
                  <p:cNvPr id="28" name="椭圆 27"/>
                  <p:cNvSpPr/>
                  <p:nvPr/>
                </p:nvSpPr>
                <p:spPr>
                  <a:xfrm>
                    <a:off x="552449" y="1734343"/>
                    <a:ext cx="185895" cy="185895"/>
                  </a:xfrm>
                  <a:prstGeom prst="ellipse">
                    <a:avLst/>
                  </a:prstGeom>
                  <a:solidFill>
                    <a:srgbClr val="9B1313"/>
                  </a:solidFill>
                  <a:ln w="19050" cap="flat" cmpd="sng" algn="ctr">
                    <a:gradFill>
                      <a:gsLst>
                        <a:gs pos="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  <p:sp>
                <p:nvSpPr>
                  <p:cNvPr id="29" name="任意多边形: 形状 27"/>
                  <p:cNvSpPr/>
                  <p:nvPr/>
                </p:nvSpPr>
                <p:spPr>
                  <a:xfrm>
                    <a:off x="614148" y="1781175"/>
                    <a:ext cx="75118" cy="86458"/>
                  </a:xfrm>
                  <a:custGeom>
                    <a:avLst/>
                    <a:gdLst>
                      <a:gd name="connsiteX0" fmla="*/ 38144 w 889160"/>
                      <a:gd name="connsiteY0" fmla="*/ 3467 h 1023391"/>
                      <a:gd name="connsiteX1" fmla="*/ 876518 w 889160"/>
                      <a:gd name="connsiteY1" fmla="*/ 489724 h 1023391"/>
                      <a:gd name="connsiteX2" fmla="*/ 876518 w 889160"/>
                      <a:gd name="connsiteY2" fmla="*/ 533668 h 1023391"/>
                      <a:gd name="connsiteX3" fmla="*/ 38144 w 889160"/>
                      <a:gd name="connsiteY3" fmla="*/ 1019925 h 1023391"/>
                      <a:gd name="connsiteX4" fmla="*/ 0 w 889160"/>
                      <a:gd name="connsiteY4" fmla="*/ 997953 h 1023391"/>
                      <a:gd name="connsiteX5" fmla="*/ 0 w 889160"/>
                      <a:gd name="connsiteY5" fmla="*/ 25439 h 1023391"/>
                      <a:gd name="connsiteX6" fmla="*/ 38144 w 889160"/>
                      <a:gd name="connsiteY6" fmla="*/ 3467 h 1023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89160" h="1023391">
                        <a:moveTo>
                          <a:pt x="38144" y="3467"/>
                        </a:moveTo>
                        <a:lnTo>
                          <a:pt x="876518" y="489724"/>
                        </a:lnTo>
                        <a:cubicBezTo>
                          <a:pt x="893375" y="499502"/>
                          <a:pt x="893375" y="523890"/>
                          <a:pt x="876518" y="533668"/>
                        </a:cubicBezTo>
                        <a:lnTo>
                          <a:pt x="38144" y="1019925"/>
                        </a:lnTo>
                        <a:cubicBezTo>
                          <a:pt x="21208" y="1029747"/>
                          <a:pt x="0" y="1017531"/>
                          <a:pt x="0" y="997953"/>
                        </a:cubicBezTo>
                        <a:lnTo>
                          <a:pt x="0" y="25439"/>
                        </a:lnTo>
                        <a:cubicBezTo>
                          <a:pt x="0" y="5861"/>
                          <a:pt x="21208" y="-6355"/>
                          <a:pt x="38144" y="3467"/>
                        </a:cubicBezTo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</p:grpSp>
          </p:grpSp>
        </p:grpSp>
        <p:sp>
          <p:nvSpPr>
            <p:cNvPr id="22" name="任意多边形: 形状 50"/>
            <p:cNvSpPr/>
            <p:nvPr/>
          </p:nvSpPr>
          <p:spPr>
            <a:xfrm>
              <a:off x="8261" y="2152"/>
              <a:ext cx="6872" cy="360"/>
            </a:xfrm>
            <a:custGeom>
              <a:avLst/>
              <a:gdLst>
                <a:gd name="connsiteX0" fmla="*/ 0 w 4210050"/>
                <a:gd name="connsiteY0" fmla="*/ 228600 h 228600"/>
                <a:gd name="connsiteX1" fmla="*/ 152400 w 4210050"/>
                <a:gd name="connsiteY1" fmla="*/ 0 h 228600"/>
                <a:gd name="connsiteX2" fmla="*/ 4210050 w 421005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0" h="228600">
                  <a:moveTo>
                    <a:pt x="0" y="228600"/>
                  </a:moveTo>
                  <a:lnTo>
                    <a:pt x="152400" y="0"/>
                  </a:lnTo>
                  <a:lnTo>
                    <a:pt x="4210050" y="0"/>
                  </a:lnTo>
                </a:path>
              </a:pathLst>
            </a:custGeom>
            <a:noFill/>
            <a:ln w="12700" cap="flat" cmpd="sng" algn="ctr">
              <a:solidFill>
                <a:srgbClr val="9B1313"/>
              </a:solidFill>
              <a:prstDash val="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flipH="1">
            <a:off x="545268" y="4578198"/>
            <a:ext cx="4333634" cy="1761275"/>
            <a:chOff x="6312" y="1858"/>
            <a:chExt cx="8834" cy="3590"/>
          </a:xfrm>
        </p:grpSpPr>
        <p:grpSp>
          <p:nvGrpSpPr>
            <p:cNvPr id="10" name="组合 9"/>
            <p:cNvGrpSpPr/>
            <p:nvPr/>
          </p:nvGrpSpPr>
          <p:grpSpPr>
            <a:xfrm>
              <a:off x="6312" y="1858"/>
              <a:ext cx="8834" cy="3590"/>
              <a:chOff x="4522593" y="1471688"/>
              <a:chExt cx="5609534" cy="2278887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4571965" y="1471688"/>
                <a:ext cx="1293300" cy="1293300"/>
                <a:chOff x="4571965" y="1471688"/>
                <a:chExt cx="1293300" cy="1293300"/>
              </a:xfrm>
            </p:grpSpPr>
            <p:sp>
              <p:nvSpPr>
                <p:cNvPr id="19" name="椭圆 18"/>
                <p:cNvSpPr/>
                <p:nvPr/>
              </p:nvSpPr>
              <p:spPr>
                <a:xfrm>
                  <a:off x="4571965" y="1471688"/>
                  <a:ext cx="1293300" cy="1293300"/>
                </a:xfrm>
                <a:prstGeom prst="ellipse">
                  <a:avLst/>
                </a:prstGeom>
                <a:solidFill>
                  <a:sysClr val="window" lastClr="FFFFFF">
                    <a:alpha val="76000"/>
                  </a:sysClr>
                </a:solidFill>
                <a:ln w="635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 sz="160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4694492" y="1594214"/>
                  <a:ext cx="1048247" cy="1048248"/>
                </a:xfrm>
                <a:prstGeom prst="ellipse">
                  <a:avLst/>
                </a:prstGeom>
                <a:solidFill>
                  <a:srgbClr val="B10015"/>
                </a:soli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ysClr val="windowText" lastClr="00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>
              <a:xfrm>
                <a:off x="4522593" y="1740805"/>
                <a:ext cx="1392044" cy="755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ysClr val="window" lastClr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等线" charset="0"/>
                    <a:sym typeface="汉仪旗黑-55简" panose="00020600040101010101" pitchFamily="18" charset="-122"/>
                  </a:rPr>
                  <a:t>外泄</a:t>
                </a:r>
                <a:endParaRPr lang="zh-CN" altLang="en-US" sz="16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charset="0"/>
                  <a:sym typeface="汉仪旗黑-55简" panose="00020600040101010101" pitchFamily="18" charset="-122"/>
                </a:endParaRPr>
              </a:p>
              <a:p>
                <a:pPr algn="ctr"/>
                <a:r>
                  <a:rPr lang="zh-CN" altLang="en-US" sz="1600" dirty="0">
                    <a:solidFill>
                      <a:sysClr val="window" lastClr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等线" charset="0"/>
                    <a:sym typeface="汉仪旗黑-55简" panose="00020600040101010101" pitchFamily="18" charset="-122"/>
                  </a:rPr>
                  <a:t>破坏</a:t>
                </a:r>
                <a:endParaRPr lang="zh-CN" altLang="en-US" sz="16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>
                <a:off x="5775763" y="1566717"/>
                <a:ext cx="4356364" cy="2183858"/>
                <a:chOff x="280131" y="1553832"/>
                <a:chExt cx="4356364" cy="2183858"/>
              </a:xfrm>
            </p:grpSpPr>
            <p:sp>
              <p:nvSpPr>
                <p:cNvPr id="15" name="文本框 14"/>
                <p:cNvSpPr txBox="1"/>
                <p:nvPr/>
              </p:nvSpPr>
              <p:spPr>
                <a:xfrm>
                  <a:off x="418220" y="1553832"/>
                  <a:ext cx="4218275" cy="21838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>
                    <a:lnSpc>
                      <a:spcPct val="125000"/>
                    </a:lnSpc>
                  </a:pPr>
                  <a:r>
                    <a:rPr lang="en-US" altLang="zh-CN" sz="1400" b="1" u="sng" dirty="0">
                      <a:latin typeface="微软雅黑" charset="0"/>
                      <a:ea typeface="微软雅黑" charset="0"/>
                      <a:cs typeface="微软雅黑" charset="0"/>
                    </a:rPr>
                    <a:t>5)</a:t>
                  </a:r>
                  <a:r>
                    <a:rPr lang="zh-CN" altLang="en-US" sz="1400" b="1" u="sng" dirty="0">
                      <a:latin typeface="微软雅黑" charset="0"/>
                      <a:ea typeface="微软雅黑" charset="0"/>
                      <a:cs typeface="微软雅黑" charset="0"/>
                    </a:rPr>
                    <a:t>外泄</a:t>
                  </a:r>
                  <a:r>
                    <a:rPr lang="en-US" altLang="zh-CN" sz="1400" b="1" u="sng" dirty="0">
                      <a:latin typeface="微软雅黑" charset="0"/>
                      <a:ea typeface="微软雅黑" charset="0"/>
                      <a:cs typeface="微软雅黑" charset="0"/>
                    </a:rPr>
                    <a:t>/</a:t>
                  </a:r>
                  <a:r>
                    <a:rPr lang="zh-CN" altLang="en-US" sz="1400" b="1" u="sng" dirty="0">
                      <a:latin typeface="微软雅黑" charset="0"/>
                      <a:ea typeface="微软雅黑" charset="0"/>
                      <a:cs typeface="微软雅黑" charset="0"/>
                    </a:rPr>
                    <a:t>破坏：数据泄漏、资金损失、生产事故</a:t>
                  </a:r>
                  <a:endParaRPr lang="en-US" altLang="zh-CN" sz="1400" b="1" u="sng" dirty="0">
                    <a:latin typeface="微软雅黑" charset="0"/>
                    <a:ea typeface="微软雅黑" charset="0"/>
                    <a:cs typeface="微软雅黑" charset="0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动作：导出敏感数据、发送到外部、触发支付、删资源、植入后门</a:t>
                  </a:r>
                  <a:endParaRPr lang="en-US" altLang="zh-CN" sz="1100" dirty="0"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目标：最终变现或破坏（钱</a:t>
                  </a:r>
                  <a:r>
                    <a:rPr lang="en-US" altLang="zh-CN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数据</a:t>
                  </a:r>
                  <a:r>
                    <a:rPr lang="en-US" altLang="zh-CN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可用性</a:t>
                  </a:r>
                  <a:r>
                    <a:rPr lang="en-US" altLang="zh-CN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/</a:t>
                  </a: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声誉）</a:t>
                  </a:r>
                  <a:endParaRPr lang="en-US" altLang="zh-CN" sz="1100" dirty="0"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  <a:p>
                  <a:pPr marL="171450" indent="-171450" algn="just">
                    <a:lnSpc>
                      <a:spcPct val="125000"/>
                    </a:lnSpc>
                    <a:buFont typeface="Arial" panose="020B0604020202090204" pitchFamily="34" charset="0"/>
                    <a:buChar char="•"/>
                  </a:pP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结果：真正的</a:t>
                  </a:r>
                  <a:r>
                    <a:rPr lang="en-US" altLang="zh-CN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“</a:t>
                  </a: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安全事故</a:t>
                  </a:r>
                  <a:r>
                    <a:rPr lang="en-US" altLang="zh-CN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”</a:t>
                  </a:r>
                  <a:r>
                    <a:rPr lang="zh-CN" altLang="en-US" sz="1100" dirty="0">
                      <a:latin typeface="+mn-ea"/>
                      <a:cs typeface="+mn-ea"/>
                      <a:sym typeface="汉仪旗黑-55简" panose="00020600040101010101" pitchFamily="18" charset="-122"/>
                    </a:rPr>
                    <a:t>落地（合规、财务、生产都可能中招）</a:t>
                  </a:r>
                  <a:endParaRPr lang="zh-CN" altLang="en-US" sz="1100" dirty="0"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  <p:grpSp>
              <p:nvGrpSpPr>
                <p:cNvPr id="16" name="组合 15"/>
                <p:cNvGrpSpPr/>
                <p:nvPr/>
              </p:nvGrpSpPr>
              <p:grpSpPr>
                <a:xfrm>
                  <a:off x="280131" y="1613676"/>
                  <a:ext cx="185895" cy="185895"/>
                  <a:chOff x="280131" y="1613676"/>
                  <a:chExt cx="185895" cy="185895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280131" y="1613676"/>
                    <a:ext cx="185895" cy="185895"/>
                  </a:xfrm>
                  <a:prstGeom prst="ellipse">
                    <a:avLst/>
                  </a:prstGeom>
                  <a:solidFill>
                    <a:srgbClr val="9B1313"/>
                  </a:solidFill>
                  <a:ln w="19050" cap="flat" cmpd="sng" algn="ctr">
                    <a:gradFill>
                      <a:gsLst>
                        <a:gs pos="0">
                          <a:sysClr val="window" lastClr="FFFFFF">
                            <a:lumMod val="85000"/>
                          </a:sysClr>
                        </a:gs>
                        <a:gs pos="100000">
                          <a:sysClr val="window" lastClr="FFFFFF">
                            <a:lumMod val="95000"/>
                          </a:sysClr>
                        </a:gs>
                      </a:gsLst>
                      <a:lin ang="5400000" scaled="1"/>
                    </a:gra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  <p:sp>
                <p:nvSpPr>
                  <p:cNvPr id="18" name="任意多边形: 形状 27"/>
                  <p:cNvSpPr/>
                  <p:nvPr/>
                </p:nvSpPr>
                <p:spPr>
                  <a:xfrm>
                    <a:off x="341831" y="1660508"/>
                    <a:ext cx="75118" cy="86458"/>
                  </a:xfrm>
                  <a:custGeom>
                    <a:avLst/>
                    <a:gdLst>
                      <a:gd name="connsiteX0" fmla="*/ 38144 w 889160"/>
                      <a:gd name="connsiteY0" fmla="*/ 3467 h 1023391"/>
                      <a:gd name="connsiteX1" fmla="*/ 876518 w 889160"/>
                      <a:gd name="connsiteY1" fmla="*/ 489724 h 1023391"/>
                      <a:gd name="connsiteX2" fmla="*/ 876518 w 889160"/>
                      <a:gd name="connsiteY2" fmla="*/ 533668 h 1023391"/>
                      <a:gd name="connsiteX3" fmla="*/ 38144 w 889160"/>
                      <a:gd name="connsiteY3" fmla="*/ 1019925 h 1023391"/>
                      <a:gd name="connsiteX4" fmla="*/ 0 w 889160"/>
                      <a:gd name="connsiteY4" fmla="*/ 997953 h 1023391"/>
                      <a:gd name="connsiteX5" fmla="*/ 0 w 889160"/>
                      <a:gd name="connsiteY5" fmla="*/ 25439 h 1023391"/>
                      <a:gd name="connsiteX6" fmla="*/ 38144 w 889160"/>
                      <a:gd name="connsiteY6" fmla="*/ 3467 h 10233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89160" h="1023391">
                        <a:moveTo>
                          <a:pt x="38144" y="3467"/>
                        </a:moveTo>
                        <a:lnTo>
                          <a:pt x="876518" y="489724"/>
                        </a:lnTo>
                        <a:cubicBezTo>
                          <a:pt x="893375" y="499502"/>
                          <a:pt x="893375" y="523890"/>
                          <a:pt x="876518" y="533668"/>
                        </a:cubicBezTo>
                        <a:lnTo>
                          <a:pt x="38144" y="1019925"/>
                        </a:lnTo>
                        <a:cubicBezTo>
                          <a:pt x="21208" y="1029747"/>
                          <a:pt x="0" y="1017531"/>
                          <a:pt x="0" y="997953"/>
                        </a:cubicBezTo>
                        <a:lnTo>
                          <a:pt x="0" y="25439"/>
                        </a:lnTo>
                        <a:cubicBezTo>
                          <a:pt x="0" y="5861"/>
                          <a:pt x="21208" y="-6355"/>
                          <a:pt x="38144" y="3467"/>
                        </a:cubicBezTo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endParaRPr>
                  </a:p>
                </p:txBody>
              </p:sp>
            </p:grpSp>
          </p:grpSp>
        </p:grpSp>
        <p:sp>
          <p:nvSpPr>
            <p:cNvPr id="11" name="任意多边形: 形状 50"/>
            <p:cNvSpPr/>
            <p:nvPr/>
          </p:nvSpPr>
          <p:spPr>
            <a:xfrm>
              <a:off x="8033" y="1970"/>
              <a:ext cx="6872" cy="360"/>
            </a:xfrm>
            <a:custGeom>
              <a:avLst/>
              <a:gdLst>
                <a:gd name="connsiteX0" fmla="*/ 0 w 4210050"/>
                <a:gd name="connsiteY0" fmla="*/ 228600 h 228600"/>
                <a:gd name="connsiteX1" fmla="*/ 152400 w 4210050"/>
                <a:gd name="connsiteY1" fmla="*/ 0 h 228600"/>
                <a:gd name="connsiteX2" fmla="*/ 4210050 w 421005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10050" h="228600">
                  <a:moveTo>
                    <a:pt x="0" y="228600"/>
                  </a:moveTo>
                  <a:lnTo>
                    <a:pt x="152400" y="0"/>
                  </a:lnTo>
                  <a:lnTo>
                    <a:pt x="4210050" y="0"/>
                  </a:lnTo>
                </a:path>
              </a:pathLst>
            </a:custGeom>
            <a:noFill/>
            <a:ln w="12700" cap="flat" cmpd="sng" algn="ctr">
              <a:solidFill>
                <a:srgbClr val="9B1313"/>
              </a:solidFill>
              <a:prstDash val="dash"/>
              <a:miter lim="800000"/>
              <a:tailEnd type="oval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工具调用安全与可落地控制面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7891" y="441479"/>
            <a:ext cx="806132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工具调用的</a:t>
            </a:r>
            <a:r>
              <a:rPr lang="en-US" altLang="zh-CN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 AuthN/AuthZ</a:t>
            </a: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最小权限与能力隔离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84" name="组合 83"/>
          <p:cNvGrpSpPr/>
          <p:nvPr/>
        </p:nvGrpSpPr>
        <p:grpSpPr>
          <a:xfrm rot="0">
            <a:off x="1027430" y="1198880"/>
            <a:ext cx="4531360" cy="4719320"/>
            <a:chOff x="758046" y="1526088"/>
            <a:chExt cx="4531359" cy="4719413"/>
          </a:xfrm>
        </p:grpSpPr>
        <p:sp>
          <p:nvSpPr>
            <p:cNvPr id="98" name="矩形 97"/>
            <p:cNvSpPr/>
            <p:nvPr/>
          </p:nvSpPr>
          <p:spPr>
            <a:xfrm>
              <a:off x="758046" y="1638300"/>
              <a:ext cx="4531359" cy="4607201"/>
            </a:xfrm>
            <a:prstGeom prst="rect">
              <a:avLst/>
            </a:prstGeom>
            <a:gradFill flip="none" rotWithShape="1">
              <a:gsLst>
                <a:gs pos="66000">
                  <a:sysClr val="window" lastClr="FFFFFF"/>
                </a:gs>
                <a:gs pos="0">
                  <a:srgbClr val="9B1313">
                    <a:lumMod val="11000"/>
                    <a:lumOff val="89000"/>
                  </a:srgbClr>
                </a:gs>
              </a:gsLst>
              <a:lin ang="16200000" scaled="1"/>
              <a:tileRect/>
            </a:gradFill>
            <a:ln w="3175" cap="flat" cmpd="sng" algn="ctr">
              <a:gradFill>
                <a:gsLst>
                  <a:gs pos="0">
                    <a:srgbClr val="29477E">
                      <a:alpha val="0"/>
                    </a:srgbClr>
                  </a:gs>
                  <a:gs pos="100000">
                    <a:srgbClr val="1A2E52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17" name="矩形: 圆角 22"/>
            <p:cNvSpPr/>
            <p:nvPr/>
          </p:nvSpPr>
          <p:spPr>
            <a:xfrm>
              <a:off x="1655440" y="1526088"/>
              <a:ext cx="2735580" cy="461665"/>
            </a:xfrm>
            <a:prstGeom prst="roundRect">
              <a:avLst>
                <a:gd name="adj" fmla="val 50000"/>
              </a:avLst>
            </a:prstGeom>
            <a:solidFill>
              <a:srgbClr val="294981"/>
            </a:solidFill>
            <a:ln w="31750" cap="flat" cmpd="sng" algn="ctr">
              <a:solidFill>
                <a:srgbClr val="294981"/>
              </a:solidFill>
              <a:prstDash val="solid"/>
              <a:miter lim="800000"/>
            </a:ln>
            <a:effectLst>
              <a:outerShdw blurRad="127000" dist="152400" dir="2700000" algn="tl" rotWithShape="0">
                <a:srgbClr val="9B1313">
                  <a:lumMod val="75000"/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AuthN vs AuthZ</a:t>
              </a:r>
              <a:endParaRPr lang="en-US" altLang="zh-CN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100" name="组合 99"/>
            <p:cNvGrpSpPr/>
            <p:nvPr/>
          </p:nvGrpSpPr>
          <p:grpSpPr>
            <a:xfrm>
              <a:off x="1044892" y="2426319"/>
              <a:ext cx="4092575" cy="915369"/>
              <a:chOff x="1044892" y="2426319"/>
              <a:chExt cx="4092575" cy="915369"/>
            </a:xfrm>
          </p:grpSpPr>
          <p:sp>
            <p:nvSpPr>
              <p:cNvPr id="113" name="椭圆 112"/>
              <p:cNvSpPr/>
              <p:nvPr/>
            </p:nvSpPr>
            <p:spPr>
              <a:xfrm>
                <a:off x="1105459" y="2465882"/>
                <a:ext cx="410434" cy="410434"/>
              </a:xfrm>
              <a:prstGeom prst="ellipse">
                <a:avLst/>
              </a:prstGeom>
              <a:solidFill>
                <a:srgbClr val="294981"/>
              </a:solidFill>
              <a:ln w="31750" cap="flat" cmpd="sng" algn="ctr">
                <a:gradFill>
                  <a:gsLst>
                    <a:gs pos="0">
                      <a:srgbClr val="9B1313">
                        <a:lumMod val="10000"/>
                        <a:lumOff val="90000"/>
                      </a:srgbClr>
                    </a:gs>
                    <a:gs pos="100000">
                      <a:sysClr val="window" lastClr="FFFFFF"/>
                    </a:gs>
                  </a:gsLst>
                  <a:lin ang="1200000" scaled="0"/>
                </a:gradFill>
                <a:prstDash val="solid"/>
                <a:miter lim="800000"/>
              </a:ln>
              <a:effectLst>
                <a:outerShdw blurRad="127000" dist="152400" dir="2700000" algn="tl" rotWithShape="0">
                  <a:srgbClr val="9B1313">
                    <a:lumMod val="75000"/>
                    <a:alpha val="16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4" name="文本框 113"/>
              <p:cNvSpPr txBox="1"/>
              <p:nvPr/>
            </p:nvSpPr>
            <p:spPr>
              <a:xfrm>
                <a:off x="1655440" y="2426319"/>
                <a:ext cx="3411235" cy="847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>
                    <a:latin typeface="+mn-ea"/>
                  </a:rPr>
                  <a:t>AuthN</a:t>
                </a:r>
                <a:r>
                  <a:rPr lang="zh-CN" altLang="en-US" sz="1400" b="1" dirty="0">
                    <a:latin typeface="+mn-ea"/>
                  </a:rPr>
                  <a:t>（</a:t>
                </a:r>
                <a:r>
                  <a:rPr lang="en-US" altLang="zh-CN" sz="1400" b="1" dirty="0">
                    <a:latin typeface="+mn-ea"/>
                  </a:rPr>
                  <a:t>Authentication</a:t>
                </a:r>
                <a:r>
                  <a:rPr lang="zh-CN" altLang="en-US" sz="1400" b="1" dirty="0">
                    <a:latin typeface="+mn-ea"/>
                  </a:rPr>
                  <a:t>）</a:t>
                </a:r>
                <a:r>
                  <a:rPr lang="en-US" altLang="zh-CN" sz="1400" b="1" dirty="0">
                    <a:latin typeface="+mn-ea"/>
                  </a:rPr>
                  <a:t>= </a:t>
                </a:r>
                <a:r>
                  <a:rPr lang="zh-CN" altLang="en-US" sz="1400" b="1" dirty="0">
                    <a:latin typeface="+mn-ea"/>
                  </a:rPr>
                  <a:t>你是谁</a:t>
                </a:r>
                <a:endParaRPr lang="zh-CN" altLang="en-US" sz="1400" b="1" dirty="0">
                  <a:latin typeface="+mn-ea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sz="900" b="1" dirty="0">
                  <a:latin typeface="+mn-ea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工具网关要知道：是谁在发起调用（用户</a:t>
                </a:r>
                <a:r>
                  <a:rPr lang="en-US" altLang="zh-CN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租户</a:t>
                </a:r>
                <a:r>
                  <a:rPr lang="en-US" altLang="zh-CN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/Agent</a:t>
                </a: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实例</a:t>
                </a:r>
                <a:r>
                  <a:rPr lang="en-US" altLang="zh-CN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任务</a:t>
                </a:r>
                <a:r>
                  <a:rPr lang="en-US" altLang="zh-CN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ID</a:t>
                </a: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），以及这次调用来自哪个会话</a:t>
                </a:r>
                <a:r>
                  <a:rPr lang="en-US" altLang="zh-CN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900" dirty="0">
                    <a:latin typeface="+mn-ea"/>
                    <a:cs typeface="+mn-ea"/>
                    <a:sym typeface="汉仪旗黑-55简" panose="00020600040101010101" pitchFamily="18" charset="-122"/>
                  </a:rPr>
                  <a:t>哪条指令链</a:t>
                </a:r>
                <a:endParaRPr lang="zh-CN" altLang="en-US" sz="900" dirty="0">
                  <a:latin typeface="+mn-ea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1105459" y="2498431"/>
                <a:ext cx="4104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1</a:t>
                </a:r>
                <a:endParaRPr lang="zh-CN" altLang="en-US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16" name="直接连接符 115"/>
              <p:cNvCxnSpPr/>
              <p:nvPr/>
            </p:nvCxnSpPr>
            <p:spPr>
              <a:xfrm>
                <a:off x="1044892" y="3341688"/>
                <a:ext cx="4092575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29498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1" name="组合 100"/>
            <p:cNvGrpSpPr/>
            <p:nvPr/>
          </p:nvGrpSpPr>
          <p:grpSpPr>
            <a:xfrm>
              <a:off x="1044892" y="3588369"/>
              <a:ext cx="4092575" cy="915369"/>
              <a:chOff x="1044892" y="2426319"/>
              <a:chExt cx="4092575" cy="915369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1105459" y="2478582"/>
                <a:ext cx="410434" cy="410434"/>
              </a:xfrm>
              <a:prstGeom prst="ellipse">
                <a:avLst/>
              </a:prstGeom>
              <a:solidFill>
                <a:srgbClr val="294981"/>
              </a:solidFill>
              <a:ln w="31750" cap="flat" cmpd="sng" algn="ctr">
                <a:gradFill>
                  <a:gsLst>
                    <a:gs pos="0">
                      <a:srgbClr val="9B1313">
                        <a:lumMod val="10000"/>
                        <a:lumOff val="90000"/>
                      </a:srgbClr>
                    </a:gs>
                    <a:gs pos="100000">
                      <a:sysClr val="window" lastClr="FFFFFF"/>
                    </a:gs>
                  </a:gsLst>
                  <a:lin ang="1200000" scaled="0"/>
                </a:gradFill>
                <a:prstDash val="solid"/>
                <a:miter lim="800000"/>
              </a:ln>
              <a:effectLst>
                <a:outerShdw blurRad="127000" dist="152400" dir="2700000" algn="tl" rotWithShape="0">
                  <a:srgbClr val="9B1313">
                    <a:lumMod val="75000"/>
                    <a:alpha val="16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655127" y="2426319"/>
                <a:ext cx="3482340" cy="847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1400" b="1" dirty="0">
                    <a:latin typeface="+mn-ea"/>
                  </a:rPr>
                  <a:t>AuthZ</a:t>
                </a:r>
                <a:r>
                  <a:rPr lang="zh-CN" altLang="en-US" sz="1400" b="1" dirty="0">
                    <a:latin typeface="+mn-ea"/>
                  </a:rPr>
                  <a:t>（</a:t>
                </a:r>
                <a:r>
                  <a:rPr lang="en-US" altLang="zh-CN" sz="1400" b="1" dirty="0">
                    <a:latin typeface="+mn-ea"/>
                  </a:rPr>
                  <a:t>Authorization</a:t>
                </a:r>
                <a:r>
                  <a:rPr lang="zh-CN" altLang="en-US" sz="1400" b="1" dirty="0">
                    <a:latin typeface="+mn-ea"/>
                  </a:rPr>
                  <a:t>）</a:t>
                </a:r>
                <a:r>
                  <a:rPr lang="en-US" altLang="zh-CN" sz="1400" b="1" dirty="0">
                    <a:latin typeface="+mn-ea"/>
                  </a:rPr>
                  <a:t>= </a:t>
                </a:r>
                <a:r>
                  <a:rPr lang="zh-CN" altLang="en-US" sz="1400" b="1" dirty="0">
                    <a:latin typeface="+mn-ea"/>
                  </a:rPr>
                  <a:t>你能做什么</a:t>
                </a:r>
                <a:endParaRPr lang="zh-CN" altLang="en-US" sz="1400" dirty="0">
                  <a:latin typeface="+mn-ea"/>
                </a:endParaRPr>
              </a:p>
              <a:p>
                <a:pPr indent="0" algn="just">
                  <a:lnSpc>
                    <a:spcPct val="120000"/>
                  </a:lnSpc>
                  <a:buFont typeface="Wingdings" panose="05000000000000000000" pitchFamily="2" charset="2"/>
                  <a:buNone/>
                </a:pPr>
                <a:endPara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indent="0" algn="just">
                  <a:lnSpc>
                    <a:spcPct val="12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不仅是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能不能调用某工具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，更是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能调用哪些方法、哪些参数范围、哪些资源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（细粒度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scope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）</a:t>
                </a:r>
                <a:endPara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105459" y="2476206"/>
                <a:ext cx="4104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2</a:t>
                </a:r>
                <a:endParaRPr lang="zh-CN" altLang="en-US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12" name="直接连接符 111"/>
              <p:cNvCxnSpPr/>
              <p:nvPr/>
            </p:nvCxnSpPr>
            <p:spPr>
              <a:xfrm>
                <a:off x="1044892" y="3341688"/>
                <a:ext cx="4092575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29498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2" name="组合 101"/>
            <p:cNvGrpSpPr/>
            <p:nvPr/>
          </p:nvGrpSpPr>
          <p:grpSpPr>
            <a:xfrm>
              <a:off x="1044892" y="4750419"/>
              <a:ext cx="4092575" cy="939782"/>
              <a:chOff x="1044892" y="2426319"/>
              <a:chExt cx="4092575" cy="939782"/>
            </a:xfrm>
          </p:grpSpPr>
          <p:sp>
            <p:nvSpPr>
              <p:cNvPr id="105" name="椭圆 104"/>
              <p:cNvSpPr/>
              <p:nvPr/>
            </p:nvSpPr>
            <p:spPr>
              <a:xfrm>
                <a:off x="1105459" y="2465882"/>
                <a:ext cx="410434" cy="410434"/>
              </a:xfrm>
              <a:prstGeom prst="ellipse">
                <a:avLst/>
              </a:prstGeom>
              <a:solidFill>
                <a:srgbClr val="294981"/>
              </a:solidFill>
              <a:ln w="31750" cap="flat" cmpd="sng" algn="ctr">
                <a:gradFill>
                  <a:gsLst>
                    <a:gs pos="0">
                      <a:srgbClr val="9B1313">
                        <a:lumMod val="10000"/>
                        <a:lumOff val="90000"/>
                      </a:srgbClr>
                    </a:gs>
                    <a:gs pos="100000">
                      <a:sysClr val="window" lastClr="FFFFFF"/>
                    </a:gs>
                  </a:gsLst>
                  <a:lin ang="1200000" scaled="0"/>
                </a:gradFill>
                <a:prstDash val="solid"/>
                <a:miter lim="800000"/>
              </a:ln>
              <a:effectLst>
                <a:outerShdw blurRad="127000" dist="152400" dir="2700000" algn="tl" rotWithShape="0">
                  <a:srgbClr val="9B1313">
                    <a:lumMod val="75000"/>
                    <a:alpha val="16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1655440" y="2426319"/>
                <a:ext cx="3411235" cy="939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400" b="1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核心：</a:t>
                </a:r>
                <a:endParaRPr lang="zh-CN" altLang="en-US" sz="14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algn="just">
                  <a:lnSpc>
                    <a:spcPct val="120000"/>
                  </a:lnSpc>
                </a:pPr>
                <a:endParaRPr lang="zh-CN" altLang="en-US" sz="14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Agent 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的权限不是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给一个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token 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就完了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，而是每次</a:t>
                </a:r>
                <a:r>
                  <a:rPr lang="en-US" altLang="zh-CN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tool-call </a:t>
                </a:r>
                <a:r>
                  <a:rPr lang="zh-CN" altLang="en-US" sz="9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都要带着可验证身份、可审计上下文和可约束的权限范围</a:t>
                </a:r>
                <a:endPara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105459" y="2479381"/>
                <a:ext cx="4104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3</a:t>
                </a:r>
                <a:endParaRPr lang="zh-CN" altLang="en-US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08" name="直接连接符 107"/>
              <p:cNvCxnSpPr/>
              <p:nvPr/>
            </p:nvCxnSpPr>
            <p:spPr>
              <a:xfrm>
                <a:off x="1044892" y="3341688"/>
                <a:ext cx="4092575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29498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03" name="任意多边形: 形状 8"/>
            <p:cNvSpPr/>
            <p:nvPr/>
          </p:nvSpPr>
          <p:spPr>
            <a:xfrm>
              <a:off x="841375" y="1730375"/>
              <a:ext cx="749301" cy="98426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29498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04" name="任意多边形: 形状 9"/>
            <p:cNvSpPr/>
            <p:nvPr/>
          </p:nvSpPr>
          <p:spPr>
            <a:xfrm flipH="1">
              <a:off x="4455784" y="1736672"/>
              <a:ext cx="749301" cy="98426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29498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742756" y="6045462"/>
            <a:ext cx="10896658" cy="722630"/>
            <a:chOff x="-51206" y="5562419"/>
            <a:chExt cx="13310571" cy="610530"/>
          </a:xfrm>
        </p:grpSpPr>
        <p:sp>
          <p:nvSpPr>
            <p:cNvPr id="120" name="矩形 119"/>
            <p:cNvSpPr/>
            <p:nvPr/>
          </p:nvSpPr>
          <p:spPr>
            <a:xfrm>
              <a:off x="1196947" y="5597673"/>
              <a:ext cx="12062418" cy="565497"/>
            </a:xfrm>
            <a:prstGeom prst="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1742143" y="5562419"/>
              <a:ext cx="11415538" cy="6105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Agent 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的安全控制面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核心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是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“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把工具当成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 API 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安全问题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”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：身份要可验证（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AuthN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），权限要可约束（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AuthZ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），并用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最小权限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 + 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分级授权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把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“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能做什么、做到哪一步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”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锁死</a:t>
              </a:r>
              <a:endParaRPr lang="zh-CN" altLang="en-US" b="1" kern="100" dirty="0"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charset="0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-51206" y="5605385"/>
              <a:ext cx="1248153" cy="54823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B0000"/>
              </a:solidFill>
            </a:ln>
          </p:spPr>
          <p:txBody>
            <a:bodyPr wrap="square" lIns="0" tIns="0" rIns="0" bIns="0" anchor="ctr" anchorCtr="1">
              <a:noAutofit/>
            </a:bodyPr>
            <a:lstStyle/>
            <a:p>
              <a:r>
                <a:rPr lang="zh-CN" altLang="en-US" sz="2800" b="1" dirty="0">
                  <a:solidFill>
                    <a:srgbClr val="14326C"/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zh-CN" altLang="en-US" sz="2800" b="1" dirty="0">
                <a:solidFill>
                  <a:srgbClr val="14326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605270" y="1167765"/>
            <a:ext cx="4531360" cy="4749800"/>
            <a:chOff x="10402" y="1839"/>
            <a:chExt cx="7136" cy="7480"/>
          </a:xfrm>
        </p:grpSpPr>
        <p:sp>
          <p:nvSpPr>
            <p:cNvPr id="85" name="矩形 84"/>
            <p:cNvSpPr/>
            <p:nvPr/>
          </p:nvSpPr>
          <p:spPr>
            <a:xfrm>
              <a:off x="10402" y="2065"/>
              <a:ext cx="7136" cy="7255"/>
            </a:xfrm>
            <a:prstGeom prst="rect">
              <a:avLst/>
            </a:prstGeom>
            <a:gradFill flip="none" rotWithShape="1">
              <a:gsLst>
                <a:gs pos="66000">
                  <a:sysClr val="window" lastClr="FFFFFF"/>
                </a:gs>
                <a:gs pos="0">
                  <a:srgbClr val="9B1313">
                    <a:lumMod val="11000"/>
                    <a:lumOff val="89000"/>
                  </a:srgbClr>
                </a:gs>
              </a:gsLst>
              <a:lin ang="16200000" scaled="1"/>
              <a:tileRect/>
            </a:gradFill>
            <a:ln w="3175" cap="flat" cmpd="sng" algn="ctr">
              <a:gradFill>
                <a:gsLst>
                  <a:gs pos="0">
                    <a:srgbClr val="29477E">
                      <a:alpha val="0"/>
                    </a:srgbClr>
                  </a:gs>
                  <a:gs pos="100000">
                    <a:srgbClr val="1A2E52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86" name="矩形: 圆角 26"/>
            <p:cNvSpPr/>
            <p:nvPr/>
          </p:nvSpPr>
          <p:spPr>
            <a:xfrm>
              <a:off x="11815" y="1839"/>
              <a:ext cx="4308" cy="727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3175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 </a:t>
              </a:r>
              <a:r>
                <a:rPr lang="zh-CN" altLang="en-US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最小权限（</a:t>
              </a:r>
              <a:r>
                <a:rPr lang="en-US" altLang="zh-CN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Least Privilege</a:t>
              </a:r>
              <a:r>
                <a:rPr lang="zh-CN" altLang="en-US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）</a:t>
              </a:r>
              <a:endParaRPr lang="zh-CN" altLang="en-US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10949" y="336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gradFill>
                <a:gsLst>
                  <a:gs pos="0">
                    <a:srgbClr val="981212">
                      <a:lumMod val="11000"/>
                      <a:lumOff val="89000"/>
                    </a:srgbClr>
                  </a:gs>
                  <a:gs pos="100000">
                    <a:sysClr val="window" lastClr="FFFFFF"/>
                  </a:gs>
                </a:gsLst>
                <a:lin ang="1200000" scaled="0"/>
              </a:gra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10854" y="474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89" name="椭圆 88"/>
            <p:cNvSpPr/>
            <p:nvPr/>
          </p:nvSpPr>
          <p:spPr>
            <a:xfrm>
              <a:off x="10949" y="519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gradFill>
                <a:gsLst>
                  <a:gs pos="0">
                    <a:srgbClr val="981212">
                      <a:lumMod val="11000"/>
                      <a:lumOff val="89000"/>
                    </a:srgbClr>
                  </a:gs>
                  <a:gs pos="100000">
                    <a:sysClr val="window" lastClr="FFFFFF"/>
                  </a:gs>
                </a:gsLst>
                <a:lin ang="1200000" scaled="0"/>
              </a:gra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>
              <a:off x="10854" y="657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91" name="椭圆 90"/>
            <p:cNvSpPr/>
            <p:nvPr/>
          </p:nvSpPr>
          <p:spPr>
            <a:xfrm>
              <a:off x="10949" y="702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10854" y="840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93" name="任意多边形: 形状 37"/>
            <p:cNvSpPr/>
            <p:nvPr/>
          </p:nvSpPr>
          <p:spPr>
            <a:xfrm>
              <a:off x="10533" y="2210"/>
              <a:ext cx="1180" cy="155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9B1313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4" name="任意多边形: 形状 38"/>
            <p:cNvSpPr/>
            <p:nvPr/>
          </p:nvSpPr>
          <p:spPr>
            <a:xfrm flipH="1">
              <a:off x="16225" y="2220"/>
              <a:ext cx="1180" cy="155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9B1313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0949" y="3389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1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0949" y="5234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2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0949" y="7084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3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658" y="3178"/>
              <a:ext cx="5747" cy="19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1400" b="1" dirty="0"/>
                <a:t>工具</a:t>
              </a:r>
              <a:r>
                <a:rPr lang="zh-CN" altLang="en-US" sz="1400" b="1" dirty="0"/>
                <a:t>权限按能力拆分</a:t>
              </a:r>
              <a:endParaRPr lang="en-US" altLang="zh-CN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目的：把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低风险能力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和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高风险能力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物理隔离，避免一个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 token 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通吃</a:t>
              </a: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read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：查工单、读文档、检索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——write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：改配置、写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DB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、提交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PR——money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：支付、下单、开通付费资源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——irreversible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：删除资源、发布到生产、发外部邮件群发</a:t>
              </a: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11658" y="5037"/>
              <a:ext cx="5484" cy="1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b="1" dirty="0"/>
                <a:t>细粒度</a:t>
              </a:r>
              <a:r>
                <a:rPr lang="en-US" altLang="zh-CN" sz="1400" b="1" dirty="0"/>
                <a:t> scope + </a:t>
              </a:r>
              <a:r>
                <a:rPr lang="zh-CN" altLang="en-US" sz="1400" b="1" dirty="0"/>
                <a:t>短期</a:t>
              </a:r>
              <a:r>
                <a:rPr lang="en-US" altLang="zh-CN" sz="1400" b="1" dirty="0"/>
                <a:t> token</a:t>
              </a:r>
              <a:endParaRPr lang="en-US" altLang="zh-CN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scope 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要细到：资源范围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——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操作范围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——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参数范围</a:t>
              </a: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短期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token：</a:t>
              </a:r>
              <a:endParaRPr lang="en-US" altLang="zh-CN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628650" lvl="1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绑定任务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会话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用户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租户，并设置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TTL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（分钟级）</a:t>
              </a: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628650" lvl="1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用完即失效，降低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拿到一次凭证就长期横向移动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的风险</a:t>
              </a: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11658" y="6966"/>
              <a:ext cx="5372" cy="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b="1" dirty="0"/>
                <a:t>高风险动作</a:t>
              </a:r>
              <a:r>
                <a:rPr lang="en-US" altLang="zh-CN" sz="1400" b="1" dirty="0"/>
                <a:t>“</a:t>
              </a:r>
              <a:r>
                <a:rPr lang="zh-CN" altLang="en-US" sz="1400" b="1" dirty="0"/>
                <a:t>分级授权</a:t>
              </a:r>
              <a:r>
                <a:rPr lang="en-US" altLang="zh-CN" sz="1400" b="1" dirty="0"/>
                <a:t>”</a:t>
              </a:r>
              <a:endParaRPr lang="en-US" altLang="zh-CN" sz="1400" b="1" dirty="0"/>
            </a:p>
            <a:p>
              <a:pPr algn="just">
                <a:lnSpc>
                  <a:spcPct val="120000"/>
                </a:lnSpc>
              </a:pPr>
              <a:endParaRPr lang="en-US" altLang="zh-CN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红黄绿分级（也可叫</a:t>
              </a:r>
              <a:r>
                <a:rPr lang="en-US" altLang="zh-CN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自动化等级</a:t>
              </a:r>
              <a:r>
                <a:rPr lang="en-US" altLang="zh-CN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）</a:t>
              </a:r>
              <a:endParaRPr lang="zh-CN" altLang="en-US" sz="9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171450" lvl="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避免批准疲劳的小设计</a:t>
              </a:r>
              <a:r>
                <a:rPr lang="en-US" altLang="zh-CN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风险聚合审批</a:t>
              </a:r>
              <a:r>
                <a:rPr lang="en-US" altLang="zh-CN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+</a:t>
              </a: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预览和风险</a:t>
              </a:r>
              <a:r>
                <a:rPr lang="zh-CN" altLang="en-US" sz="9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确认</a:t>
              </a:r>
              <a:endParaRPr lang="zh-CN" altLang="en-US" sz="9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3"/>
          <p:cNvSpPr txBox="1"/>
          <p:nvPr/>
        </p:nvSpPr>
        <p:spPr>
          <a:xfrm>
            <a:off x="387891" y="441479"/>
            <a:ext cx="7903845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Prompt Injection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（直接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间接）：核心难点与原则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1325" y="904240"/>
            <a:ext cx="3802778" cy="490728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64000">
                <a:sysClr val="window" lastClr="FFFFFF">
                  <a:alpha val="0"/>
                </a:sysClr>
              </a:gs>
            </a:gsLst>
            <a:lin ang="15600000" scaled="0"/>
            <a:tileRect/>
          </a:gradFill>
          <a:ln w="6350" cap="flat" cmpd="sng" algn="ctr">
            <a:gradFill>
              <a:gsLst>
                <a:gs pos="0">
                  <a:sysClr val="window" lastClr="FFFFFF">
                    <a:lumMod val="7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06678" y="904240"/>
            <a:ext cx="3802778" cy="490728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64000">
                <a:sysClr val="window" lastClr="FFFFFF">
                  <a:alpha val="0"/>
                </a:sysClr>
              </a:gs>
            </a:gsLst>
            <a:lin ang="15600000" scaled="0"/>
            <a:tileRect/>
          </a:gradFill>
          <a:ln w="6350" cap="flat" cmpd="sng" algn="ctr">
            <a:gradFill>
              <a:gsLst>
                <a:gs pos="0">
                  <a:sysClr val="window" lastClr="FFFFFF">
                    <a:lumMod val="75000"/>
                  </a:sysClr>
                </a:gs>
                <a:gs pos="100000">
                  <a:sysClr val="window" lastClr="FFFFFF">
                    <a:lumMod val="9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5" name="梯形 4"/>
          <p:cNvSpPr/>
          <p:nvPr/>
        </p:nvSpPr>
        <p:spPr>
          <a:xfrm rot="5400000">
            <a:off x="2334673" y="2981314"/>
            <a:ext cx="4739636" cy="920776"/>
          </a:xfrm>
          <a:prstGeom prst="trapezoid">
            <a:avLst>
              <a:gd name="adj" fmla="val 147568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64000">
                <a:sysClr val="window" lastClr="FFFFFF">
                  <a:alpha val="0"/>
                </a:sysClr>
              </a:gs>
            </a:gsLst>
            <a:lin ang="15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6" name="梯形 5"/>
          <p:cNvSpPr/>
          <p:nvPr/>
        </p:nvSpPr>
        <p:spPr>
          <a:xfrm rot="5400000" flipH="1" flipV="1">
            <a:off x="4892650" y="2897492"/>
            <a:ext cx="4907280" cy="920776"/>
          </a:xfrm>
          <a:prstGeom prst="trapezoid">
            <a:avLst>
              <a:gd name="adj" fmla="val 147568"/>
            </a:avLst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64000">
                <a:sysClr val="window" lastClr="FFFFFF">
                  <a:alpha val="0"/>
                </a:sysClr>
              </a:gs>
            </a:gsLst>
            <a:lin ang="15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630933" y="1945176"/>
            <a:ext cx="3271316" cy="2955854"/>
            <a:chOff x="4623948" y="2191556"/>
            <a:chExt cx="3271316" cy="2955854"/>
          </a:xfrm>
        </p:grpSpPr>
        <p:grpSp>
          <p:nvGrpSpPr>
            <p:cNvPr id="8" name="组合 7"/>
            <p:cNvGrpSpPr/>
            <p:nvPr/>
          </p:nvGrpSpPr>
          <p:grpSpPr>
            <a:xfrm rot="5400000">
              <a:off x="4618072" y="2197431"/>
              <a:ext cx="2955854" cy="2944103"/>
              <a:chOff x="4489440" y="2189064"/>
              <a:chExt cx="2846475" cy="2835159"/>
            </a:xfrm>
          </p:grpSpPr>
          <p:sp>
            <p:nvSpPr>
              <p:cNvPr id="9" name="Фигура"/>
              <p:cNvSpPr/>
              <p:nvPr/>
            </p:nvSpPr>
            <p:spPr>
              <a:xfrm>
                <a:off x="4495070" y="2189064"/>
                <a:ext cx="2840845" cy="16849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4" extrusionOk="0">
                    <a:moveTo>
                      <a:pt x="10800" y="0"/>
                    </a:moveTo>
                    <a:cubicBezTo>
                      <a:pt x="8036" y="0"/>
                      <a:pt x="5271" y="1777"/>
                      <a:pt x="3162" y="5331"/>
                    </a:cubicBezTo>
                    <a:cubicBezTo>
                      <a:pt x="1060" y="8872"/>
                      <a:pt x="7" y="13510"/>
                      <a:pt x="0" y="18152"/>
                    </a:cubicBezTo>
                    <a:lnTo>
                      <a:pt x="4537" y="18152"/>
                    </a:lnTo>
                    <a:cubicBezTo>
                      <a:pt x="4544" y="15466"/>
                      <a:pt x="5154" y="12784"/>
                      <a:pt x="6370" y="10735"/>
                    </a:cubicBezTo>
                    <a:cubicBezTo>
                      <a:pt x="7593" y="8674"/>
                      <a:pt x="9197" y="7643"/>
                      <a:pt x="10800" y="7643"/>
                    </a:cubicBezTo>
                    <a:cubicBezTo>
                      <a:pt x="12403" y="7643"/>
                      <a:pt x="14007" y="8674"/>
                      <a:pt x="15230" y="10735"/>
                    </a:cubicBezTo>
                    <a:cubicBezTo>
                      <a:pt x="16446" y="12784"/>
                      <a:pt x="17056" y="15466"/>
                      <a:pt x="17063" y="18152"/>
                    </a:cubicBezTo>
                    <a:lnTo>
                      <a:pt x="18045" y="18152"/>
                    </a:lnTo>
                    <a:lnTo>
                      <a:pt x="18656" y="18190"/>
                    </a:lnTo>
                    <a:cubicBezTo>
                      <a:pt x="18802" y="18178"/>
                      <a:pt x="18939" y="18318"/>
                      <a:pt x="18996" y="18545"/>
                    </a:cubicBezTo>
                    <a:cubicBezTo>
                      <a:pt x="19055" y="18781"/>
                      <a:pt x="19018" y="19053"/>
                      <a:pt x="18903" y="19221"/>
                    </a:cubicBezTo>
                    <a:cubicBezTo>
                      <a:pt x="18309" y="19972"/>
                      <a:pt x="18617" y="21568"/>
                      <a:pt x="19360" y="21584"/>
                    </a:cubicBezTo>
                    <a:cubicBezTo>
                      <a:pt x="20108" y="21600"/>
                      <a:pt x="20440" y="20003"/>
                      <a:pt x="19849" y="19230"/>
                    </a:cubicBezTo>
                    <a:cubicBezTo>
                      <a:pt x="19743" y="19086"/>
                      <a:pt x="19697" y="18852"/>
                      <a:pt x="19732" y="18631"/>
                    </a:cubicBezTo>
                    <a:cubicBezTo>
                      <a:pt x="19770" y="18386"/>
                      <a:pt x="19896" y="18208"/>
                      <a:pt x="20046" y="18190"/>
                    </a:cubicBezTo>
                    <a:lnTo>
                      <a:pt x="20541" y="18152"/>
                    </a:lnTo>
                    <a:lnTo>
                      <a:pt x="21600" y="18152"/>
                    </a:lnTo>
                    <a:cubicBezTo>
                      <a:pt x="21593" y="13510"/>
                      <a:pt x="20540" y="8872"/>
                      <a:pt x="18438" y="5331"/>
                    </a:cubicBezTo>
                    <a:cubicBezTo>
                      <a:pt x="16329" y="1777"/>
                      <a:pt x="13564" y="0"/>
                      <a:pt x="10800" y="0"/>
                    </a:cubicBezTo>
                    <a:close/>
                  </a:path>
                </a:pathLst>
              </a:custGeom>
              <a:solidFill>
                <a:srgbClr val="9B131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ctr" defTabSz="8255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200" b="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  <a:sym typeface="Helvetica Neue Medium" panose="02000503000000020004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" name="Фигура"/>
              <p:cNvSpPr/>
              <p:nvPr/>
            </p:nvSpPr>
            <p:spPr>
              <a:xfrm>
                <a:off x="4489440" y="3334951"/>
                <a:ext cx="2840855" cy="1689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6" h="19947" extrusionOk="0">
                    <a:moveTo>
                      <a:pt x="2299" y="0"/>
                    </a:moveTo>
                    <a:cubicBezTo>
                      <a:pt x="1552" y="-15"/>
                      <a:pt x="1221" y="1454"/>
                      <a:pt x="1811" y="2167"/>
                    </a:cubicBezTo>
                    <a:cubicBezTo>
                      <a:pt x="1917" y="2300"/>
                      <a:pt x="1962" y="2518"/>
                      <a:pt x="1928" y="2722"/>
                    </a:cubicBezTo>
                    <a:cubicBezTo>
                      <a:pt x="1890" y="2948"/>
                      <a:pt x="1762" y="3109"/>
                      <a:pt x="1612" y="3126"/>
                    </a:cubicBezTo>
                    <a:lnTo>
                      <a:pt x="1506" y="3128"/>
                    </a:lnTo>
                    <a:lnTo>
                      <a:pt x="0" y="3128"/>
                    </a:lnTo>
                    <a:cubicBezTo>
                      <a:pt x="-7" y="7436"/>
                      <a:pt x="1045" y="11747"/>
                      <a:pt x="3160" y="15034"/>
                    </a:cubicBezTo>
                    <a:cubicBezTo>
                      <a:pt x="7376" y="21585"/>
                      <a:pt x="14210" y="21585"/>
                      <a:pt x="18426" y="15034"/>
                    </a:cubicBezTo>
                    <a:cubicBezTo>
                      <a:pt x="20541" y="11747"/>
                      <a:pt x="21593" y="7436"/>
                      <a:pt x="21586" y="3128"/>
                    </a:cubicBezTo>
                    <a:lnTo>
                      <a:pt x="17052" y="3128"/>
                    </a:lnTo>
                    <a:cubicBezTo>
                      <a:pt x="17059" y="5633"/>
                      <a:pt x="16450" y="8141"/>
                      <a:pt x="15220" y="10052"/>
                    </a:cubicBezTo>
                    <a:cubicBezTo>
                      <a:pt x="12775" y="13852"/>
                      <a:pt x="8811" y="13852"/>
                      <a:pt x="6366" y="10052"/>
                    </a:cubicBezTo>
                    <a:cubicBezTo>
                      <a:pt x="5136" y="8141"/>
                      <a:pt x="4527" y="5633"/>
                      <a:pt x="4534" y="3128"/>
                    </a:cubicBezTo>
                    <a:lnTo>
                      <a:pt x="3610" y="3128"/>
                    </a:lnTo>
                    <a:lnTo>
                      <a:pt x="3002" y="3128"/>
                    </a:lnTo>
                    <a:cubicBezTo>
                      <a:pt x="2855" y="3140"/>
                      <a:pt x="2721" y="3007"/>
                      <a:pt x="2663" y="2798"/>
                    </a:cubicBezTo>
                    <a:cubicBezTo>
                      <a:pt x="2604" y="2581"/>
                      <a:pt x="2642" y="2330"/>
                      <a:pt x="2756" y="2175"/>
                    </a:cubicBezTo>
                    <a:cubicBezTo>
                      <a:pt x="3350" y="1483"/>
                      <a:pt x="3042" y="14"/>
                      <a:pt x="2299" y="0"/>
                    </a:cubicBezTo>
                    <a:close/>
                  </a:path>
                </a:pathLst>
              </a:custGeom>
              <a:solidFill>
                <a:srgbClr val="9B1313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ctr" defTabSz="8255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200" b="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  <a:sym typeface="Helvetica Neue Medium" panose="02000503000000020004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" name="任意多边形: 形状 106"/>
              <p:cNvSpPr/>
              <p:nvPr/>
            </p:nvSpPr>
            <p:spPr>
              <a:xfrm>
                <a:off x="6738588" y="3595083"/>
                <a:ext cx="591707" cy="274144"/>
              </a:xfrm>
              <a:custGeom>
                <a:avLst/>
                <a:gdLst>
                  <a:gd name="connsiteX0" fmla="*/ 0 w 591707"/>
                  <a:gd name="connsiteY0" fmla="*/ 0 h 274144"/>
                  <a:gd name="connsiteX1" fmla="*/ 591707 w 591707"/>
                  <a:gd name="connsiteY1" fmla="*/ 0 h 274144"/>
                  <a:gd name="connsiteX2" fmla="*/ 591425 w 591707"/>
                  <a:gd name="connsiteY2" fmla="*/ 6221 h 274144"/>
                  <a:gd name="connsiteX3" fmla="*/ 458048 w 591707"/>
                  <a:gd name="connsiteY3" fmla="*/ 6221 h 274144"/>
                  <a:gd name="connsiteX4" fmla="*/ 392945 w 591707"/>
                  <a:gd name="connsiteY4" fmla="*/ 9187 h 274144"/>
                  <a:gd name="connsiteX5" fmla="*/ 351648 w 591707"/>
                  <a:gd name="connsiteY5" fmla="*/ 43613 h 274144"/>
                  <a:gd name="connsiteX6" fmla="*/ 367035 w 591707"/>
                  <a:gd name="connsiteY6" fmla="*/ 90373 h 274144"/>
                  <a:gd name="connsiteX7" fmla="*/ 302722 w 591707"/>
                  <a:gd name="connsiteY7" fmla="*/ 274135 h 274144"/>
                  <a:gd name="connsiteX8" fmla="*/ 242617 w 591707"/>
                  <a:gd name="connsiteY8" fmla="*/ 89671 h 274144"/>
                  <a:gd name="connsiteX9" fmla="*/ 254848 w 591707"/>
                  <a:gd name="connsiteY9" fmla="*/ 36900 h 274144"/>
                  <a:gd name="connsiteX10" fmla="*/ 210131 w 591707"/>
                  <a:gd name="connsiteY10" fmla="*/ 9187 h 274144"/>
                  <a:gd name="connsiteX11" fmla="*/ 129772 w 591707"/>
                  <a:gd name="connsiteY11" fmla="*/ 6221 h 274144"/>
                  <a:gd name="connsiteX12" fmla="*/ 619 w 591707"/>
                  <a:gd name="connsiteY12" fmla="*/ 6221 h 274144"/>
                  <a:gd name="connsiteX13" fmla="*/ 0 w 591707"/>
                  <a:gd name="connsiteY13" fmla="*/ 0 h 274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1707" h="274144">
                    <a:moveTo>
                      <a:pt x="0" y="0"/>
                    </a:moveTo>
                    <a:lnTo>
                      <a:pt x="591707" y="0"/>
                    </a:lnTo>
                    <a:lnTo>
                      <a:pt x="591425" y="6221"/>
                    </a:lnTo>
                    <a:lnTo>
                      <a:pt x="458048" y="6221"/>
                    </a:lnTo>
                    <a:lnTo>
                      <a:pt x="392945" y="9187"/>
                    </a:lnTo>
                    <a:cubicBezTo>
                      <a:pt x="373217" y="10592"/>
                      <a:pt x="356645" y="24488"/>
                      <a:pt x="351648" y="43613"/>
                    </a:cubicBezTo>
                    <a:cubicBezTo>
                      <a:pt x="347044" y="60865"/>
                      <a:pt x="353094" y="79132"/>
                      <a:pt x="367035" y="90373"/>
                    </a:cubicBezTo>
                    <a:cubicBezTo>
                      <a:pt x="444764" y="150717"/>
                      <a:pt x="401099" y="275384"/>
                      <a:pt x="302722" y="274135"/>
                    </a:cubicBezTo>
                    <a:cubicBezTo>
                      <a:pt x="205002" y="272886"/>
                      <a:pt x="164494" y="148297"/>
                      <a:pt x="242617" y="89671"/>
                    </a:cubicBezTo>
                    <a:cubicBezTo>
                      <a:pt x="257742" y="76556"/>
                      <a:pt x="262608" y="55323"/>
                      <a:pt x="254848" y="36900"/>
                    </a:cubicBezTo>
                    <a:cubicBezTo>
                      <a:pt x="247352" y="19179"/>
                      <a:pt x="229333" y="8250"/>
                      <a:pt x="210131" y="9187"/>
                    </a:cubicBezTo>
                    <a:lnTo>
                      <a:pt x="129772" y="6221"/>
                    </a:lnTo>
                    <a:lnTo>
                      <a:pt x="619" y="62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1313"/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algn="ctr" defTabSz="82550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200" b="0">
                    <a:solidFill>
                      <a:srgbClr val="FFFFFF"/>
                    </a:solidFill>
                    <a:latin typeface="等线" panose="02010600030101010101" charset="-122"/>
                    <a:ea typeface="+mn-ea"/>
                    <a:cs typeface="+mn-ea"/>
                    <a:sym typeface="Helvetica Neue Medium" panose="02000503000000020004"/>
                  </a:defRPr>
                </a:pPr>
                <a:endParaRPr kumimoji="0" sz="3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2" name="Freeform: Shape 17"/>
            <p:cNvSpPr>
              <a:spLocks noChangeAspect="1"/>
            </p:cNvSpPr>
            <p:nvPr/>
          </p:nvSpPr>
          <p:spPr>
            <a:xfrm>
              <a:off x="5774422" y="3097545"/>
              <a:ext cx="603710" cy="729011"/>
            </a:xfrm>
            <a:custGeom>
              <a:avLst/>
              <a:gdLst>
                <a:gd name="connsiteX0" fmla="*/ 2990278 w 4038591"/>
                <a:gd name="connsiteY0" fmla="*/ 3962410 h 4876810"/>
                <a:gd name="connsiteX1" fmla="*/ 3057620 w 4038591"/>
                <a:gd name="connsiteY1" fmla="*/ 3990318 h 4876810"/>
                <a:gd name="connsiteX2" fmla="*/ 3085528 w 4038591"/>
                <a:gd name="connsiteY2" fmla="*/ 4057660 h 4876810"/>
                <a:gd name="connsiteX3" fmla="*/ 3057620 w 4038591"/>
                <a:gd name="connsiteY3" fmla="*/ 4125002 h 4876810"/>
                <a:gd name="connsiteX4" fmla="*/ 2990278 w 4038591"/>
                <a:gd name="connsiteY4" fmla="*/ 4152910 h 4876810"/>
                <a:gd name="connsiteX5" fmla="*/ 2922936 w 4038591"/>
                <a:gd name="connsiteY5" fmla="*/ 4125002 h 4876810"/>
                <a:gd name="connsiteX6" fmla="*/ 2895028 w 4038591"/>
                <a:gd name="connsiteY6" fmla="*/ 4057660 h 4876810"/>
                <a:gd name="connsiteX7" fmla="*/ 2922936 w 4038591"/>
                <a:gd name="connsiteY7" fmla="*/ 3990318 h 4876810"/>
                <a:gd name="connsiteX8" fmla="*/ 2990278 w 4038591"/>
                <a:gd name="connsiteY8" fmla="*/ 3962410 h 4876810"/>
                <a:gd name="connsiteX9" fmla="*/ 2019300 w 4038591"/>
                <a:gd name="connsiteY9" fmla="*/ 3962400 h 4876810"/>
                <a:gd name="connsiteX10" fmla="*/ 2589628 w 4038591"/>
                <a:gd name="connsiteY10" fmla="*/ 3962400 h 4876810"/>
                <a:gd name="connsiteX11" fmla="*/ 2684878 w 4038591"/>
                <a:gd name="connsiteY11" fmla="*/ 4057650 h 4876810"/>
                <a:gd name="connsiteX12" fmla="*/ 2589628 w 4038591"/>
                <a:gd name="connsiteY12" fmla="*/ 4152900 h 4876810"/>
                <a:gd name="connsiteX13" fmla="*/ 2019300 w 4038591"/>
                <a:gd name="connsiteY13" fmla="*/ 4152900 h 4876810"/>
                <a:gd name="connsiteX14" fmla="*/ 1924050 w 4038591"/>
                <a:gd name="connsiteY14" fmla="*/ 4057650 h 4876810"/>
                <a:gd name="connsiteX15" fmla="*/ 2019300 w 4038591"/>
                <a:gd name="connsiteY15" fmla="*/ 3962400 h 4876810"/>
                <a:gd name="connsiteX16" fmla="*/ 819150 w 4038591"/>
                <a:gd name="connsiteY16" fmla="*/ 3695700 h 4876810"/>
                <a:gd name="connsiteX17" fmla="*/ 819150 w 4038591"/>
                <a:gd name="connsiteY17" fmla="*/ 3962400 h 4876810"/>
                <a:gd name="connsiteX18" fmla="*/ 1085850 w 4038591"/>
                <a:gd name="connsiteY18" fmla="*/ 3962400 h 4876810"/>
                <a:gd name="connsiteX19" fmla="*/ 1085850 w 4038591"/>
                <a:gd name="connsiteY19" fmla="*/ 3695700 h 4876810"/>
                <a:gd name="connsiteX20" fmla="*/ 2019300 w 4038591"/>
                <a:gd name="connsiteY20" fmla="*/ 3505200 h 4876810"/>
                <a:gd name="connsiteX21" fmla="*/ 3390919 w 4038591"/>
                <a:gd name="connsiteY21" fmla="*/ 3505200 h 4876810"/>
                <a:gd name="connsiteX22" fmla="*/ 3486169 w 4038591"/>
                <a:gd name="connsiteY22" fmla="*/ 3600450 h 4876810"/>
                <a:gd name="connsiteX23" fmla="*/ 3390919 w 4038591"/>
                <a:gd name="connsiteY23" fmla="*/ 3695700 h 4876810"/>
                <a:gd name="connsiteX24" fmla="*/ 2019300 w 4038591"/>
                <a:gd name="connsiteY24" fmla="*/ 3695700 h 4876810"/>
                <a:gd name="connsiteX25" fmla="*/ 1924050 w 4038591"/>
                <a:gd name="connsiteY25" fmla="*/ 3600450 h 4876810"/>
                <a:gd name="connsiteX26" fmla="*/ 2019300 w 4038591"/>
                <a:gd name="connsiteY26" fmla="*/ 3505200 h 4876810"/>
                <a:gd name="connsiteX27" fmla="*/ 723900 w 4038591"/>
                <a:gd name="connsiteY27" fmla="*/ 3505200 h 4876810"/>
                <a:gd name="connsiteX28" fmla="*/ 1181100 w 4038591"/>
                <a:gd name="connsiteY28" fmla="*/ 3505200 h 4876810"/>
                <a:gd name="connsiteX29" fmla="*/ 1276350 w 4038591"/>
                <a:gd name="connsiteY29" fmla="*/ 3600450 h 4876810"/>
                <a:gd name="connsiteX30" fmla="*/ 1276350 w 4038591"/>
                <a:gd name="connsiteY30" fmla="*/ 4057650 h 4876810"/>
                <a:gd name="connsiteX31" fmla="*/ 1181100 w 4038591"/>
                <a:gd name="connsiteY31" fmla="*/ 4152900 h 4876810"/>
                <a:gd name="connsiteX32" fmla="*/ 723900 w 4038591"/>
                <a:gd name="connsiteY32" fmla="*/ 4152900 h 4876810"/>
                <a:gd name="connsiteX33" fmla="*/ 628650 w 4038591"/>
                <a:gd name="connsiteY33" fmla="*/ 4057650 h 4876810"/>
                <a:gd name="connsiteX34" fmla="*/ 628650 w 4038591"/>
                <a:gd name="connsiteY34" fmla="*/ 3600450 h 4876810"/>
                <a:gd name="connsiteX35" fmla="*/ 723900 w 4038591"/>
                <a:gd name="connsiteY35" fmla="*/ 3505200 h 4876810"/>
                <a:gd name="connsiteX36" fmla="*/ 2990278 w 4038591"/>
                <a:gd name="connsiteY36" fmla="*/ 2933710 h 4876810"/>
                <a:gd name="connsiteX37" fmla="*/ 3057620 w 4038591"/>
                <a:gd name="connsiteY37" fmla="*/ 2961618 h 4876810"/>
                <a:gd name="connsiteX38" fmla="*/ 3085528 w 4038591"/>
                <a:gd name="connsiteY38" fmla="*/ 3028960 h 4876810"/>
                <a:gd name="connsiteX39" fmla="*/ 3057620 w 4038591"/>
                <a:gd name="connsiteY39" fmla="*/ 3096302 h 4876810"/>
                <a:gd name="connsiteX40" fmla="*/ 2990278 w 4038591"/>
                <a:gd name="connsiteY40" fmla="*/ 3124210 h 4876810"/>
                <a:gd name="connsiteX41" fmla="*/ 2922936 w 4038591"/>
                <a:gd name="connsiteY41" fmla="*/ 3096302 h 4876810"/>
                <a:gd name="connsiteX42" fmla="*/ 2895028 w 4038591"/>
                <a:gd name="connsiteY42" fmla="*/ 3028960 h 4876810"/>
                <a:gd name="connsiteX43" fmla="*/ 2922936 w 4038591"/>
                <a:gd name="connsiteY43" fmla="*/ 2961618 h 4876810"/>
                <a:gd name="connsiteX44" fmla="*/ 2990278 w 4038591"/>
                <a:gd name="connsiteY44" fmla="*/ 2933710 h 4876810"/>
                <a:gd name="connsiteX45" fmla="*/ 2019300 w 4038591"/>
                <a:gd name="connsiteY45" fmla="*/ 2933700 h 4876810"/>
                <a:gd name="connsiteX46" fmla="*/ 2589628 w 4038591"/>
                <a:gd name="connsiteY46" fmla="*/ 2933700 h 4876810"/>
                <a:gd name="connsiteX47" fmla="*/ 2684878 w 4038591"/>
                <a:gd name="connsiteY47" fmla="*/ 3028950 h 4876810"/>
                <a:gd name="connsiteX48" fmla="*/ 2589628 w 4038591"/>
                <a:gd name="connsiteY48" fmla="*/ 3124200 h 4876810"/>
                <a:gd name="connsiteX49" fmla="*/ 2019300 w 4038591"/>
                <a:gd name="connsiteY49" fmla="*/ 3124200 h 4876810"/>
                <a:gd name="connsiteX50" fmla="*/ 1924050 w 4038591"/>
                <a:gd name="connsiteY50" fmla="*/ 3028950 h 4876810"/>
                <a:gd name="connsiteX51" fmla="*/ 2019300 w 4038591"/>
                <a:gd name="connsiteY51" fmla="*/ 2933700 h 4876810"/>
                <a:gd name="connsiteX52" fmla="*/ 819150 w 4038591"/>
                <a:gd name="connsiteY52" fmla="*/ 2667000 h 4876810"/>
                <a:gd name="connsiteX53" fmla="*/ 819150 w 4038591"/>
                <a:gd name="connsiteY53" fmla="*/ 2933700 h 4876810"/>
                <a:gd name="connsiteX54" fmla="*/ 1085850 w 4038591"/>
                <a:gd name="connsiteY54" fmla="*/ 2933700 h 4876810"/>
                <a:gd name="connsiteX55" fmla="*/ 1085850 w 4038591"/>
                <a:gd name="connsiteY55" fmla="*/ 2667000 h 4876810"/>
                <a:gd name="connsiteX56" fmla="*/ 2019300 w 4038591"/>
                <a:gd name="connsiteY56" fmla="*/ 2476500 h 4876810"/>
                <a:gd name="connsiteX57" fmla="*/ 3390919 w 4038591"/>
                <a:gd name="connsiteY57" fmla="*/ 2476500 h 4876810"/>
                <a:gd name="connsiteX58" fmla="*/ 3486169 w 4038591"/>
                <a:gd name="connsiteY58" fmla="*/ 2571750 h 4876810"/>
                <a:gd name="connsiteX59" fmla="*/ 3390919 w 4038591"/>
                <a:gd name="connsiteY59" fmla="*/ 2667000 h 4876810"/>
                <a:gd name="connsiteX60" fmla="*/ 2019300 w 4038591"/>
                <a:gd name="connsiteY60" fmla="*/ 2667000 h 4876810"/>
                <a:gd name="connsiteX61" fmla="*/ 1924050 w 4038591"/>
                <a:gd name="connsiteY61" fmla="*/ 2571750 h 4876810"/>
                <a:gd name="connsiteX62" fmla="*/ 2019300 w 4038591"/>
                <a:gd name="connsiteY62" fmla="*/ 2476500 h 4876810"/>
                <a:gd name="connsiteX63" fmla="*/ 723900 w 4038591"/>
                <a:gd name="connsiteY63" fmla="*/ 2476500 h 4876810"/>
                <a:gd name="connsiteX64" fmla="*/ 1181100 w 4038591"/>
                <a:gd name="connsiteY64" fmla="*/ 2476500 h 4876810"/>
                <a:gd name="connsiteX65" fmla="*/ 1276350 w 4038591"/>
                <a:gd name="connsiteY65" fmla="*/ 2571750 h 4876810"/>
                <a:gd name="connsiteX66" fmla="*/ 1276350 w 4038591"/>
                <a:gd name="connsiteY66" fmla="*/ 3028950 h 4876810"/>
                <a:gd name="connsiteX67" fmla="*/ 1181100 w 4038591"/>
                <a:gd name="connsiteY67" fmla="*/ 3124200 h 4876810"/>
                <a:gd name="connsiteX68" fmla="*/ 723900 w 4038591"/>
                <a:gd name="connsiteY68" fmla="*/ 3124200 h 4876810"/>
                <a:gd name="connsiteX69" fmla="*/ 628650 w 4038591"/>
                <a:gd name="connsiteY69" fmla="*/ 3028950 h 4876810"/>
                <a:gd name="connsiteX70" fmla="*/ 628650 w 4038591"/>
                <a:gd name="connsiteY70" fmla="*/ 2571750 h 4876810"/>
                <a:gd name="connsiteX71" fmla="*/ 723900 w 4038591"/>
                <a:gd name="connsiteY71" fmla="*/ 2476500 h 4876810"/>
                <a:gd name="connsiteX72" fmla="*/ 2990278 w 4038591"/>
                <a:gd name="connsiteY72" fmla="*/ 1905010 h 4876810"/>
                <a:gd name="connsiteX73" fmla="*/ 3057620 w 4038591"/>
                <a:gd name="connsiteY73" fmla="*/ 1932918 h 4876810"/>
                <a:gd name="connsiteX74" fmla="*/ 3085528 w 4038591"/>
                <a:gd name="connsiteY74" fmla="*/ 2000260 h 4876810"/>
                <a:gd name="connsiteX75" fmla="*/ 3057620 w 4038591"/>
                <a:gd name="connsiteY75" fmla="*/ 2067602 h 4876810"/>
                <a:gd name="connsiteX76" fmla="*/ 2990278 w 4038591"/>
                <a:gd name="connsiteY76" fmla="*/ 2095510 h 4876810"/>
                <a:gd name="connsiteX77" fmla="*/ 2922936 w 4038591"/>
                <a:gd name="connsiteY77" fmla="*/ 2067602 h 4876810"/>
                <a:gd name="connsiteX78" fmla="*/ 2895028 w 4038591"/>
                <a:gd name="connsiteY78" fmla="*/ 2000260 h 4876810"/>
                <a:gd name="connsiteX79" fmla="*/ 2922936 w 4038591"/>
                <a:gd name="connsiteY79" fmla="*/ 1932918 h 4876810"/>
                <a:gd name="connsiteX80" fmla="*/ 2990278 w 4038591"/>
                <a:gd name="connsiteY80" fmla="*/ 1905010 h 4876810"/>
                <a:gd name="connsiteX81" fmla="*/ 2019300 w 4038591"/>
                <a:gd name="connsiteY81" fmla="*/ 1905000 h 4876810"/>
                <a:gd name="connsiteX82" fmla="*/ 2589628 w 4038591"/>
                <a:gd name="connsiteY82" fmla="*/ 1905000 h 4876810"/>
                <a:gd name="connsiteX83" fmla="*/ 2684878 w 4038591"/>
                <a:gd name="connsiteY83" fmla="*/ 2000250 h 4876810"/>
                <a:gd name="connsiteX84" fmla="*/ 2589628 w 4038591"/>
                <a:gd name="connsiteY84" fmla="*/ 2095500 h 4876810"/>
                <a:gd name="connsiteX85" fmla="*/ 2019300 w 4038591"/>
                <a:gd name="connsiteY85" fmla="*/ 2095500 h 4876810"/>
                <a:gd name="connsiteX86" fmla="*/ 1924050 w 4038591"/>
                <a:gd name="connsiteY86" fmla="*/ 2000250 h 4876810"/>
                <a:gd name="connsiteX87" fmla="*/ 2019300 w 4038591"/>
                <a:gd name="connsiteY87" fmla="*/ 1905000 h 4876810"/>
                <a:gd name="connsiteX88" fmla="*/ 2019300 w 4038591"/>
                <a:gd name="connsiteY88" fmla="*/ 1447800 h 4876810"/>
                <a:gd name="connsiteX89" fmla="*/ 3390919 w 4038591"/>
                <a:gd name="connsiteY89" fmla="*/ 1447800 h 4876810"/>
                <a:gd name="connsiteX90" fmla="*/ 3486169 w 4038591"/>
                <a:gd name="connsiteY90" fmla="*/ 1543050 h 4876810"/>
                <a:gd name="connsiteX91" fmla="*/ 3390919 w 4038591"/>
                <a:gd name="connsiteY91" fmla="*/ 1638300 h 4876810"/>
                <a:gd name="connsiteX92" fmla="*/ 2019300 w 4038591"/>
                <a:gd name="connsiteY92" fmla="*/ 1638300 h 4876810"/>
                <a:gd name="connsiteX93" fmla="*/ 1924050 w 4038591"/>
                <a:gd name="connsiteY93" fmla="*/ 1543050 h 4876810"/>
                <a:gd name="connsiteX94" fmla="*/ 2019300 w 4038591"/>
                <a:gd name="connsiteY94" fmla="*/ 1447800 h 4876810"/>
                <a:gd name="connsiteX95" fmla="*/ 1346243 w 4038591"/>
                <a:gd name="connsiteY95" fmla="*/ 1397004 h 4876810"/>
                <a:gd name="connsiteX96" fmla="*/ 1413595 w 4038591"/>
                <a:gd name="connsiteY96" fmla="*/ 1424902 h 4876810"/>
                <a:gd name="connsiteX97" fmla="*/ 1413595 w 4038591"/>
                <a:gd name="connsiteY97" fmla="*/ 1559614 h 4876810"/>
                <a:gd name="connsiteX98" fmla="*/ 938935 w 4038591"/>
                <a:gd name="connsiteY98" fmla="*/ 2034273 h 4876810"/>
                <a:gd name="connsiteX99" fmla="*/ 871584 w 4038591"/>
                <a:gd name="connsiteY99" fmla="*/ 2062172 h 4876810"/>
                <a:gd name="connsiteX100" fmla="*/ 804233 w 4038591"/>
                <a:gd name="connsiteY100" fmla="*/ 2034273 h 4876810"/>
                <a:gd name="connsiteX101" fmla="*/ 611399 w 4038591"/>
                <a:gd name="connsiteY101" fmla="*/ 1841439 h 4876810"/>
                <a:gd name="connsiteX102" fmla="*/ 611399 w 4038591"/>
                <a:gd name="connsiteY102" fmla="*/ 1706727 h 4876810"/>
                <a:gd name="connsiteX103" fmla="*/ 746111 w 4038591"/>
                <a:gd name="connsiteY103" fmla="*/ 1706727 h 4876810"/>
                <a:gd name="connsiteX104" fmla="*/ 871584 w 4038591"/>
                <a:gd name="connsiteY104" fmla="*/ 1832210 h 4876810"/>
                <a:gd name="connsiteX105" fmla="*/ 1278892 w 4038591"/>
                <a:gd name="connsiteY105" fmla="*/ 1424892 h 4876810"/>
                <a:gd name="connsiteX106" fmla="*/ 1346243 w 4038591"/>
                <a:gd name="connsiteY106" fmla="*/ 1397004 h 4876810"/>
                <a:gd name="connsiteX107" fmla="*/ 464420 w 4038591"/>
                <a:gd name="connsiteY107" fmla="*/ 561985 h 4876810"/>
                <a:gd name="connsiteX108" fmla="*/ 190500 w 4038591"/>
                <a:gd name="connsiteY108" fmla="*/ 835905 h 4876810"/>
                <a:gd name="connsiteX109" fmla="*/ 190500 w 4038591"/>
                <a:gd name="connsiteY109" fmla="*/ 4412399 h 4876810"/>
                <a:gd name="connsiteX110" fmla="*/ 464420 w 4038591"/>
                <a:gd name="connsiteY110" fmla="*/ 4686319 h 4876810"/>
                <a:gd name="connsiteX111" fmla="*/ 3574180 w 4038591"/>
                <a:gd name="connsiteY111" fmla="*/ 4686319 h 4876810"/>
                <a:gd name="connsiteX112" fmla="*/ 3848100 w 4038591"/>
                <a:gd name="connsiteY112" fmla="*/ 4412399 h 4876810"/>
                <a:gd name="connsiteX113" fmla="*/ 3848100 w 4038591"/>
                <a:gd name="connsiteY113" fmla="*/ 835905 h 4876810"/>
                <a:gd name="connsiteX114" fmla="*/ 3574180 w 4038591"/>
                <a:gd name="connsiteY114" fmla="*/ 561985 h 4876810"/>
                <a:gd name="connsiteX115" fmla="*/ 2980125 w 4038591"/>
                <a:gd name="connsiteY115" fmla="*/ 561985 h 4876810"/>
                <a:gd name="connsiteX116" fmla="*/ 3028750 w 4038591"/>
                <a:gd name="connsiteY116" fmla="*/ 795347 h 4876810"/>
                <a:gd name="connsiteX117" fmla="*/ 3028750 w 4038591"/>
                <a:gd name="connsiteY117" fmla="*/ 857260 h 4876810"/>
                <a:gd name="connsiteX118" fmla="*/ 2933500 w 4038591"/>
                <a:gd name="connsiteY118" fmla="*/ 952510 h 4876810"/>
                <a:gd name="connsiteX119" fmla="*/ 1104900 w 4038591"/>
                <a:gd name="connsiteY119" fmla="*/ 952510 h 4876810"/>
                <a:gd name="connsiteX120" fmla="*/ 1009650 w 4038591"/>
                <a:gd name="connsiteY120" fmla="*/ 857260 h 4876810"/>
                <a:gd name="connsiteX121" fmla="*/ 1009650 w 4038591"/>
                <a:gd name="connsiteY121" fmla="*/ 795347 h 4876810"/>
                <a:gd name="connsiteX122" fmla="*/ 1058275 w 4038591"/>
                <a:gd name="connsiteY122" fmla="*/ 561985 h 4876810"/>
                <a:gd name="connsiteX123" fmla="*/ 2019204 w 4038591"/>
                <a:gd name="connsiteY123" fmla="*/ 409585 h 4876810"/>
                <a:gd name="connsiteX124" fmla="*/ 2086546 w 4038591"/>
                <a:gd name="connsiteY124" fmla="*/ 437493 h 4876810"/>
                <a:gd name="connsiteX125" fmla="*/ 2114454 w 4038591"/>
                <a:gd name="connsiteY125" fmla="*/ 504836 h 4876810"/>
                <a:gd name="connsiteX126" fmla="*/ 2086546 w 4038591"/>
                <a:gd name="connsiteY126" fmla="*/ 572178 h 4876810"/>
                <a:gd name="connsiteX127" fmla="*/ 2019204 w 4038591"/>
                <a:gd name="connsiteY127" fmla="*/ 600085 h 4876810"/>
                <a:gd name="connsiteX128" fmla="*/ 1951862 w 4038591"/>
                <a:gd name="connsiteY128" fmla="*/ 572178 h 4876810"/>
                <a:gd name="connsiteX129" fmla="*/ 1923954 w 4038591"/>
                <a:gd name="connsiteY129" fmla="*/ 504836 h 4876810"/>
                <a:gd name="connsiteX130" fmla="*/ 1951862 w 4038591"/>
                <a:gd name="connsiteY130" fmla="*/ 437493 h 4876810"/>
                <a:gd name="connsiteX131" fmla="*/ 2019204 w 4038591"/>
                <a:gd name="connsiteY131" fmla="*/ 409585 h 4876810"/>
                <a:gd name="connsiteX132" fmla="*/ 2019300 w 4038591"/>
                <a:gd name="connsiteY132" fmla="*/ 190500 h 4876810"/>
                <a:gd name="connsiteX133" fmla="*/ 1835706 w 4038591"/>
                <a:gd name="connsiteY133" fmla="*/ 330156 h 4876810"/>
                <a:gd name="connsiteX134" fmla="*/ 1743894 w 4038591"/>
                <a:gd name="connsiteY134" fmla="*/ 400050 h 4876810"/>
                <a:gd name="connsiteX135" fmla="*/ 1595438 w 4038591"/>
                <a:gd name="connsiteY135" fmla="*/ 400050 h 4876810"/>
                <a:gd name="connsiteX136" fmla="*/ 1201541 w 4038591"/>
                <a:gd name="connsiteY136" fmla="*/ 762010 h 4876810"/>
                <a:gd name="connsiteX137" fmla="*/ 2836850 w 4038591"/>
                <a:gd name="connsiteY137" fmla="*/ 762010 h 4876810"/>
                <a:gd name="connsiteX138" fmla="*/ 2442953 w 4038591"/>
                <a:gd name="connsiteY138" fmla="*/ 400050 h 4876810"/>
                <a:gd name="connsiteX139" fmla="*/ 2294696 w 4038591"/>
                <a:gd name="connsiteY139" fmla="*/ 400050 h 4876810"/>
                <a:gd name="connsiteX140" fmla="*/ 2202885 w 4038591"/>
                <a:gd name="connsiteY140" fmla="*/ 330156 h 4876810"/>
                <a:gd name="connsiteX141" fmla="*/ 2019300 w 4038591"/>
                <a:gd name="connsiteY141" fmla="*/ 190500 h 4876810"/>
                <a:gd name="connsiteX142" fmla="*/ 2019291 w 4038591"/>
                <a:gd name="connsiteY142" fmla="*/ 0 h 4876810"/>
                <a:gd name="connsiteX143" fmla="*/ 2359514 w 4038591"/>
                <a:gd name="connsiteY143" fmla="*/ 209550 h 4876810"/>
                <a:gd name="connsiteX144" fmla="*/ 2442953 w 4038591"/>
                <a:gd name="connsiteY144" fmla="*/ 209550 h 4876810"/>
                <a:gd name="connsiteX145" fmla="*/ 2846670 w 4038591"/>
                <a:gd name="connsiteY145" fmla="*/ 371485 h 4876810"/>
                <a:gd name="connsiteX146" fmla="*/ 3574180 w 4038591"/>
                <a:gd name="connsiteY146" fmla="*/ 371485 h 4876810"/>
                <a:gd name="connsiteX147" fmla="*/ 4038591 w 4038591"/>
                <a:gd name="connsiteY147" fmla="*/ 835905 h 4876810"/>
                <a:gd name="connsiteX148" fmla="*/ 4038591 w 4038591"/>
                <a:gd name="connsiteY148" fmla="*/ 4412390 h 4876810"/>
                <a:gd name="connsiteX149" fmla="*/ 3574171 w 4038591"/>
                <a:gd name="connsiteY149" fmla="*/ 4876810 h 4876810"/>
                <a:gd name="connsiteX150" fmla="*/ 464420 w 4038591"/>
                <a:gd name="connsiteY150" fmla="*/ 4876810 h 4876810"/>
                <a:gd name="connsiteX151" fmla="*/ 0 w 4038591"/>
                <a:gd name="connsiteY151" fmla="*/ 4412390 h 4876810"/>
                <a:gd name="connsiteX152" fmla="*/ 0 w 4038591"/>
                <a:gd name="connsiteY152" fmla="*/ 835905 h 4876810"/>
                <a:gd name="connsiteX153" fmla="*/ 464420 w 4038591"/>
                <a:gd name="connsiteY153" fmla="*/ 371485 h 4876810"/>
                <a:gd name="connsiteX154" fmla="*/ 1191720 w 4038591"/>
                <a:gd name="connsiteY154" fmla="*/ 371485 h 4876810"/>
                <a:gd name="connsiteX155" fmla="*/ 1595428 w 4038591"/>
                <a:gd name="connsiteY155" fmla="*/ 209550 h 4876810"/>
                <a:gd name="connsiteX156" fmla="*/ 1679067 w 4038591"/>
                <a:gd name="connsiteY156" fmla="*/ 209550 h 4876810"/>
                <a:gd name="connsiteX157" fmla="*/ 2019291 w 4038591"/>
                <a:gd name="connsiteY157" fmla="*/ 0 h 487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4038591" h="4876810">
                  <a:moveTo>
                    <a:pt x="2990278" y="3962410"/>
                  </a:moveTo>
                  <a:cubicBezTo>
                    <a:pt x="3015329" y="3962410"/>
                    <a:pt x="3039903" y="3972602"/>
                    <a:pt x="3057620" y="3990318"/>
                  </a:cubicBezTo>
                  <a:cubicBezTo>
                    <a:pt x="3075336" y="4008035"/>
                    <a:pt x="3085528" y="4032609"/>
                    <a:pt x="3085528" y="4057660"/>
                  </a:cubicBezTo>
                  <a:cubicBezTo>
                    <a:pt x="3085528" y="4082711"/>
                    <a:pt x="3075336" y="4107285"/>
                    <a:pt x="3057620" y="4125002"/>
                  </a:cubicBezTo>
                  <a:cubicBezTo>
                    <a:pt x="3039903" y="4142718"/>
                    <a:pt x="3015329" y="4152910"/>
                    <a:pt x="2990278" y="4152910"/>
                  </a:cubicBezTo>
                  <a:cubicBezTo>
                    <a:pt x="2965227" y="4152910"/>
                    <a:pt x="2940653" y="4142718"/>
                    <a:pt x="2922936" y="4125002"/>
                  </a:cubicBezTo>
                  <a:cubicBezTo>
                    <a:pt x="2905220" y="4107285"/>
                    <a:pt x="2895028" y="4082711"/>
                    <a:pt x="2895028" y="4057660"/>
                  </a:cubicBezTo>
                  <a:cubicBezTo>
                    <a:pt x="2895028" y="4032609"/>
                    <a:pt x="2905220" y="4008035"/>
                    <a:pt x="2922936" y="3990318"/>
                  </a:cubicBezTo>
                  <a:cubicBezTo>
                    <a:pt x="2940653" y="3972602"/>
                    <a:pt x="2965227" y="3962410"/>
                    <a:pt x="2990278" y="3962410"/>
                  </a:cubicBezTo>
                  <a:close/>
                  <a:moveTo>
                    <a:pt x="2019300" y="3962400"/>
                  </a:moveTo>
                  <a:lnTo>
                    <a:pt x="2589628" y="3962400"/>
                  </a:lnTo>
                  <a:cubicBezTo>
                    <a:pt x="2642235" y="3962400"/>
                    <a:pt x="2684878" y="4005043"/>
                    <a:pt x="2684878" y="4057650"/>
                  </a:cubicBezTo>
                  <a:cubicBezTo>
                    <a:pt x="2684878" y="4110257"/>
                    <a:pt x="2642235" y="4152900"/>
                    <a:pt x="2589628" y="4152900"/>
                  </a:cubicBezTo>
                  <a:lnTo>
                    <a:pt x="2019300" y="4152900"/>
                  </a:lnTo>
                  <a:cubicBezTo>
                    <a:pt x="1966693" y="4152900"/>
                    <a:pt x="1924050" y="4110257"/>
                    <a:pt x="1924050" y="4057650"/>
                  </a:cubicBezTo>
                  <a:cubicBezTo>
                    <a:pt x="1924050" y="4005043"/>
                    <a:pt x="1966693" y="3962400"/>
                    <a:pt x="2019300" y="3962400"/>
                  </a:cubicBezTo>
                  <a:close/>
                  <a:moveTo>
                    <a:pt x="819150" y="3695700"/>
                  </a:moveTo>
                  <a:lnTo>
                    <a:pt x="819150" y="3962400"/>
                  </a:lnTo>
                  <a:lnTo>
                    <a:pt x="1085850" y="3962400"/>
                  </a:lnTo>
                  <a:lnTo>
                    <a:pt x="1085850" y="3695700"/>
                  </a:lnTo>
                  <a:close/>
                  <a:moveTo>
                    <a:pt x="2019300" y="3505200"/>
                  </a:moveTo>
                  <a:lnTo>
                    <a:pt x="3390919" y="3505200"/>
                  </a:lnTo>
                  <a:cubicBezTo>
                    <a:pt x="3443526" y="3505200"/>
                    <a:pt x="3486169" y="3547843"/>
                    <a:pt x="3486169" y="3600450"/>
                  </a:cubicBezTo>
                  <a:cubicBezTo>
                    <a:pt x="3486169" y="3653057"/>
                    <a:pt x="3443526" y="3695700"/>
                    <a:pt x="3390919" y="3695700"/>
                  </a:cubicBezTo>
                  <a:lnTo>
                    <a:pt x="2019300" y="3695700"/>
                  </a:lnTo>
                  <a:cubicBezTo>
                    <a:pt x="1966693" y="3695700"/>
                    <a:pt x="1924050" y="3653057"/>
                    <a:pt x="1924050" y="3600450"/>
                  </a:cubicBezTo>
                  <a:cubicBezTo>
                    <a:pt x="1924050" y="3547843"/>
                    <a:pt x="1966693" y="3505200"/>
                    <a:pt x="2019300" y="3505200"/>
                  </a:cubicBezTo>
                  <a:close/>
                  <a:moveTo>
                    <a:pt x="723900" y="3505200"/>
                  </a:moveTo>
                  <a:lnTo>
                    <a:pt x="1181100" y="3505200"/>
                  </a:lnTo>
                  <a:cubicBezTo>
                    <a:pt x="1233707" y="3505200"/>
                    <a:pt x="1276350" y="3547843"/>
                    <a:pt x="1276350" y="3600450"/>
                  </a:cubicBezTo>
                  <a:lnTo>
                    <a:pt x="1276350" y="4057650"/>
                  </a:lnTo>
                  <a:cubicBezTo>
                    <a:pt x="1276350" y="4110257"/>
                    <a:pt x="1233707" y="4152900"/>
                    <a:pt x="1181100" y="4152900"/>
                  </a:cubicBezTo>
                  <a:lnTo>
                    <a:pt x="723900" y="4152900"/>
                  </a:lnTo>
                  <a:cubicBezTo>
                    <a:pt x="671293" y="4152900"/>
                    <a:pt x="628650" y="4110257"/>
                    <a:pt x="628650" y="4057650"/>
                  </a:cubicBezTo>
                  <a:lnTo>
                    <a:pt x="628650" y="3600450"/>
                  </a:lnTo>
                  <a:cubicBezTo>
                    <a:pt x="628650" y="3547843"/>
                    <a:pt x="671293" y="3505200"/>
                    <a:pt x="723900" y="3505200"/>
                  </a:cubicBezTo>
                  <a:close/>
                  <a:moveTo>
                    <a:pt x="2990278" y="2933710"/>
                  </a:moveTo>
                  <a:cubicBezTo>
                    <a:pt x="3015329" y="2933710"/>
                    <a:pt x="3039903" y="2943902"/>
                    <a:pt x="3057620" y="2961618"/>
                  </a:cubicBezTo>
                  <a:cubicBezTo>
                    <a:pt x="3075336" y="2979335"/>
                    <a:pt x="3085528" y="3003909"/>
                    <a:pt x="3085528" y="3028960"/>
                  </a:cubicBezTo>
                  <a:cubicBezTo>
                    <a:pt x="3085528" y="3054011"/>
                    <a:pt x="3075336" y="3078585"/>
                    <a:pt x="3057620" y="3096302"/>
                  </a:cubicBezTo>
                  <a:cubicBezTo>
                    <a:pt x="3039903" y="3114018"/>
                    <a:pt x="3015329" y="3124210"/>
                    <a:pt x="2990278" y="3124210"/>
                  </a:cubicBezTo>
                  <a:cubicBezTo>
                    <a:pt x="2965227" y="3124210"/>
                    <a:pt x="2940653" y="3114018"/>
                    <a:pt x="2922936" y="3096302"/>
                  </a:cubicBezTo>
                  <a:cubicBezTo>
                    <a:pt x="2905220" y="3078585"/>
                    <a:pt x="2895028" y="3054011"/>
                    <a:pt x="2895028" y="3028960"/>
                  </a:cubicBezTo>
                  <a:cubicBezTo>
                    <a:pt x="2895028" y="3003909"/>
                    <a:pt x="2905220" y="2979335"/>
                    <a:pt x="2922936" y="2961618"/>
                  </a:cubicBezTo>
                  <a:cubicBezTo>
                    <a:pt x="2940653" y="2943902"/>
                    <a:pt x="2965227" y="2933710"/>
                    <a:pt x="2990278" y="2933710"/>
                  </a:cubicBezTo>
                  <a:close/>
                  <a:moveTo>
                    <a:pt x="2019300" y="2933700"/>
                  </a:moveTo>
                  <a:lnTo>
                    <a:pt x="2589628" y="2933700"/>
                  </a:lnTo>
                  <a:cubicBezTo>
                    <a:pt x="2642235" y="2933700"/>
                    <a:pt x="2684878" y="2976343"/>
                    <a:pt x="2684878" y="3028950"/>
                  </a:cubicBezTo>
                  <a:cubicBezTo>
                    <a:pt x="2684878" y="3081557"/>
                    <a:pt x="2642235" y="3124200"/>
                    <a:pt x="2589628" y="3124200"/>
                  </a:cubicBezTo>
                  <a:lnTo>
                    <a:pt x="2019300" y="3124200"/>
                  </a:lnTo>
                  <a:cubicBezTo>
                    <a:pt x="1966693" y="3124200"/>
                    <a:pt x="1924050" y="3081557"/>
                    <a:pt x="1924050" y="3028950"/>
                  </a:cubicBezTo>
                  <a:cubicBezTo>
                    <a:pt x="1924050" y="2976343"/>
                    <a:pt x="1966693" y="2933700"/>
                    <a:pt x="2019300" y="2933700"/>
                  </a:cubicBezTo>
                  <a:close/>
                  <a:moveTo>
                    <a:pt x="819150" y="2667000"/>
                  </a:moveTo>
                  <a:lnTo>
                    <a:pt x="819150" y="2933700"/>
                  </a:lnTo>
                  <a:lnTo>
                    <a:pt x="1085850" y="2933700"/>
                  </a:lnTo>
                  <a:lnTo>
                    <a:pt x="1085850" y="2667000"/>
                  </a:lnTo>
                  <a:close/>
                  <a:moveTo>
                    <a:pt x="2019300" y="2476500"/>
                  </a:moveTo>
                  <a:lnTo>
                    <a:pt x="3390919" y="2476500"/>
                  </a:lnTo>
                  <a:cubicBezTo>
                    <a:pt x="3443526" y="2476500"/>
                    <a:pt x="3486169" y="2519143"/>
                    <a:pt x="3486169" y="2571750"/>
                  </a:cubicBezTo>
                  <a:cubicBezTo>
                    <a:pt x="3486169" y="2624357"/>
                    <a:pt x="3443526" y="2667000"/>
                    <a:pt x="3390919" y="2667000"/>
                  </a:cubicBezTo>
                  <a:lnTo>
                    <a:pt x="2019300" y="2667000"/>
                  </a:lnTo>
                  <a:cubicBezTo>
                    <a:pt x="1966693" y="2667000"/>
                    <a:pt x="1924050" y="2624357"/>
                    <a:pt x="1924050" y="2571750"/>
                  </a:cubicBezTo>
                  <a:cubicBezTo>
                    <a:pt x="1924050" y="2519143"/>
                    <a:pt x="1966693" y="2476500"/>
                    <a:pt x="2019300" y="2476500"/>
                  </a:cubicBezTo>
                  <a:close/>
                  <a:moveTo>
                    <a:pt x="723900" y="2476500"/>
                  </a:moveTo>
                  <a:lnTo>
                    <a:pt x="1181100" y="2476500"/>
                  </a:lnTo>
                  <a:cubicBezTo>
                    <a:pt x="1233707" y="2476500"/>
                    <a:pt x="1276350" y="2519143"/>
                    <a:pt x="1276350" y="2571750"/>
                  </a:cubicBezTo>
                  <a:lnTo>
                    <a:pt x="1276350" y="3028950"/>
                  </a:lnTo>
                  <a:cubicBezTo>
                    <a:pt x="1276350" y="3081557"/>
                    <a:pt x="1233707" y="3124200"/>
                    <a:pt x="1181100" y="3124200"/>
                  </a:cubicBezTo>
                  <a:lnTo>
                    <a:pt x="723900" y="3124200"/>
                  </a:lnTo>
                  <a:cubicBezTo>
                    <a:pt x="671293" y="3124200"/>
                    <a:pt x="628650" y="3081557"/>
                    <a:pt x="628650" y="3028950"/>
                  </a:cubicBezTo>
                  <a:lnTo>
                    <a:pt x="628650" y="2571750"/>
                  </a:lnTo>
                  <a:cubicBezTo>
                    <a:pt x="628650" y="2519143"/>
                    <a:pt x="671293" y="2476500"/>
                    <a:pt x="723900" y="2476500"/>
                  </a:cubicBezTo>
                  <a:close/>
                  <a:moveTo>
                    <a:pt x="2990278" y="1905010"/>
                  </a:moveTo>
                  <a:cubicBezTo>
                    <a:pt x="3015329" y="1905010"/>
                    <a:pt x="3039903" y="1915202"/>
                    <a:pt x="3057620" y="1932918"/>
                  </a:cubicBezTo>
                  <a:cubicBezTo>
                    <a:pt x="3075336" y="1950635"/>
                    <a:pt x="3085528" y="1975209"/>
                    <a:pt x="3085528" y="2000260"/>
                  </a:cubicBezTo>
                  <a:cubicBezTo>
                    <a:pt x="3085528" y="2025311"/>
                    <a:pt x="3075336" y="2049885"/>
                    <a:pt x="3057620" y="2067602"/>
                  </a:cubicBezTo>
                  <a:cubicBezTo>
                    <a:pt x="3039903" y="2085318"/>
                    <a:pt x="3015329" y="2095510"/>
                    <a:pt x="2990278" y="2095510"/>
                  </a:cubicBezTo>
                  <a:cubicBezTo>
                    <a:pt x="2965227" y="2095510"/>
                    <a:pt x="2940653" y="2085318"/>
                    <a:pt x="2922936" y="2067602"/>
                  </a:cubicBezTo>
                  <a:cubicBezTo>
                    <a:pt x="2905220" y="2049885"/>
                    <a:pt x="2895028" y="2025311"/>
                    <a:pt x="2895028" y="2000260"/>
                  </a:cubicBezTo>
                  <a:cubicBezTo>
                    <a:pt x="2895028" y="1975209"/>
                    <a:pt x="2905220" y="1950635"/>
                    <a:pt x="2922936" y="1932918"/>
                  </a:cubicBezTo>
                  <a:cubicBezTo>
                    <a:pt x="2940653" y="1915202"/>
                    <a:pt x="2965227" y="1905010"/>
                    <a:pt x="2990278" y="1905010"/>
                  </a:cubicBezTo>
                  <a:close/>
                  <a:moveTo>
                    <a:pt x="2019300" y="1905000"/>
                  </a:moveTo>
                  <a:lnTo>
                    <a:pt x="2589628" y="1905000"/>
                  </a:lnTo>
                  <a:cubicBezTo>
                    <a:pt x="2642235" y="1905000"/>
                    <a:pt x="2684878" y="1947643"/>
                    <a:pt x="2684878" y="2000250"/>
                  </a:cubicBezTo>
                  <a:cubicBezTo>
                    <a:pt x="2684878" y="2052857"/>
                    <a:pt x="2642235" y="2095500"/>
                    <a:pt x="2589628" y="2095500"/>
                  </a:cubicBezTo>
                  <a:lnTo>
                    <a:pt x="2019300" y="2095500"/>
                  </a:lnTo>
                  <a:cubicBezTo>
                    <a:pt x="1966693" y="2095500"/>
                    <a:pt x="1924050" y="2052857"/>
                    <a:pt x="1924050" y="2000250"/>
                  </a:cubicBezTo>
                  <a:cubicBezTo>
                    <a:pt x="1924050" y="1947643"/>
                    <a:pt x="1966693" y="1905000"/>
                    <a:pt x="2019300" y="1905000"/>
                  </a:cubicBezTo>
                  <a:close/>
                  <a:moveTo>
                    <a:pt x="2019300" y="1447800"/>
                  </a:moveTo>
                  <a:lnTo>
                    <a:pt x="3390919" y="1447800"/>
                  </a:lnTo>
                  <a:cubicBezTo>
                    <a:pt x="3443526" y="1447800"/>
                    <a:pt x="3486169" y="1490443"/>
                    <a:pt x="3486169" y="1543050"/>
                  </a:cubicBezTo>
                  <a:cubicBezTo>
                    <a:pt x="3486169" y="1595657"/>
                    <a:pt x="3443526" y="1638300"/>
                    <a:pt x="3390919" y="1638300"/>
                  </a:cubicBezTo>
                  <a:lnTo>
                    <a:pt x="2019300" y="1638300"/>
                  </a:lnTo>
                  <a:cubicBezTo>
                    <a:pt x="1966693" y="1638300"/>
                    <a:pt x="1924050" y="1595657"/>
                    <a:pt x="1924050" y="1543050"/>
                  </a:cubicBezTo>
                  <a:cubicBezTo>
                    <a:pt x="1924050" y="1490443"/>
                    <a:pt x="1966693" y="1447800"/>
                    <a:pt x="2019300" y="1447800"/>
                  </a:cubicBezTo>
                  <a:close/>
                  <a:moveTo>
                    <a:pt x="1346243" y="1397004"/>
                  </a:moveTo>
                  <a:cubicBezTo>
                    <a:pt x="1370620" y="1397005"/>
                    <a:pt x="1394997" y="1406304"/>
                    <a:pt x="1413595" y="1424902"/>
                  </a:cubicBezTo>
                  <a:cubicBezTo>
                    <a:pt x="1450790" y="1462106"/>
                    <a:pt x="1450790" y="1522419"/>
                    <a:pt x="1413595" y="1559614"/>
                  </a:cubicBezTo>
                  <a:lnTo>
                    <a:pt x="938935" y="2034273"/>
                  </a:lnTo>
                  <a:cubicBezTo>
                    <a:pt x="920343" y="2052875"/>
                    <a:pt x="895959" y="2062172"/>
                    <a:pt x="871584" y="2062172"/>
                  </a:cubicBezTo>
                  <a:cubicBezTo>
                    <a:pt x="847210" y="2062172"/>
                    <a:pt x="822835" y="2052875"/>
                    <a:pt x="804233" y="2034273"/>
                  </a:cubicBezTo>
                  <a:lnTo>
                    <a:pt x="611399" y="1841439"/>
                  </a:lnTo>
                  <a:cubicBezTo>
                    <a:pt x="574204" y="1804235"/>
                    <a:pt x="574204" y="1743922"/>
                    <a:pt x="611399" y="1706727"/>
                  </a:cubicBezTo>
                  <a:cubicBezTo>
                    <a:pt x="648604" y="1669542"/>
                    <a:pt x="708916" y="1669542"/>
                    <a:pt x="746111" y="1706727"/>
                  </a:cubicBezTo>
                  <a:lnTo>
                    <a:pt x="871584" y="1832210"/>
                  </a:lnTo>
                  <a:lnTo>
                    <a:pt x="1278892" y="1424892"/>
                  </a:lnTo>
                  <a:cubicBezTo>
                    <a:pt x="1297489" y="1406299"/>
                    <a:pt x="1321866" y="1397002"/>
                    <a:pt x="1346243" y="1397004"/>
                  </a:cubicBezTo>
                  <a:close/>
                  <a:moveTo>
                    <a:pt x="464420" y="561985"/>
                  </a:moveTo>
                  <a:cubicBezTo>
                    <a:pt x="313382" y="561985"/>
                    <a:pt x="190500" y="684867"/>
                    <a:pt x="190500" y="835905"/>
                  </a:cubicBezTo>
                  <a:lnTo>
                    <a:pt x="190500" y="4412399"/>
                  </a:lnTo>
                  <a:cubicBezTo>
                    <a:pt x="190500" y="4563437"/>
                    <a:pt x="313382" y="4686319"/>
                    <a:pt x="464420" y="4686319"/>
                  </a:cubicBezTo>
                  <a:lnTo>
                    <a:pt x="3574180" y="4686319"/>
                  </a:lnTo>
                  <a:cubicBezTo>
                    <a:pt x="3725218" y="4686319"/>
                    <a:pt x="3848100" y="4563437"/>
                    <a:pt x="3848100" y="4412399"/>
                  </a:cubicBezTo>
                  <a:lnTo>
                    <a:pt x="3848100" y="835905"/>
                  </a:lnTo>
                  <a:cubicBezTo>
                    <a:pt x="3848100" y="684867"/>
                    <a:pt x="3725218" y="561985"/>
                    <a:pt x="3574180" y="561985"/>
                  </a:cubicBezTo>
                  <a:lnTo>
                    <a:pt x="2980125" y="561985"/>
                  </a:lnTo>
                  <a:cubicBezTo>
                    <a:pt x="3011329" y="633536"/>
                    <a:pt x="3028750" y="712432"/>
                    <a:pt x="3028750" y="795347"/>
                  </a:cubicBezTo>
                  <a:lnTo>
                    <a:pt x="3028750" y="857260"/>
                  </a:lnTo>
                  <a:cubicBezTo>
                    <a:pt x="3028750" y="909866"/>
                    <a:pt x="2986107" y="952510"/>
                    <a:pt x="2933500" y="952510"/>
                  </a:cubicBezTo>
                  <a:lnTo>
                    <a:pt x="1104900" y="952510"/>
                  </a:lnTo>
                  <a:cubicBezTo>
                    <a:pt x="1052293" y="952510"/>
                    <a:pt x="1009650" y="909866"/>
                    <a:pt x="1009650" y="857260"/>
                  </a:cubicBezTo>
                  <a:lnTo>
                    <a:pt x="1009650" y="795347"/>
                  </a:lnTo>
                  <a:cubicBezTo>
                    <a:pt x="1009650" y="712422"/>
                    <a:pt x="1027071" y="633536"/>
                    <a:pt x="1058275" y="561985"/>
                  </a:cubicBezTo>
                  <a:close/>
                  <a:moveTo>
                    <a:pt x="2019204" y="409585"/>
                  </a:moveTo>
                  <a:cubicBezTo>
                    <a:pt x="2044255" y="409585"/>
                    <a:pt x="2068829" y="419777"/>
                    <a:pt x="2086546" y="437493"/>
                  </a:cubicBezTo>
                  <a:cubicBezTo>
                    <a:pt x="2104262" y="455210"/>
                    <a:pt x="2114454" y="479784"/>
                    <a:pt x="2114454" y="504836"/>
                  </a:cubicBezTo>
                  <a:cubicBezTo>
                    <a:pt x="2114454" y="529886"/>
                    <a:pt x="2104262" y="554460"/>
                    <a:pt x="2086546" y="572178"/>
                  </a:cubicBezTo>
                  <a:cubicBezTo>
                    <a:pt x="2068829" y="589893"/>
                    <a:pt x="2044255" y="600085"/>
                    <a:pt x="2019204" y="600085"/>
                  </a:cubicBezTo>
                  <a:cubicBezTo>
                    <a:pt x="1994153" y="600085"/>
                    <a:pt x="1969579" y="589893"/>
                    <a:pt x="1951862" y="572178"/>
                  </a:cubicBezTo>
                  <a:cubicBezTo>
                    <a:pt x="1934146" y="554460"/>
                    <a:pt x="1923954" y="529886"/>
                    <a:pt x="1923954" y="504836"/>
                  </a:cubicBezTo>
                  <a:cubicBezTo>
                    <a:pt x="1923954" y="479784"/>
                    <a:pt x="1934146" y="455210"/>
                    <a:pt x="1951862" y="437493"/>
                  </a:cubicBezTo>
                  <a:cubicBezTo>
                    <a:pt x="1969579" y="419777"/>
                    <a:pt x="1994153" y="409585"/>
                    <a:pt x="2019204" y="409585"/>
                  </a:cubicBezTo>
                  <a:close/>
                  <a:moveTo>
                    <a:pt x="2019300" y="190500"/>
                  </a:moveTo>
                  <a:cubicBezTo>
                    <a:pt x="1933918" y="190500"/>
                    <a:pt x="1858423" y="247926"/>
                    <a:pt x="1835706" y="330156"/>
                  </a:cubicBezTo>
                  <a:cubicBezTo>
                    <a:pt x="1824304" y="371446"/>
                    <a:pt x="1786738" y="400050"/>
                    <a:pt x="1743894" y="400050"/>
                  </a:cubicBezTo>
                  <a:lnTo>
                    <a:pt x="1595438" y="400050"/>
                  </a:lnTo>
                  <a:cubicBezTo>
                    <a:pt x="1388707" y="400050"/>
                    <a:pt x="1218524" y="559594"/>
                    <a:pt x="1201541" y="762010"/>
                  </a:cubicBezTo>
                  <a:lnTo>
                    <a:pt x="2836850" y="762010"/>
                  </a:lnTo>
                  <a:cubicBezTo>
                    <a:pt x="2819867" y="559594"/>
                    <a:pt x="2649693" y="400050"/>
                    <a:pt x="2442953" y="400050"/>
                  </a:cubicBezTo>
                  <a:lnTo>
                    <a:pt x="2294696" y="400050"/>
                  </a:lnTo>
                  <a:cubicBezTo>
                    <a:pt x="2251862" y="400050"/>
                    <a:pt x="2214286" y="371446"/>
                    <a:pt x="2202885" y="330156"/>
                  </a:cubicBezTo>
                  <a:cubicBezTo>
                    <a:pt x="2180177" y="247926"/>
                    <a:pt x="2104682" y="190500"/>
                    <a:pt x="2019300" y="190500"/>
                  </a:cubicBezTo>
                  <a:close/>
                  <a:moveTo>
                    <a:pt x="2019291" y="0"/>
                  </a:moveTo>
                  <a:cubicBezTo>
                    <a:pt x="2164671" y="0"/>
                    <a:pt x="2295725" y="83268"/>
                    <a:pt x="2359514" y="209550"/>
                  </a:cubicBezTo>
                  <a:lnTo>
                    <a:pt x="2442953" y="209550"/>
                  </a:lnTo>
                  <a:cubicBezTo>
                    <a:pt x="2599344" y="209550"/>
                    <a:pt x="2741505" y="271272"/>
                    <a:pt x="2846670" y="371485"/>
                  </a:cubicBezTo>
                  <a:lnTo>
                    <a:pt x="3574180" y="371485"/>
                  </a:lnTo>
                  <a:cubicBezTo>
                    <a:pt x="3830260" y="371485"/>
                    <a:pt x="4038600" y="579825"/>
                    <a:pt x="4038591" y="835905"/>
                  </a:cubicBezTo>
                  <a:lnTo>
                    <a:pt x="4038591" y="4412390"/>
                  </a:lnTo>
                  <a:cubicBezTo>
                    <a:pt x="4038591" y="4668469"/>
                    <a:pt x="3830250" y="4876810"/>
                    <a:pt x="3574171" y="4876810"/>
                  </a:cubicBezTo>
                  <a:lnTo>
                    <a:pt x="464420" y="4876810"/>
                  </a:lnTo>
                  <a:cubicBezTo>
                    <a:pt x="208340" y="4876810"/>
                    <a:pt x="0" y="4668469"/>
                    <a:pt x="0" y="4412390"/>
                  </a:cubicBezTo>
                  <a:lnTo>
                    <a:pt x="0" y="835905"/>
                  </a:lnTo>
                  <a:cubicBezTo>
                    <a:pt x="0" y="579825"/>
                    <a:pt x="208340" y="371485"/>
                    <a:pt x="464420" y="371485"/>
                  </a:cubicBezTo>
                  <a:lnTo>
                    <a:pt x="1191720" y="371485"/>
                  </a:lnTo>
                  <a:cubicBezTo>
                    <a:pt x="1296886" y="271272"/>
                    <a:pt x="1439037" y="209550"/>
                    <a:pt x="1595428" y="209550"/>
                  </a:cubicBezTo>
                  <a:lnTo>
                    <a:pt x="1679067" y="209550"/>
                  </a:lnTo>
                  <a:cubicBezTo>
                    <a:pt x="1742866" y="83268"/>
                    <a:pt x="1873910" y="0"/>
                    <a:pt x="2019291" y="0"/>
                  </a:cubicBezTo>
                  <a:close/>
                </a:path>
              </a:pathLst>
            </a:custGeom>
            <a:solidFill>
              <a:srgbClr val="4444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8255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623948" y="3390146"/>
              <a:ext cx="947060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两类</a:t>
              </a:r>
              <a:endParaRPr lang="zh-CN" altLang="en-US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defTabSz="457200"/>
              <a:r>
                <a: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注入</a:t>
              </a:r>
              <a:endParaRPr lang="zh-CN" altLang="en-US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948204" y="3343397"/>
              <a:ext cx="947060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457200"/>
              <a:r>
                <a: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关键</a:t>
              </a:r>
              <a:endParaRPr lang="zh-CN" altLang="en-US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defTabSz="457200"/>
              <a:r>
                <a: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原则</a:t>
              </a:r>
              <a:endParaRPr lang="zh-CN" altLang="en-US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435992" y="3859198"/>
              <a:ext cx="1280570" cy="645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/>
              <a:r>
                <a:rPr lang="en-US" altLang="zh-CN" dirty="0">
                  <a:solidFill>
                    <a:prstClr val="black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Prompt Injection</a:t>
              </a:r>
              <a:endParaRPr lang="en-US" altLang="zh-CN" dirty="0">
                <a:solidFill>
                  <a:prstClr val="black"/>
                </a:solidFill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621697" y="1041331"/>
            <a:ext cx="3498464" cy="3310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1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）直接注入（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Direct Injection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）</a:t>
            </a:r>
            <a:endParaRPr lang="en-US" altLang="zh-CN" sz="12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发生位置：用户对话框里。</a:t>
            </a:r>
            <a:endParaRPr lang="en-US" altLang="zh-CN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典型手法：要求忽略规则、伪装系统消息、诱导泄露、诱导执行高风险动作。</a:t>
            </a:r>
            <a:endParaRPr lang="en-US" altLang="zh-CN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为什么能成：模型在语言层面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很会配合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，且用户输入天然看起来像指令。</a:t>
            </a:r>
            <a:endParaRPr lang="zh-CN" altLang="en-US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endParaRPr lang="en-US" altLang="zh-CN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indent="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2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）间接注入（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Indirect Injection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）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——Agent 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的核心难点</a:t>
            </a:r>
            <a:endParaRPr lang="en-US" altLang="zh-CN" sz="12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发生位置：网页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文档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邮件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工单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代码注释等外部内容。</a:t>
            </a:r>
            <a:endParaRPr lang="en-US" altLang="zh-CN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危险点：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Agent 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会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读外部内容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 + 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检索回灌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，外部内容被混进上下文后，模型分不清</a:t>
            </a:r>
            <a:endParaRPr lang="en-US" altLang="zh-CN" sz="10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最常见的致命误区：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RAG 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把外部内容当成可信知识，从而把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攻击者的指令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变成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系统的一部分</a:t>
            </a:r>
            <a:r>
              <a:rPr lang="en-US" altLang="zh-CN" sz="1000" dirty="0"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latin typeface="+mn-ea"/>
                <a:cs typeface="+mn-ea"/>
                <a:sym typeface="汉仪旗黑-55简" panose="00020600040101010101" pitchFamily="18" charset="-122"/>
              </a:rPr>
              <a:t>。</a:t>
            </a:r>
            <a:endParaRPr lang="zh-CN" altLang="en-US" sz="1000" dirty="0"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46881" y="1178491"/>
            <a:ext cx="3203266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外部内容默认不可信：只作为数据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证据参与推理，绝不作为指令改变行为</a:t>
            </a:r>
            <a:endParaRPr lang="zh-CN" altLang="en-US" sz="12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把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 prompt </a:t>
            </a:r>
            <a:r>
              <a:rPr lang="zh-CN" altLang="en-US" sz="1200" dirty="0">
                <a:solidFill>
                  <a:srgbClr val="C00000"/>
                </a:solidFill>
                <a:latin typeface="+mn-ea"/>
                <a:cs typeface="+mn-ea"/>
                <a:sym typeface="汉仪旗黑-55简" panose="00020600040101010101" pitchFamily="18" charset="-122"/>
              </a:rPr>
              <a:t>结构化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成三块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，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显式告诉模型：检索内容里出现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命令式文本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也只能当引用，不得执行</a:t>
            </a:r>
            <a:endParaRPr lang="zh-CN" altLang="en-US" sz="12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检索内容的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solidFill>
                  <a:srgbClr val="C00000"/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引用化</a:t>
            </a:r>
            <a:r>
              <a:rPr lang="en-US" altLang="zh-CN" sz="1200" dirty="0">
                <a:solidFill>
                  <a:srgbClr val="C00000"/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200" dirty="0">
                <a:solidFill>
                  <a:srgbClr val="C00000"/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呈现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：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强制加来源标签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+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强制用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“quote block”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语义</a:t>
            </a:r>
            <a:endParaRPr lang="zh-CN" altLang="en-US" sz="1200" dirty="0"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"/>
            </a:pP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工具调用必须过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工具网关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”：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即使模型被注入，也要在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 Tool 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层用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 allowlist/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参数校验</a:t>
            </a:r>
            <a:r>
              <a:rPr lang="en-US" altLang="zh-CN" sz="1200" dirty="0"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200" dirty="0">
                <a:latin typeface="+mn-ea"/>
                <a:cs typeface="+mn-ea"/>
                <a:sym typeface="汉仪旗黑-55简" panose="00020600040101010101" pitchFamily="18" charset="-122"/>
              </a:rPr>
              <a:t>权限分级拦住</a:t>
            </a:r>
            <a:endParaRPr lang="zh-CN" altLang="en-US" sz="1200" dirty="0"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7737475" y="4366260"/>
          <a:ext cx="4101465" cy="1565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815220" y="4692277"/>
            <a:ext cx="3024485" cy="399206"/>
            <a:chOff x="3205856" y="2612046"/>
            <a:chExt cx="2189126" cy="511310"/>
          </a:xfrm>
          <a:solidFill>
            <a:srgbClr val="9B1313"/>
          </a:solidFill>
        </p:grpSpPr>
        <p:sp>
          <p:nvSpPr>
            <p:cNvPr id="26" name="矩形: 圆角 117"/>
            <p:cNvSpPr/>
            <p:nvPr/>
          </p:nvSpPr>
          <p:spPr>
            <a:xfrm rot="16200000">
              <a:off x="4044764" y="1773138"/>
              <a:ext cx="511310" cy="2189126"/>
            </a:xfrm>
            <a:prstGeom prst="roundRect">
              <a:avLst>
                <a:gd name="adj" fmla="val 50000"/>
              </a:avLst>
            </a:prstGeom>
            <a:grpFill/>
            <a:ln w="1587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340076" y="2719011"/>
              <a:ext cx="1920687" cy="29737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直接注入</a:t>
              </a:r>
              <a:endParaRPr lang="zh-CN" altLang="en-US" b="1" kern="0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5220" y="5222319"/>
            <a:ext cx="3024485" cy="399206"/>
            <a:chOff x="3205856" y="2612046"/>
            <a:chExt cx="2189126" cy="511310"/>
          </a:xfrm>
          <a:solidFill>
            <a:srgbClr val="9B1313"/>
          </a:solidFill>
        </p:grpSpPr>
        <p:sp>
          <p:nvSpPr>
            <p:cNvPr id="29" name="矩形: 圆角 120"/>
            <p:cNvSpPr/>
            <p:nvPr/>
          </p:nvSpPr>
          <p:spPr>
            <a:xfrm rot="16200000">
              <a:off x="4044764" y="1773138"/>
              <a:ext cx="511310" cy="2189126"/>
            </a:xfrm>
            <a:prstGeom prst="roundRect">
              <a:avLst>
                <a:gd name="adj" fmla="val 50000"/>
              </a:avLst>
            </a:prstGeom>
            <a:grpFill/>
            <a:ln w="1587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340076" y="2719011"/>
              <a:ext cx="1920687" cy="29737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rPr>
                <a:t>间接注入</a:t>
              </a:r>
              <a:endParaRPr lang="zh-CN" altLang="en-US" b="1" kern="0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225670" y="4479795"/>
            <a:ext cx="3024485" cy="398780"/>
            <a:chOff x="3205856" y="2612046"/>
            <a:chExt cx="2189126" cy="511310"/>
          </a:xfrm>
          <a:solidFill>
            <a:srgbClr val="9B1313"/>
          </a:solidFill>
        </p:grpSpPr>
        <p:sp>
          <p:nvSpPr>
            <p:cNvPr id="52" name="矩形: 圆角 117"/>
            <p:cNvSpPr/>
            <p:nvPr/>
          </p:nvSpPr>
          <p:spPr>
            <a:xfrm rot="16200000">
              <a:off x="4044764" y="1773138"/>
              <a:ext cx="511310" cy="2189126"/>
            </a:xfrm>
            <a:prstGeom prst="roundRect">
              <a:avLst>
                <a:gd name="adj" fmla="val 50000"/>
              </a:avLst>
            </a:prstGeom>
            <a:grpFill/>
            <a:ln w="1587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 sz="14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383949" y="2719404"/>
              <a:ext cx="1832940" cy="297675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检索内容的</a:t>
              </a:r>
              <a:r>
                <a:rPr lang="en-US" altLang="zh-CN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引用化</a:t>
              </a:r>
              <a:r>
                <a:rPr lang="en-US" altLang="zh-CN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endParaRPr lang="zh-CN" altLang="en-US" b="1" kern="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25670" y="5051930"/>
            <a:ext cx="3024485" cy="398780"/>
            <a:chOff x="3205856" y="2612046"/>
            <a:chExt cx="2189126" cy="511310"/>
          </a:xfrm>
          <a:solidFill>
            <a:srgbClr val="9B1313"/>
          </a:solidFill>
        </p:grpSpPr>
        <p:sp>
          <p:nvSpPr>
            <p:cNvPr id="61" name="矩形: 圆角 120"/>
            <p:cNvSpPr/>
            <p:nvPr/>
          </p:nvSpPr>
          <p:spPr>
            <a:xfrm rot="16200000">
              <a:off x="4044764" y="1773138"/>
              <a:ext cx="511310" cy="2189126"/>
            </a:xfrm>
            <a:prstGeom prst="roundRect">
              <a:avLst>
                <a:gd name="adj" fmla="val 50000"/>
              </a:avLst>
            </a:prstGeom>
            <a:grpFill/>
            <a:ln w="1587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 sz="14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3340076" y="2719011"/>
              <a:ext cx="1920687" cy="29737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上下文分区</a:t>
              </a:r>
              <a:endParaRPr lang="zh-CN" altLang="en-US" b="1" kern="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742756" y="6045462"/>
            <a:ext cx="10896658" cy="722630"/>
            <a:chOff x="-51206" y="5562419"/>
            <a:chExt cx="13310571" cy="610530"/>
          </a:xfrm>
        </p:grpSpPr>
        <p:sp>
          <p:nvSpPr>
            <p:cNvPr id="120" name="矩形 119"/>
            <p:cNvSpPr/>
            <p:nvPr/>
          </p:nvSpPr>
          <p:spPr>
            <a:xfrm>
              <a:off x="1196947" y="5597673"/>
              <a:ext cx="12062418" cy="565497"/>
            </a:xfrm>
            <a:prstGeom prst="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42143" y="5562419"/>
              <a:ext cx="11415538" cy="6105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Prompt Injection 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的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本质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是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“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指令优先级被劫持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”</a:t>
              </a:r>
              <a:endParaRPr lang="en-US" altLang="zh-CN" b="1" kern="100" dirty="0"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charset="0"/>
              </a:endParaRPr>
            </a:p>
            <a:p>
              <a:pPr algn="ctr"/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防护的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第一原则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是：外部内容一律当数据，不当指令</a:t>
              </a:r>
              <a:r>
                <a:rPr lang="en-US" altLang="zh-CN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——</a:t>
              </a:r>
              <a:r>
                <a:rPr lang="zh-CN" altLang="en-US" b="1" kern="100" dirty="0">
                  <a:solidFill>
                    <a:srgbClr val="FFFFFF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必须做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内容</a:t>
              </a:r>
              <a:r>
                <a:rPr lang="en-US" altLang="zh-CN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/</a:t>
              </a:r>
              <a:r>
                <a:rPr lang="zh-CN" altLang="en-US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指令分离</a:t>
              </a:r>
              <a:endParaRPr lang="zh-CN" altLang="en-US" b="1" kern="100" dirty="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charset="0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-51206" y="5605385"/>
              <a:ext cx="1248153" cy="54823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B0000"/>
              </a:solidFill>
            </a:ln>
          </p:spPr>
          <p:txBody>
            <a:bodyPr wrap="square" lIns="0" tIns="0" rIns="0" bIns="0" anchor="ctr" anchorCtr="1">
              <a:noAutofit/>
            </a:bodyPr>
            <a:p>
              <a:r>
                <a:rPr lang="zh-CN" altLang="en-US" sz="2800" b="1" dirty="0">
                  <a:solidFill>
                    <a:srgbClr val="14326C"/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zh-CN" altLang="en-US" sz="2800" b="1" dirty="0">
                <a:solidFill>
                  <a:srgbClr val="14326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167250" y="3907234"/>
            <a:ext cx="3024485" cy="399206"/>
            <a:chOff x="3205856" y="2612046"/>
            <a:chExt cx="2189126" cy="511310"/>
          </a:xfrm>
          <a:solidFill>
            <a:srgbClr val="9B1313"/>
          </a:solidFill>
        </p:grpSpPr>
        <p:sp>
          <p:nvSpPr>
            <p:cNvPr id="31" name="矩形: 圆角 120"/>
            <p:cNvSpPr/>
            <p:nvPr/>
          </p:nvSpPr>
          <p:spPr>
            <a:xfrm rot="16200000">
              <a:off x="4044764" y="1773138"/>
              <a:ext cx="511310" cy="2189126"/>
            </a:xfrm>
            <a:prstGeom prst="roundRect">
              <a:avLst>
                <a:gd name="adj" fmla="val 50000"/>
              </a:avLst>
            </a:prstGeom>
            <a:grpFill/>
            <a:ln w="1587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 sz="140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340076" y="2719011"/>
              <a:ext cx="1920687" cy="29737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>
                <a:defRPr/>
              </a:pP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工具调用</a:t>
              </a:r>
              <a:r>
                <a:rPr lang="en-US" altLang="zh-CN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——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过网</a:t>
              </a:r>
              <a:r>
                <a:rPr lang="zh-CN" altLang="en-US" b="1" kern="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关</a:t>
              </a:r>
              <a:endParaRPr lang="zh-CN" altLang="en-US" b="1" kern="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54457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记忆与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RAG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特有风险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0254" y="1222950"/>
            <a:ext cx="2483431" cy="4837731"/>
            <a:chOff x="792542" y="1226820"/>
            <a:chExt cx="2483431" cy="4837731"/>
          </a:xfrm>
        </p:grpSpPr>
        <p:sp>
          <p:nvSpPr>
            <p:cNvPr id="4" name="矩形 3"/>
            <p:cNvSpPr/>
            <p:nvPr/>
          </p:nvSpPr>
          <p:spPr>
            <a:xfrm>
              <a:off x="792542" y="1226820"/>
              <a:ext cx="2483431" cy="483773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gradFill>
                <a:gsLst>
                  <a:gs pos="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" name="任意多边形: 形状 90"/>
            <p:cNvSpPr/>
            <p:nvPr/>
          </p:nvSpPr>
          <p:spPr>
            <a:xfrm>
              <a:off x="1391967" y="1511582"/>
              <a:ext cx="1284580" cy="1151794"/>
            </a:xfrm>
            <a:custGeom>
              <a:avLst/>
              <a:gdLst>
                <a:gd name="connsiteX0" fmla="*/ 26836 w 1494560"/>
                <a:gd name="connsiteY0" fmla="*/ 556443 h 1340069"/>
                <a:gd name="connsiteX1" fmla="*/ 234853 w 1494560"/>
                <a:gd name="connsiteY1" fmla="*/ 140408 h 1340069"/>
                <a:gd name="connsiteX2" fmla="*/ 462038 w 1494560"/>
                <a:gd name="connsiteY2" fmla="*/ 0 h 1340069"/>
                <a:gd name="connsiteX3" fmla="*/ 1032522 w 1494560"/>
                <a:gd name="connsiteY3" fmla="*/ 0 h 1340069"/>
                <a:gd name="connsiteX4" fmla="*/ 1259707 w 1494560"/>
                <a:gd name="connsiteY4" fmla="*/ 140408 h 1340069"/>
                <a:gd name="connsiteX5" fmla="*/ 1467724 w 1494560"/>
                <a:gd name="connsiteY5" fmla="*/ 556443 h 1340069"/>
                <a:gd name="connsiteX6" fmla="*/ 1467724 w 1494560"/>
                <a:gd name="connsiteY6" fmla="*/ 783627 h 1340069"/>
                <a:gd name="connsiteX7" fmla="*/ 1259707 w 1494560"/>
                <a:gd name="connsiteY7" fmla="*/ 1199661 h 1340069"/>
                <a:gd name="connsiteX8" fmla="*/ 1032522 w 1494560"/>
                <a:gd name="connsiteY8" fmla="*/ 1340069 h 1340069"/>
                <a:gd name="connsiteX9" fmla="*/ 462038 w 1494560"/>
                <a:gd name="connsiteY9" fmla="*/ 1340069 h 1340069"/>
                <a:gd name="connsiteX10" fmla="*/ 234853 w 1494560"/>
                <a:gd name="connsiteY10" fmla="*/ 1199661 h 1340069"/>
                <a:gd name="connsiteX11" fmla="*/ 26836 w 1494560"/>
                <a:gd name="connsiteY11" fmla="*/ 783627 h 1340069"/>
                <a:gd name="connsiteX12" fmla="*/ 26836 w 1494560"/>
                <a:gd name="connsiteY12" fmla="*/ 556443 h 134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94560" h="1340069">
                  <a:moveTo>
                    <a:pt x="26836" y="556443"/>
                  </a:moveTo>
                  <a:lnTo>
                    <a:pt x="234853" y="140408"/>
                  </a:lnTo>
                  <a:cubicBezTo>
                    <a:pt x="277888" y="54338"/>
                    <a:pt x="365808" y="0"/>
                    <a:pt x="462038" y="0"/>
                  </a:cubicBezTo>
                  <a:lnTo>
                    <a:pt x="1032522" y="0"/>
                  </a:lnTo>
                  <a:cubicBezTo>
                    <a:pt x="1128751" y="0"/>
                    <a:pt x="1216672" y="54338"/>
                    <a:pt x="1259707" y="140408"/>
                  </a:cubicBezTo>
                  <a:lnTo>
                    <a:pt x="1467724" y="556443"/>
                  </a:lnTo>
                  <a:cubicBezTo>
                    <a:pt x="1503506" y="628006"/>
                    <a:pt x="1503505" y="712064"/>
                    <a:pt x="1467724" y="783627"/>
                  </a:cubicBezTo>
                  <a:lnTo>
                    <a:pt x="1259707" y="1199661"/>
                  </a:lnTo>
                  <a:cubicBezTo>
                    <a:pt x="1216672" y="1285731"/>
                    <a:pt x="1128751" y="1340069"/>
                    <a:pt x="1032522" y="1340069"/>
                  </a:cubicBezTo>
                  <a:lnTo>
                    <a:pt x="462038" y="1340069"/>
                  </a:lnTo>
                  <a:cubicBezTo>
                    <a:pt x="365808" y="1340069"/>
                    <a:pt x="277888" y="1285731"/>
                    <a:pt x="234853" y="1199661"/>
                  </a:cubicBezTo>
                  <a:lnTo>
                    <a:pt x="26836" y="783627"/>
                  </a:lnTo>
                  <a:cubicBezTo>
                    <a:pt x="-8945" y="712064"/>
                    <a:pt x="-8945" y="628006"/>
                    <a:pt x="26836" y="556443"/>
                  </a:cubicBezTo>
                </a:path>
              </a:pathLst>
            </a:custGeom>
            <a:solidFill>
              <a:srgbClr val="9B1313"/>
            </a:solidFill>
            <a:ln w="3492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391967" y="1626469"/>
              <a:ext cx="1284580" cy="922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</a:defRPr>
              </a:lvl1pPr>
            </a:lstStyle>
            <a:p>
              <a:r>
                <a:rPr lang="en-US" altLang="zh-CN" dirty="0"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cs typeface="等线" panose="02010600030101010101" charset="-122"/>
                  <a:sym typeface="汉仪旗黑-55简" panose="00020600040101010101" pitchFamily="18" charset="-122"/>
                </a:rPr>
                <a:t>记忆</a:t>
              </a:r>
              <a:r>
                <a:rPr lang="en-US" altLang="zh-CN" dirty="0"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endParaRPr lang="en-US" altLang="zh-CN" dirty="0"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r>
                <a:rPr lang="en-US" altLang="zh-CN" dirty="0">
                  <a:cs typeface="等线" panose="02010600030101010101" charset="-122"/>
                  <a:sym typeface="汉仪旗黑-55简" panose="00020600040101010101" pitchFamily="18" charset="-122"/>
                </a:rPr>
                <a:t>Agent</a:t>
              </a:r>
              <a:endParaRPr lang="en-US" altLang="zh-CN" dirty="0"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r>
                <a:rPr lang="zh-CN" altLang="en-US" dirty="0">
                  <a:cs typeface="等线" panose="02010600030101010101" charset="-122"/>
                  <a:sym typeface="汉仪旗黑-55简" panose="00020600040101010101" pitchFamily="18" charset="-122"/>
                </a:rPr>
                <a:t>高危</a:t>
              </a:r>
              <a:r>
                <a:rPr lang="zh-CN" altLang="en-US" dirty="0">
                  <a:cs typeface="等线" panose="02010600030101010101" charset="-122"/>
                  <a:sym typeface="汉仪旗黑-55简" panose="00020600040101010101" pitchFamily="18" charset="-122"/>
                </a:rPr>
                <a:t>点</a:t>
              </a:r>
              <a:endParaRPr lang="zh-CN" altLang="en-US" dirty="0"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875665" y="2842260"/>
            <a:ext cx="2152650" cy="2971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r>
              <a:rPr lang="zh-CN" altLang="en-US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为什么</a:t>
            </a:r>
            <a:r>
              <a:rPr lang="en-US" altLang="zh-CN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记忆</a:t>
            </a:r>
            <a:r>
              <a:rPr lang="en-US" altLang="zh-CN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是</a:t>
            </a:r>
            <a:r>
              <a:rPr lang="en-US" altLang="zh-CN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Agent </a:t>
            </a:r>
            <a:r>
              <a:rPr lang="zh-CN" altLang="en-US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特有高危点</a:t>
            </a:r>
            <a:r>
              <a:rPr lang="en-US" altLang="zh-CN" sz="12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？</a:t>
            </a:r>
            <a:endParaRPr lang="zh-CN" altLang="en-US" sz="12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>
              <a:lnSpc>
                <a:spcPct val="125000"/>
              </a:lnSpc>
              <a:buFont typeface="Wingdings" panose="05000000000000000000" charset="0"/>
              <a:buChar char=""/>
            </a:pPr>
            <a:r>
              <a:rPr lang="zh-CN" altLang="en-US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可跨时间触发（今天埋、下周炸）</a:t>
            </a:r>
            <a:endParaRPr lang="zh-CN" altLang="en-US" sz="900" u="sng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1）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与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Prompt 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注入不同：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Prompt 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注入通常依赖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当前上下文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endParaRPr lang="zh-CN" altLang="en-US" sz="9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2）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记忆投毒是把攻击写进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未来会被自动检索的状态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，让攻击变成默认行为的一部分</a:t>
            </a:r>
            <a:endParaRPr lang="zh-CN" altLang="en-US" sz="9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endParaRPr lang="en-US" altLang="zh-CN" sz="9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>
              <a:lnSpc>
                <a:spcPct val="125000"/>
              </a:lnSpc>
              <a:buFont typeface="Wingdings" panose="05000000000000000000" charset="0"/>
              <a:buChar char=""/>
            </a:pPr>
            <a:r>
              <a:rPr lang="zh-CN" altLang="en-US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更像</a:t>
            </a:r>
            <a:r>
              <a:rPr lang="en-US" altLang="zh-CN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自己学到的事实</a:t>
            </a:r>
            <a:r>
              <a:rPr lang="en-US" altLang="zh-CN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偏好</a:t>
            </a:r>
            <a:r>
              <a:rPr lang="en-US" altLang="zh-CN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900" u="sng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（高信任来源错觉）</a:t>
            </a:r>
            <a:endParaRPr lang="zh-CN" altLang="en-US" sz="900" u="sng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1）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模型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系统往往会把记忆当作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用户偏好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历史事实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，优先级甚至高于即时对话</a:t>
            </a:r>
            <a:endParaRPr lang="zh-CN" altLang="en-US" sz="9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>
              <a:lnSpc>
                <a:spcPct val="125000"/>
              </a:lnSpc>
              <a:buFont typeface="Wingdings" panose="05000000000000000000" charset="0"/>
              <a:buNone/>
            </a:pP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2）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这会导致：攻击者把指令伪装成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偏好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规则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常用联系人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常用地址</a:t>
            </a:r>
            <a:r>
              <a:rPr lang="en-US" altLang="zh-CN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9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，系统后续很难察觉异常</a:t>
            </a:r>
            <a:endParaRPr lang="zh-CN" altLang="en-US" sz="9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sp>
        <p:nvSpPr>
          <p:cNvPr id="8" name="箭头: 下 93"/>
          <p:cNvSpPr/>
          <p:nvPr/>
        </p:nvSpPr>
        <p:spPr>
          <a:xfrm rot="16200000" flipH="1">
            <a:off x="3796150" y="1916172"/>
            <a:ext cx="300458" cy="707689"/>
          </a:xfrm>
          <a:prstGeom prst="downArrow">
            <a:avLst>
              <a:gd name="adj1" fmla="val 42481"/>
              <a:gd name="adj2" fmla="val 76761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616785" y="1714819"/>
            <a:ext cx="1253490" cy="1253490"/>
            <a:chOff x="4616785" y="1669418"/>
            <a:chExt cx="1253490" cy="1253490"/>
          </a:xfrm>
        </p:grpSpPr>
        <p:sp>
          <p:nvSpPr>
            <p:cNvPr id="10" name="椭圆 9"/>
            <p:cNvSpPr/>
            <p:nvPr/>
          </p:nvSpPr>
          <p:spPr>
            <a:xfrm>
              <a:off x="4616785" y="1669418"/>
              <a:ext cx="1253490" cy="1253490"/>
            </a:xfrm>
            <a:prstGeom prst="ellipse">
              <a:avLst/>
            </a:prstGeom>
            <a:solidFill>
              <a:srgbClr val="9B1313"/>
            </a:solidFill>
            <a:ln w="3492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1" name="Freeform 124"/>
            <p:cNvSpPr>
              <a:spLocks noEditPoints="1"/>
            </p:cNvSpPr>
            <p:nvPr/>
          </p:nvSpPr>
          <p:spPr bwMode="auto">
            <a:xfrm>
              <a:off x="4887136" y="1946851"/>
              <a:ext cx="712787" cy="712787"/>
            </a:xfrm>
            <a:custGeom>
              <a:avLst/>
              <a:gdLst>
                <a:gd name="T0" fmla="*/ 101 w 140"/>
                <a:gd name="T1" fmla="*/ 21 h 140"/>
                <a:gd name="T2" fmla="*/ 117 w 140"/>
                <a:gd name="T3" fmla="*/ 5 h 140"/>
                <a:gd name="T4" fmla="*/ 119 w 140"/>
                <a:gd name="T5" fmla="*/ 6 h 140"/>
                <a:gd name="T6" fmla="*/ 120 w 140"/>
                <a:gd name="T7" fmla="*/ 20 h 140"/>
                <a:gd name="T8" fmla="*/ 134 w 140"/>
                <a:gd name="T9" fmla="*/ 22 h 140"/>
                <a:gd name="T10" fmla="*/ 135 w 140"/>
                <a:gd name="T11" fmla="*/ 24 h 140"/>
                <a:gd name="T12" fmla="*/ 120 w 140"/>
                <a:gd name="T13" fmla="*/ 39 h 140"/>
                <a:gd name="T14" fmla="*/ 116 w 140"/>
                <a:gd name="T15" fmla="*/ 40 h 140"/>
                <a:gd name="T16" fmla="*/ 107 w 140"/>
                <a:gd name="T17" fmla="*/ 39 h 140"/>
                <a:gd name="T18" fmla="*/ 80 w 140"/>
                <a:gd name="T19" fmla="*/ 66 h 140"/>
                <a:gd name="T20" fmla="*/ 78 w 140"/>
                <a:gd name="T21" fmla="*/ 79 h 140"/>
                <a:gd name="T22" fmla="*/ 61 w 140"/>
                <a:gd name="T23" fmla="*/ 79 h 140"/>
                <a:gd name="T24" fmla="*/ 61 w 140"/>
                <a:gd name="T25" fmla="*/ 62 h 140"/>
                <a:gd name="T26" fmla="*/ 75 w 140"/>
                <a:gd name="T27" fmla="*/ 60 h 140"/>
                <a:gd name="T28" fmla="*/ 101 w 140"/>
                <a:gd name="T29" fmla="*/ 34 h 140"/>
                <a:gd name="T30" fmla="*/ 100 w 140"/>
                <a:gd name="T31" fmla="*/ 25 h 140"/>
                <a:gd name="T32" fmla="*/ 101 w 140"/>
                <a:gd name="T33" fmla="*/ 21 h 140"/>
                <a:gd name="T34" fmla="*/ 130 w 140"/>
                <a:gd name="T35" fmla="*/ 34 h 140"/>
                <a:gd name="T36" fmla="*/ 122 w 140"/>
                <a:gd name="T37" fmla="*/ 42 h 140"/>
                <a:gd name="T38" fmla="*/ 118 w 140"/>
                <a:gd name="T39" fmla="*/ 44 h 140"/>
                <a:gd name="T40" fmla="*/ 124 w 140"/>
                <a:gd name="T41" fmla="*/ 70 h 140"/>
                <a:gd name="T42" fmla="*/ 70 w 140"/>
                <a:gd name="T43" fmla="*/ 125 h 140"/>
                <a:gd name="T44" fmla="*/ 15 w 140"/>
                <a:gd name="T45" fmla="*/ 70 h 140"/>
                <a:gd name="T46" fmla="*/ 70 w 140"/>
                <a:gd name="T47" fmla="*/ 16 h 140"/>
                <a:gd name="T48" fmla="*/ 96 w 140"/>
                <a:gd name="T49" fmla="*/ 23 h 140"/>
                <a:gd name="T50" fmla="*/ 99 w 140"/>
                <a:gd name="T51" fmla="*/ 18 h 140"/>
                <a:gd name="T52" fmla="*/ 106 w 140"/>
                <a:gd name="T53" fmla="*/ 11 h 140"/>
                <a:gd name="T54" fmla="*/ 70 w 140"/>
                <a:gd name="T55" fmla="*/ 0 h 140"/>
                <a:gd name="T56" fmla="*/ 0 w 140"/>
                <a:gd name="T57" fmla="*/ 70 h 140"/>
                <a:gd name="T58" fmla="*/ 70 w 140"/>
                <a:gd name="T59" fmla="*/ 140 h 140"/>
                <a:gd name="T60" fmla="*/ 140 w 140"/>
                <a:gd name="T61" fmla="*/ 70 h 140"/>
                <a:gd name="T62" fmla="*/ 130 w 140"/>
                <a:gd name="T63" fmla="*/ 34 h 140"/>
                <a:gd name="T64" fmla="*/ 70 w 140"/>
                <a:gd name="T65" fmla="*/ 47 h 140"/>
                <a:gd name="T66" fmla="*/ 80 w 140"/>
                <a:gd name="T67" fmla="*/ 49 h 140"/>
                <a:gd name="T68" fmla="*/ 93 w 140"/>
                <a:gd name="T69" fmla="*/ 37 h 140"/>
                <a:gd name="T70" fmla="*/ 70 w 140"/>
                <a:gd name="T71" fmla="*/ 29 h 140"/>
                <a:gd name="T72" fmla="*/ 29 w 140"/>
                <a:gd name="T73" fmla="*/ 70 h 140"/>
                <a:gd name="T74" fmla="*/ 70 w 140"/>
                <a:gd name="T75" fmla="*/ 111 h 140"/>
                <a:gd name="T76" fmla="*/ 111 w 140"/>
                <a:gd name="T77" fmla="*/ 70 h 140"/>
                <a:gd name="T78" fmla="*/ 104 w 140"/>
                <a:gd name="T79" fmla="*/ 48 h 140"/>
                <a:gd name="T80" fmla="*/ 91 w 140"/>
                <a:gd name="T81" fmla="*/ 61 h 140"/>
                <a:gd name="T82" fmla="*/ 93 w 140"/>
                <a:gd name="T83" fmla="*/ 70 h 140"/>
                <a:gd name="T84" fmla="*/ 70 w 140"/>
                <a:gd name="T85" fmla="*/ 94 h 140"/>
                <a:gd name="T86" fmla="*/ 46 w 140"/>
                <a:gd name="T87" fmla="*/ 70 h 140"/>
                <a:gd name="T88" fmla="*/ 70 w 140"/>
                <a:gd name="T89" fmla="*/ 4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140">
                  <a:moveTo>
                    <a:pt x="101" y="21"/>
                  </a:moveTo>
                  <a:cubicBezTo>
                    <a:pt x="117" y="5"/>
                    <a:pt x="117" y="5"/>
                    <a:pt x="117" y="5"/>
                  </a:cubicBezTo>
                  <a:cubicBezTo>
                    <a:pt x="118" y="5"/>
                    <a:pt x="118" y="5"/>
                    <a:pt x="119" y="6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6" y="22"/>
                    <a:pt x="136" y="23"/>
                    <a:pt x="135" y="24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40"/>
                    <a:pt x="117" y="40"/>
                    <a:pt x="116" y="40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80" y="66"/>
                    <a:pt x="80" y="66"/>
                    <a:pt x="80" y="66"/>
                  </a:cubicBezTo>
                  <a:cubicBezTo>
                    <a:pt x="82" y="70"/>
                    <a:pt x="82" y="75"/>
                    <a:pt x="78" y="79"/>
                  </a:cubicBezTo>
                  <a:cubicBezTo>
                    <a:pt x="73" y="84"/>
                    <a:pt x="66" y="84"/>
                    <a:pt x="61" y="79"/>
                  </a:cubicBezTo>
                  <a:cubicBezTo>
                    <a:pt x="57" y="74"/>
                    <a:pt x="57" y="67"/>
                    <a:pt x="61" y="62"/>
                  </a:cubicBezTo>
                  <a:cubicBezTo>
                    <a:pt x="65" y="59"/>
                    <a:pt x="70" y="58"/>
                    <a:pt x="75" y="60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3"/>
                    <a:pt x="101" y="22"/>
                    <a:pt x="101" y="21"/>
                  </a:cubicBezTo>
                  <a:close/>
                  <a:moveTo>
                    <a:pt x="130" y="34"/>
                  </a:move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19" y="44"/>
                    <a:pt x="118" y="44"/>
                  </a:cubicBezTo>
                  <a:cubicBezTo>
                    <a:pt x="122" y="52"/>
                    <a:pt x="124" y="61"/>
                    <a:pt x="124" y="70"/>
                  </a:cubicBezTo>
                  <a:cubicBezTo>
                    <a:pt x="124" y="100"/>
                    <a:pt x="100" y="125"/>
                    <a:pt x="70" y="125"/>
                  </a:cubicBezTo>
                  <a:cubicBezTo>
                    <a:pt x="40" y="125"/>
                    <a:pt x="15" y="100"/>
                    <a:pt x="15" y="70"/>
                  </a:cubicBezTo>
                  <a:cubicBezTo>
                    <a:pt x="15" y="40"/>
                    <a:pt x="40" y="16"/>
                    <a:pt x="70" y="16"/>
                  </a:cubicBezTo>
                  <a:cubicBezTo>
                    <a:pt x="79" y="16"/>
                    <a:pt x="88" y="18"/>
                    <a:pt x="96" y="23"/>
                  </a:cubicBezTo>
                  <a:cubicBezTo>
                    <a:pt x="97" y="21"/>
                    <a:pt x="98" y="19"/>
                    <a:pt x="99" y="18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96" y="4"/>
                    <a:pt x="83" y="0"/>
                    <a:pt x="70" y="0"/>
                  </a:cubicBezTo>
                  <a:cubicBezTo>
                    <a:pt x="31" y="0"/>
                    <a:pt x="0" y="32"/>
                    <a:pt x="0" y="70"/>
                  </a:cubicBezTo>
                  <a:cubicBezTo>
                    <a:pt x="0" y="109"/>
                    <a:pt x="31" y="140"/>
                    <a:pt x="70" y="140"/>
                  </a:cubicBezTo>
                  <a:cubicBezTo>
                    <a:pt x="108" y="140"/>
                    <a:pt x="140" y="109"/>
                    <a:pt x="140" y="70"/>
                  </a:cubicBezTo>
                  <a:cubicBezTo>
                    <a:pt x="140" y="57"/>
                    <a:pt x="136" y="45"/>
                    <a:pt x="130" y="34"/>
                  </a:cubicBezTo>
                  <a:close/>
                  <a:moveTo>
                    <a:pt x="70" y="47"/>
                  </a:moveTo>
                  <a:cubicBezTo>
                    <a:pt x="73" y="47"/>
                    <a:pt x="77" y="48"/>
                    <a:pt x="80" y="49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86" y="32"/>
                    <a:pt x="78" y="29"/>
                    <a:pt x="70" y="29"/>
                  </a:cubicBezTo>
                  <a:cubicBezTo>
                    <a:pt x="47" y="29"/>
                    <a:pt x="29" y="48"/>
                    <a:pt x="29" y="70"/>
                  </a:cubicBezTo>
                  <a:cubicBezTo>
                    <a:pt x="29" y="93"/>
                    <a:pt x="47" y="111"/>
                    <a:pt x="70" y="111"/>
                  </a:cubicBezTo>
                  <a:cubicBezTo>
                    <a:pt x="92" y="111"/>
                    <a:pt x="111" y="93"/>
                    <a:pt x="111" y="70"/>
                  </a:cubicBezTo>
                  <a:cubicBezTo>
                    <a:pt x="111" y="62"/>
                    <a:pt x="108" y="54"/>
                    <a:pt x="104" y="48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2" y="64"/>
                    <a:pt x="93" y="67"/>
                    <a:pt x="93" y="70"/>
                  </a:cubicBezTo>
                  <a:cubicBezTo>
                    <a:pt x="93" y="83"/>
                    <a:pt x="83" y="94"/>
                    <a:pt x="70" y="94"/>
                  </a:cubicBezTo>
                  <a:cubicBezTo>
                    <a:pt x="57" y="94"/>
                    <a:pt x="46" y="83"/>
                    <a:pt x="46" y="70"/>
                  </a:cubicBezTo>
                  <a:cubicBezTo>
                    <a:pt x="46" y="57"/>
                    <a:pt x="57" y="47"/>
                    <a:pt x="70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096000" y="1846264"/>
            <a:ext cx="5343525" cy="990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两类风险</a:t>
            </a:r>
            <a:endParaRPr lang="zh-CN" altLang="en-US" b="1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342900" indent="-34290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Memory Poisoning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：把恶意内容写入长期记忆</a:t>
            </a: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知识库，形成跨会话后门</a:t>
            </a:r>
            <a:endParaRPr lang="zh-CN" altLang="en-US" sz="10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342900" indent="-34290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Embedding Weakness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：利用向量检索的相似度机制与</a:t>
            </a: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ACL/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索引缺陷，让</a:t>
            </a: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错误</a:t>
            </a: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越权内容</a:t>
            </a:r>
            <a:r>
              <a:rPr lang="en-US" altLang="zh-CN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更容易被召回并影响决策</a:t>
            </a:r>
            <a:endParaRPr lang="zh-CN" altLang="en-US" sz="1000" dirty="0"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41323" y="3088796"/>
            <a:ext cx="7958135" cy="297188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92534" y="3223260"/>
            <a:ext cx="3656720" cy="2644140"/>
          </a:xfrm>
          <a:prstGeom prst="rect">
            <a:avLst/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9B1313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4400" kern="0">
              <a:solidFill>
                <a:prstClr val="white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824822" y="3929380"/>
            <a:ext cx="3192145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charset="0"/>
              <a:buChar char=""/>
            </a:pP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记忆写入策略：只允许写被批准的字段与格式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（Allowlist 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字段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、TTL、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来源标注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）</a:t>
            </a:r>
            <a:endParaRPr lang="zh-CN" altLang="en-US" sz="1200" dirty="0">
              <a:solidFill>
                <a:sysClr val="window" lastClr="FFFFFF"/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charset="0"/>
              <a:buChar char=""/>
            </a:pP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记忆检索策略：检索出来的内容必须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可解释、可授权、可过滤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endParaRPr lang="en-US" altLang="zh-CN" sz="1200" dirty="0">
              <a:solidFill>
                <a:sysClr val="window" lastClr="FFFFFF"/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charset="0"/>
              <a:buChar char=""/>
            </a:pP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关键记忆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签名</a:t>
            </a:r>
            <a:r>
              <a:rPr lang="en-US" altLang="zh-CN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审批后写入：</a:t>
            </a:r>
            <a:r>
              <a:rPr lang="zh-CN" altLang="en-US" sz="1200" dirty="0">
                <a:solidFill>
                  <a:sysClr val="window" lastClr="FFFFFF"/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适用于一旦错了就会直接造成损失的字段</a:t>
            </a:r>
            <a:endParaRPr lang="zh-CN" altLang="en-US" sz="1200" dirty="0">
              <a:solidFill>
                <a:sysClr val="window" lastClr="FFFFFF"/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955374" y="3420477"/>
            <a:ext cx="2931041" cy="442676"/>
            <a:chOff x="3919364" y="3420477"/>
            <a:chExt cx="2931041" cy="442676"/>
          </a:xfrm>
        </p:grpSpPr>
        <p:sp>
          <p:nvSpPr>
            <p:cNvPr id="18" name="矩形: 圆角 103"/>
            <p:cNvSpPr/>
            <p:nvPr/>
          </p:nvSpPr>
          <p:spPr>
            <a:xfrm>
              <a:off x="3919364" y="3420477"/>
              <a:ext cx="2931041" cy="442676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964092" y="3504020"/>
              <a:ext cx="2738674" cy="275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9B1313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典型防护</a:t>
              </a:r>
              <a:endParaRPr lang="zh-CN" altLang="en-US" sz="1200" dirty="0">
                <a:solidFill>
                  <a:srgbClr val="9B1313"/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pic>
        <p:nvPicPr>
          <p:cNvPr id="2" name="图片 1" descr="Gemini_Generated_Image_uvyj4quvyj4quvyj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2515" y="3429000"/>
            <a:ext cx="3853180" cy="21507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7891" y="441479"/>
            <a:ext cx="81534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Unbounded Consumption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资源耗尽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 / Denial-of-Wallet /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无限循环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9590" y="1015365"/>
            <a:ext cx="11182350" cy="5527040"/>
          </a:xfrm>
          <a:prstGeom prst="rect">
            <a:avLst/>
          </a:prstGeom>
          <a:solidFill>
            <a:sysClr val="window" lastClr="FFFFFF">
              <a:alpha val="94000"/>
            </a:sysClr>
          </a:solidFill>
          <a:ln w="127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flipV="1">
            <a:off x="479425" y="1648460"/>
            <a:ext cx="50165" cy="54610"/>
          </a:xfrm>
          <a:prstGeom prst="triangle">
            <a:avLst>
              <a:gd name="adj" fmla="val 100000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479425" y="1040130"/>
            <a:ext cx="10814050" cy="783590"/>
            <a:chOff x="755" y="1638"/>
            <a:chExt cx="17030" cy="1234"/>
          </a:xfrm>
        </p:grpSpPr>
        <p:sp>
          <p:nvSpPr>
            <p:cNvPr id="5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73" y="1918"/>
              <a:ext cx="2912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sz="16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rPr>
                <a:t>重点</a:t>
              </a:r>
              <a:endParaRPr lang="zh-CN" altLang="en-US" sz="1600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361" y="1638"/>
              <a:ext cx="13424" cy="12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Agent 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最大的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工程型安全事故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”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之一不是泄密，而是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越跑越贵、越跑越久、停不下来</a:t>
              </a:r>
              <a:r>
                <a:rPr lang="en-US" altLang="zh-CN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”</a:t>
              </a:r>
              <a:r>
                <a:rPr lang="zh-CN" altLang="en-US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；所以必须给它加三道闸：</a:t>
              </a:r>
              <a:r>
                <a:rPr lang="zh-CN" altLang="en-US" dirty="0">
                  <a:solidFill>
                    <a:srgbClr val="C00000"/>
                  </a:solidFill>
                  <a:latin typeface="微软雅黑" charset="0"/>
                  <a:ea typeface="微软雅黑" charset="0"/>
                  <a:cs typeface="微软雅黑" charset="0"/>
                  <a:sym typeface="汉仪旗黑-55简" panose="00020600040101010101" pitchFamily="18" charset="-122"/>
                </a:rPr>
                <a:t>预算、循环上限、熔断降级</a:t>
              </a:r>
              <a:endParaRPr lang="zh-CN" altLang="en-US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0890" y="4069080"/>
            <a:ext cx="3503295" cy="442595"/>
            <a:chOff x="747066" y="4069151"/>
            <a:chExt cx="3503017" cy="442523"/>
          </a:xfrm>
          <a:solidFill>
            <a:srgbClr val="9B1313"/>
          </a:solidFill>
        </p:grpSpPr>
        <p:sp>
          <p:nvSpPr>
            <p:cNvPr id="10" name="矩形: 剪去单角 104"/>
            <p:cNvSpPr/>
            <p:nvPr/>
          </p:nvSpPr>
          <p:spPr>
            <a:xfrm flipV="1">
              <a:off x="747066" y="4069151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12149" y="4152640"/>
              <a:ext cx="3372852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1）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Budget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等线" charset="0"/>
                  <a:sym typeface="汉仪旗黑-55简" panose="00020600040101010101" pitchFamily="18" charset="-122"/>
                </a:rPr>
                <a:t>（预算配额）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344670" y="4108450"/>
            <a:ext cx="3527426" cy="442595"/>
            <a:chOff x="747066" y="4108515"/>
            <a:chExt cx="3527146" cy="442523"/>
          </a:xfrm>
          <a:solidFill>
            <a:srgbClr val="9B1313"/>
          </a:solidFill>
        </p:grpSpPr>
        <p:sp>
          <p:nvSpPr>
            <p:cNvPr id="13" name="矩形: 剪去单角 107"/>
            <p:cNvSpPr/>
            <p:nvPr/>
          </p:nvSpPr>
          <p:spPr>
            <a:xfrm flipV="1">
              <a:off x="747066" y="4108515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8337" y="4192004"/>
              <a:ext cx="3525875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2）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Loop Limits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（循环限制）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918609" y="4069080"/>
            <a:ext cx="3505835" cy="442595"/>
            <a:chOff x="747066" y="4069151"/>
            <a:chExt cx="3505557" cy="442523"/>
          </a:xfrm>
          <a:solidFill>
            <a:srgbClr val="9B1313"/>
          </a:solidFill>
        </p:grpSpPr>
        <p:sp>
          <p:nvSpPr>
            <p:cNvPr id="16" name="矩形: 剪去单角 110"/>
            <p:cNvSpPr/>
            <p:nvPr/>
          </p:nvSpPr>
          <p:spPr>
            <a:xfrm flipV="1">
              <a:off x="747066" y="4069151"/>
              <a:ext cx="3503017" cy="442523"/>
            </a:xfrm>
            <a:prstGeom prst="snip1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71194" y="4152640"/>
              <a:ext cx="3481429" cy="27554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algn="ctr"/>
              <a:r>
                <a:rPr lang="en-US" altLang="zh-CN" sz="1200" b="1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3）</a:t>
              </a:r>
              <a:r>
                <a:rPr lang="en-US" altLang="zh-CN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Circuit Breaker</a:t>
              </a:r>
              <a:r>
                <a:rPr lang="zh-CN" altLang="en-US" sz="1200" dirty="0">
                  <a:solidFill>
                    <a:sysClr val="window" lastClr="FFFFFF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（熔断器）</a:t>
              </a:r>
              <a:endParaRPr lang="zh-CN" altLang="en-US" sz="1200" dirty="0">
                <a:solidFill>
                  <a:sysClr val="window" lastClr="FFFFFF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8" name="任意多边形: 形状 112"/>
          <p:cNvSpPr/>
          <p:nvPr/>
        </p:nvSpPr>
        <p:spPr>
          <a:xfrm>
            <a:off x="2257425" y="4599305"/>
            <a:ext cx="3768725" cy="624840"/>
          </a:xfrm>
          <a:custGeom>
            <a:avLst/>
            <a:gdLst/>
            <a:ahLst/>
            <a:cxnLst/>
            <a:rect l="0" t="0" r="0" b="0"/>
            <a:pathLst>
              <a:path w="3718561" h="616375">
                <a:moveTo>
                  <a:pt x="0" y="0"/>
                </a:moveTo>
                <a:lnTo>
                  <a:pt x="0" y="225214"/>
                </a:lnTo>
                <a:cubicBezTo>
                  <a:pt x="0" y="295318"/>
                  <a:pt x="56896" y="352214"/>
                  <a:pt x="127000" y="352214"/>
                </a:cubicBezTo>
                <a:lnTo>
                  <a:pt x="3591560" y="352214"/>
                </a:lnTo>
                <a:cubicBezTo>
                  <a:pt x="3661664" y="352214"/>
                  <a:pt x="3718560" y="409110"/>
                  <a:pt x="3718560" y="479214"/>
                </a:cubicBezTo>
                <a:lnTo>
                  <a:pt x="3718560" y="616374"/>
                </a:lnTo>
              </a:path>
            </a:pathLst>
          </a:cu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19" name="任意多边形: 形状 113"/>
          <p:cNvSpPr/>
          <p:nvPr/>
        </p:nvSpPr>
        <p:spPr>
          <a:xfrm>
            <a:off x="6165850" y="4599305"/>
            <a:ext cx="3768725" cy="624840"/>
          </a:xfrm>
          <a:custGeom>
            <a:avLst/>
            <a:gdLst/>
            <a:ahLst/>
            <a:cxnLst/>
            <a:rect l="0" t="0" r="0" b="0"/>
            <a:pathLst>
              <a:path w="3718561" h="616375">
                <a:moveTo>
                  <a:pt x="3718560" y="0"/>
                </a:moveTo>
                <a:lnTo>
                  <a:pt x="3718560" y="225214"/>
                </a:lnTo>
                <a:cubicBezTo>
                  <a:pt x="3718560" y="295318"/>
                  <a:pt x="3661664" y="352214"/>
                  <a:pt x="3591560" y="352214"/>
                </a:cubicBezTo>
                <a:lnTo>
                  <a:pt x="127000" y="352214"/>
                </a:lnTo>
                <a:cubicBezTo>
                  <a:pt x="56896" y="352214"/>
                  <a:pt x="0" y="409110"/>
                  <a:pt x="0" y="479214"/>
                </a:cubicBezTo>
                <a:lnTo>
                  <a:pt x="0" y="616374"/>
                </a:lnTo>
              </a:path>
            </a:pathLst>
          </a:cu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096000" y="4599305"/>
            <a:ext cx="0" cy="62484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1" name="组合 20"/>
          <p:cNvGrpSpPr/>
          <p:nvPr/>
        </p:nvGrpSpPr>
        <p:grpSpPr>
          <a:xfrm>
            <a:off x="746760" y="5224146"/>
            <a:ext cx="10638790" cy="1089026"/>
            <a:chOff x="747066" y="5265054"/>
            <a:chExt cx="10638905" cy="577372"/>
          </a:xfrm>
        </p:grpSpPr>
        <p:sp>
          <p:nvSpPr>
            <p:cNvPr id="22" name="文本框 21"/>
            <p:cNvSpPr txBox="1"/>
            <p:nvPr/>
          </p:nvSpPr>
          <p:spPr>
            <a:xfrm>
              <a:off x="1694496" y="5358646"/>
              <a:ext cx="8743410" cy="39018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p>
              <a:pPr indent="0" algn="ctr">
                <a:buFont typeface="Wingdings" panose="05000000000000000000" charset="0"/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应对两种常见形态</a:t>
              </a:r>
              <a:endParaRPr lang="zh-CN" altLang="en-US" sz="16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ctr">
                <a:buFont typeface="Wingdings" panose="05000000000000000000" charset="0"/>
                <a:buChar char=""/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成本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DoS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（把系统拖死）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：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输入特别长、推理特别久、工具调用特别多</a:t>
              </a:r>
              <a:endParaRPr lang="zh-CN" altLang="en-US" sz="14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ctr">
                <a:buFont typeface="Wingdings" panose="05000000000000000000" charset="0"/>
                <a:buChar char=""/>
              </a:pP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Denial-of-Wallet：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高频调用付费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API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、付费检索、反复重试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反复搜索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直到找到答案</a:t>
              </a:r>
              <a:r>
                <a:rPr lang="en-US" altLang="zh-CN" sz="1400" dirty="0">
                  <a:solidFill>
                    <a:schemeClr val="tx1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endParaRPr lang="en-US" altLang="zh-CN" sz="1400" dirty="0">
                <a:solidFill>
                  <a:schemeClr val="tx1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47066" y="5265054"/>
              <a:ext cx="10638905" cy="577372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C00000">
                  <a:alpha val="20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752475" y="204279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1060" y="2042795"/>
            <a:ext cx="3245485" cy="1476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先把</a:t>
            </a:r>
            <a:r>
              <a:rPr lang="en-US" altLang="zh-CN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上限</a:t>
            </a:r>
            <a:r>
              <a:rPr lang="en-US" altLang="zh-CN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写死</a:t>
            </a:r>
            <a:endParaRPr lang="zh-CN" altLang="en-US" sz="1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endParaRPr lang="zh-CN" altLang="en-US" sz="1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给每个任务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会话设硬上限：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token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、时间、钱、工具次数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indent="-285750" algn="just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跑可以，但跑到一定程度必须停（否则永远会遇到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无底洞任务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）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351020" y="204279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481195" y="2042795"/>
            <a:ext cx="3245485" cy="15271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防止</a:t>
            </a:r>
            <a:r>
              <a:rPr lang="en-US" altLang="zh-CN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停不下来</a:t>
            </a:r>
            <a:r>
              <a:rPr lang="en-US" altLang="zh-CN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endParaRPr lang="en-US" altLang="zh-CN" sz="1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endParaRPr lang="en-US" altLang="zh-CN" sz="1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设定：最大循环次数、最大重试次数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失败策略：指数退避（越失败等越久）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+ 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到点直接中止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不允许无限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再试一次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”</a:t>
            </a:r>
            <a:endParaRPr lang="en-US" altLang="zh-CN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925435" y="2036445"/>
            <a:ext cx="3489960" cy="184404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101600" dist="38100" dir="2700000" algn="tl" rotWithShape="0">
              <a:srgbClr val="C00000">
                <a:alpha val="16000"/>
              </a:srgb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charset="0"/>
              <a:sym typeface="汉仪旗黑-55简" panose="00020600040101010101" pitchFamily="18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47990" y="2036445"/>
            <a:ext cx="3245485" cy="19253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None/>
            </a:pPr>
            <a:r>
              <a: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发现异常就自动降级</a:t>
            </a:r>
            <a:endParaRPr lang="zh-CN" altLang="en-US" sz="12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触发条件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628650" lvl="1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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调用速率异常飙升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628650" lvl="1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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参数异常（比如特别大的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top_k/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特别贵的检索模式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异常目的地）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628650" lvl="1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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错误率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/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超时率持续升高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  <a:p>
            <a:pPr marL="171450" lvl="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动作：把模式从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“自动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en-US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→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需确认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en-US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→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只读”</a:t>
            </a:r>
            <a:r>
              <a: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 </a:t>
            </a:r>
            <a:r>
              <a: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j-ea"/>
                <a:ea typeface="+mj-ea"/>
                <a:cs typeface="+mj-ea"/>
                <a:sym typeface="汉仪旗黑-55简" panose="00020600040101010101" pitchFamily="18" charset="-122"/>
              </a:rPr>
              <a:t>逐级降级</a:t>
            </a:r>
            <a:endParaRPr lang="zh-CN" altLang="en-US" sz="10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j-ea"/>
              <a:ea typeface="+mj-ea"/>
              <a:cs typeface="+mj-ea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7891" y="441479"/>
            <a:ext cx="713994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工程防护栈（</a:t>
            </a:r>
            <a:r>
              <a:rPr lang="en-US" altLang="zh-CN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Swiss Cheese / Defense-in-Depth</a:t>
            </a:r>
            <a:r>
              <a:rPr lang="zh-CN" altLang="en-US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）</a:t>
            </a:r>
            <a:endParaRPr lang="zh-CN" altLang="en-US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Microsoft Sans Serif" panose="020B0604020202020204" pitchFamily="34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788035" y="1023801"/>
            <a:ext cx="4330148" cy="1731844"/>
          </a:xfrm>
          <a:prstGeom prst="rect">
            <a:avLst/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6600" kern="0">
              <a:solidFill>
                <a:srgbClr val="FF0000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788035" y="1023801"/>
            <a:ext cx="4330148" cy="173184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127000" dist="101600" dir="270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790534" y="1017682"/>
            <a:ext cx="4330148" cy="406767"/>
          </a:xfrm>
          <a:prstGeom prst="rect">
            <a:avLst/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9B1313">
                <a:alpha val="18000"/>
              </a:srgbClr>
            </a:outerShdw>
          </a:effectLst>
        </p:spPr>
        <p:txBody>
          <a:bodyPr rtlCol="0" anchor="ctr"/>
          <a:p>
            <a:pPr algn="ctr"/>
            <a:endParaRPr lang="zh-CN" altLang="en-US" sz="4400" kern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28358" y="1067713"/>
            <a:ext cx="425450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对抗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直接注入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间接注入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记忆投毒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向量弱点</a:t>
            </a:r>
            <a:endParaRPr lang="zh-CN" altLang="en-US" sz="1400" dirty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62325" y="1492162"/>
            <a:ext cx="3811062" cy="1168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Prompt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把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用户意图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和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系统规则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结构化，减少被提示注入带偏</a:t>
            </a:r>
            <a:endParaRPr lang="zh-CN" altLang="en-US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Retrieval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：RAG/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记忆召回的内容默认不可信，要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引用隔离、清洗、来源标注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”</a:t>
            </a:r>
            <a:endParaRPr lang="en-US" altLang="zh-CN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7073817" y="1004103"/>
            <a:ext cx="4330148" cy="1731844"/>
          </a:xfrm>
          <a:prstGeom prst="rect">
            <a:avLst/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6600" kern="0">
              <a:solidFill>
                <a:srgbClr val="FF0000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7073817" y="1004103"/>
            <a:ext cx="4330148" cy="173184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127000" dist="101600" dir="270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7073817" y="997984"/>
            <a:ext cx="4330148" cy="406767"/>
          </a:xfrm>
          <a:prstGeom prst="rect">
            <a:avLst/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9B1313">
                <a:alpha val="18000"/>
              </a:srgbClr>
            </a:outerShdw>
          </a:effectLst>
        </p:spPr>
        <p:txBody>
          <a:bodyPr rtlCol="0" anchor="ctr"/>
          <a:p>
            <a:pPr algn="ctr"/>
            <a:endParaRPr lang="zh-CN" altLang="en-US" sz="4400" kern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073900" y="1048015"/>
            <a:ext cx="433070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应对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：Unbounded Consumption + 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事故响应</a:t>
            </a:r>
            <a:endParaRPr lang="zh-CN" altLang="en-US" sz="1400" dirty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7348107" y="1548664"/>
            <a:ext cx="3811062" cy="1168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作用：审计日志可回放、异常告警、风险评分触发降级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熔断</a:t>
            </a:r>
            <a:endParaRPr lang="en-US" altLang="zh-CN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理解：发现不对立刻止血，并且事后能追责复盘</a:t>
            </a:r>
            <a:endParaRPr lang="zh-CN" altLang="en-US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7073817" y="3853241"/>
            <a:ext cx="4330148" cy="1731844"/>
          </a:xfrm>
          <a:prstGeom prst="rect">
            <a:avLst/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6600" kern="0">
              <a:solidFill>
                <a:srgbClr val="FF0000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7073817" y="3853241"/>
            <a:ext cx="4330148" cy="173184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127000" dist="101600" dir="270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69" name="矩形 168"/>
          <p:cNvSpPr/>
          <p:nvPr/>
        </p:nvSpPr>
        <p:spPr>
          <a:xfrm>
            <a:off x="7073817" y="3847122"/>
            <a:ext cx="4330148" cy="406767"/>
          </a:xfrm>
          <a:prstGeom prst="rect">
            <a:avLst/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9B1313">
                <a:alpha val="18000"/>
              </a:srgbClr>
            </a:outerShdw>
          </a:effectLst>
        </p:spPr>
        <p:txBody>
          <a:bodyPr rtlCol="0" anchor="ctr"/>
          <a:p>
            <a:pPr algn="ctr"/>
            <a:endParaRPr lang="zh-CN" altLang="en-US" sz="4400" kern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7660403" y="3897153"/>
            <a:ext cx="3156977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控制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横向移动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 + 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权限爆炸半径</a:t>
            </a:r>
            <a:endParaRPr lang="zh-CN" altLang="en-US" sz="1400" dirty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348107" y="4397802"/>
            <a:ext cx="3811062" cy="1168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Sandbox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理解：把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srgbClr val="C00000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能错到多严重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锁住，降低横向移动与系统破坏面</a:t>
            </a:r>
            <a:endParaRPr lang="zh-CN" altLang="en-US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en-US" altLang="zh-CN" sz="14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Secrets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不给长期万能钥匙，即使泄露也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用不了多久、用不了太多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”</a:t>
            </a:r>
            <a:endParaRPr lang="en-US" altLang="zh-CN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788035" y="3869880"/>
            <a:ext cx="4330148" cy="1731844"/>
          </a:xfrm>
          <a:prstGeom prst="rect">
            <a:avLst/>
          </a:prstGeom>
          <a:solidFill>
            <a:srgbClr val="EEF2F9"/>
          </a:solidFill>
          <a:ln w="12700" cap="flat" cmpd="sng" algn="ctr">
            <a:noFill/>
            <a:prstDash val="solid"/>
            <a:miter lim="800000"/>
          </a:ln>
          <a:effectLst>
            <a:outerShdw blurRad="254000" dist="190500" dir="13500000" algn="br" rotWithShape="0">
              <a:srgbClr val="FFFFFF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6600" kern="0">
              <a:solidFill>
                <a:srgbClr val="FF0000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788035" y="3869880"/>
            <a:ext cx="4330148" cy="173184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127000" dist="101600" dir="270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789581" y="3863761"/>
            <a:ext cx="4330148" cy="406767"/>
          </a:xfrm>
          <a:prstGeom prst="rect">
            <a:avLst/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>
            <a:outerShdw blurRad="177800" dist="139700" dir="2700000" algn="tl" rotWithShape="0">
              <a:srgbClr val="9B1313">
                <a:alpha val="18000"/>
              </a:srgbClr>
            </a:outerShdw>
          </a:effectLst>
        </p:spPr>
        <p:txBody>
          <a:bodyPr rtlCol="0" anchor="ctr"/>
          <a:p>
            <a:pPr algn="ctr"/>
            <a:endParaRPr lang="zh-CN" altLang="en-US" sz="4400" kern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789305" y="3913792"/>
            <a:ext cx="4330700" cy="30670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对抗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：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越权执行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输出处理不当</a:t>
            </a:r>
            <a:r>
              <a:rPr lang="en-US" altLang="zh-CN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/</a:t>
            </a:r>
            <a:r>
              <a:rPr lang="zh-CN" altLang="en-US" sz="1400" dirty="0">
                <a:solidFill>
                  <a:prstClr val="white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过度自主</a:t>
            </a:r>
            <a:endParaRPr lang="zh-CN" altLang="en-US" sz="1400" dirty="0">
              <a:solidFill>
                <a:prstClr val="white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062325" y="4414441"/>
            <a:ext cx="3811062" cy="11684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作用：所有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 tool-call 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统一过网关做参数校验、</a:t>
            </a:r>
            <a:r>
              <a:rPr lang="en-US" altLang="zh-CN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allowlist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、速率限制、权限分级</a:t>
            </a:r>
            <a:endParaRPr lang="zh-CN" altLang="en-US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9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理解：就算模型</a:t>
            </a:r>
            <a:r>
              <a:rPr lang="zh-CN" altLang="en-US" sz="1400" dirty="0">
                <a:solidFill>
                  <a:srgbClr val="C00000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被骗</a:t>
            </a:r>
            <a:r>
              <a:rPr lang="zh-CN" altLang="en-US" sz="1400" dirty="0">
                <a:solidFill>
                  <a:prstClr val="black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，也不能随便执行危险动作</a:t>
            </a:r>
            <a:endParaRPr lang="zh-CN" altLang="en-US" sz="1400" dirty="0">
              <a:solidFill>
                <a:prstClr val="black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5392473" y="4869514"/>
            <a:ext cx="1422981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Sandbox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Secrets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1405808" y="3113113"/>
            <a:ext cx="1422981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Gateway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9225480" y="3088025"/>
            <a:ext cx="1422981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Monitor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grpSp>
        <p:nvGrpSpPr>
          <p:cNvPr id="180" name="组合 179"/>
          <p:cNvGrpSpPr/>
          <p:nvPr/>
        </p:nvGrpSpPr>
        <p:grpSpPr>
          <a:xfrm>
            <a:off x="5465810" y="2681888"/>
            <a:ext cx="1231782" cy="1231782"/>
            <a:chOff x="5418224" y="2695556"/>
            <a:chExt cx="1396420" cy="1396420"/>
          </a:xfrm>
        </p:grpSpPr>
        <p:sp>
          <p:nvSpPr>
            <p:cNvPr id="181" name="椭圆 180"/>
            <p:cNvSpPr/>
            <p:nvPr/>
          </p:nvSpPr>
          <p:spPr>
            <a:xfrm>
              <a:off x="5418224" y="2695556"/>
              <a:ext cx="1396420" cy="1396420"/>
            </a:xfrm>
            <a:prstGeom prst="ellipse">
              <a:avLst/>
            </a:prstGeom>
            <a:solidFill>
              <a:srgbClr val="9B1313"/>
            </a:solidFill>
            <a:ln w="34925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5621384" y="3010345"/>
              <a:ext cx="999087" cy="801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工程防护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83" name="箭头: 下 74"/>
          <p:cNvSpPr/>
          <p:nvPr/>
        </p:nvSpPr>
        <p:spPr>
          <a:xfrm>
            <a:off x="2638765" y="2816485"/>
            <a:ext cx="380048" cy="1028099"/>
          </a:xfrm>
          <a:prstGeom prst="downArrow">
            <a:avLst>
              <a:gd name="adj1" fmla="val 42481"/>
              <a:gd name="adj2" fmla="val 61967"/>
            </a:avLst>
          </a:prstGeom>
          <a:gradFill flip="none" rotWithShape="1">
            <a:gsLst>
              <a:gs pos="54900">
                <a:srgbClr val="BEBEBE"/>
              </a:gs>
              <a:gs pos="0">
                <a:sysClr val="window" lastClr="FFFFFF">
                  <a:lumMod val="50000"/>
                </a:sysClr>
              </a:gs>
              <a:gs pos="100000">
                <a:sysClr val="window" lastClr="FFFFFF">
                  <a:lumMod val="95000"/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4" name="箭头: 下 75"/>
          <p:cNvSpPr/>
          <p:nvPr/>
        </p:nvSpPr>
        <p:spPr>
          <a:xfrm rot="16200000">
            <a:off x="5905976" y="3813460"/>
            <a:ext cx="380048" cy="1805375"/>
          </a:xfrm>
          <a:prstGeom prst="downArrow">
            <a:avLst>
              <a:gd name="adj1" fmla="val 42481"/>
              <a:gd name="adj2" fmla="val 61967"/>
            </a:avLst>
          </a:prstGeom>
          <a:gradFill flip="none" rotWithShape="1">
            <a:gsLst>
              <a:gs pos="54900">
                <a:srgbClr val="BEBEBE"/>
              </a:gs>
              <a:gs pos="0">
                <a:sysClr val="window" lastClr="FFFFFF">
                  <a:lumMod val="50000"/>
                </a:sysClr>
              </a:gs>
              <a:gs pos="100000">
                <a:sysClr val="window" lastClr="FFFFFF">
                  <a:lumMod val="95000"/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5" name="箭头: 下 76"/>
          <p:cNvSpPr/>
          <p:nvPr/>
        </p:nvSpPr>
        <p:spPr>
          <a:xfrm flipV="1">
            <a:off x="8980625" y="2764872"/>
            <a:ext cx="380048" cy="1028099"/>
          </a:xfrm>
          <a:prstGeom prst="downArrow">
            <a:avLst>
              <a:gd name="adj1" fmla="val 42481"/>
              <a:gd name="adj2" fmla="val 61967"/>
            </a:avLst>
          </a:prstGeom>
          <a:gradFill flip="none" rotWithShape="1">
            <a:gsLst>
              <a:gs pos="54900">
                <a:srgbClr val="BEBEBE"/>
              </a:gs>
              <a:gs pos="0">
                <a:sysClr val="window" lastClr="FFFFFF">
                  <a:lumMod val="50000"/>
                </a:sysClr>
              </a:gs>
              <a:gs pos="100000">
                <a:sysClr val="window" lastClr="FFFFFF">
                  <a:lumMod val="95000"/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5330458" y="1871636"/>
            <a:ext cx="1422981" cy="6451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Prompt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  <a:p>
            <a:pPr algn="ctr"/>
            <a:r>
              <a:rPr lang="en-US" altLang="zh-CN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rPr>
              <a:t>Retrieval</a:t>
            </a:r>
            <a:endParaRPr lang="en-US" altLang="zh-CN" dirty="0">
              <a:solidFill>
                <a:sysClr val="windowText" lastClr="000000">
                  <a:lumMod val="85000"/>
                  <a:lumOff val="15000"/>
                </a:sysClr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7" name="箭头: 下 78"/>
          <p:cNvSpPr/>
          <p:nvPr/>
        </p:nvSpPr>
        <p:spPr>
          <a:xfrm rot="5400000" flipH="1">
            <a:off x="5889888" y="815916"/>
            <a:ext cx="380048" cy="1805375"/>
          </a:xfrm>
          <a:prstGeom prst="downArrow">
            <a:avLst>
              <a:gd name="adj1" fmla="val 42481"/>
              <a:gd name="adj2" fmla="val 61967"/>
            </a:avLst>
          </a:prstGeom>
          <a:gradFill flip="none" rotWithShape="1">
            <a:gsLst>
              <a:gs pos="54900">
                <a:srgbClr val="BEBEBE"/>
              </a:gs>
              <a:gs pos="0">
                <a:sysClr val="window" lastClr="FFFFFF">
                  <a:lumMod val="50000"/>
                </a:sysClr>
              </a:gs>
              <a:gs pos="100000">
                <a:sysClr val="window" lastClr="FFFFFF">
                  <a:lumMod val="95000"/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8" name="箭头: 下 79"/>
          <p:cNvSpPr/>
          <p:nvPr/>
        </p:nvSpPr>
        <p:spPr>
          <a:xfrm rot="7475650" flipH="1">
            <a:off x="5141748" y="2613209"/>
            <a:ext cx="300458" cy="427325"/>
          </a:xfrm>
          <a:prstGeom prst="downArrow">
            <a:avLst>
              <a:gd name="adj1" fmla="val 42481"/>
              <a:gd name="adj2" fmla="val 61967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89" name="箭头: 下 80"/>
          <p:cNvSpPr/>
          <p:nvPr/>
        </p:nvSpPr>
        <p:spPr>
          <a:xfrm rot="2580619" flipH="1">
            <a:off x="5136167" y="3458476"/>
            <a:ext cx="300458" cy="427325"/>
          </a:xfrm>
          <a:prstGeom prst="downArrow">
            <a:avLst>
              <a:gd name="adj1" fmla="val 42481"/>
              <a:gd name="adj2" fmla="val 61967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90" name="箭头: 下 81"/>
          <p:cNvSpPr/>
          <p:nvPr/>
        </p:nvSpPr>
        <p:spPr>
          <a:xfrm rot="14124350">
            <a:off x="6740287" y="2613209"/>
            <a:ext cx="300458" cy="427325"/>
          </a:xfrm>
          <a:prstGeom prst="downArrow">
            <a:avLst>
              <a:gd name="adj1" fmla="val 42481"/>
              <a:gd name="adj2" fmla="val 61967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sp>
        <p:nvSpPr>
          <p:cNvPr id="191" name="箭头: 下 82"/>
          <p:cNvSpPr/>
          <p:nvPr/>
        </p:nvSpPr>
        <p:spPr>
          <a:xfrm rot="19019381">
            <a:off x="6734706" y="3458476"/>
            <a:ext cx="300458" cy="427325"/>
          </a:xfrm>
          <a:prstGeom prst="downArrow">
            <a:avLst>
              <a:gd name="adj1" fmla="val 42481"/>
              <a:gd name="adj2" fmla="val 61967"/>
            </a:avLst>
          </a:prstGeom>
          <a:solidFill>
            <a:srgbClr val="9B13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grpSp>
        <p:nvGrpSpPr>
          <p:cNvPr id="192" name="组合 191"/>
          <p:cNvGrpSpPr/>
          <p:nvPr/>
        </p:nvGrpSpPr>
        <p:grpSpPr>
          <a:xfrm>
            <a:off x="788035" y="5730240"/>
            <a:ext cx="10615930" cy="783854"/>
            <a:chOff x="788035" y="5730240"/>
            <a:chExt cx="10615930" cy="783854"/>
          </a:xfrm>
        </p:grpSpPr>
        <p:sp>
          <p:nvSpPr>
            <p:cNvPr id="193" name="文本框 192"/>
            <p:cNvSpPr txBox="1"/>
            <p:nvPr/>
          </p:nvSpPr>
          <p:spPr>
            <a:xfrm>
              <a:off x="935565" y="5807339"/>
              <a:ext cx="10320867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不要指望某一个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万能防护</a:t>
              </a:r>
              <a:r>
                <a:rPr kumimoji="0" lang="en-US" altLang="zh-CN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挡住所有风险：把防护做成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六层纵深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，每层都能拦下一部分攻击，叠加后才接近</a:t>
              </a:r>
              <a:r>
                <a:rPr kumimoji="0" lang="zh-CN" altLang="en-US" sz="2000" i="0" u="none" strike="noStrike" kern="1200" cap="none" spc="0" normalizeH="0" baseline="0" noProof="0" dirty="0">
                  <a:ln>
                    <a:noFill/>
                  </a:ln>
                  <a:solidFill>
                    <a:srgbClr val="B10015"/>
                  </a:solidFill>
                  <a:effectLst/>
                  <a:uLnTx/>
                  <a:uFillTx/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可上线的安全性</a:t>
              </a:r>
              <a:endPara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B10015"/>
                </a:solidFill>
                <a:effectLst/>
                <a:uLnTx/>
                <a:uFillTx/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94" name="矩形 193"/>
            <p:cNvSpPr/>
            <p:nvPr/>
          </p:nvSpPr>
          <p:spPr>
            <a:xfrm>
              <a:off x="788035" y="5730240"/>
              <a:ext cx="10615930" cy="739775"/>
            </a:xfrm>
            <a:prstGeom prst="rect">
              <a:avLst/>
            </a:prstGeom>
            <a:noFill/>
            <a:ln w="15875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自主权边界与治理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640715" y="2837180"/>
            <a:ext cx="8299450" cy="1563370"/>
            <a:chOff x="1009" y="7056"/>
            <a:chExt cx="13070" cy="2462"/>
          </a:xfrm>
        </p:grpSpPr>
        <p:sp>
          <p:nvSpPr>
            <p:cNvPr id="45" name="矩形 44"/>
            <p:cNvSpPr/>
            <p:nvPr/>
          </p:nvSpPr>
          <p:spPr>
            <a:xfrm>
              <a:off x="1009" y="7056"/>
              <a:ext cx="13070" cy="2333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algn="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 Light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586" y="7224"/>
              <a:ext cx="7493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2.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半自动（</a:t>
              </a:r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Confirm-before-act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2000" spc="-150" dirty="0">
                  <a:solidFill>
                    <a:srgbClr val="FF9900"/>
                  </a:solidFill>
                  <a:latin typeface="微软雅黑" panose="020B0503020204020204" charset="-122"/>
                  <a:ea typeface="微软雅黑" panose="020B0503020204020204" charset="-122"/>
                  <a:sym typeface="Wingdings 3" panose="05040102010807070707" pitchFamily="18" charset="2"/>
                </a:rPr>
                <a:t></a:t>
              </a:r>
              <a:endParaRPr lang="zh-CN" altLang="en-US" sz="2000" spc="-150" dirty="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 rot="0">
              <a:off x="11362" y="7932"/>
              <a:ext cx="2717" cy="0"/>
              <a:chOff x="1211072" y="2722880"/>
              <a:chExt cx="1725168" cy="0"/>
            </a:xfrm>
          </p:grpSpPr>
          <p:cxnSp>
            <p:nvCxnSpPr>
              <p:cNvPr id="48" name="直接连接符 47"/>
              <p:cNvCxnSpPr/>
              <p:nvPr/>
            </p:nvCxnSpPr>
            <p:spPr>
              <a:xfrm>
                <a:off x="1211072" y="2722880"/>
                <a:ext cx="1725168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9" name="直接连接符 48"/>
              <p:cNvCxnSpPr/>
              <p:nvPr/>
            </p:nvCxnSpPr>
            <p:spPr>
              <a:xfrm>
                <a:off x="1211072" y="2722880"/>
                <a:ext cx="338328" cy="0"/>
              </a:xfrm>
              <a:prstGeom prst="line">
                <a:avLst/>
              </a:prstGeom>
              <a:noFill/>
              <a:ln w="5080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0" name="矩形 49"/>
            <p:cNvSpPr/>
            <p:nvPr/>
          </p:nvSpPr>
          <p:spPr>
            <a:xfrm>
              <a:off x="7322" y="7981"/>
              <a:ext cx="6757" cy="153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Agent 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可以准备好动作，但执行前必须确认</a:t>
              </a:r>
              <a:endParaRPr lang="en-US" altLang="zh-CN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适合：改配置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提交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PR/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发送邮件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创建工单等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“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可控但有影响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”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的操作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171450" indent="-1714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风险特点：关键在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“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确认界面是否让人真的看懂风险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”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40715" y="1193800"/>
            <a:ext cx="8299450" cy="1582420"/>
            <a:chOff x="1009" y="7056"/>
            <a:chExt cx="13070" cy="2492"/>
          </a:xfrm>
        </p:grpSpPr>
        <p:sp>
          <p:nvSpPr>
            <p:cNvPr id="52" name="矩形 51"/>
            <p:cNvSpPr/>
            <p:nvPr/>
          </p:nvSpPr>
          <p:spPr>
            <a:xfrm>
              <a:off x="1009" y="7056"/>
              <a:ext cx="13070" cy="2333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algn="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 Light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421" y="7235"/>
              <a:ext cx="865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3.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全自动（</a:t>
              </a:r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Autonomous / Continuous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zh-CN" altLang="en-US" sz="2000" spc="-150" dirty="0">
                  <a:solidFill>
                    <a:srgbClr val="FF9900"/>
                  </a:solidFill>
                  <a:latin typeface="微软雅黑" panose="020B0503020204020204" charset="-122"/>
                  <a:ea typeface="微软雅黑" panose="020B0503020204020204" charset="-122"/>
                  <a:sym typeface="Wingdings 3" panose="05040102010807070707" pitchFamily="18" charset="2"/>
                </a:rPr>
                <a:t></a:t>
              </a:r>
              <a:endParaRPr lang="zh-CN" altLang="en-US" sz="2000" spc="-150" dirty="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 rot="0">
              <a:off x="11362" y="7932"/>
              <a:ext cx="2717" cy="0"/>
              <a:chOff x="1211072" y="2722880"/>
              <a:chExt cx="1725168" cy="0"/>
            </a:xfrm>
          </p:grpSpPr>
          <p:cxnSp>
            <p:nvCxnSpPr>
              <p:cNvPr id="55" name="直接连接符 54"/>
              <p:cNvCxnSpPr/>
              <p:nvPr/>
            </p:nvCxnSpPr>
            <p:spPr>
              <a:xfrm>
                <a:off x="1211072" y="2722880"/>
                <a:ext cx="1725168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6" name="直接连接符 55"/>
              <p:cNvCxnSpPr/>
              <p:nvPr/>
            </p:nvCxnSpPr>
            <p:spPr>
              <a:xfrm>
                <a:off x="1211072" y="2722880"/>
                <a:ext cx="338328" cy="0"/>
              </a:xfrm>
              <a:prstGeom prst="line">
                <a:avLst/>
              </a:prstGeom>
              <a:noFill/>
              <a:ln w="5080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7" name="矩形 56"/>
            <p:cNvSpPr/>
            <p:nvPr/>
          </p:nvSpPr>
          <p:spPr>
            <a:xfrm>
              <a:off x="5093" y="8011"/>
              <a:ext cx="8986" cy="153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Agent 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持续运行、按计划循环执行（监控、排障、自动修复）</a:t>
              </a:r>
              <a:endParaRPr lang="en-US" altLang="zh-CN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适合：低风险、强约束、可回滚的流程；或成熟的企业内部自动化</a:t>
              </a:r>
              <a:endParaRPr lang="en-US" altLang="zh-CN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风险特点：一旦被误导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投毒，可能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“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自己把事故放大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”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，所以必须搭配预算、熔断、审计与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 Kill Switch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</p:txBody>
        </p:sp>
      </p:grpSp>
      <p:sp>
        <p:nvSpPr>
          <p:cNvPr id="2" name="文本框 3"/>
          <p:cNvSpPr txBox="1"/>
          <p:nvPr/>
        </p:nvSpPr>
        <p:spPr>
          <a:xfrm>
            <a:off x="387891" y="441479"/>
            <a:ext cx="57404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自主性分级</a:t>
            </a:r>
            <a:r>
              <a:rPr lang="en-US" altLang="zh-CN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 + HITL </a:t>
            </a:r>
            <a:r>
              <a:rPr lang="zh-CN" altLang="en-US" sz="24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Microsoft Sans Serif" panose="020B0604020202020204" pitchFamily="34" charset="0"/>
              </a:rPr>
              <a:t>的工程难点：批准疲劳</a:t>
            </a:r>
            <a:endParaRPr lang="zh-CN" altLang="en-US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Microsoft Sans Serif" panose="020B0604020202020204" pitchFamily="34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40715" y="4480560"/>
            <a:ext cx="8299450" cy="1501140"/>
            <a:chOff x="1009" y="7056"/>
            <a:chExt cx="13070" cy="2364"/>
          </a:xfrm>
        </p:grpSpPr>
        <p:sp>
          <p:nvSpPr>
            <p:cNvPr id="9" name="矩形 8"/>
            <p:cNvSpPr/>
            <p:nvPr/>
          </p:nvSpPr>
          <p:spPr>
            <a:xfrm>
              <a:off x="1009" y="7056"/>
              <a:ext cx="13070" cy="2333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algn="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 Light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694" y="7235"/>
              <a:ext cx="5385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1.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建议型（</a:t>
              </a:r>
              <a:r>
                <a:rPr lang="en-US" altLang="zh-CN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Advisory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r>
                <a:rPr lang="zh-CN" altLang="en-US" sz="2000" dirty="0">
                  <a:solidFill>
                    <a:srgbClr val="9B0D14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2000" spc="-150" dirty="0">
                  <a:solidFill>
                    <a:srgbClr val="FF9900"/>
                  </a:solidFill>
                  <a:latin typeface="微软雅黑" panose="020B0503020204020204" charset="-122"/>
                  <a:ea typeface="微软雅黑" panose="020B0503020204020204" charset="-122"/>
                  <a:sym typeface="Wingdings 3" panose="05040102010807070707" pitchFamily="18" charset="2"/>
                </a:rPr>
                <a:t></a:t>
              </a:r>
              <a:endParaRPr lang="zh-CN" altLang="en-US" sz="2000" spc="-150" dirty="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 rot="0">
              <a:off x="11362" y="7932"/>
              <a:ext cx="2717" cy="0"/>
              <a:chOff x="1211072" y="2722880"/>
              <a:chExt cx="1725168" cy="0"/>
            </a:xfrm>
          </p:grpSpPr>
          <p:cxnSp>
            <p:nvCxnSpPr>
              <p:cNvPr id="22" name="直接连接符 21"/>
              <p:cNvCxnSpPr/>
              <p:nvPr/>
            </p:nvCxnSpPr>
            <p:spPr>
              <a:xfrm>
                <a:off x="1211072" y="2722880"/>
                <a:ext cx="1725168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>
              <a:xfrm>
                <a:off x="1211072" y="2722880"/>
                <a:ext cx="338328" cy="0"/>
              </a:xfrm>
              <a:prstGeom prst="line">
                <a:avLst/>
              </a:prstGeom>
              <a:noFill/>
              <a:ln w="50800" cap="flat" cmpd="sng" algn="ctr">
                <a:solidFill>
                  <a:srgbClr val="9B0D14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4" name="矩形 23"/>
            <p:cNvSpPr/>
            <p:nvPr/>
          </p:nvSpPr>
          <p:spPr>
            <a:xfrm>
              <a:off x="7322" y="8231"/>
              <a:ext cx="6757" cy="118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Agent 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只输出建议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/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计划，不直接调用工具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适合：搜索总结、写邮件草稿、给操作步骤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风险特点：主要是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“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说错</a:t>
              </a:r>
              <a:r>
                <a:rPr lang="en-US" altLang="zh-CN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”</a:t>
              </a:r>
              <a:r>
                <a:rPr lang="zh-CN" altLang="en-US" sz="1200" b="0" i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latin typeface="+mj-ea"/>
                  <a:ea typeface="+mj-ea"/>
                  <a:cs typeface="+mj-ea"/>
                </a:rPr>
                <a:t>，不直接造成不可逆行动</a:t>
              </a:r>
              <a:endParaRPr lang="zh-CN" altLang="en-US" sz="1200" b="0" i="0" dirty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+mj-ea"/>
                <a:ea typeface="+mj-ea"/>
                <a:cs typeface="+mj-ea"/>
              </a:endParaRPr>
            </a:p>
          </p:txBody>
        </p:sp>
      </p:grpSp>
      <p:graphicFrame>
        <p:nvGraphicFramePr>
          <p:cNvPr id="25" name="图示 24"/>
          <p:cNvGraphicFramePr/>
          <p:nvPr/>
        </p:nvGraphicFramePr>
        <p:xfrm>
          <a:off x="275762" y="1367211"/>
          <a:ext cx="4623335" cy="488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8" name="组合 57"/>
          <p:cNvGrpSpPr/>
          <p:nvPr/>
        </p:nvGrpSpPr>
        <p:grpSpPr>
          <a:xfrm>
            <a:off x="9354820" y="1193165"/>
            <a:ext cx="2473325" cy="4807498"/>
            <a:chOff x="14732" y="1649"/>
            <a:chExt cx="3895" cy="7804"/>
          </a:xfrm>
        </p:grpSpPr>
        <p:sp>
          <p:nvSpPr>
            <p:cNvPr id="103" name="矩形: 圆角 102"/>
            <p:cNvSpPr/>
            <p:nvPr/>
          </p:nvSpPr>
          <p:spPr>
            <a:xfrm flipV="1">
              <a:off x="14732" y="1649"/>
              <a:ext cx="3895" cy="7699"/>
            </a:xfrm>
            <a:prstGeom prst="roundRect">
              <a:avLst>
                <a:gd name="adj" fmla="val 0"/>
              </a:avLst>
            </a:prstGeom>
            <a:noFill/>
            <a:ln w="15875" cap="flat" cmpd="sng" algn="ctr">
              <a:gradFill flip="none" rotWithShape="1">
                <a:gsLst>
                  <a:gs pos="0">
                    <a:srgbClr val="9B1313"/>
                  </a:gs>
                  <a:gs pos="100000">
                    <a:srgbClr val="C00000">
                      <a:alpha val="0"/>
                    </a:srgb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5101" y="1737"/>
              <a:ext cx="3158" cy="416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9B1313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批准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9B1313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疲劳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14807" y="2687"/>
              <a:ext cx="3820" cy="67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为什么</a:t>
              </a:r>
              <a:r>
                <a:rPr kumimoji="0" lang="en-US" altLang="zh-CN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每步都问</a:t>
              </a:r>
              <a:r>
                <a:rPr kumimoji="0" lang="en-US" altLang="zh-CN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反而更危险</a:t>
              </a:r>
              <a:r>
                <a:rPr kumimoji="0" lang="en-US" altLang="zh-CN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？</a:t>
              </a:r>
              <a:endParaRPr kumimoji="0" lang="en-US" altLang="zh-CN" sz="120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marR="0" lvl="0" indent="-2857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弹窗太多时，人会形成条件反射：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先点同意再说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，确认变成走过场</a:t>
              </a:r>
              <a:endPara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改法</a:t>
              </a:r>
              <a:endParaRPr kumimoji="0" lang="zh-CN" altLang="en-US" sz="120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marR="0" lvl="0" indent="-2857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风险聚合审批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：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思路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--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不要让用户对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每个小动作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确认，而是把一串动作合并成一个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证据包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来批</a:t>
              </a:r>
              <a:endPara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marR="0" lvl="0" indent="-2857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预览</a:t>
              </a:r>
              <a:r>
                <a:rPr kumimoji="0" lang="en-US" altLang="zh-CN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kumimoji="0" lang="zh-CN" altLang="en-US" sz="1200" i="0" u="sng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证据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：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每次审批必须展示三样东西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——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将要执行的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API/tool-call+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影响范围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+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来源引用</a:t>
              </a:r>
              <a:endPara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marR="0" lvl="0" indent="-2857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Diff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（差异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变更视图）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：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把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 Agent“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准备执行的写操作</a:t>
              </a:r>
              <a:r>
                <a:rPr kumimoji="0" lang="en-US" altLang="zh-CN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kumimoji="0" lang="zh-CN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ea"/>
                  <a:sym typeface="汉仪旗黑-55简" panose="00020600040101010101" pitchFamily="18" charset="-122"/>
                </a:rPr>
                <a:t>用对比形式展示出来</a:t>
              </a:r>
              <a:endPara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96087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治理机制：边界、预算、可追责、可停止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2440" y="1043940"/>
            <a:ext cx="11071860" cy="461645"/>
            <a:chOff x="744" y="1644"/>
            <a:chExt cx="17436" cy="727"/>
          </a:xfrm>
        </p:grpSpPr>
        <p:sp>
          <p:nvSpPr>
            <p:cNvPr id="89" name="矩形 88"/>
            <p:cNvSpPr/>
            <p:nvPr/>
          </p:nvSpPr>
          <p:spPr>
            <a:xfrm>
              <a:off x="744" y="1644"/>
              <a:ext cx="17436" cy="727"/>
            </a:xfrm>
            <a:prstGeom prst="rect">
              <a:avLst/>
            </a:prstGeom>
            <a:noFill/>
            <a:ln w="15875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744" y="1644"/>
              <a:ext cx="2865" cy="727"/>
            </a:xfrm>
            <a:custGeom>
              <a:avLst/>
              <a:gdLst>
                <a:gd name="connsiteX0" fmla="*/ 0 w 1819275"/>
                <a:gd name="connsiteY0" fmla="*/ 0 h 461665"/>
                <a:gd name="connsiteX1" fmla="*/ 1819275 w 1819275"/>
                <a:gd name="connsiteY1" fmla="*/ 0 h 461665"/>
                <a:gd name="connsiteX2" fmla="*/ 1637905 w 1819275"/>
                <a:gd name="connsiteY2" fmla="*/ 461665 h 461665"/>
                <a:gd name="connsiteX3" fmla="*/ 0 w 1819275"/>
                <a:gd name="connsiteY3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275" h="461665">
                  <a:moveTo>
                    <a:pt x="0" y="0"/>
                  </a:moveTo>
                  <a:lnTo>
                    <a:pt x="1819275" y="0"/>
                  </a:lnTo>
                  <a:lnTo>
                    <a:pt x="1637905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5875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933" y="1695"/>
              <a:ext cx="2403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prstClr val="white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治理机制</a:t>
              </a:r>
              <a:endParaRPr lang="zh-CN" altLang="en-US" sz="2000" b="1" dirty="0">
                <a:solidFill>
                  <a:prstClr val="white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818" y="1717"/>
              <a:ext cx="14026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解决什么问题：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Agent 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会持续运行、会调用工具，不能只靠模型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自觉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”</a:t>
              </a:r>
              <a:endPara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3183890" y="2146300"/>
            <a:ext cx="1864360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oval"/>
          </a:ln>
          <a:effectLst/>
        </p:spPr>
      </p:cxnSp>
      <p:cxnSp>
        <p:nvCxnSpPr>
          <p:cNvPr id="57" name="直接连接符 56"/>
          <p:cNvCxnSpPr/>
          <p:nvPr/>
        </p:nvCxnSpPr>
        <p:spPr>
          <a:xfrm>
            <a:off x="3183890" y="6452870"/>
            <a:ext cx="1842770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oval"/>
          </a:ln>
          <a:effectLst/>
        </p:spPr>
      </p:cxnSp>
      <p:grpSp>
        <p:nvGrpSpPr>
          <p:cNvPr id="71" name="组合 70"/>
          <p:cNvGrpSpPr/>
          <p:nvPr/>
        </p:nvGrpSpPr>
        <p:grpSpPr>
          <a:xfrm>
            <a:off x="3885565" y="2849245"/>
            <a:ext cx="2476500" cy="2867660"/>
            <a:chOff x="6119" y="4304"/>
            <a:chExt cx="3900" cy="4516"/>
          </a:xfrm>
        </p:grpSpPr>
        <p:grpSp>
          <p:nvGrpSpPr>
            <p:cNvPr id="24" name="组合 23"/>
            <p:cNvGrpSpPr/>
            <p:nvPr/>
          </p:nvGrpSpPr>
          <p:grpSpPr>
            <a:xfrm>
              <a:off x="6119" y="4561"/>
              <a:ext cx="3900" cy="3927"/>
              <a:chOff x="6707" y="1675"/>
              <a:chExt cx="5967" cy="6009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6707" y="1675"/>
                <a:ext cx="5967" cy="6009"/>
                <a:chOff x="7208334" y="3778690"/>
                <a:chExt cx="668337" cy="673100"/>
              </a:xfrm>
            </p:grpSpPr>
            <p:sp>
              <p:nvSpPr>
                <p:cNvPr id="34" name="Freeform 52"/>
                <p:cNvSpPr/>
                <p:nvPr/>
              </p:nvSpPr>
              <p:spPr bwMode="auto">
                <a:xfrm>
                  <a:off x="7208334" y="3778690"/>
                  <a:ext cx="390525" cy="434975"/>
                </a:xfrm>
                <a:custGeom>
                  <a:avLst/>
                  <a:gdLst>
                    <a:gd name="T0" fmla="*/ 294 w 1039"/>
                    <a:gd name="T1" fmla="*/ 465 h 1158"/>
                    <a:gd name="T2" fmla="*/ 735 w 1039"/>
                    <a:gd name="T3" fmla="*/ 219 h 1158"/>
                    <a:gd name="T4" fmla="*/ 748 w 1039"/>
                    <a:gd name="T5" fmla="*/ 218 h 1158"/>
                    <a:gd name="T6" fmla="*/ 760 w 1039"/>
                    <a:gd name="T7" fmla="*/ 216 h 1158"/>
                    <a:gd name="T8" fmla="*/ 759 w 1039"/>
                    <a:gd name="T9" fmla="*/ 309 h 1158"/>
                    <a:gd name="T10" fmla="*/ 772 w 1039"/>
                    <a:gd name="T11" fmla="*/ 327 h 1158"/>
                    <a:gd name="T12" fmla="*/ 776 w 1039"/>
                    <a:gd name="T13" fmla="*/ 326 h 1158"/>
                    <a:gd name="T14" fmla="*/ 1029 w 1039"/>
                    <a:gd name="T15" fmla="*/ 184 h 1158"/>
                    <a:gd name="T16" fmla="*/ 1039 w 1039"/>
                    <a:gd name="T17" fmla="*/ 168 h 1158"/>
                    <a:gd name="T18" fmla="*/ 1030 w 1039"/>
                    <a:gd name="T19" fmla="*/ 151 h 1158"/>
                    <a:gd name="T20" fmla="*/ 780 w 1039"/>
                    <a:gd name="T21" fmla="*/ 2 h 1158"/>
                    <a:gd name="T22" fmla="*/ 777 w 1039"/>
                    <a:gd name="T23" fmla="*/ 0 h 1158"/>
                    <a:gd name="T24" fmla="*/ 763 w 1039"/>
                    <a:gd name="T25" fmla="*/ 18 h 1158"/>
                    <a:gd name="T26" fmla="*/ 762 w 1039"/>
                    <a:gd name="T27" fmla="*/ 98 h 1158"/>
                    <a:gd name="T28" fmla="*/ 752 w 1039"/>
                    <a:gd name="T29" fmla="*/ 100 h 1158"/>
                    <a:gd name="T30" fmla="*/ 740 w 1039"/>
                    <a:gd name="T31" fmla="*/ 101 h 1158"/>
                    <a:gd name="T32" fmla="*/ 0 w 1039"/>
                    <a:gd name="T33" fmla="*/ 943 h 1158"/>
                    <a:gd name="T34" fmla="*/ 28 w 1039"/>
                    <a:gd name="T35" fmla="*/ 1158 h 1158"/>
                    <a:gd name="T36" fmla="*/ 28 w 1039"/>
                    <a:gd name="T37" fmla="*/ 1141 h 1158"/>
                    <a:gd name="T38" fmla="*/ 51 w 1039"/>
                    <a:gd name="T39" fmla="*/ 1106 h 1158"/>
                    <a:gd name="T40" fmla="*/ 93 w 1039"/>
                    <a:gd name="T41" fmla="*/ 1107 h 1158"/>
                    <a:gd name="T42" fmla="*/ 144 w 1039"/>
                    <a:gd name="T43" fmla="*/ 1140 h 1158"/>
                    <a:gd name="T44" fmla="*/ 117 w 1039"/>
                    <a:gd name="T45" fmla="*/ 943 h 1158"/>
                    <a:gd name="T46" fmla="*/ 294 w 1039"/>
                    <a:gd name="T47" fmla="*/ 465 h 1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039" h="1158">
                      <a:moveTo>
                        <a:pt x="294" y="465"/>
                      </a:moveTo>
                      <a:cubicBezTo>
                        <a:pt x="408" y="333"/>
                        <a:pt x="564" y="246"/>
                        <a:pt x="735" y="219"/>
                      </a:cubicBezTo>
                      <a:cubicBezTo>
                        <a:pt x="739" y="219"/>
                        <a:pt x="743" y="218"/>
                        <a:pt x="748" y="218"/>
                      </a:cubicBezTo>
                      <a:cubicBezTo>
                        <a:pt x="760" y="216"/>
                        <a:pt x="760" y="216"/>
                        <a:pt x="760" y="216"/>
                      </a:cubicBezTo>
                      <a:cubicBezTo>
                        <a:pt x="759" y="309"/>
                        <a:pt x="759" y="309"/>
                        <a:pt x="759" y="309"/>
                      </a:cubicBezTo>
                      <a:cubicBezTo>
                        <a:pt x="759" y="319"/>
                        <a:pt x="766" y="325"/>
                        <a:pt x="772" y="327"/>
                      </a:cubicBezTo>
                      <a:cubicBezTo>
                        <a:pt x="774" y="327"/>
                        <a:pt x="775" y="327"/>
                        <a:pt x="776" y="326"/>
                      </a:cubicBezTo>
                      <a:cubicBezTo>
                        <a:pt x="1029" y="184"/>
                        <a:pt x="1029" y="184"/>
                        <a:pt x="1029" y="184"/>
                      </a:cubicBezTo>
                      <a:cubicBezTo>
                        <a:pt x="1035" y="181"/>
                        <a:pt x="1039" y="175"/>
                        <a:pt x="1039" y="168"/>
                      </a:cubicBezTo>
                      <a:cubicBezTo>
                        <a:pt x="1039" y="161"/>
                        <a:pt x="1036" y="154"/>
                        <a:pt x="1030" y="151"/>
                      </a:cubicBezTo>
                      <a:cubicBezTo>
                        <a:pt x="780" y="2"/>
                        <a:pt x="780" y="2"/>
                        <a:pt x="780" y="2"/>
                      </a:cubicBezTo>
                      <a:cubicBezTo>
                        <a:pt x="779" y="1"/>
                        <a:pt x="778" y="1"/>
                        <a:pt x="777" y="0"/>
                      </a:cubicBezTo>
                      <a:cubicBezTo>
                        <a:pt x="770" y="2"/>
                        <a:pt x="763" y="9"/>
                        <a:pt x="763" y="18"/>
                      </a:cubicBezTo>
                      <a:cubicBezTo>
                        <a:pt x="762" y="98"/>
                        <a:pt x="762" y="98"/>
                        <a:pt x="762" y="98"/>
                      </a:cubicBezTo>
                      <a:cubicBezTo>
                        <a:pt x="752" y="100"/>
                        <a:pt x="752" y="100"/>
                        <a:pt x="752" y="100"/>
                      </a:cubicBezTo>
                      <a:cubicBezTo>
                        <a:pt x="748" y="100"/>
                        <a:pt x="744" y="100"/>
                        <a:pt x="740" y="101"/>
                      </a:cubicBezTo>
                      <a:cubicBezTo>
                        <a:pt x="318" y="155"/>
                        <a:pt x="0" y="517"/>
                        <a:pt x="0" y="943"/>
                      </a:cubicBezTo>
                      <a:cubicBezTo>
                        <a:pt x="0" y="1016"/>
                        <a:pt x="9" y="1088"/>
                        <a:pt x="28" y="1158"/>
                      </a:cubicBezTo>
                      <a:cubicBezTo>
                        <a:pt x="28" y="1141"/>
                        <a:pt x="28" y="1141"/>
                        <a:pt x="28" y="1141"/>
                      </a:cubicBezTo>
                      <a:cubicBezTo>
                        <a:pt x="29" y="1126"/>
                        <a:pt x="38" y="1113"/>
                        <a:pt x="51" y="1106"/>
                      </a:cubicBezTo>
                      <a:cubicBezTo>
                        <a:pt x="64" y="1099"/>
                        <a:pt x="80" y="1099"/>
                        <a:pt x="93" y="1107"/>
                      </a:cubicBezTo>
                      <a:cubicBezTo>
                        <a:pt x="144" y="1140"/>
                        <a:pt x="144" y="1140"/>
                        <a:pt x="144" y="1140"/>
                      </a:cubicBezTo>
                      <a:cubicBezTo>
                        <a:pt x="126" y="1076"/>
                        <a:pt x="117" y="1010"/>
                        <a:pt x="117" y="943"/>
                      </a:cubicBezTo>
                      <a:cubicBezTo>
                        <a:pt x="117" y="767"/>
                        <a:pt x="180" y="597"/>
                        <a:pt x="294" y="465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35" name="Freeform 53"/>
                <p:cNvSpPr/>
                <p:nvPr/>
              </p:nvSpPr>
              <p:spPr bwMode="auto">
                <a:xfrm>
                  <a:off x="7225796" y="4205727"/>
                  <a:ext cx="576262" cy="246063"/>
                </a:xfrm>
                <a:custGeom>
                  <a:avLst/>
                  <a:gdLst>
                    <a:gd name="T0" fmla="*/ 472 w 1535"/>
                    <a:gd name="T1" fmla="*/ 458 h 655"/>
                    <a:gd name="T2" fmla="*/ 219 w 1535"/>
                    <a:gd name="T3" fmla="*/ 244 h 655"/>
                    <a:gd name="T4" fmla="*/ 209 w 1535"/>
                    <a:gd name="T5" fmla="*/ 231 h 655"/>
                    <a:gd name="T6" fmla="*/ 202 w 1535"/>
                    <a:gd name="T7" fmla="*/ 220 h 655"/>
                    <a:gd name="T8" fmla="*/ 281 w 1535"/>
                    <a:gd name="T9" fmla="*/ 179 h 655"/>
                    <a:gd name="T10" fmla="*/ 292 w 1535"/>
                    <a:gd name="T11" fmla="*/ 164 h 655"/>
                    <a:gd name="T12" fmla="*/ 288 w 1535"/>
                    <a:gd name="T13" fmla="*/ 160 h 655"/>
                    <a:gd name="T14" fmla="*/ 43 w 1535"/>
                    <a:gd name="T15" fmla="*/ 4 h 655"/>
                    <a:gd name="T16" fmla="*/ 23 w 1535"/>
                    <a:gd name="T17" fmla="*/ 3 h 655"/>
                    <a:gd name="T18" fmla="*/ 13 w 1535"/>
                    <a:gd name="T19" fmla="*/ 20 h 655"/>
                    <a:gd name="T20" fmla="*/ 0 w 1535"/>
                    <a:gd name="T21" fmla="*/ 309 h 655"/>
                    <a:gd name="T22" fmla="*/ 23 w 1535"/>
                    <a:gd name="T23" fmla="*/ 313 h 655"/>
                    <a:gd name="T24" fmla="*/ 98 w 1535"/>
                    <a:gd name="T25" fmla="*/ 274 h 655"/>
                    <a:gd name="T26" fmla="*/ 104 w 1535"/>
                    <a:gd name="T27" fmla="*/ 283 h 655"/>
                    <a:gd name="T28" fmla="*/ 112 w 1535"/>
                    <a:gd name="T29" fmla="*/ 295 h 655"/>
                    <a:gd name="T30" fmla="*/ 806 w 1535"/>
                    <a:gd name="T31" fmla="*/ 655 h 655"/>
                    <a:gd name="T32" fmla="*/ 1535 w 1535"/>
                    <a:gd name="T33" fmla="*/ 242 h 655"/>
                    <a:gd name="T34" fmla="*/ 1498 w 1535"/>
                    <a:gd name="T35" fmla="*/ 267 h 655"/>
                    <a:gd name="T36" fmla="*/ 1456 w 1535"/>
                    <a:gd name="T37" fmla="*/ 271 h 655"/>
                    <a:gd name="T38" fmla="*/ 1432 w 1535"/>
                    <a:gd name="T39" fmla="*/ 236 h 655"/>
                    <a:gd name="T40" fmla="*/ 1429 w 1535"/>
                    <a:gd name="T41" fmla="*/ 192 h 655"/>
                    <a:gd name="T42" fmla="*/ 806 w 1535"/>
                    <a:gd name="T43" fmla="*/ 539 h 655"/>
                    <a:gd name="T44" fmla="*/ 472 w 1535"/>
                    <a:gd name="T45" fmla="*/ 458 h 6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535" h="655">
                      <a:moveTo>
                        <a:pt x="472" y="458"/>
                      </a:moveTo>
                      <a:cubicBezTo>
                        <a:pt x="373" y="407"/>
                        <a:pt x="286" y="333"/>
                        <a:pt x="219" y="244"/>
                      </a:cubicBezTo>
                      <a:cubicBezTo>
                        <a:pt x="216" y="239"/>
                        <a:pt x="212" y="235"/>
                        <a:pt x="209" y="231"/>
                      </a:cubicBezTo>
                      <a:cubicBezTo>
                        <a:pt x="202" y="220"/>
                        <a:pt x="202" y="220"/>
                        <a:pt x="202" y="220"/>
                      </a:cubicBezTo>
                      <a:cubicBezTo>
                        <a:pt x="281" y="179"/>
                        <a:pt x="281" y="179"/>
                        <a:pt x="281" y="179"/>
                      </a:cubicBezTo>
                      <a:cubicBezTo>
                        <a:pt x="288" y="175"/>
                        <a:pt x="291" y="169"/>
                        <a:pt x="292" y="164"/>
                      </a:cubicBezTo>
                      <a:cubicBezTo>
                        <a:pt x="290" y="162"/>
                        <a:pt x="289" y="161"/>
                        <a:pt x="288" y="160"/>
                      </a:cubicBezTo>
                      <a:cubicBezTo>
                        <a:pt x="43" y="4"/>
                        <a:pt x="43" y="4"/>
                        <a:pt x="43" y="4"/>
                      </a:cubicBezTo>
                      <a:cubicBezTo>
                        <a:pt x="37" y="0"/>
                        <a:pt x="29" y="0"/>
                        <a:pt x="23" y="3"/>
                      </a:cubicBezTo>
                      <a:cubicBezTo>
                        <a:pt x="17" y="7"/>
                        <a:pt x="13" y="13"/>
                        <a:pt x="13" y="20"/>
                      </a:cubicBezTo>
                      <a:cubicBezTo>
                        <a:pt x="0" y="309"/>
                        <a:pt x="0" y="309"/>
                        <a:pt x="0" y="309"/>
                      </a:cubicBezTo>
                      <a:cubicBezTo>
                        <a:pt x="5" y="315"/>
                        <a:pt x="15" y="318"/>
                        <a:pt x="23" y="313"/>
                      </a:cubicBezTo>
                      <a:cubicBezTo>
                        <a:pt x="98" y="274"/>
                        <a:pt x="98" y="274"/>
                        <a:pt x="98" y="274"/>
                      </a:cubicBezTo>
                      <a:cubicBezTo>
                        <a:pt x="104" y="283"/>
                        <a:pt x="104" y="283"/>
                        <a:pt x="104" y="283"/>
                      </a:cubicBezTo>
                      <a:cubicBezTo>
                        <a:pt x="106" y="287"/>
                        <a:pt x="109" y="291"/>
                        <a:pt x="112" y="295"/>
                      </a:cubicBezTo>
                      <a:cubicBezTo>
                        <a:pt x="271" y="521"/>
                        <a:pt x="531" y="655"/>
                        <a:pt x="806" y="655"/>
                      </a:cubicBezTo>
                      <a:cubicBezTo>
                        <a:pt x="1107" y="655"/>
                        <a:pt x="1382" y="498"/>
                        <a:pt x="1535" y="242"/>
                      </a:cubicBezTo>
                      <a:cubicBezTo>
                        <a:pt x="1498" y="267"/>
                        <a:pt x="1498" y="267"/>
                        <a:pt x="1498" y="267"/>
                      </a:cubicBezTo>
                      <a:cubicBezTo>
                        <a:pt x="1485" y="276"/>
                        <a:pt x="1470" y="277"/>
                        <a:pt x="1456" y="271"/>
                      </a:cubicBezTo>
                      <a:cubicBezTo>
                        <a:pt x="1442" y="264"/>
                        <a:pt x="1433" y="251"/>
                        <a:pt x="1432" y="236"/>
                      </a:cubicBezTo>
                      <a:cubicBezTo>
                        <a:pt x="1429" y="192"/>
                        <a:pt x="1429" y="192"/>
                        <a:pt x="1429" y="192"/>
                      </a:cubicBezTo>
                      <a:cubicBezTo>
                        <a:pt x="1296" y="407"/>
                        <a:pt x="1060" y="539"/>
                        <a:pt x="806" y="539"/>
                      </a:cubicBezTo>
                      <a:cubicBezTo>
                        <a:pt x="689" y="539"/>
                        <a:pt x="576" y="512"/>
                        <a:pt x="472" y="458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36" name="Freeform 54"/>
                <p:cNvSpPr/>
                <p:nvPr/>
              </p:nvSpPr>
              <p:spPr bwMode="auto">
                <a:xfrm>
                  <a:off x="7587746" y="3819965"/>
                  <a:ext cx="288925" cy="474663"/>
                </a:xfrm>
                <a:custGeom>
                  <a:avLst/>
                  <a:gdLst>
                    <a:gd name="T0" fmla="*/ 65 w 767"/>
                    <a:gd name="T1" fmla="*/ 57 h 1262"/>
                    <a:gd name="T2" fmla="*/ 44 w 767"/>
                    <a:gd name="T3" fmla="*/ 93 h 1262"/>
                    <a:gd name="T4" fmla="*/ 0 w 767"/>
                    <a:gd name="T5" fmla="*/ 117 h 1262"/>
                    <a:gd name="T6" fmla="*/ 400 w 767"/>
                    <a:gd name="T7" fmla="*/ 360 h 1262"/>
                    <a:gd name="T8" fmla="*/ 573 w 767"/>
                    <a:gd name="T9" fmla="*/ 832 h 1262"/>
                    <a:gd name="T10" fmla="*/ 564 w 767"/>
                    <a:gd name="T11" fmla="*/ 948 h 1262"/>
                    <a:gd name="T12" fmla="*/ 560 w 767"/>
                    <a:gd name="T13" fmla="*/ 968 h 1262"/>
                    <a:gd name="T14" fmla="*/ 557 w 767"/>
                    <a:gd name="T15" fmla="*/ 982 h 1262"/>
                    <a:gd name="T16" fmla="*/ 494 w 767"/>
                    <a:gd name="T17" fmla="*/ 952 h 1262"/>
                    <a:gd name="T18" fmla="*/ 474 w 767"/>
                    <a:gd name="T19" fmla="*/ 954 h 1262"/>
                    <a:gd name="T20" fmla="*/ 496 w 767"/>
                    <a:gd name="T21" fmla="*/ 1243 h 1262"/>
                    <a:gd name="T22" fmla="*/ 507 w 767"/>
                    <a:gd name="T23" fmla="*/ 1259 h 1262"/>
                    <a:gd name="T24" fmla="*/ 526 w 767"/>
                    <a:gd name="T25" fmla="*/ 1258 h 1262"/>
                    <a:gd name="T26" fmla="*/ 766 w 767"/>
                    <a:gd name="T27" fmla="*/ 1094 h 1262"/>
                    <a:gd name="T28" fmla="*/ 767 w 767"/>
                    <a:gd name="T29" fmla="*/ 1093 h 1262"/>
                    <a:gd name="T30" fmla="*/ 756 w 767"/>
                    <a:gd name="T31" fmla="*/ 1077 h 1262"/>
                    <a:gd name="T32" fmla="*/ 665 w 767"/>
                    <a:gd name="T33" fmla="*/ 1034 h 1262"/>
                    <a:gd name="T34" fmla="*/ 667 w 767"/>
                    <a:gd name="T35" fmla="*/ 1025 h 1262"/>
                    <a:gd name="T36" fmla="*/ 671 w 767"/>
                    <a:gd name="T37" fmla="*/ 1006 h 1262"/>
                    <a:gd name="T38" fmla="*/ 689 w 767"/>
                    <a:gd name="T39" fmla="*/ 832 h 1262"/>
                    <a:gd name="T40" fmla="*/ 11 w 767"/>
                    <a:gd name="T41" fmla="*/ 0 h 1262"/>
                    <a:gd name="T42" fmla="*/ 45 w 767"/>
                    <a:gd name="T43" fmla="*/ 20 h 1262"/>
                    <a:gd name="T44" fmla="*/ 65 w 767"/>
                    <a:gd name="T45" fmla="*/ 57 h 1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767" h="1262">
                      <a:moveTo>
                        <a:pt x="65" y="57"/>
                      </a:moveTo>
                      <a:cubicBezTo>
                        <a:pt x="65" y="72"/>
                        <a:pt x="57" y="85"/>
                        <a:pt x="44" y="93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155" y="152"/>
                        <a:pt x="296" y="237"/>
                        <a:pt x="400" y="360"/>
                      </a:cubicBezTo>
                      <a:cubicBezTo>
                        <a:pt x="511" y="491"/>
                        <a:pt x="573" y="659"/>
                        <a:pt x="573" y="832"/>
                      </a:cubicBezTo>
                      <a:cubicBezTo>
                        <a:pt x="573" y="871"/>
                        <a:pt x="570" y="910"/>
                        <a:pt x="564" y="948"/>
                      </a:cubicBezTo>
                      <a:cubicBezTo>
                        <a:pt x="563" y="955"/>
                        <a:pt x="561" y="961"/>
                        <a:pt x="560" y="968"/>
                      </a:cubicBezTo>
                      <a:cubicBezTo>
                        <a:pt x="557" y="982"/>
                        <a:pt x="557" y="982"/>
                        <a:pt x="557" y="982"/>
                      </a:cubicBezTo>
                      <a:cubicBezTo>
                        <a:pt x="494" y="952"/>
                        <a:pt x="494" y="952"/>
                        <a:pt x="494" y="952"/>
                      </a:cubicBezTo>
                      <a:cubicBezTo>
                        <a:pt x="486" y="948"/>
                        <a:pt x="479" y="950"/>
                        <a:pt x="474" y="954"/>
                      </a:cubicBezTo>
                      <a:cubicBezTo>
                        <a:pt x="496" y="1243"/>
                        <a:pt x="496" y="1243"/>
                        <a:pt x="496" y="1243"/>
                      </a:cubicBezTo>
                      <a:cubicBezTo>
                        <a:pt x="497" y="1250"/>
                        <a:pt x="501" y="1256"/>
                        <a:pt x="507" y="1259"/>
                      </a:cubicBezTo>
                      <a:cubicBezTo>
                        <a:pt x="513" y="1262"/>
                        <a:pt x="521" y="1262"/>
                        <a:pt x="526" y="1258"/>
                      </a:cubicBezTo>
                      <a:cubicBezTo>
                        <a:pt x="766" y="1094"/>
                        <a:pt x="766" y="1094"/>
                        <a:pt x="766" y="1094"/>
                      </a:cubicBezTo>
                      <a:cubicBezTo>
                        <a:pt x="766" y="1093"/>
                        <a:pt x="767" y="1093"/>
                        <a:pt x="767" y="1093"/>
                      </a:cubicBezTo>
                      <a:cubicBezTo>
                        <a:pt x="766" y="1086"/>
                        <a:pt x="762" y="1080"/>
                        <a:pt x="756" y="1077"/>
                      </a:cubicBezTo>
                      <a:cubicBezTo>
                        <a:pt x="665" y="1034"/>
                        <a:pt x="665" y="1034"/>
                        <a:pt x="665" y="1034"/>
                      </a:cubicBezTo>
                      <a:cubicBezTo>
                        <a:pt x="667" y="1025"/>
                        <a:pt x="667" y="1025"/>
                        <a:pt x="667" y="1025"/>
                      </a:cubicBezTo>
                      <a:cubicBezTo>
                        <a:pt x="669" y="1019"/>
                        <a:pt x="670" y="1013"/>
                        <a:pt x="671" y="1006"/>
                      </a:cubicBezTo>
                      <a:cubicBezTo>
                        <a:pt x="683" y="949"/>
                        <a:pt x="689" y="891"/>
                        <a:pt x="689" y="832"/>
                      </a:cubicBezTo>
                      <a:cubicBezTo>
                        <a:pt x="689" y="427"/>
                        <a:pt x="401" y="80"/>
                        <a:pt x="11" y="0"/>
                      </a:cubicBez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58" y="28"/>
                        <a:pt x="65" y="42"/>
                        <a:pt x="65" y="57"/>
                      </a:cubicBezTo>
                      <a:close/>
                    </a:path>
                  </a:pathLst>
                </a:custGeom>
                <a:solidFill>
                  <a:srgbClr val="9B13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945" y="3211"/>
                <a:ext cx="3289" cy="3289"/>
                <a:chOff x="5051756" y="2126827"/>
                <a:chExt cx="2088487" cy="2088487"/>
              </a:xfrm>
              <a:solidFill>
                <a:srgbClr val="9B1313"/>
              </a:solidFill>
            </p:grpSpPr>
            <p:sp>
              <p:nvSpPr>
                <p:cNvPr id="38" name="椭圆 37"/>
                <p:cNvSpPr/>
                <p:nvPr/>
              </p:nvSpPr>
              <p:spPr>
                <a:xfrm>
                  <a:off x="5051756" y="2126827"/>
                  <a:ext cx="2088487" cy="2088487"/>
                </a:xfrm>
                <a:prstGeom prst="ellipse">
                  <a:avLst/>
                </a:pr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5292782" y="3130810"/>
                  <a:ext cx="1606433" cy="1081415"/>
                </a:xfrm>
                <a:prstGeom prst="rect">
                  <a:avLst/>
                </a:prstGeom>
                <a:grpFill/>
              </p:spPr>
              <p:txBody>
                <a:bodyPr wrap="square">
                  <a:spAutoFit/>
                </a:bodyPr>
                <a:p>
                  <a:pPr algn="ctr" defTabSz="457200"/>
                  <a:r>
                    <a:rPr lang="zh-CN" altLang="en-US" sz="2000" dirty="0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rPr>
                    <a:t>三条</a:t>
                  </a:r>
                  <a:endParaRPr lang="zh-CN" altLang="en-US" sz="20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  <a:p>
                  <a:pPr algn="ctr" defTabSz="457200"/>
                  <a:r>
                    <a:rPr lang="zh-CN" altLang="en-US" sz="2000" dirty="0">
                      <a:solidFill>
                        <a:sysClr val="window" lastClr="FFFFFF"/>
                      </a:solidFill>
                      <a:latin typeface="汉仪旗黑-55简" panose="00020600040101010101" pitchFamily="18" charset="-122"/>
                      <a:ea typeface="汉仪旗黑-55简" panose="00020600040101010101" pitchFamily="18" charset="-122"/>
                      <a:cs typeface="等线" charset="0"/>
                      <a:sym typeface="汉仪旗黑-55简" panose="00020600040101010101" pitchFamily="18" charset="-122"/>
                    </a:rPr>
                    <a:t>边界</a:t>
                  </a:r>
                  <a:endParaRPr lang="zh-CN" altLang="en-US" sz="20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endParaRPr>
                </a:p>
              </p:txBody>
            </p:sp>
          </p:grpSp>
          <p:pic>
            <p:nvPicPr>
              <p:cNvPr id="41" name="图形 81" descr="/Users/hbx/Downloads/damoxing.pngdamoxing"/>
              <p:cNvPicPr>
                <a:picLocks noChangeAspect="1"/>
              </p:cNvPicPr>
              <p:nvPr/>
            </p:nvPicPr>
            <p:blipFill>
              <a:blip r:embed="rId1"/>
              <a:srcRect l="55" t="55" r="-55" b="55"/>
              <a:stretch>
                <a:fillRect/>
              </a:stretch>
            </p:blipFill>
            <p:spPr>
              <a:xfrm>
                <a:off x="9053" y="3736"/>
                <a:ext cx="1143" cy="1143"/>
              </a:xfrm>
              <a:prstGeom prst="rect">
                <a:avLst/>
              </a:prstGeom>
            </p:spPr>
          </p:pic>
        </p:grpSp>
        <p:grpSp>
          <p:nvGrpSpPr>
            <p:cNvPr id="47" name="组合 46"/>
            <p:cNvGrpSpPr/>
            <p:nvPr/>
          </p:nvGrpSpPr>
          <p:grpSpPr>
            <a:xfrm rot="0">
              <a:off x="7808" y="4304"/>
              <a:ext cx="330" cy="330"/>
              <a:chOff x="4981575" y="1727200"/>
              <a:chExt cx="209550" cy="209550"/>
            </a:xfrm>
          </p:grpSpPr>
          <p:sp>
            <p:nvSpPr>
              <p:cNvPr id="48" name="椭圆 47"/>
              <p:cNvSpPr/>
              <p:nvPr/>
            </p:nvSpPr>
            <p:spPr>
              <a:xfrm>
                <a:off x="4981575" y="1727200"/>
                <a:ext cx="209550" cy="209550"/>
              </a:xfrm>
              <a:prstGeom prst="ellipse">
                <a:avLst/>
              </a:prstGeom>
              <a:solidFill>
                <a:srgbClr val="9B1313"/>
              </a:solidFill>
              <a:ln w="222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9" name="十字形 48"/>
              <p:cNvSpPr/>
              <p:nvPr/>
            </p:nvSpPr>
            <p:spPr>
              <a:xfrm>
                <a:off x="5029200" y="1774825"/>
                <a:ext cx="114300" cy="114300"/>
              </a:xfrm>
              <a:prstGeom prst="plus">
                <a:avLst>
                  <a:gd name="adj" fmla="val 41667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 rot="0">
              <a:off x="7808" y="8490"/>
              <a:ext cx="330" cy="330"/>
              <a:chOff x="4981575" y="1727200"/>
              <a:chExt cx="209550" cy="209550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4981575" y="1727200"/>
                <a:ext cx="209550" cy="209550"/>
              </a:xfrm>
              <a:prstGeom prst="ellipse">
                <a:avLst/>
              </a:prstGeom>
              <a:solidFill>
                <a:srgbClr val="9B1313"/>
              </a:solidFill>
              <a:ln w="22225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0" name="十字形 59"/>
              <p:cNvSpPr/>
              <p:nvPr/>
            </p:nvSpPr>
            <p:spPr>
              <a:xfrm>
                <a:off x="5029200" y="1774825"/>
                <a:ext cx="114300" cy="114300"/>
              </a:xfrm>
              <a:prstGeom prst="plus">
                <a:avLst>
                  <a:gd name="adj" fmla="val 41667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</p:grpSp>
      <p:cxnSp>
        <p:nvCxnSpPr>
          <p:cNvPr id="64" name="直接连接符 63"/>
          <p:cNvCxnSpPr>
            <a:endCxn id="48" idx="0"/>
          </p:cNvCxnSpPr>
          <p:nvPr/>
        </p:nvCxnSpPr>
        <p:spPr>
          <a:xfrm>
            <a:off x="5062855" y="2136458"/>
            <a:ext cx="0" cy="71247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oval"/>
          </a:ln>
          <a:effectLst/>
        </p:spPr>
      </p:cxnSp>
      <p:cxnSp>
        <p:nvCxnSpPr>
          <p:cNvPr id="66" name="直接连接符 65"/>
          <p:cNvCxnSpPr/>
          <p:nvPr/>
        </p:nvCxnSpPr>
        <p:spPr>
          <a:xfrm flipV="1">
            <a:off x="5062855" y="5601653"/>
            <a:ext cx="0" cy="869315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dash"/>
            <a:miter lim="800000"/>
            <a:tailEnd type="oval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472440" y="1899285"/>
            <a:ext cx="2694305" cy="4768215"/>
            <a:chOff x="744" y="2991"/>
            <a:chExt cx="4243" cy="7509"/>
          </a:xfrm>
        </p:grpSpPr>
        <p:grpSp>
          <p:nvGrpSpPr>
            <p:cNvPr id="43" name="组合 42"/>
            <p:cNvGrpSpPr/>
            <p:nvPr/>
          </p:nvGrpSpPr>
          <p:grpSpPr>
            <a:xfrm rot="0">
              <a:off x="744" y="2991"/>
              <a:ext cx="4243" cy="727"/>
              <a:chOff x="798505" y="1478577"/>
              <a:chExt cx="3034294" cy="461665"/>
            </a:xfrm>
          </p:grpSpPr>
          <p:sp>
            <p:nvSpPr>
              <p:cNvPr id="44" name="矩形: 圆角 59"/>
              <p:cNvSpPr/>
              <p:nvPr/>
            </p:nvSpPr>
            <p:spPr>
              <a:xfrm flipV="1">
                <a:off x="798505" y="1478577"/>
                <a:ext cx="3034294" cy="461665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solidFill>
                  <a:srgbClr val="9B131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051057" y="1557544"/>
                <a:ext cx="2445777" cy="368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 defTabSz="457200"/>
                <a:r>
                  <a:rPr lang="en-US" altLang="zh-CN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Scope</a:t>
                </a:r>
                <a:r>
                  <a:rPr lang="zh-CN" altLang="en-US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（任务边界）</a:t>
                </a:r>
                <a:endPara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rot="0">
              <a:off x="744" y="9773"/>
              <a:ext cx="4243" cy="727"/>
              <a:chOff x="798505" y="1478577"/>
              <a:chExt cx="3034294" cy="461665"/>
            </a:xfrm>
          </p:grpSpPr>
          <p:sp>
            <p:nvSpPr>
              <p:cNvPr id="55" name="矩形: 圆角 59"/>
              <p:cNvSpPr/>
              <p:nvPr/>
            </p:nvSpPr>
            <p:spPr>
              <a:xfrm flipV="1">
                <a:off x="798505" y="1478577"/>
                <a:ext cx="3034294" cy="461665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solidFill>
                  <a:srgbClr val="9B131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51057" y="1557544"/>
                <a:ext cx="2445777" cy="33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 defTabSz="457200"/>
                <a:r>
                  <a:rPr lang="en-US" altLang="zh-CN" sz="16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Capability</a:t>
                </a:r>
                <a:r>
                  <a:rPr lang="zh-CN" altLang="en-US" sz="16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（权限边界）</a:t>
                </a:r>
                <a:endParaRPr lang="zh-CN" altLang="en-US" sz="16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 rot="0">
              <a:off x="744" y="6382"/>
              <a:ext cx="4243" cy="727"/>
              <a:chOff x="798505" y="1478577"/>
              <a:chExt cx="3034294" cy="461665"/>
            </a:xfrm>
          </p:grpSpPr>
          <p:sp>
            <p:nvSpPr>
              <p:cNvPr id="68" name="矩形: 圆角 59"/>
              <p:cNvSpPr/>
              <p:nvPr/>
            </p:nvSpPr>
            <p:spPr>
              <a:xfrm flipV="1">
                <a:off x="798505" y="1478577"/>
                <a:ext cx="3034294" cy="461665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solidFill>
                  <a:srgbClr val="9B131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051057" y="1557544"/>
                <a:ext cx="2445777" cy="3683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ctr" defTabSz="457200"/>
                <a:r>
                  <a:rPr lang="en-US" altLang="zh-CN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Budget</a:t>
                </a:r>
                <a:r>
                  <a:rPr lang="zh-CN" altLang="en-US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（资源</a:t>
                </a:r>
                <a:r>
                  <a:rPr lang="en-US" altLang="zh-CN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charset="0"/>
                    <a:sym typeface="汉仪旗黑-55简" panose="00020600040101010101" pitchFamily="18" charset="-122"/>
                  </a:rPr>
                  <a:t>钱</a:t>
                </a:r>
                <a:endParaRPr lang="zh-CN" altLang="en-US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charset="0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72" name="文本框 71"/>
          <p:cNvSpPr txBox="1"/>
          <p:nvPr/>
        </p:nvSpPr>
        <p:spPr>
          <a:xfrm>
            <a:off x="472440" y="2754630"/>
            <a:ext cx="2971165" cy="112268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400"/>
              <a:t>允许做哪些事、在什么范围内做</a:t>
            </a:r>
            <a:endParaRPr lang="zh-CN" altLang="en-US" sz="140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14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400"/>
              <a:t>允许消耗多少成本</a:t>
            </a:r>
            <a:endParaRPr lang="zh-CN" altLang="en-US" sz="1400"/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14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400"/>
              <a:t>允许用哪些工具、哪些权限级别</a:t>
            </a:r>
            <a:endParaRPr lang="zh-CN" altLang="en-US" sz="1400"/>
          </a:p>
        </p:txBody>
      </p:sp>
      <p:sp>
        <p:nvSpPr>
          <p:cNvPr id="73" name="文本框 72"/>
          <p:cNvSpPr txBox="1"/>
          <p:nvPr/>
        </p:nvSpPr>
        <p:spPr>
          <a:xfrm>
            <a:off x="472440" y="4772025"/>
            <a:ext cx="2971165" cy="144208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例子：只允许操作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某个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 repo + 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某个环境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 + 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某类工单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，不允许触达其他系统</a:t>
            </a:r>
            <a:endParaRPr lang="zh-CN" altLang="en-US" sz="12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例子：单任务最多检索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 20 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次、最多运行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 5 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分钟、最多花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 $2</a:t>
            </a:r>
            <a:endParaRPr lang="zh-CN" altLang="en-US" sz="1200"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例子：默认只读；写操作需确认；资金</a:t>
            </a:r>
            <a:r>
              <a:rPr lang="en-US" altLang="zh-CN" sz="1200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  <a:cs typeface="微软雅黑" charset="0"/>
              </a:rPr>
              <a:t>不可逆需双人复核</a:t>
            </a:r>
            <a:endParaRPr lang="zh-CN" altLang="en-US" sz="1200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7026275" y="1847850"/>
            <a:ext cx="4531360" cy="4750435"/>
            <a:chOff x="10402" y="1839"/>
            <a:chExt cx="7136" cy="7481"/>
          </a:xfrm>
        </p:grpSpPr>
        <p:sp>
          <p:nvSpPr>
            <p:cNvPr id="85" name="矩形 84"/>
            <p:cNvSpPr/>
            <p:nvPr/>
          </p:nvSpPr>
          <p:spPr>
            <a:xfrm>
              <a:off x="10402" y="2065"/>
              <a:ext cx="7136" cy="7255"/>
            </a:xfrm>
            <a:prstGeom prst="rect">
              <a:avLst/>
            </a:prstGeom>
            <a:gradFill flip="none" rotWithShape="1">
              <a:gsLst>
                <a:gs pos="66000">
                  <a:sysClr val="window" lastClr="FFFFFF"/>
                </a:gs>
                <a:gs pos="0">
                  <a:srgbClr val="9B1313">
                    <a:lumMod val="11000"/>
                    <a:lumOff val="89000"/>
                  </a:srgbClr>
                </a:gs>
              </a:gsLst>
              <a:lin ang="16200000" scaled="1"/>
              <a:tileRect/>
            </a:gradFill>
            <a:ln w="3175" cap="flat" cmpd="sng" algn="ctr">
              <a:gradFill>
                <a:gsLst>
                  <a:gs pos="0">
                    <a:srgbClr val="29477E">
                      <a:alpha val="0"/>
                    </a:srgbClr>
                  </a:gs>
                  <a:gs pos="100000">
                    <a:srgbClr val="1A2E52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86" name="矩形: 圆角 26"/>
            <p:cNvSpPr/>
            <p:nvPr/>
          </p:nvSpPr>
          <p:spPr>
            <a:xfrm>
              <a:off x="11815" y="1839"/>
              <a:ext cx="4308" cy="727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3175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r>
                <a:rPr lang="zh-CN" altLang="en-US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等线" panose="02010600030101010101" charset="-122"/>
                  <a:sym typeface="汉仪旗黑-55简" panose="00020600040101010101" pitchFamily="18" charset="-122"/>
                </a:rPr>
                <a:t>关键治理组件</a:t>
              </a:r>
              <a:endParaRPr lang="zh-CN" altLang="en-US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10949" y="336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gradFill>
                <a:gsLst>
                  <a:gs pos="0">
                    <a:srgbClr val="981212">
                      <a:lumMod val="11000"/>
                      <a:lumOff val="89000"/>
                    </a:srgbClr>
                  </a:gs>
                  <a:gs pos="100000">
                    <a:sysClr val="window" lastClr="FFFFFF"/>
                  </a:gs>
                </a:gsLst>
                <a:lin ang="1200000" scaled="0"/>
              </a:gra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10854" y="474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75" name="椭圆 74"/>
            <p:cNvSpPr/>
            <p:nvPr/>
          </p:nvSpPr>
          <p:spPr>
            <a:xfrm>
              <a:off x="10949" y="519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gradFill>
                <a:gsLst>
                  <a:gs pos="0">
                    <a:srgbClr val="981212">
                      <a:lumMod val="11000"/>
                      <a:lumOff val="89000"/>
                    </a:srgbClr>
                  </a:gs>
                  <a:gs pos="100000">
                    <a:sysClr val="window" lastClr="FFFFFF"/>
                  </a:gs>
                </a:gsLst>
                <a:lin ang="1200000" scaled="0"/>
              </a:gra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10854" y="657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77" name="椭圆 76"/>
            <p:cNvSpPr/>
            <p:nvPr/>
          </p:nvSpPr>
          <p:spPr>
            <a:xfrm>
              <a:off x="10949" y="7028"/>
              <a:ext cx="646" cy="646"/>
            </a:xfrm>
            <a:prstGeom prst="ellipse">
              <a:avLst/>
            </a:prstGeom>
            <a:solidFill>
              <a:srgbClr val="9B1313"/>
            </a:solidFill>
            <a:ln w="31750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27000" dist="152400" dir="2700000" algn="tl" rotWithShape="0">
                <a:srgbClr val="981212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10854" y="8407"/>
              <a:ext cx="6445" cy="0"/>
            </a:xfrm>
            <a:prstGeom prst="line">
              <a:avLst/>
            </a:prstGeom>
            <a:noFill/>
            <a:ln w="9525" cap="flat" cmpd="sng" algn="ctr">
              <a:solidFill>
                <a:srgbClr val="294981"/>
              </a:solidFill>
              <a:prstDash val="solid"/>
              <a:miter lim="800000"/>
            </a:ln>
            <a:effectLst/>
          </p:spPr>
        </p:cxnSp>
        <p:sp>
          <p:nvSpPr>
            <p:cNvPr id="79" name="任意多边形: 形状 37"/>
            <p:cNvSpPr/>
            <p:nvPr/>
          </p:nvSpPr>
          <p:spPr>
            <a:xfrm>
              <a:off x="10533" y="2210"/>
              <a:ext cx="1180" cy="155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9B1313"/>
              </a:solidFill>
              <a:prstDash val="solid"/>
              <a:round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4" name="任意多边形: 形状 38"/>
            <p:cNvSpPr/>
            <p:nvPr/>
          </p:nvSpPr>
          <p:spPr>
            <a:xfrm flipH="1">
              <a:off x="16225" y="2220"/>
              <a:ext cx="1180" cy="155"/>
            </a:xfrm>
            <a:custGeom>
              <a:avLst/>
              <a:gdLst/>
              <a:ahLst/>
              <a:cxnLst/>
              <a:rect l="0" t="0" r="0" b="0"/>
              <a:pathLst>
                <a:path w="749301" h="98426">
                  <a:moveTo>
                    <a:pt x="749300" y="0"/>
                  </a:moveTo>
                  <a:lnTo>
                    <a:pt x="151030" y="0"/>
                  </a:lnTo>
                  <a:cubicBezTo>
                    <a:pt x="117363" y="0"/>
                    <a:pt x="85034" y="13391"/>
                    <a:pt x="61228" y="37197"/>
                  </a:cubicBezTo>
                  <a:lnTo>
                    <a:pt x="0" y="98425"/>
                  </a:lnTo>
                </a:path>
              </a:pathLst>
            </a:custGeom>
            <a:noFill/>
            <a:ln w="12700" cap="rnd" cmpd="sng" algn="ctr">
              <a:solidFill>
                <a:srgbClr val="9B1313"/>
              </a:solidFill>
              <a:prstDash val="solid"/>
              <a:round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0949" y="3389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1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0949" y="5234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2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0949" y="7084"/>
              <a:ext cx="646" cy="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en-US" altLang="zh-CN" sz="2000" b="1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3</a:t>
              </a:r>
              <a:endParaRPr lang="zh-CN" altLang="en-US" sz="2000" b="1" dirty="0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658" y="3178"/>
              <a:ext cx="5747" cy="1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lnSpc>
                  <a:spcPct val="120000"/>
                </a:lnSpc>
              </a:pPr>
              <a:r>
                <a:rPr lang="en-US" altLang="zh-CN" sz="1400" b="1" dirty="0"/>
                <a:t>Kill Switch</a:t>
              </a:r>
              <a:r>
                <a:rPr lang="zh-CN" altLang="en-US" sz="1400" b="1" dirty="0"/>
                <a:t>（紧急停止）</a:t>
              </a:r>
              <a:endParaRPr lang="zh-CN" altLang="en-US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是什么：一键停机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暂停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 Agent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（停止新任务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终止当前任务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撤销凭证）</a:t>
              </a: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为什么必须有：当你发现异常（注入、循环、越权）时，先止血，否则自动化会放大事故</a:t>
              </a: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工程要点：支持按用户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租户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任务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工具维度</a:t>
              </a:r>
              <a:r>
                <a:rPr lang="en-US" altLang="zh-CN" sz="800" dirty="0"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+mn-ea"/>
                  <a:sym typeface="汉仪旗黑-55简" panose="00020600040101010101" pitchFamily="18" charset="-122"/>
                </a:rPr>
                <a:t>局部熔断</a:t>
              </a:r>
              <a:endParaRPr lang="zh-CN" altLang="en-US" sz="800" dirty="0"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11658" y="5037"/>
              <a:ext cx="5641" cy="1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0000"/>
                </a:lnSpc>
              </a:pPr>
              <a:r>
                <a:rPr lang="zh-CN" altLang="en-US" sz="1400" b="1" dirty="0"/>
                <a:t>审计日志（可回放的</a:t>
              </a:r>
              <a:r>
                <a:rPr lang="en-US" altLang="zh-CN" sz="1400" b="1" dirty="0"/>
                <a:t> tool-call </a:t>
              </a:r>
              <a:r>
                <a:rPr lang="zh-CN" altLang="en-US" sz="1400" b="1" dirty="0"/>
                <a:t>轨迹）</a:t>
              </a:r>
              <a:endParaRPr lang="zh-CN" altLang="en-US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是什么：把每次工具调用记录成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可播放的时间线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：谁触发、调用了什么、参数是什么、返回了什么、造成了什么影响</a:t>
              </a:r>
              <a:endParaRPr lang="en-US" altLang="zh-CN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为什么关键：不然你只能看最终结果，不知道中间哪一步被注入或越权</a:t>
              </a: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11658" y="6966"/>
              <a:ext cx="5642" cy="1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0000"/>
                </a:lnSpc>
              </a:pPr>
              <a:r>
                <a:rPr lang="zh-CN" altLang="en-US" sz="1400" b="1" dirty="0"/>
                <a:t>责任链（</a:t>
              </a:r>
              <a:r>
                <a:rPr lang="en-US" altLang="zh-CN" sz="1400" b="1" dirty="0"/>
                <a:t>Delegation chain</a:t>
              </a:r>
              <a:r>
                <a:rPr lang="zh-CN" altLang="en-US" sz="1400" b="1" dirty="0"/>
                <a:t>）</a:t>
              </a:r>
              <a:endParaRPr lang="en-US" altLang="zh-CN" sz="1400" b="1" dirty="0"/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是什么：清楚记录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谁委托（发起任务）</a:t>
              </a:r>
              <a:r>
                <a:rPr lang="en-US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→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谁批准（放权限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放预算）</a:t>
              </a:r>
              <a:r>
                <a:rPr lang="en-US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→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谁负责（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Owner/On-call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）</a:t>
              </a:r>
              <a:endParaRPr lang="en-US" altLang="zh-CN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171450" indent="-17145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为什么必须：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Agent 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事故里最常见的问题是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责任扩散</a:t>
              </a:r>
              <a:r>
                <a:rPr lang="en-US" altLang="zh-CN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sz="8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（下一页多智能体会更严重）</a:t>
              </a:r>
              <a:endParaRPr lang="zh-CN" altLang="en-US" sz="8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18744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多智能体治理：责任扩散与策略冲突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2440" y="1043940"/>
            <a:ext cx="11071860" cy="461645"/>
            <a:chOff x="744" y="1644"/>
            <a:chExt cx="17436" cy="727"/>
          </a:xfrm>
        </p:grpSpPr>
        <p:sp>
          <p:nvSpPr>
            <p:cNvPr id="3" name="矩形 2"/>
            <p:cNvSpPr/>
            <p:nvPr/>
          </p:nvSpPr>
          <p:spPr>
            <a:xfrm>
              <a:off x="744" y="1644"/>
              <a:ext cx="17436" cy="727"/>
            </a:xfrm>
            <a:prstGeom prst="rect">
              <a:avLst/>
            </a:prstGeom>
            <a:noFill/>
            <a:ln w="15875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任意多边形: 形状 89"/>
            <p:cNvSpPr/>
            <p:nvPr/>
          </p:nvSpPr>
          <p:spPr>
            <a:xfrm>
              <a:off x="744" y="1644"/>
              <a:ext cx="2865" cy="727"/>
            </a:xfrm>
            <a:custGeom>
              <a:avLst/>
              <a:gdLst>
                <a:gd name="connsiteX0" fmla="*/ 0 w 1819275"/>
                <a:gd name="connsiteY0" fmla="*/ 0 h 461665"/>
                <a:gd name="connsiteX1" fmla="*/ 1819275 w 1819275"/>
                <a:gd name="connsiteY1" fmla="*/ 0 h 461665"/>
                <a:gd name="connsiteX2" fmla="*/ 1637905 w 1819275"/>
                <a:gd name="connsiteY2" fmla="*/ 461665 h 461665"/>
                <a:gd name="connsiteX3" fmla="*/ 0 w 1819275"/>
                <a:gd name="connsiteY3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275" h="461665">
                  <a:moveTo>
                    <a:pt x="0" y="0"/>
                  </a:moveTo>
                  <a:lnTo>
                    <a:pt x="1819275" y="0"/>
                  </a:lnTo>
                  <a:lnTo>
                    <a:pt x="1637905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5875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33" y="1695"/>
              <a:ext cx="2403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zh-CN" altLang="en-US" sz="2000" b="1" dirty="0">
                  <a:solidFill>
                    <a:prstClr val="white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重点</a:t>
              </a:r>
              <a:endParaRPr lang="zh-CN" altLang="en-US" sz="2000" b="1" dirty="0">
                <a:solidFill>
                  <a:prstClr val="white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818" y="1717"/>
              <a:ext cx="1402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多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 Agent 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必须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统一调度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统一配额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可追责链路</a:t>
              </a:r>
              <a:r>
                <a:rPr lang="en-US" altLang="zh-CN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20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，否则就是分布式失控</a:t>
              </a:r>
              <a:endPara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93" name="矩形 92"/>
          <p:cNvSpPr/>
          <p:nvPr/>
        </p:nvSpPr>
        <p:spPr>
          <a:xfrm>
            <a:off x="211862" y="1641015"/>
            <a:ext cx="8337898" cy="4395856"/>
          </a:xfrm>
          <a:prstGeom prst="rect">
            <a:avLst/>
          </a:prstGeom>
          <a:solidFill>
            <a:sysClr val="window" lastClr="FFFFFF">
              <a:alpha val="94000"/>
            </a:sysClr>
          </a:solidFill>
          <a:ln w="127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470711" y="3637484"/>
            <a:ext cx="2473032" cy="1530253"/>
          </a:xfrm>
          <a:prstGeom prst="roundRect">
            <a:avLst>
              <a:gd name="adj" fmla="val 0"/>
            </a:avLst>
          </a:prstGeom>
          <a:noFill/>
          <a:ln w="15875" cap="flat" cmpd="sng" algn="ctr">
            <a:gradFill flip="none" rotWithShape="1">
              <a:gsLst>
                <a:gs pos="0">
                  <a:srgbClr val="9B1313"/>
                </a:gs>
                <a:gs pos="100000">
                  <a:srgbClr val="C00000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789702" y="4269649"/>
            <a:ext cx="2009226" cy="53305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新增风险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一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9B1313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97607" y="4664391"/>
            <a:ext cx="2405608" cy="370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责任扩散（谁造成的？）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152630" y="3637484"/>
            <a:ext cx="2473032" cy="1530253"/>
          </a:xfrm>
          <a:prstGeom prst="roundRect">
            <a:avLst>
              <a:gd name="adj" fmla="val 0"/>
            </a:avLst>
          </a:prstGeom>
          <a:noFill/>
          <a:ln w="15875" cap="flat" cmpd="sng" algn="ctr">
            <a:gradFill flip="none" rotWithShape="1">
              <a:gsLst>
                <a:gs pos="0">
                  <a:srgbClr val="9B1313"/>
                </a:gs>
                <a:gs pos="100000">
                  <a:srgbClr val="C00000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3453663" y="4404084"/>
            <a:ext cx="2005406" cy="26418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新增风险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二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9B131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204423" y="4543106"/>
            <a:ext cx="2501145" cy="6502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策略冲突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（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Agent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间目标不一致）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5848095" y="3637484"/>
            <a:ext cx="2473032" cy="1530253"/>
          </a:xfrm>
          <a:prstGeom prst="roundRect">
            <a:avLst>
              <a:gd name="adj" fmla="val 0"/>
            </a:avLst>
          </a:prstGeom>
          <a:noFill/>
          <a:ln w="15875" cap="flat" cmpd="sng" algn="ctr">
            <a:gradFill flip="none" rotWithShape="1">
              <a:gsLst>
                <a:gs pos="0">
                  <a:srgbClr val="9B1313"/>
                </a:gs>
                <a:gs pos="100000">
                  <a:srgbClr val="C00000"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478996" y="5270389"/>
            <a:ext cx="7842131" cy="635905"/>
            <a:chOff x="789728" y="4557081"/>
            <a:chExt cx="10537595" cy="536466"/>
          </a:xfrm>
          <a:solidFill>
            <a:srgbClr val="9B1313"/>
          </a:solidFill>
        </p:grpSpPr>
        <p:sp>
          <p:nvSpPr>
            <p:cNvPr id="115" name="矩形 114"/>
            <p:cNvSpPr/>
            <p:nvPr/>
          </p:nvSpPr>
          <p:spPr>
            <a:xfrm>
              <a:off x="789728" y="4557081"/>
              <a:ext cx="10537595" cy="536466"/>
            </a:xfrm>
            <a:prstGeom prst="rect">
              <a:avLst/>
            </a:prstGeom>
            <a:grpFill/>
            <a:ln w="34925" cap="flat" cmpd="sng" algn="ctr">
              <a:noFill/>
              <a:prstDash val="solid"/>
              <a:miter lim="800000"/>
            </a:ln>
            <a:effectLst>
              <a:outerShdw blurRad="152400" dist="38100" dir="2700000" algn="tl" rotWithShape="0">
                <a:srgbClr val="C00000">
                  <a:alpha val="22000"/>
                </a:srgbClr>
              </a:outerShdw>
            </a:effectLst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036320" y="4637972"/>
              <a:ext cx="10106859" cy="2844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多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 Agent 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会更危险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——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因为它们会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互相影响、互相调用、共同消耗资源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”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17" name="文本框 116"/>
          <p:cNvSpPr txBox="1"/>
          <p:nvPr/>
        </p:nvSpPr>
        <p:spPr>
          <a:xfrm>
            <a:off x="616019" y="1875829"/>
            <a:ext cx="2425774" cy="20916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单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出事：基本能定位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哪个任务、谁批准、哪个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tool-call”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多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出事：常见情况是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给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B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下任务、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B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又调用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C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，最后事故发生在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C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的动作上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结果：大家都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参与了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，但很难一句话回答：到底谁是触发者、谁是批准者、谁该负责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3243872" y="1875829"/>
            <a:ext cx="2425774" cy="22917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不同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可能被不同目标驱动：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一个追求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快修复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，另一个强调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合规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谨慎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，还有一个只追求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成本最低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典型冲突：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监控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频繁重启服务以恢复可用性；安全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认为异常重启可疑而触发封禁；结果互相对抗，系统抖动更严重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本质：没有统一的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全局策略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优先级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时，局部最优会互相破坏。</a:t>
            </a: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6198219" y="4404084"/>
            <a:ext cx="2005406" cy="26418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新增风险</a:t>
            </a:r>
            <a:r>
              <a:rPr lang="zh-CN" altLang="en-US" b="1" kern="0" noProof="0" dirty="0">
                <a:ln>
                  <a:noFill/>
                </a:ln>
                <a:solidFill>
                  <a:srgbClr val="9B131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三</a:t>
            </a:r>
            <a:endParaRPr lang="zh-CN" altLang="en-US" b="1" kern="0" noProof="0" dirty="0">
              <a:ln>
                <a:noFill/>
              </a:ln>
              <a:solidFill>
                <a:srgbClr val="9B131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5909542" y="4664391"/>
            <a:ext cx="2501145" cy="3708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涌现行为（互相调用形成环）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871724" y="1875829"/>
            <a:ext cx="2425774" cy="22917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多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最危险的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工程事故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之一：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A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发现问题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</a:t>
            </a:r>
            <a:r>
              <a:rPr kumimoji="0" lang="en-US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→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交给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B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排查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</a:t>
            </a:r>
            <a:r>
              <a:rPr kumimoji="0" lang="en-US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→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B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让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C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去验证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</a:t>
            </a:r>
            <a:r>
              <a:rPr kumimoji="0" lang="en-US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→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C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又把结果回给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 </a:t>
            </a:r>
            <a:r>
              <a:rPr kumimoji="0" lang="en-US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→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A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再触发新一轮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……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结果：形成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闭环，不断调用工具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检索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执行，出现成本爆炸或服务被打满（也是</a:t>
            </a:r>
            <a:r>
              <a:rPr kumimoji="0" lang="en-US" altLang="zh-CN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 Unbounded Consumption </a:t>
            </a:r>
            <a:r>
              <a:rPr kumimoji="0" lang="zh-CN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ea"/>
                <a:sym typeface="汉仪旗黑-55简" panose="00020600040101010101" pitchFamily="18" charset="-122"/>
              </a:rPr>
              <a:t>的多体版本）</a:t>
            </a:r>
            <a:endParaRPr kumimoji="0" lang="en-US" altLang="zh-CN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zh-CN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8613775" y="1640205"/>
            <a:ext cx="3183255" cy="4396740"/>
          </a:xfrm>
          <a:prstGeom prst="rect">
            <a:avLst/>
          </a:prstGeom>
          <a:solidFill>
            <a:sysClr val="window" lastClr="FFFFFF">
              <a:alpha val="94000"/>
            </a:sysClr>
          </a:solidFill>
          <a:ln w="12700" cap="flat" cmpd="sng" algn="ctr">
            <a:gradFill>
              <a:gsLst>
                <a:gs pos="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152400" dist="114300" dir="2700000" algn="tl" rotWithShape="0">
              <a:prstClr val="black">
                <a:alpha val="6000"/>
              </a:prstClr>
            </a:outerShdw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 rot="0">
            <a:off x="8752840" y="1670685"/>
            <a:ext cx="2905125" cy="1629410"/>
            <a:chOff x="1035062" y="1097280"/>
            <a:chExt cx="3489960" cy="1844040"/>
          </a:xfrm>
        </p:grpSpPr>
        <p:grpSp>
          <p:nvGrpSpPr>
            <p:cNvPr id="98" name="组合 97"/>
            <p:cNvGrpSpPr/>
            <p:nvPr/>
          </p:nvGrpSpPr>
          <p:grpSpPr>
            <a:xfrm>
              <a:off x="1035062" y="1097280"/>
              <a:ext cx="3489960" cy="1844040"/>
              <a:chOff x="1035062" y="1097280"/>
              <a:chExt cx="3489960" cy="1844040"/>
            </a:xfrm>
          </p:grpSpPr>
          <p:sp>
            <p:nvSpPr>
              <p:cNvPr id="106" name="矩形 105"/>
              <p:cNvSpPr/>
              <p:nvPr/>
            </p:nvSpPr>
            <p:spPr>
              <a:xfrm>
                <a:off x="1035062" y="1097280"/>
                <a:ext cx="3489960" cy="1844040"/>
              </a:xfrm>
              <a:prstGeom prst="rect">
                <a:avLst/>
              </a:prstGeom>
              <a:noFill/>
              <a:ln w="12700" cap="flat" cmpd="sng" algn="ctr">
                <a:solidFill>
                  <a:srgbClr val="9B1313"/>
                </a:solidFill>
                <a:prstDash val="solid"/>
                <a:miter lim="800000"/>
              </a:ln>
              <a:effectLst>
                <a:outerShdw blurRad="101600" dist="38100" dir="2700000" algn="tl" rotWithShape="0">
                  <a:srgbClr val="C00000">
                    <a:alpha val="16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8" name="等腰三角形 107"/>
              <p:cNvSpPr/>
              <p:nvPr/>
            </p:nvSpPr>
            <p:spPr>
              <a:xfrm rot="5400000">
                <a:off x="1056168" y="1148428"/>
                <a:ext cx="190502" cy="161278"/>
              </a:xfrm>
              <a:prstGeom prst="triangle">
                <a:avLst>
                  <a:gd name="adj" fmla="val 0"/>
                </a:avLst>
              </a:prstGeom>
              <a:solidFill>
                <a:srgbClr val="9B131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9" name="文本框 108"/>
            <p:cNvSpPr txBox="1"/>
            <p:nvPr/>
          </p:nvSpPr>
          <p:spPr>
            <a:xfrm>
              <a:off x="1151419" y="1235961"/>
              <a:ext cx="3245321" cy="16485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 algn="ctr">
                <a:lnSpc>
                  <a:spcPct val="125000"/>
                </a:lnSpc>
                <a:spcBef>
                  <a:spcPts val="400"/>
                </a:spcBef>
                <a:buFont typeface="Wingdings" panose="05000000000000000000" pitchFamily="2" charset="2"/>
                <a:buNone/>
              </a:pPr>
              <a:r>
                <a:rPr lang="zh-CN" altLang="en-US" sz="9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委托链规则（</a:t>
              </a:r>
              <a:r>
                <a:rPr lang="en-US" altLang="zh-CN" sz="9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Delegation Policy</a:t>
              </a:r>
              <a:r>
                <a:rPr lang="zh-CN" altLang="en-US" sz="9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：谁能委托谁）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做法：定义清晰的角色关系与上限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记录责任链：每个任务携带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root_request_id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（最初委托）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+ approver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（批准者）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+ executor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（执行者）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171450" indent="-171450" algn="l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价值：事故时能回答三句话：谁发起、谁批准、谁执行，避免责任扩散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 rot="0">
            <a:off x="8752840" y="3538220"/>
            <a:ext cx="2905125" cy="1629410"/>
            <a:chOff x="1035062" y="1097280"/>
            <a:chExt cx="3489960" cy="1844040"/>
          </a:xfrm>
        </p:grpSpPr>
        <p:sp>
          <p:nvSpPr>
            <p:cNvPr id="112" name="矩形 111"/>
            <p:cNvSpPr/>
            <p:nvPr/>
          </p:nvSpPr>
          <p:spPr>
            <a:xfrm>
              <a:off x="1035062" y="1097280"/>
              <a:ext cx="3489960" cy="1844040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01600" dist="38100" dir="2700000" algn="tl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13" name="等腰三角形 112"/>
            <p:cNvSpPr/>
            <p:nvPr/>
          </p:nvSpPr>
          <p:spPr>
            <a:xfrm rot="5400000">
              <a:off x="1056168" y="1148428"/>
              <a:ext cx="190502" cy="161278"/>
            </a:xfrm>
            <a:prstGeom prst="triangle">
              <a:avLst>
                <a:gd name="adj" fmla="val 0"/>
              </a:avLst>
            </a:pr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30" name="文本框 129"/>
          <p:cNvSpPr txBox="1"/>
          <p:nvPr/>
        </p:nvSpPr>
        <p:spPr>
          <a:xfrm>
            <a:off x="8752840" y="5507355"/>
            <a:ext cx="2905125" cy="398780"/>
          </a:xfrm>
          <a:prstGeom prst="rect">
            <a:avLst/>
          </a:prstGeom>
          <a:solidFill>
            <a:srgbClr val="9B1313"/>
          </a:solidFill>
        </p:spPr>
        <p:txBody>
          <a:bodyPr wrap="square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治理抓手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866843" y="3599165"/>
            <a:ext cx="2701482" cy="16300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indent="0" algn="ctr">
              <a:lnSpc>
                <a:spcPct val="125000"/>
              </a:lnSpc>
              <a:spcBef>
                <a:spcPts val="400"/>
              </a:spcBef>
              <a:buFont typeface="Wingdings" panose="05000000000000000000" pitchFamily="2" charset="2"/>
              <a:buNone/>
            </a:pPr>
            <a:r>
              <a:rPr lang="zh-CN" altLang="en-US" sz="9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跨</a:t>
            </a:r>
            <a:r>
              <a:rPr lang="en-US" altLang="zh-CN" sz="9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lang="zh-CN" altLang="en-US" sz="9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共享预算与熔断</a:t>
            </a:r>
            <a:endParaRPr lang="zh-CN" altLang="en-US" sz="900" b="1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共享预算：把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 token/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时间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钱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工具次数做成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全局配额池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，多个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共用同一额度</a:t>
            </a:r>
            <a:endParaRPr lang="zh-CN" altLang="en-US" sz="9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共享熔断：一旦检测到异常（调用速率飙升、回路过长、错误率高），对整个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组降级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暂停，而不是只停一个</a:t>
            </a:r>
            <a:endParaRPr lang="zh-CN" altLang="en-US" sz="9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  <a:p>
            <a:pPr marL="171450" indent="-171450" algn="l">
              <a:lnSpc>
                <a:spcPct val="125000"/>
              </a:lnSpc>
              <a:spcBef>
                <a:spcPts val="400"/>
              </a:spcBef>
              <a:buFont typeface="Wingdings" panose="05000000000000000000" charset="0"/>
              <a:buChar char=""/>
            </a:pP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价值：防止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两个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 Agent 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互相把对方当触发器</a:t>
            </a:r>
            <a:r>
              <a:rPr lang="en-US" altLang="zh-CN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rPr>
              <a:t>，把成本打爆</a:t>
            </a:r>
            <a:endParaRPr lang="zh-CN" altLang="en-US" sz="900" dirty="0">
              <a:solidFill>
                <a:sysClr val="windowText" lastClr="000000">
                  <a:lumMod val="75000"/>
                  <a:lumOff val="25000"/>
                </a:sysClr>
              </a:solidFill>
              <a:latin typeface="+mn-ea"/>
              <a:cs typeface="+mn-ea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评测、红队与运行时保障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Agent 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安全评测：从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“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注入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”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到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“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行为安全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”</a:t>
            </a:r>
            <a:endParaRPr lang="en-US" altLang="zh-CN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22234" y="1813718"/>
            <a:ext cx="3386049" cy="3882175"/>
            <a:chOff x="576350" y="1576516"/>
            <a:chExt cx="3386049" cy="3882175"/>
          </a:xfrm>
        </p:grpSpPr>
        <p:grpSp>
          <p:nvGrpSpPr>
            <p:cNvPr id="55" name="组合 54"/>
            <p:cNvGrpSpPr/>
            <p:nvPr/>
          </p:nvGrpSpPr>
          <p:grpSpPr>
            <a:xfrm>
              <a:off x="576350" y="1576516"/>
              <a:ext cx="3386049" cy="3882175"/>
              <a:chOff x="576350" y="1576516"/>
              <a:chExt cx="3386049" cy="3882175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576350" y="1576516"/>
                <a:ext cx="3386049" cy="3882175"/>
                <a:chOff x="576350" y="1711902"/>
                <a:chExt cx="3386049" cy="3882175"/>
              </a:xfrm>
            </p:grpSpPr>
            <p:sp>
              <p:nvSpPr>
                <p:cNvPr id="57" name="梯形 56"/>
                <p:cNvSpPr/>
                <p:nvPr/>
              </p:nvSpPr>
              <p:spPr>
                <a:xfrm>
                  <a:off x="962139" y="1711902"/>
                  <a:ext cx="2603385" cy="305377"/>
                </a:xfrm>
                <a:prstGeom prst="trapezoid">
                  <a:avLst>
                    <a:gd name="adj" fmla="val 36691"/>
                  </a:avLst>
                </a:prstGeom>
                <a:solidFill>
                  <a:srgbClr val="86101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576350" y="1759527"/>
                  <a:ext cx="3386049" cy="38345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59" name="任意多边形: 形状 15"/>
                <p:cNvSpPr/>
                <p:nvPr/>
              </p:nvSpPr>
              <p:spPr>
                <a:xfrm>
                  <a:off x="1098665" y="1711903"/>
                  <a:ext cx="2341419" cy="4616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1419" h="461666">
                      <a:moveTo>
                        <a:pt x="0" y="0"/>
                      </a:moveTo>
                      <a:lnTo>
                        <a:pt x="123570" y="336784"/>
                      </a:lnTo>
                      <a:cubicBezTo>
                        <a:pt x="151108" y="411837"/>
                        <a:pt x="222466" y="461665"/>
                        <a:pt x="302412" y="461665"/>
                      </a:cubicBezTo>
                      <a:lnTo>
                        <a:pt x="2039006" y="461665"/>
                      </a:lnTo>
                      <a:cubicBezTo>
                        <a:pt x="2118952" y="461665"/>
                        <a:pt x="2190310" y="411837"/>
                        <a:pt x="2217848" y="336784"/>
                      </a:cubicBezTo>
                      <a:lnTo>
                        <a:pt x="23414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B131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60" name="文本框 59"/>
              <p:cNvSpPr txBox="1"/>
              <p:nvPr/>
            </p:nvSpPr>
            <p:spPr>
              <a:xfrm>
                <a:off x="1507798" y="1606688"/>
                <a:ext cx="1523152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rPr>
                  <a:t>注入对抗</a:t>
                </a:r>
                <a:endParaRPr lang="zh-CN" altLang="en-US" sz="20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1043507" y="2110551"/>
              <a:ext cx="2451735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（</a:t>
              </a:r>
              <a:r>
                <a:rPr lang="en-US" altLang="zh-CN" sz="14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AgentDojo</a:t>
              </a:r>
              <a:r>
                <a:rPr lang="zh-CN" altLang="en-US" sz="14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——抗干扰题）</a:t>
              </a:r>
              <a:endParaRPr lang="zh-CN" altLang="en-US" sz="14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02860" y="1843890"/>
            <a:ext cx="3385820" cy="3891280"/>
            <a:chOff x="685138" y="1576516"/>
            <a:chExt cx="3385820" cy="3891280"/>
          </a:xfrm>
        </p:grpSpPr>
        <p:grpSp>
          <p:nvGrpSpPr>
            <p:cNvPr id="69" name="组合 68"/>
            <p:cNvGrpSpPr/>
            <p:nvPr/>
          </p:nvGrpSpPr>
          <p:grpSpPr>
            <a:xfrm>
              <a:off x="685138" y="1576516"/>
              <a:ext cx="3385820" cy="3891280"/>
              <a:chOff x="685138" y="1576516"/>
              <a:chExt cx="3385820" cy="3891280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685138" y="1576516"/>
                <a:ext cx="3385820" cy="3891280"/>
                <a:chOff x="685138" y="1711902"/>
                <a:chExt cx="3385820" cy="3891280"/>
              </a:xfrm>
            </p:grpSpPr>
            <p:sp>
              <p:nvSpPr>
                <p:cNvPr id="71" name="梯形 70"/>
                <p:cNvSpPr/>
                <p:nvPr/>
              </p:nvSpPr>
              <p:spPr>
                <a:xfrm>
                  <a:off x="962139" y="1711902"/>
                  <a:ext cx="2603385" cy="305377"/>
                </a:xfrm>
                <a:prstGeom prst="trapezoid">
                  <a:avLst>
                    <a:gd name="adj" fmla="val 36691"/>
                  </a:avLst>
                </a:prstGeom>
                <a:solidFill>
                  <a:srgbClr val="86101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685138" y="1759527"/>
                  <a:ext cx="3385820" cy="3843655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73" name="任意多边形: 形状 29"/>
                <p:cNvSpPr/>
                <p:nvPr/>
              </p:nvSpPr>
              <p:spPr>
                <a:xfrm>
                  <a:off x="1098665" y="1711903"/>
                  <a:ext cx="2341419" cy="4616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1419" h="461666">
                      <a:moveTo>
                        <a:pt x="0" y="0"/>
                      </a:moveTo>
                      <a:lnTo>
                        <a:pt x="123570" y="336784"/>
                      </a:lnTo>
                      <a:cubicBezTo>
                        <a:pt x="151108" y="411837"/>
                        <a:pt x="222466" y="461665"/>
                        <a:pt x="302412" y="461665"/>
                      </a:cubicBezTo>
                      <a:lnTo>
                        <a:pt x="2039006" y="461665"/>
                      </a:lnTo>
                      <a:cubicBezTo>
                        <a:pt x="2118952" y="461665"/>
                        <a:pt x="2190310" y="411837"/>
                        <a:pt x="2217848" y="336784"/>
                      </a:cubicBezTo>
                      <a:lnTo>
                        <a:pt x="23414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B131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74" name="文本框 73"/>
              <p:cNvSpPr txBox="1"/>
              <p:nvPr/>
            </p:nvSpPr>
            <p:spPr>
              <a:xfrm>
                <a:off x="1508098" y="1606996"/>
                <a:ext cx="1711960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rPr>
                  <a:t>综合交互安全</a:t>
                </a:r>
                <a:endParaRPr lang="zh-CN" altLang="en-US" sz="20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81" name="文本框 80"/>
            <p:cNvSpPr txBox="1"/>
            <p:nvPr/>
          </p:nvSpPr>
          <p:spPr>
            <a:xfrm>
              <a:off x="914373" y="2117536"/>
              <a:ext cx="2927985" cy="3073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1400" dirty="0">
                  <a:latin typeface="+mn-ea"/>
                  <a:cs typeface="+mn-ea"/>
                  <a:sym typeface="汉仪旗黑-55简" panose="00020600040101010101" pitchFamily="18" charset="-122"/>
                </a:rPr>
                <a:t>（实操题）</a:t>
              </a:r>
              <a:endParaRPr lang="zh-CN" altLang="en-US" sz="1400" dirty="0"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302436" y="1837530"/>
            <a:ext cx="3386049" cy="3882175"/>
            <a:chOff x="576350" y="1576516"/>
            <a:chExt cx="3386049" cy="3882175"/>
          </a:xfrm>
        </p:grpSpPr>
        <p:grpSp>
          <p:nvGrpSpPr>
            <p:cNvPr id="83" name="组合 82"/>
            <p:cNvGrpSpPr/>
            <p:nvPr/>
          </p:nvGrpSpPr>
          <p:grpSpPr>
            <a:xfrm>
              <a:off x="576350" y="1576516"/>
              <a:ext cx="3386049" cy="3882175"/>
              <a:chOff x="576350" y="1576516"/>
              <a:chExt cx="3386049" cy="3882175"/>
            </a:xfrm>
          </p:grpSpPr>
          <p:grpSp>
            <p:nvGrpSpPr>
              <p:cNvPr id="84" name="组合 83"/>
              <p:cNvGrpSpPr/>
              <p:nvPr/>
            </p:nvGrpSpPr>
            <p:grpSpPr>
              <a:xfrm>
                <a:off x="576350" y="1576516"/>
                <a:ext cx="3386049" cy="3882175"/>
                <a:chOff x="576350" y="1711902"/>
                <a:chExt cx="3386049" cy="3882175"/>
              </a:xfrm>
            </p:grpSpPr>
            <p:sp>
              <p:nvSpPr>
                <p:cNvPr id="85" name="梯形 84"/>
                <p:cNvSpPr/>
                <p:nvPr/>
              </p:nvSpPr>
              <p:spPr>
                <a:xfrm>
                  <a:off x="962139" y="1711902"/>
                  <a:ext cx="2603385" cy="305377"/>
                </a:xfrm>
                <a:prstGeom prst="trapezoid">
                  <a:avLst>
                    <a:gd name="adj" fmla="val 36691"/>
                  </a:avLst>
                </a:prstGeom>
                <a:solidFill>
                  <a:srgbClr val="86101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576350" y="1759527"/>
                  <a:ext cx="3386049" cy="38345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 algn="ctr"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>
                  <a:outerShdw blurRad="152400" dist="114300" dir="2700000" algn="tl" rotWithShape="0">
                    <a:prstClr val="black">
                      <a:alpha val="6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138" name="任意多边形: 形状 43"/>
                <p:cNvSpPr/>
                <p:nvPr/>
              </p:nvSpPr>
              <p:spPr>
                <a:xfrm>
                  <a:off x="1098665" y="1711903"/>
                  <a:ext cx="2341419" cy="46166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41419" h="461666">
                      <a:moveTo>
                        <a:pt x="0" y="0"/>
                      </a:moveTo>
                      <a:lnTo>
                        <a:pt x="123570" y="336784"/>
                      </a:lnTo>
                      <a:cubicBezTo>
                        <a:pt x="151108" y="411837"/>
                        <a:pt x="222466" y="461665"/>
                        <a:pt x="302412" y="461665"/>
                      </a:cubicBezTo>
                      <a:lnTo>
                        <a:pt x="2039006" y="461665"/>
                      </a:lnTo>
                      <a:cubicBezTo>
                        <a:pt x="2118952" y="461665"/>
                        <a:pt x="2190310" y="411837"/>
                        <a:pt x="2217848" y="336784"/>
                      </a:cubicBezTo>
                      <a:lnTo>
                        <a:pt x="23414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B131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139" name="文本框 138"/>
              <p:cNvSpPr txBox="1"/>
              <p:nvPr/>
            </p:nvSpPr>
            <p:spPr>
              <a:xfrm>
                <a:off x="1507798" y="1606688"/>
                <a:ext cx="1523152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等线" panose="02010600030101010101" charset="-122"/>
                    <a:sym typeface="汉仪旗黑-55简" panose="00020600040101010101" pitchFamily="18" charset="-122"/>
                  </a:rPr>
                  <a:t>风险判断</a:t>
                </a:r>
                <a:endParaRPr lang="zh-CN" altLang="en-US" sz="2000" dirty="0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46" name="文本框 145"/>
            <p:cNvSpPr txBox="1"/>
            <p:nvPr/>
          </p:nvSpPr>
          <p:spPr>
            <a:xfrm>
              <a:off x="576985" y="2047686"/>
              <a:ext cx="3330575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+mn-ea"/>
                  <a:cs typeface="+mn-ea"/>
                  <a:sym typeface="汉仪旗黑-55简" panose="00020600040101010101" pitchFamily="18" charset="-122"/>
                </a:rPr>
                <a:t>（阅卷题）</a:t>
              </a:r>
              <a:endParaRPr lang="zh-CN" altLang="en-US" sz="1400" dirty="0"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2551417" y="1130956"/>
            <a:ext cx="7168188" cy="306705"/>
            <a:chOff x="2551417" y="928391"/>
            <a:chExt cx="7168188" cy="306705"/>
          </a:xfrm>
        </p:grpSpPr>
        <p:sp>
          <p:nvSpPr>
            <p:cNvPr id="149" name="文本框 148"/>
            <p:cNvSpPr txBox="1"/>
            <p:nvPr/>
          </p:nvSpPr>
          <p:spPr>
            <a:xfrm>
              <a:off x="3081655" y="928391"/>
              <a:ext cx="614045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prstClr val="black"/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这三类评测其实在回答三个不同问题</a:t>
              </a:r>
              <a:endParaRPr lang="zh-CN" altLang="en-US" sz="1400" dirty="0">
                <a:solidFill>
                  <a:prstClr val="black"/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  <p:grpSp>
          <p:nvGrpSpPr>
            <p:cNvPr id="150" name="组合 149"/>
            <p:cNvGrpSpPr/>
            <p:nvPr/>
          </p:nvGrpSpPr>
          <p:grpSpPr>
            <a:xfrm>
              <a:off x="8612844" y="1073686"/>
              <a:ext cx="1106761" cy="150520"/>
              <a:chOff x="8451273" y="1075030"/>
              <a:chExt cx="1416627" cy="192662"/>
            </a:xfrm>
          </p:grpSpPr>
          <p:sp>
            <p:nvSpPr>
              <p:cNvPr id="151" name="任意多边形: 形状 51"/>
              <p:cNvSpPr/>
              <p:nvPr/>
            </p:nvSpPr>
            <p:spPr>
              <a:xfrm>
                <a:off x="8451273" y="1075030"/>
                <a:ext cx="1416627" cy="192662"/>
              </a:xfrm>
              <a:custGeom>
                <a:avLst/>
                <a:gdLst/>
                <a:ahLst/>
                <a:cxnLst/>
                <a:rect l="0" t="0" r="0" b="0"/>
                <a:pathLst>
                  <a:path w="1731819" h="235528">
                    <a:moveTo>
                      <a:pt x="0" y="0"/>
                    </a:moveTo>
                    <a:lnTo>
                      <a:pt x="114866" y="177520"/>
                    </a:lnTo>
                    <a:cubicBezTo>
                      <a:pt x="138287" y="213716"/>
                      <a:pt x="178379" y="235527"/>
                      <a:pt x="221491" y="235527"/>
                    </a:cubicBezTo>
                    <a:lnTo>
                      <a:pt x="1731818" y="235527"/>
                    </a:lnTo>
                  </a:path>
                </a:pathLst>
              </a:custGeom>
              <a:noFill/>
              <a:ln w="12700" cap="rnd" cmpd="sng" algn="ctr">
                <a:solidFill>
                  <a:srgbClr val="9B1313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52" name="任意多边形: 形状 52"/>
              <p:cNvSpPr/>
              <p:nvPr/>
            </p:nvSpPr>
            <p:spPr>
              <a:xfrm>
                <a:off x="8556526" y="1115090"/>
                <a:ext cx="733431" cy="99747"/>
              </a:xfrm>
              <a:custGeom>
                <a:avLst/>
                <a:gdLst/>
                <a:ahLst/>
                <a:cxnLst/>
                <a:rect l="0" t="0" r="0" b="0"/>
                <a:pathLst>
                  <a:path w="1731819" h="235528">
                    <a:moveTo>
                      <a:pt x="0" y="0"/>
                    </a:moveTo>
                    <a:lnTo>
                      <a:pt x="114866" y="177520"/>
                    </a:lnTo>
                    <a:cubicBezTo>
                      <a:pt x="138287" y="213716"/>
                      <a:pt x="178379" y="235527"/>
                      <a:pt x="221491" y="235527"/>
                    </a:cubicBezTo>
                    <a:lnTo>
                      <a:pt x="1731818" y="235527"/>
                    </a:lnTo>
                  </a:path>
                </a:pathLst>
              </a:custGeom>
              <a:noFill/>
              <a:ln w="12700" cap="rnd" cmpd="sng" algn="ctr">
                <a:solidFill>
                  <a:srgbClr val="9B1313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 flipH="1">
              <a:off x="2551417" y="1046684"/>
              <a:ext cx="1106761" cy="150520"/>
              <a:chOff x="8451273" y="1075030"/>
              <a:chExt cx="1416627" cy="192662"/>
            </a:xfrm>
          </p:grpSpPr>
          <p:sp>
            <p:nvSpPr>
              <p:cNvPr id="154" name="任意多边形: 形状 49"/>
              <p:cNvSpPr/>
              <p:nvPr/>
            </p:nvSpPr>
            <p:spPr>
              <a:xfrm>
                <a:off x="8451273" y="1075030"/>
                <a:ext cx="1416627" cy="192662"/>
              </a:xfrm>
              <a:custGeom>
                <a:avLst/>
                <a:gdLst/>
                <a:ahLst/>
                <a:cxnLst/>
                <a:rect l="0" t="0" r="0" b="0"/>
                <a:pathLst>
                  <a:path w="1731819" h="235528">
                    <a:moveTo>
                      <a:pt x="0" y="0"/>
                    </a:moveTo>
                    <a:lnTo>
                      <a:pt x="114866" y="177520"/>
                    </a:lnTo>
                    <a:cubicBezTo>
                      <a:pt x="138287" y="213716"/>
                      <a:pt x="178379" y="235527"/>
                      <a:pt x="221491" y="235527"/>
                    </a:cubicBezTo>
                    <a:lnTo>
                      <a:pt x="1731818" y="235527"/>
                    </a:lnTo>
                  </a:path>
                </a:pathLst>
              </a:custGeom>
              <a:noFill/>
              <a:ln w="12700" cap="rnd" cmpd="sng" algn="ctr">
                <a:solidFill>
                  <a:srgbClr val="9B1313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55" name="任意多边形: 形状 50"/>
              <p:cNvSpPr/>
              <p:nvPr/>
            </p:nvSpPr>
            <p:spPr>
              <a:xfrm>
                <a:off x="8556526" y="1115090"/>
                <a:ext cx="733431" cy="99747"/>
              </a:xfrm>
              <a:custGeom>
                <a:avLst/>
                <a:gdLst/>
                <a:ahLst/>
                <a:cxnLst/>
                <a:rect l="0" t="0" r="0" b="0"/>
                <a:pathLst>
                  <a:path w="1731819" h="235528">
                    <a:moveTo>
                      <a:pt x="0" y="0"/>
                    </a:moveTo>
                    <a:lnTo>
                      <a:pt x="114866" y="177520"/>
                    </a:lnTo>
                    <a:cubicBezTo>
                      <a:pt x="138287" y="213716"/>
                      <a:pt x="178379" y="235527"/>
                      <a:pt x="221491" y="235527"/>
                    </a:cubicBezTo>
                    <a:lnTo>
                      <a:pt x="1731818" y="235527"/>
                    </a:lnTo>
                  </a:path>
                </a:pathLst>
              </a:custGeom>
              <a:noFill/>
              <a:ln w="12700" cap="rnd" cmpd="sng" algn="ctr">
                <a:solidFill>
                  <a:srgbClr val="9B1313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157" name="组合 156"/>
          <p:cNvGrpSpPr/>
          <p:nvPr/>
        </p:nvGrpSpPr>
        <p:grpSpPr>
          <a:xfrm>
            <a:off x="1036320" y="2727325"/>
            <a:ext cx="2650490" cy="3017520"/>
            <a:chOff x="905542" y="3478604"/>
            <a:chExt cx="2668905" cy="3280579"/>
          </a:xfrm>
        </p:grpSpPr>
        <p:sp>
          <p:nvSpPr>
            <p:cNvPr id="158" name="矩形 157"/>
            <p:cNvSpPr/>
            <p:nvPr/>
          </p:nvSpPr>
          <p:spPr>
            <a:xfrm>
              <a:off x="905542" y="3478604"/>
              <a:ext cx="2668905" cy="3280579"/>
            </a:xfrm>
            <a:prstGeom prst="rect">
              <a:avLst/>
            </a:prstGeom>
            <a:solidFill>
              <a:srgbClr val="E7E6E6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spcAft>
                  <a:spcPts val="500"/>
                </a:spcAft>
              </a:pPr>
              <a:endParaRPr kumimoji="1"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905542" y="3594893"/>
              <a:ext cx="2668905" cy="3138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测点：当工具返回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不可信数据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（里面夹了恶意指令）时，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Agent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能不能不被劫持、仍完成原任务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kumimoji="1" lang="en-US" altLang="zh-CN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直观理解：你在正常办事，但别人塞给你一张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夹带私货的小纸条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，你会不会照做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indent="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None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外部工具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网页返回了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坏内容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，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Agent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会不会被带偏去做坏事？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4899100" y="2727325"/>
            <a:ext cx="2650490" cy="3119120"/>
            <a:chOff x="905542" y="3478604"/>
            <a:chExt cx="2668905" cy="3391036"/>
          </a:xfrm>
        </p:grpSpPr>
        <p:sp>
          <p:nvSpPr>
            <p:cNvPr id="161" name="矩形 160"/>
            <p:cNvSpPr/>
            <p:nvPr/>
          </p:nvSpPr>
          <p:spPr>
            <a:xfrm>
              <a:off x="905542" y="3478604"/>
              <a:ext cx="2668905" cy="3280579"/>
            </a:xfrm>
            <a:prstGeom prst="rect">
              <a:avLst/>
            </a:prstGeom>
            <a:solidFill>
              <a:srgbClr val="E7E6E6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spcAft>
                  <a:spcPts val="500"/>
                </a:spcAft>
              </a:pPr>
              <a:endParaRPr kumimoji="1"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905542" y="3540046"/>
              <a:ext cx="2668905" cy="33295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测点：让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 Agent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在很多交互环境里执行任务，覆盖多类安全风险，评估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整体行为安全分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。文中描述包含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 349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个交互环境、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2000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个测试用例、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8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类风险。</a:t>
              </a:r>
              <a:endParaRPr kumimoji="1" lang="en-US" altLang="zh-CN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直观理解：不是只防注入，而是看你在真实场景里会不会泄露数据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越权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做危险动作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被诱导做坏事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indent="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None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在各种真实任务环境里跑起来，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Agent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的整体行为是否安全（泄露、越权、危险动作等）？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8698791" y="2777490"/>
            <a:ext cx="2650490" cy="3015259"/>
            <a:chOff x="905542" y="3533142"/>
            <a:chExt cx="2668905" cy="3278121"/>
          </a:xfrm>
        </p:grpSpPr>
        <p:sp>
          <p:nvSpPr>
            <p:cNvPr id="164" name="矩形 163"/>
            <p:cNvSpPr/>
            <p:nvPr/>
          </p:nvSpPr>
          <p:spPr>
            <a:xfrm>
              <a:off x="905542" y="3533142"/>
              <a:ext cx="2668905" cy="3226041"/>
            </a:xfrm>
            <a:prstGeom prst="rect">
              <a:avLst/>
            </a:prstGeom>
            <a:solidFill>
              <a:srgbClr val="E7E6E6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spcAft>
                  <a:spcPts val="500"/>
                </a:spcAft>
              </a:pPr>
              <a:endParaRPr kumimoji="1"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905542" y="3536207"/>
              <a:ext cx="2668905" cy="3275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测点：不给你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去执行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，而是给一段多轮交互记录，让模型判断这里有没有安全风险、属于哪类风险。数据集描述为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 569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条多轮记录、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27 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个风险场景等。</a:t>
              </a:r>
              <a:endParaRPr kumimoji="1" lang="en-US" altLang="zh-CN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marL="285750" indent="-28575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Char char="Ø"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直观理解：像安全审计员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风控模型：看日志就能识别风险（适合监控与审计）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  <a:p>
              <a:pPr indent="0" algn="just">
                <a:lnSpc>
                  <a:spcPct val="150000"/>
                </a:lnSpc>
                <a:spcAft>
                  <a:spcPts val="500"/>
                </a:spcAft>
                <a:buFont typeface="Wingdings" panose="05000000000000000000" pitchFamily="2" charset="2"/>
                <a:buNone/>
              </a:pP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给你一段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“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交互日志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”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，模型</a:t>
              </a:r>
              <a:r>
                <a:rPr kumimoji="1" lang="en-US" altLang="zh-CN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/</a:t>
              </a:r>
              <a:r>
                <a:rPr kumimoji="1" lang="zh-CN" altLang="en-US" sz="1100" dirty="0">
                  <a:latin typeface="微软雅黑" panose="020B0503020204020204" charset="-122"/>
                  <a:ea typeface="微软雅黑" panose="020B0503020204020204" charset="-122"/>
                  <a:cs typeface="Alibaba PuHuiTi" pitchFamily="18" charset="-122"/>
                </a:rPr>
                <a:t>系统能不能判断这段行为有没有安全风险、风险点在哪？</a:t>
              </a:r>
              <a:endParaRPr kumimoji="1" lang="zh-CN" altLang="en-US" sz="1100" dirty="0">
                <a:latin typeface="微软雅黑" panose="020B0503020204020204" charset="-122"/>
                <a:ea typeface="微软雅黑" panose="020B0503020204020204" charset="-122"/>
                <a:cs typeface="Alibaba PuHuiTi" pitchFamily="18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742756" y="5878457"/>
            <a:ext cx="10896658" cy="722925"/>
            <a:chOff x="-51206" y="5562419"/>
            <a:chExt cx="13310571" cy="610779"/>
          </a:xfrm>
        </p:grpSpPr>
        <p:sp>
          <p:nvSpPr>
            <p:cNvPr id="167" name="矩形 166"/>
            <p:cNvSpPr/>
            <p:nvPr/>
          </p:nvSpPr>
          <p:spPr>
            <a:xfrm>
              <a:off x="1196947" y="5597673"/>
              <a:ext cx="12062418" cy="565497"/>
            </a:xfrm>
            <a:prstGeom prst="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086011" y="5562419"/>
              <a:ext cx="11072211" cy="610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2400" b="1" kern="100" dirty="0">
                  <a:solidFill>
                    <a:schemeClr val="bg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三种评测对应三件事：</a:t>
              </a:r>
              <a:r>
                <a:rPr lang="zh-CN" altLang="en-US" sz="2400" b="1" kern="100" dirty="0">
                  <a:solidFill>
                    <a:srgbClr val="FFFF00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Calibri" charset="0"/>
                </a:rPr>
                <a:t>防注入、看行为、会审计</a:t>
              </a:r>
              <a:endParaRPr lang="zh-CN" altLang="en-US" sz="2400" b="1" kern="100" dirty="0">
                <a:solidFill>
                  <a:srgbClr val="FFFF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charset="0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-51206" y="5605385"/>
              <a:ext cx="1248153" cy="54823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B0000"/>
              </a:solidFill>
            </a:ln>
          </p:spPr>
          <p:txBody>
            <a:bodyPr wrap="square" lIns="0" tIns="0" rIns="0" bIns="0" anchor="ctr" anchorCtr="1">
              <a:noAutofit/>
            </a:bodyPr>
            <a:lstStyle/>
            <a:p>
              <a:r>
                <a:rPr lang="zh-CN" altLang="en-US" sz="2800" b="1" dirty="0">
                  <a:solidFill>
                    <a:srgbClr val="14326C"/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zh-CN" altLang="en-US" sz="2800" b="1" dirty="0">
                <a:solidFill>
                  <a:srgbClr val="14326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Runtime Safety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：监控、降级与事故响应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515620" y="1183958"/>
            <a:ext cx="5351780" cy="4676140"/>
            <a:chOff x="812" y="1685"/>
            <a:chExt cx="8428" cy="7364"/>
          </a:xfrm>
        </p:grpSpPr>
        <p:grpSp>
          <p:nvGrpSpPr>
            <p:cNvPr id="19" name="组合 18"/>
            <p:cNvGrpSpPr/>
            <p:nvPr/>
          </p:nvGrpSpPr>
          <p:grpSpPr>
            <a:xfrm>
              <a:off x="812" y="1685"/>
              <a:ext cx="8428" cy="3299"/>
              <a:chOff x="515874" y="1435609"/>
              <a:chExt cx="5351525" cy="209467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346386" y="1889760"/>
                <a:ext cx="4444814" cy="164052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152400" dist="1143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1" name="矩形: 圆角 4"/>
              <p:cNvSpPr/>
              <p:nvPr/>
            </p:nvSpPr>
            <p:spPr>
              <a:xfrm>
                <a:off x="542654" y="1664949"/>
                <a:ext cx="5324745" cy="488718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101600" dir="5400000" algn="ctr" rotWithShape="0">
                  <a:srgbClr val="861010">
                    <a:alpha val="4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457534" y="2219128"/>
                <a:ext cx="4226359" cy="1245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异常频率：突然调用次数飙升</a:t>
                </a:r>
                <a:endParaRPr lang="zh-CN" altLang="en-US" sz="12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endParaRPr lang="zh-CN" altLang="en-US" sz="12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异常参数：参数看起来</a:t>
                </a:r>
                <a:r>
                  <a:rPr lang="en-US" altLang="zh-CN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太大</a:t>
                </a:r>
                <a:r>
                  <a:rPr lang="en-US" altLang="zh-CN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太危险</a:t>
                </a:r>
                <a:r>
                  <a:rPr lang="en-US" altLang="zh-CN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太不合理</a:t>
                </a:r>
                <a:r>
                  <a:rPr lang="en-US" altLang="zh-CN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endParaRPr lang="en-US" altLang="zh-CN" sz="12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endParaRPr lang="en-US" altLang="zh-CN" sz="12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2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异常目的地：请求跑向不该去的地方</a:t>
                </a:r>
                <a:endParaRPr lang="zh-CN" altLang="en-US" sz="12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515874" y="1435609"/>
                <a:ext cx="886206" cy="886206"/>
                <a:chOff x="647700" y="1597915"/>
                <a:chExt cx="982980" cy="982980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647700" y="1597915"/>
                  <a:ext cx="982980" cy="982980"/>
                </a:xfrm>
                <a:prstGeom prst="ellipse">
                  <a:avLst/>
                </a:prstGeom>
                <a:solidFill>
                  <a:srgbClr val="9B1313"/>
                </a:solidFill>
                <a:ln w="4127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>
                  <a:outerShdw blurRad="101600" dist="101600" dir="5400000" algn="ctr" rotWithShape="0">
                    <a:srgbClr val="861010">
                      <a:alpha val="4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09477" y="1784788"/>
                  <a:ext cx="859426" cy="5106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ysClr val="window" lastClr="FFFFFF"/>
                      </a:solidFill>
                      <a:latin typeface="+mn-ea"/>
                      <a:cs typeface="+mn-ea"/>
                      <a:sym typeface="汉仪旗黑-55简" panose="00020600040101010101" pitchFamily="18" charset="-122"/>
                    </a:rPr>
                    <a:t>01</a:t>
                  </a:r>
                  <a:endParaRPr lang="zh-CN" altLang="en-US" sz="2400" dirty="0">
                    <a:solidFill>
                      <a:sysClr val="window" lastClr="FFFFFF"/>
                    </a:solidFill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>
                <a:off x="1533525" y="1709253"/>
                <a:ext cx="4086225" cy="398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在线监控</a:t>
                </a:r>
                <a:r>
                  <a:rPr lang="en-US" altLang="zh-CN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：</a:t>
                </a:r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三类</a:t>
                </a:r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异常</a:t>
                </a:r>
                <a:endParaRPr lang="zh-CN" altLang="en-US" sz="2000" dirty="0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12" y="5750"/>
              <a:ext cx="8428" cy="3299"/>
              <a:chOff x="515874" y="1435609"/>
              <a:chExt cx="5351525" cy="2094674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346386" y="1889760"/>
                <a:ext cx="4444814" cy="164052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152400" dist="1143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9" name="矩形: 圆角 12"/>
              <p:cNvSpPr/>
              <p:nvPr/>
            </p:nvSpPr>
            <p:spPr>
              <a:xfrm>
                <a:off x="542654" y="1664949"/>
                <a:ext cx="5324745" cy="488718"/>
              </a:xfrm>
              <a:prstGeom prst="roundRect">
                <a:avLst>
                  <a:gd name="adj" fmla="val 50000"/>
                </a:avLst>
              </a:prstGeom>
              <a:solidFill>
                <a:srgbClr val="9B131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101600" dir="5400000" algn="ctr" rotWithShape="0">
                  <a:srgbClr val="861010">
                    <a:alpha val="4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457534" y="2321354"/>
                <a:ext cx="4226359" cy="1052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核心思路：不要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要么全自动要么全停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，而是分档降级，先止血</a:t>
                </a:r>
                <a:endPara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低风险：继续自动（但记录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告警）</a:t>
                </a:r>
                <a:endPara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中风险：切到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执行前确认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（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HITL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）</a:t>
                </a:r>
                <a:endPara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高风险：切到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“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只读模式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”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（禁止写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钱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/</a:t>
                </a: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不可逆）或直接暂停任务</a:t>
                </a:r>
                <a:endPara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  <a:p>
                <a:pPr marL="285750" indent="-285750" algn="just">
                  <a:lnSpc>
                    <a:spcPct val="125000"/>
                  </a:lnSpc>
                  <a:buFont typeface="Wingdings" panose="05000000000000000000" charset="0"/>
                  <a:buChar char=""/>
                </a:pPr>
                <a:r>
                  <a:rPr lang="zh-CN" altLang="en-US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极端：触发熔断</a:t>
                </a:r>
                <a:r>
                  <a:rPr lang="en-US" altLang="zh-CN" sz="1000" dirty="0"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/ Kill Switch</a:t>
                </a:r>
                <a:endPara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515874" y="1435609"/>
                <a:ext cx="886206" cy="886206"/>
                <a:chOff x="647700" y="1597915"/>
                <a:chExt cx="982980" cy="982980"/>
              </a:xfrm>
            </p:grpSpPr>
            <p:sp>
              <p:nvSpPr>
                <p:cNvPr id="32" name="椭圆 31"/>
                <p:cNvSpPr/>
                <p:nvPr/>
              </p:nvSpPr>
              <p:spPr>
                <a:xfrm>
                  <a:off x="647700" y="1597915"/>
                  <a:ext cx="982980" cy="982980"/>
                </a:xfrm>
                <a:prstGeom prst="ellipse">
                  <a:avLst/>
                </a:prstGeom>
                <a:solidFill>
                  <a:srgbClr val="9B1313"/>
                </a:solidFill>
                <a:ln w="41275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>
                  <a:outerShdw blurRad="101600" dist="101600" dir="5400000" algn="ctr" rotWithShape="0">
                    <a:srgbClr val="861010">
                      <a:alpha val="4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" name="文本框 1"/>
                <p:cNvSpPr txBox="1"/>
                <p:nvPr/>
              </p:nvSpPr>
              <p:spPr>
                <a:xfrm>
                  <a:off x="709477" y="1784788"/>
                  <a:ext cx="859426" cy="5106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ysClr val="window" lastClr="FFFFFF"/>
                      </a:solidFill>
                      <a:latin typeface="+mn-ea"/>
                      <a:cs typeface="+mn-ea"/>
                      <a:sym typeface="汉仪旗黑-55简" panose="00020600040101010101" pitchFamily="18" charset="-122"/>
                    </a:rPr>
                    <a:t>02</a:t>
                  </a:r>
                  <a:endParaRPr lang="zh-CN" altLang="en-US" sz="2400" dirty="0">
                    <a:solidFill>
                      <a:sysClr val="window" lastClr="FFFFFF"/>
                    </a:solidFill>
                    <a:latin typeface="+mn-ea"/>
                    <a:cs typeface="+mn-ea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34" name="文本框 33"/>
              <p:cNvSpPr txBox="1"/>
              <p:nvPr/>
            </p:nvSpPr>
            <p:spPr>
              <a:xfrm>
                <a:off x="1533779" y="1709294"/>
                <a:ext cx="4257675" cy="398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在线监控</a:t>
                </a:r>
                <a:r>
                  <a:rPr lang="en-US" altLang="zh-CN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：</a:t>
                </a:r>
                <a:r>
                  <a:rPr lang="zh-CN" altLang="en-US" sz="2000" dirty="0">
                    <a:solidFill>
                      <a:sysClr val="window" lastClr="FFFFFF"/>
                    </a:solidFill>
                    <a:latin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风险评分</a:t>
                </a:r>
                <a:endParaRPr lang="zh-CN" altLang="en-US" sz="2000" dirty="0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35" name="矩形 34"/>
          <p:cNvSpPr/>
          <p:nvPr/>
        </p:nvSpPr>
        <p:spPr>
          <a:xfrm>
            <a:off x="746760" y="6086475"/>
            <a:ext cx="10638790" cy="646430"/>
          </a:xfrm>
          <a:prstGeom prst="rect">
            <a:avLst/>
          </a:prstGeom>
          <a:noFill/>
          <a:ln w="12700" cap="flat" cmpd="sng" algn="ctr">
            <a:solidFill>
              <a:srgbClr val="9B1313"/>
            </a:solidFill>
            <a:prstDash val="solid"/>
            <a:miter lim="800000"/>
          </a:ln>
          <a:effectLst>
            <a:outerShdw blurRad="50800" dist="38100" dir="2700000" algn="tl" rotWithShape="0">
              <a:srgbClr val="C00000">
                <a:alpha val="20000"/>
              </a:srgbClr>
            </a:outerShdw>
          </a:effectLst>
        </p:spPr>
        <p:txBody>
          <a:bodyPr rtlCol="0" anchor="ctr"/>
          <a:p>
            <a:pPr algn="ctr"/>
            <a:r>
              <a:rPr lang="zh-CN" altLang="en-US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上线后的安全靠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“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盯</a:t>
            </a:r>
            <a:r>
              <a:rPr lang="en-US" altLang="zh-CN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 tool-call + 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快速降级</a:t>
            </a:r>
            <a:r>
              <a:rPr lang="en-US" altLang="zh-CN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 + 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标准化止血流程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”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：发现异常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先降权限</a:t>
            </a:r>
            <a:r>
              <a:rPr lang="en-US" altLang="zh-CN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/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限流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，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保住系统与钱包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，然后</a:t>
            </a:r>
            <a:r>
              <a:rPr lang="zh-CN" altLang="en-US" sz="2000" dirty="0">
                <a:solidFill>
                  <a:srgbClr val="B10015"/>
                </a:solidFill>
                <a:latin typeface="+mn-ea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再溯源修复</a:t>
            </a:r>
            <a:endParaRPr lang="zh-CN" altLang="en-US" sz="2000" dirty="0">
              <a:solidFill>
                <a:srgbClr val="B10015"/>
              </a:solidFill>
              <a:latin typeface="+mn-ea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948295" y="1102995"/>
            <a:ext cx="3392805" cy="4837430"/>
            <a:chOff x="1119" y="1926"/>
            <a:chExt cx="5343" cy="7618"/>
          </a:xfrm>
        </p:grpSpPr>
        <p:grpSp>
          <p:nvGrpSpPr>
            <p:cNvPr id="41" name="组合 40"/>
            <p:cNvGrpSpPr/>
            <p:nvPr/>
          </p:nvGrpSpPr>
          <p:grpSpPr>
            <a:xfrm>
              <a:off x="1119" y="1926"/>
              <a:ext cx="5343" cy="7618"/>
              <a:chOff x="792542" y="1226820"/>
              <a:chExt cx="3392731" cy="4837731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792542" y="1226820"/>
                <a:ext cx="3392731" cy="4837731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gradFill>
                  <a:gsLst>
                    <a:gs pos="0">
                      <a:sysClr val="window" lastClr="FFFFFF">
                        <a:lumMod val="95000"/>
                      </a:sysClr>
                    </a:gs>
                    <a:gs pos="100000">
                      <a:sysClr val="window" lastClr="FFFFFF">
                        <a:lumMod val="8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3" name="任意多边形: 形状 90"/>
              <p:cNvSpPr/>
              <p:nvPr/>
            </p:nvSpPr>
            <p:spPr>
              <a:xfrm>
                <a:off x="1846618" y="1694120"/>
                <a:ext cx="1284580" cy="1151794"/>
              </a:xfrm>
              <a:custGeom>
                <a:avLst/>
                <a:gdLst>
                  <a:gd name="connsiteX0" fmla="*/ 26836 w 1494560"/>
                  <a:gd name="connsiteY0" fmla="*/ 556443 h 1340069"/>
                  <a:gd name="connsiteX1" fmla="*/ 234853 w 1494560"/>
                  <a:gd name="connsiteY1" fmla="*/ 140408 h 1340069"/>
                  <a:gd name="connsiteX2" fmla="*/ 462038 w 1494560"/>
                  <a:gd name="connsiteY2" fmla="*/ 0 h 1340069"/>
                  <a:gd name="connsiteX3" fmla="*/ 1032522 w 1494560"/>
                  <a:gd name="connsiteY3" fmla="*/ 0 h 1340069"/>
                  <a:gd name="connsiteX4" fmla="*/ 1259707 w 1494560"/>
                  <a:gd name="connsiteY4" fmla="*/ 140408 h 1340069"/>
                  <a:gd name="connsiteX5" fmla="*/ 1467724 w 1494560"/>
                  <a:gd name="connsiteY5" fmla="*/ 556443 h 1340069"/>
                  <a:gd name="connsiteX6" fmla="*/ 1467724 w 1494560"/>
                  <a:gd name="connsiteY6" fmla="*/ 783627 h 1340069"/>
                  <a:gd name="connsiteX7" fmla="*/ 1259707 w 1494560"/>
                  <a:gd name="connsiteY7" fmla="*/ 1199661 h 1340069"/>
                  <a:gd name="connsiteX8" fmla="*/ 1032522 w 1494560"/>
                  <a:gd name="connsiteY8" fmla="*/ 1340069 h 1340069"/>
                  <a:gd name="connsiteX9" fmla="*/ 462038 w 1494560"/>
                  <a:gd name="connsiteY9" fmla="*/ 1340069 h 1340069"/>
                  <a:gd name="connsiteX10" fmla="*/ 234853 w 1494560"/>
                  <a:gd name="connsiteY10" fmla="*/ 1199661 h 1340069"/>
                  <a:gd name="connsiteX11" fmla="*/ 26836 w 1494560"/>
                  <a:gd name="connsiteY11" fmla="*/ 783627 h 1340069"/>
                  <a:gd name="connsiteX12" fmla="*/ 26836 w 1494560"/>
                  <a:gd name="connsiteY12" fmla="*/ 556443 h 1340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94560" h="1340069">
                    <a:moveTo>
                      <a:pt x="26836" y="556443"/>
                    </a:moveTo>
                    <a:lnTo>
                      <a:pt x="234853" y="140408"/>
                    </a:lnTo>
                    <a:cubicBezTo>
                      <a:pt x="277888" y="54338"/>
                      <a:pt x="365808" y="0"/>
                      <a:pt x="462038" y="0"/>
                    </a:cubicBezTo>
                    <a:lnTo>
                      <a:pt x="1032522" y="0"/>
                    </a:lnTo>
                    <a:cubicBezTo>
                      <a:pt x="1128751" y="0"/>
                      <a:pt x="1216672" y="54338"/>
                      <a:pt x="1259707" y="140408"/>
                    </a:cubicBezTo>
                    <a:lnTo>
                      <a:pt x="1467724" y="556443"/>
                    </a:lnTo>
                    <a:cubicBezTo>
                      <a:pt x="1503506" y="628006"/>
                      <a:pt x="1503505" y="712064"/>
                      <a:pt x="1467724" y="783627"/>
                    </a:cubicBezTo>
                    <a:lnTo>
                      <a:pt x="1259707" y="1199661"/>
                    </a:lnTo>
                    <a:cubicBezTo>
                      <a:pt x="1216672" y="1285731"/>
                      <a:pt x="1128751" y="1340069"/>
                      <a:pt x="1032522" y="1340069"/>
                    </a:cubicBezTo>
                    <a:lnTo>
                      <a:pt x="462038" y="1340069"/>
                    </a:lnTo>
                    <a:cubicBezTo>
                      <a:pt x="365808" y="1340069"/>
                      <a:pt x="277888" y="1285731"/>
                      <a:pt x="234853" y="1199661"/>
                    </a:cubicBezTo>
                    <a:lnTo>
                      <a:pt x="26836" y="783627"/>
                    </a:lnTo>
                    <a:cubicBezTo>
                      <a:pt x="-8945" y="712064"/>
                      <a:pt x="-8945" y="628006"/>
                      <a:pt x="26836" y="556443"/>
                    </a:cubicBezTo>
                  </a:path>
                </a:pathLst>
              </a:custGeom>
              <a:solidFill>
                <a:srgbClr val="9B1313"/>
              </a:solidFill>
              <a:ln w="34925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>
                        <a:lumMod val="9500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846618" y="2085855"/>
                <a:ext cx="1284580" cy="645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ysClr val="window" lastClr="FFFFFF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latin typeface="+mn-ea"/>
                    <a:ea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事故响应</a:t>
                </a:r>
                <a:r>
                  <a:rPr lang="en-US" altLang="zh-CN" dirty="0">
                    <a:latin typeface="+mn-ea"/>
                    <a:ea typeface="+mn-ea"/>
                    <a:cs typeface="等线" panose="02010600030101010101" charset="-122"/>
                    <a:sym typeface="汉仪旗黑-55简" panose="00020600040101010101" pitchFamily="18" charset="-122"/>
                  </a:rPr>
                  <a:t> SOP</a:t>
                </a:r>
                <a:endParaRPr lang="en-US" altLang="zh-CN" dirty="0">
                  <a:latin typeface="+mn-ea"/>
                  <a:ea typeface="+mn-ea"/>
                  <a:cs typeface="等线" panose="02010600030101010101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93" name="文本框 92"/>
            <p:cNvSpPr txBox="1"/>
            <p:nvPr/>
          </p:nvSpPr>
          <p:spPr>
            <a:xfrm>
              <a:off x="1448" y="4864"/>
              <a:ext cx="4938" cy="42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16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把安全运营做成</a:t>
              </a:r>
              <a:r>
                <a:rPr lang="en-US" altLang="zh-CN" sz="16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sz="16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固定动作</a:t>
              </a:r>
              <a:r>
                <a:rPr lang="en-US" altLang="zh-CN" sz="16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sz="1600" b="1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，避免出事时手忙脚乱</a:t>
              </a:r>
              <a:endParaRPr lang="zh-CN" altLang="en-US" sz="1600" b="1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endParaRPr lang="zh-CN" altLang="en-US" sz="12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r>
                <a:rPr lang="zh-CN" altLang="en-US" sz="1000" u="sng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发现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来源为告警（异常频率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参数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目的地）、用户反馈、监控仪表盘风险分飙升</a:t>
              </a:r>
              <a:endParaRPr lang="zh-CN" altLang="en-US" sz="10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r>
                <a:rPr lang="zh-CN" altLang="en-US" sz="1000" u="sng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止血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第一目标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，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立刻把损失停住</a:t>
              </a:r>
              <a:endParaRPr lang="zh-CN" altLang="en-US" sz="10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r>
                <a:rPr lang="zh-CN" altLang="en-US" sz="1000" u="sng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溯源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看可回放的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tool-call 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轨迹</a:t>
              </a:r>
              <a:endParaRPr lang="zh-CN" altLang="en-US" sz="10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r>
                <a:rPr lang="zh-CN" altLang="en-US" sz="1000" u="sng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修复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修复规则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策略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网关校验、检索过滤、权限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scope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、记忆清理、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prompt 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模板、模型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工具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bug</a:t>
              </a:r>
              <a:endParaRPr lang="en-US" altLang="zh-CN" sz="10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marL="285750" indent="-285750">
                <a:lnSpc>
                  <a:spcPct val="125000"/>
                </a:lnSpc>
                <a:buFont typeface="Wingdings" panose="05000000000000000000" charset="0"/>
                <a:buChar char=""/>
              </a:pPr>
              <a:r>
                <a:rPr lang="zh-CN" altLang="en-US" sz="1000" u="sng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复盘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：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根因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+ 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影响面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+ 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为什么没提前挡住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 + 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新增防线</a:t>
              </a:r>
              <a:r>
                <a:rPr lang="en-US" altLang="zh-CN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latin typeface="+mn-ea"/>
                  <a:cs typeface="等线" panose="02010600030101010101" charset="-122"/>
                  <a:sym typeface="汉仪旗黑-55简" panose="00020600040101010101" pitchFamily="18" charset="-122"/>
                </a:rPr>
                <a:t>测试用例</a:t>
              </a:r>
              <a:endParaRPr lang="zh-CN" altLang="en-US" sz="1000" dirty="0">
                <a:latin typeface="+mn-ea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47" name="左中括号 46"/>
          <p:cNvSpPr/>
          <p:nvPr/>
        </p:nvSpPr>
        <p:spPr>
          <a:xfrm flipH="1">
            <a:off x="5978789" y="2550833"/>
            <a:ext cx="119487" cy="2335452"/>
          </a:xfrm>
          <a:prstGeom prst="leftBracket">
            <a:avLst>
              <a:gd name="adj" fmla="val 194900"/>
            </a:avLst>
          </a:prstGeom>
          <a:noFill/>
          <a:ln w="31750" cap="rnd" cmpd="sng" algn="ctr">
            <a:solidFill>
              <a:sysClr val="window" lastClr="FFFFFF">
                <a:lumMod val="75000"/>
              </a:sysClr>
            </a:solidFill>
            <a:prstDash val="solid"/>
            <a:round/>
          </a:ln>
          <a:effectLst/>
        </p:spPr>
        <p:txBody>
          <a:bodyPr rtlCol="0" anchor="ctr"/>
          <a:p>
            <a:pPr algn="ctr"/>
            <a:endParaRPr lang="zh-CN" altLang="en-US" dirty="0">
              <a:solidFill>
                <a:sysClr val="windowText" lastClr="00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6098540" y="3730625"/>
            <a:ext cx="481965" cy="0"/>
          </a:xfrm>
          <a:prstGeom prst="line">
            <a:avLst/>
          </a:prstGeom>
          <a:noFill/>
          <a:ln w="31750" cap="rnd" cmpd="sng" algn="ctr">
            <a:solidFill>
              <a:sysClr val="window" lastClr="FFFFFF">
                <a:lumMod val="75000"/>
              </a:sysClr>
            </a:solidFill>
            <a:prstDash val="solid"/>
            <a:round/>
          </a:ln>
          <a:effectLst/>
        </p:spPr>
      </p:cxnSp>
      <p:grpSp>
        <p:nvGrpSpPr>
          <p:cNvPr id="50" name="组合 49"/>
          <p:cNvGrpSpPr/>
          <p:nvPr/>
        </p:nvGrpSpPr>
        <p:grpSpPr>
          <a:xfrm rot="0">
            <a:off x="6825615" y="3599815"/>
            <a:ext cx="281305" cy="281305"/>
            <a:chOff x="934720" y="3228155"/>
            <a:chExt cx="331893" cy="331893"/>
          </a:xfrm>
          <a:noFill/>
        </p:grpSpPr>
        <p:sp>
          <p:nvSpPr>
            <p:cNvPr id="51" name="椭圆 50"/>
            <p:cNvSpPr/>
            <p:nvPr/>
          </p:nvSpPr>
          <p:spPr>
            <a:xfrm>
              <a:off x="934720" y="3228155"/>
              <a:ext cx="331893" cy="331893"/>
            </a:xfrm>
            <a:prstGeom prst="ellipse">
              <a:avLst/>
            </a:prstGeom>
            <a:grpFill/>
            <a:ln w="254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5400000">
              <a:off x="1045202" y="3323859"/>
              <a:ext cx="160423" cy="138296"/>
            </a:xfrm>
            <a:prstGeom prst="triangle">
              <a:avLst/>
            </a:prstGeom>
            <a:grp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cxnSp>
        <p:nvCxnSpPr>
          <p:cNvPr id="3" name="直接连接符 2"/>
          <p:cNvCxnSpPr/>
          <p:nvPr/>
        </p:nvCxnSpPr>
        <p:spPr>
          <a:xfrm>
            <a:off x="7287895" y="3730625"/>
            <a:ext cx="647065" cy="0"/>
          </a:xfrm>
          <a:prstGeom prst="line">
            <a:avLst/>
          </a:prstGeom>
          <a:noFill/>
          <a:ln w="31750" cap="rnd" cmpd="sng" algn="ctr">
            <a:solidFill>
              <a:sysClr val="window" lastClr="FFFFFF">
                <a:lumMod val="75000"/>
              </a:sysClr>
            </a:solidFill>
            <a:prstDash val="solid"/>
            <a:round/>
          </a:ln>
          <a:effectLst/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未来挑战与总结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charset="0"/>
                <a:ea typeface="微软雅黑" charset="0"/>
                <a:cs typeface="+mn-ea"/>
                <a:sym typeface="Microsoft Sans Serif" panose="020B0604020202020204" pitchFamily="34" charset="0"/>
              </a:rPr>
              <a:t>未来研究方向</a:t>
            </a:r>
            <a:endParaRPr lang="zh-CN" altLang="en-US" sz="3035" b="1" dirty="0">
              <a:solidFill>
                <a:schemeClr val="tx1"/>
              </a:solidFill>
              <a:latin typeface="微软雅黑" charset="0"/>
              <a:ea typeface="微软雅黑" charset="0"/>
              <a:cs typeface="+mn-ea"/>
              <a:sym typeface="Microsoft Sans Serif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729" y="1002919"/>
            <a:ext cx="11232535" cy="5129839"/>
            <a:chOff x="454729" y="1002919"/>
            <a:chExt cx="11232535" cy="5129839"/>
          </a:xfrm>
        </p:grpSpPr>
        <p:sp>
          <p:nvSpPr>
            <p:cNvPr id="5" name="矩形 4"/>
            <p:cNvSpPr/>
            <p:nvPr/>
          </p:nvSpPr>
          <p:spPr>
            <a:xfrm>
              <a:off x="504735" y="1002919"/>
              <a:ext cx="11182529" cy="5129839"/>
            </a:xfrm>
            <a:prstGeom prst="rect">
              <a:avLst/>
            </a:prstGeom>
            <a:solidFill>
              <a:sysClr val="window" lastClr="FFFFFF">
                <a:alpha val="94000"/>
              </a:sysClr>
            </a:solidFill>
            <a:ln w="12700" cap="flat" cmpd="sng" algn="ctr">
              <a:gradFill>
                <a:gsLst>
                  <a:gs pos="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" name="任意多边形: 形状 96"/>
            <p:cNvSpPr/>
            <p:nvPr/>
          </p:nvSpPr>
          <p:spPr>
            <a:xfrm>
              <a:off x="454730" y="1128932"/>
              <a:ext cx="2252751" cy="461665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6500" y="1147042"/>
              <a:ext cx="184921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sysClr val="window" lastClr="FFFFFF"/>
                  </a:solidFill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核心</a:t>
              </a:r>
              <a:endParaRPr lang="zh-CN" altLang="en-US" sz="2400" dirty="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8" name="等腰三角形 7"/>
            <p:cNvSpPr/>
            <p:nvPr/>
          </p:nvSpPr>
          <p:spPr>
            <a:xfrm flipV="1">
              <a:off x="454729" y="1590596"/>
              <a:ext cx="50006" cy="50877"/>
            </a:xfrm>
            <a:prstGeom prst="triangle">
              <a:avLst>
                <a:gd name="adj" fmla="val 100000"/>
              </a:avLst>
            </a:pr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3" name="任意多边形: 形状 103"/>
          <p:cNvSpPr/>
          <p:nvPr/>
        </p:nvSpPr>
        <p:spPr>
          <a:xfrm>
            <a:off x="724748" y="4036908"/>
            <a:ext cx="10403841" cy="1767841"/>
          </a:xfrm>
          <a:custGeom>
            <a:avLst/>
            <a:gdLst/>
            <a:ahLst/>
            <a:cxnLst/>
            <a:rect l="0" t="0" r="0" b="0"/>
            <a:pathLst>
              <a:path w="10403841" h="1767841">
                <a:moveTo>
                  <a:pt x="0" y="0"/>
                </a:moveTo>
                <a:lnTo>
                  <a:pt x="10276840" y="0"/>
                </a:lnTo>
                <a:cubicBezTo>
                  <a:pt x="10346944" y="0"/>
                  <a:pt x="10403840" y="56896"/>
                  <a:pt x="10403840" y="127000"/>
                </a:cubicBezTo>
                <a:lnTo>
                  <a:pt x="10403840" y="1640840"/>
                </a:lnTo>
                <a:cubicBezTo>
                  <a:pt x="10403840" y="1710944"/>
                  <a:pt x="10346944" y="1767840"/>
                  <a:pt x="10276840" y="1767840"/>
                </a:cubicBezTo>
                <a:lnTo>
                  <a:pt x="2045546" y="1767840"/>
                </a:lnTo>
              </a:path>
            </a:pathLst>
          </a:custGeom>
          <a:noFill/>
          <a:ln w="25400" cap="flat" cmpd="sng" algn="ctr">
            <a:solidFill>
              <a:srgbClr val="444444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charset="0"/>
              <a:ea typeface="微软雅黑" charset="0"/>
              <a:cs typeface="等线" panose="02010600030101010101" charset="-122"/>
              <a:sym typeface="汉仪旗黑-55简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604202" y="3937355"/>
            <a:ext cx="1440815" cy="757555"/>
            <a:chOff x="1624521" y="3957674"/>
            <a:chExt cx="1440815" cy="757555"/>
          </a:xfrm>
        </p:grpSpPr>
        <p:sp>
          <p:nvSpPr>
            <p:cNvPr id="15" name="椭圆 14"/>
            <p:cNvSpPr/>
            <p:nvPr/>
          </p:nvSpPr>
          <p:spPr>
            <a:xfrm>
              <a:off x="2211615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24521" y="4193259"/>
              <a:ext cx="1440815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鲁棒防注入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（尤其间接注入）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021772" y="3937355"/>
            <a:ext cx="2252980" cy="757555"/>
            <a:chOff x="1624521" y="3957674"/>
            <a:chExt cx="2253676" cy="757555"/>
          </a:xfrm>
        </p:grpSpPr>
        <p:sp>
          <p:nvSpPr>
            <p:cNvPr id="37" name="椭圆 36"/>
            <p:cNvSpPr/>
            <p:nvPr/>
          </p:nvSpPr>
          <p:spPr>
            <a:xfrm>
              <a:off x="2651806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624521" y="4193259"/>
              <a:ext cx="225367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可验证工具调用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（动作可证明</a:t>
              </a:r>
              <a:r>
                <a:rPr lang="en-US" altLang="zh-CN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证据可核查）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371397" y="3937355"/>
            <a:ext cx="2020570" cy="757555"/>
            <a:chOff x="1624521" y="3957674"/>
            <a:chExt cx="2021194" cy="757555"/>
          </a:xfrm>
        </p:grpSpPr>
        <p:sp>
          <p:nvSpPr>
            <p:cNvPr id="46" name="椭圆 45"/>
            <p:cNvSpPr/>
            <p:nvPr/>
          </p:nvSpPr>
          <p:spPr>
            <a:xfrm>
              <a:off x="2535565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24521" y="4193259"/>
              <a:ext cx="2021194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Policy-as-Code + Learning</a:t>
              </a:r>
              <a:endParaRPr lang="en-US" altLang="zh-CN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472923" y="5189394"/>
            <a:ext cx="1372870" cy="725966"/>
            <a:chOff x="1624521" y="3430814"/>
            <a:chExt cx="1373294" cy="725966"/>
          </a:xfrm>
        </p:grpSpPr>
        <p:sp>
          <p:nvSpPr>
            <p:cNvPr id="55" name="椭圆 54"/>
            <p:cNvSpPr/>
            <p:nvPr/>
          </p:nvSpPr>
          <p:spPr>
            <a:xfrm>
              <a:off x="2211615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624521" y="3430814"/>
              <a:ext cx="1373294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机密执行</a:t>
              </a:r>
              <a:r>
                <a:rPr lang="en-US" altLang="zh-CN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/</a:t>
              </a:r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隐私计算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384158" y="5189394"/>
            <a:ext cx="3293110" cy="725966"/>
            <a:chOff x="948672" y="3430814"/>
            <a:chExt cx="3294127" cy="725966"/>
          </a:xfrm>
        </p:grpSpPr>
        <p:sp>
          <p:nvSpPr>
            <p:cNvPr id="61" name="椭圆 60"/>
            <p:cNvSpPr/>
            <p:nvPr/>
          </p:nvSpPr>
          <p:spPr>
            <a:xfrm>
              <a:off x="2496183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948672" y="3430814"/>
              <a:ext cx="3294127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多智能体安全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（冲突解决、责任分配、涌现控制）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646249" y="5189394"/>
            <a:ext cx="2180590" cy="725966"/>
            <a:chOff x="1624521" y="3430814"/>
            <a:chExt cx="2180590" cy="725966"/>
          </a:xfrm>
        </p:grpSpPr>
        <p:sp>
          <p:nvSpPr>
            <p:cNvPr id="64" name="椭圆 63"/>
            <p:cNvSpPr/>
            <p:nvPr/>
          </p:nvSpPr>
          <p:spPr>
            <a:xfrm>
              <a:off x="2615263" y="3957674"/>
              <a:ext cx="199106" cy="199106"/>
            </a:xfrm>
            <a:prstGeom prst="ellipse">
              <a:avLst/>
            </a:prstGeom>
            <a:solidFill>
              <a:srgbClr val="9B1313"/>
            </a:solidFill>
            <a:ln w="41275" cap="flat" cmpd="sng" algn="ctr">
              <a:solidFill>
                <a:sysClr val="window" lastClr="FFFFFF"/>
              </a:solidFill>
              <a:prstDash val="solid"/>
              <a:miter lim="800000"/>
            </a:ln>
            <a:effectLst>
              <a:outerShdw blurRad="101600" dist="101600" dir="5400000" algn="ctr" rotWithShape="0">
                <a:srgbClr val="861010">
                  <a:alpha val="4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ysClr val="window" lastClr="FFFFFF"/>
                </a:solidFill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624521" y="3430814"/>
              <a:ext cx="2180590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可扩展监督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  <a:p>
              <a:pPr algn="ctr"/>
              <a:r>
                <a:rPr lang="zh-CN" altLang="en-US" sz="1400" dirty="0">
                  <a:latin typeface="微软雅黑" charset="0"/>
                  <a:ea typeface="微软雅黑" charset="0"/>
                  <a:cs typeface="等线" panose="02010600030101010101" charset="-122"/>
                  <a:sym typeface="汉仪旗黑-55简" panose="00020600040101010101" pitchFamily="18" charset="-122"/>
                </a:rPr>
                <a:t>（低成本审查长链条动作）</a:t>
              </a:r>
              <a:endParaRPr lang="zh-CN" altLang="en-US" sz="1400" dirty="0">
                <a:latin typeface="微软雅黑" charset="0"/>
                <a:ea typeface="微软雅黑" charset="0"/>
                <a:cs typeface="等线" panose="02010600030101010101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2801043" y="1092904"/>
            <a:ext cx="8523971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400"/>
              </a:spcBef>
            </a:pP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未来的</a:t>
            </a:r>
            <a:r>
              <a:rPr lang="en-US" altLang="zh-CN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 Agent </a:t>
            </a: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安全要从</a:t>
            </a:r>
            <a:r>
              <a:rPr lang="en-US" altLang="zh-CN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靠规则拦</a:t>
            </a:r>
            <a:r>
              <a:rPr lang="en-US" altLang="zh-CN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走向</a:t>
            </a:r>
            <a:r>
              <a:rPr lang="en-US" altLang="zh-CN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“</a:t>
            </a: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可验证、可治理、可规模化监督</a:t>
            </a:r>
            <a:r>
              <a:rPr lang="en-US" altLang="zh-CN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”</a:t>
            </a:r>
            <a:r>
              <a:rPr lang="zh-CN" altLang="en-US" sz="14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charset="0"/>
                <a:ea typeface="微软雅黑" charset="0"/>
                <a:cs typeface="微软雅黑" charset="0"/>
                <a:sym typeface="汉仪旗黑-55简" panose="00020600040101010101" pitchFamily="18" charset="-122"/>
              </a:rPr>
              <a:t>：既要防注入，也要让每一步行动可证明、可审计、可控成本</a:t>
            </a:r>
            <a:endParaRPr lang="zh-CN" altLang="en-US" sz="1400" dirty="0">
              <a:solidFill>
                <a:sysClr val="windowText" lastClr="000000">
                  <a:lumMod val="75000"/>
                  <a:lumOff val="25000"/>
                </a:sysClr>
              </a:solidFill>
              <a:latin typeface="微软雅黑" charset="0"/>
              <a:ea typeface="微软雅黑" charset="0"/>
              <a:cs typeface="微软雅黑" charset="0"/>
              <a:sym typeface="汉仪旗黑-55简" panose="00020600040101010101" pitchFamily="18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656590" y="1908175"/>
            <a:ext cx="3489960" cy="1844040"/>
            <a:chOff x="1185" y="3217"/>
            <a:chExt cx="5496" cy="2904"/>
          </a:xfrm>
        </p:grpSpPr>
        <p:sp>
          <p:nvSpPr>
            <p:cNvPr id="67" name="矩形 66"/>
            <p:cNvSpPr/>
            <p:nvPr/>
          </p:nvSpPr>
          <p:spPr>
            <a:xfrm>
              <a:off x="1185" y="3217"/>
              <a:ext cx="5496" cy="2904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01600" dist="38100" dir="2700000" algn="tl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378" y="3507"/>
              <a:ext cx="5111" cy="2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algn="ctr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None/>
              </a:pPr>
              <a:r>
                <a:rPr lang="zh-CN" altLang="en-US" sz="12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注入与可验证行动</a:t>
              </a:r>
              <a:endPara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既要不被外部内容带偏，也要让每一步动作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拿得出证据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endPara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要点包括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：</a:t>
              </a:r>
              <a:endPara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内容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≠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指令：引用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证据与操作命令强隔离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自动红队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对抗训练：持续更新注入样本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Tool-call 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收据：输入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输出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权限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影响范围可追溯（可审计）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273550" y="1908175"/>
            <a:ext cx="3489960" cy="2006600"/>
            <a:chOff x="1185" y="3217"/>
            <a:chExt cx="5496" cy="3160"/>
          </a:xfrm>
        </p:grpSpPr>
        <p:sp>
          <p:nvSpPr>
            <p:cNvPr id="71" name="矩形 70"/>
            <p:cNvSpPr/>
            <p:nvPr/>
          </p:nvSpPr>
          <p:spPr>
            <a:xfrm>
              <a:off x="1185" y="3217"/>
              <a:ext cx="5496" cy="2904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01600" dist="38100" dir="2700000" algn="tl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378" y="3507"/>
              <a:ext cx="5111" cy="2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algn="ctr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None/>
              </a:pPr>
              <a:r>
                <a:rPr lang="zh-CN" altLang="en-US" sz="12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可执行治理策略与</a:t>
              </a:r>
              <a:r>
                <a:rPr lang="zh-CN" altLang="en-US" sz="12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最小暴露隐私</a:t>
              </a:r>
              <a:endPara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把合规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权限写成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能运行的规则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，并让敏感数据在受控边界内完成推理</a:t>
              </a:r>
              <a:endPara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要点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包括</a:t>
              </a:r>
              <a:endPara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Policy-as-Code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：可版本化、可回滚、可审计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Learning 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优化：在安全约束下减少打扰（降低批准疲劳）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最小暴露检索：只返回必要片段</a:t>
              </a:r>
              <a:r>
                <a:rPr lang="en-US" altLang="zh-CN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8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统计，隔离环境处理机密</a:t>
              </a: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endParaRPr lang="zh-CN" altLang="en-US" sz="8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7890510" y="1908175"/>
            <a:ext cx="3489960" cy="1859280"/>
            <a:chOff x="1185" y="3217"/>
            <a:chExt cx="5496" cy="2928"/>
          </a:xfrm>
        </p:grpSpPr>
        <p:sp>
          <p:nvSpPr>
            <p:cNvPr id="74" name="矩形 73"/>
            <p:cNvSpPr/>
            <p:nvPr/>
          </p:nvSpPr>
          <p:spPr>
            <a:xfrm>
              <a:off x="1185" y="3217"/>
              <a:ext cx="5496" cy="2904"/>
            </a:xfrm>
            <a:prstGeom prst="rect">
              <a:avLst/>
            </a:prstGeom>
            <a:noFill/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>
              <a:outerShdw blurRad="101600" dist="38100" dir="2700000" algn="tl" rotWithShape="0">
                <a:srgbClr val="C00000">
                  <a:alpha val="16000"/>
                </a:srgbClr>
              </a:outerShdw>
            </a:effectLst>
          </p:spPr>
          <p:txBody>
            <a:bodyPr rtlCol="0" anchor="ctr"/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378" y="3507"/>
              <a:ext cx="5111" cy="26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algn="ctr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None/>
              </a:pPr>
              <a:r>
                <a:rPr lang="zh-CN" altLang="en-US" sz="12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多智能体协作治理与可扩展监督</a:t>
              </a:r>
              <a:endParaRPr lang="zh-CN" altLang="en-US" sz="12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多体系统要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统一调度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+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共享约束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，监督要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“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少人力覆盖长链条</a:t>
              </a:r>
              <a:r>
                <a:rPr lang="en-US" altLang="zh-CN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”</a:t>
              </a:r>
              <a:endParaRPr lang="en-US" altLang="zh-CN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"/>
              </a:pP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要点</a:t>
              </a:r>
              <a:r>
                <a:rPr lang="zh-CN" altLang="en-US" sz="10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包括</a:t>
              </a:r>
              <a:endParaRPr lang="zh-CN" altLang="en-US" sz="10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Coordinator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：统一策略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预算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/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熔断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冲突仲裁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+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环路检测：防互相递归失控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  <a:p>
              <a:pPr marL="285750" indent="-285750" algn="just">
                <a:lnSpc>
                  <a:spcPct val="125000"/>
                </a:lnSpc>
                <a:spcBef>
                  <a:spcPts val="400"/>
                </a:spcBef>
                <a:buFont typeface="Wingdings" panose="05000000000000000000" charset="0"/>
                <a:buChar char=""/>
              </a:pP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分层抽检：证据包审批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风险评分</a:t>
              </a:r>
              <a:r>
                <a:rPr lang="en-US" altLang="zh-CN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 + </a:t>
              </a:r>
              <a:r>
                <a:rPr lang="zh-CN" altLang="en-US" sz="90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+mn-ea"/>
                  <a:cs typeface="+mn-ea"/>
                  <a:sym typeface="汉仪旗黑-55简" panose="00020600040101010101" pitchFamily="18" charset="-122"/>
                </a:rPr>
                <a:t>事后回放审计</a:t>
              </a:r>
              <a:endParaRPr lang="zh-CN" altLang="en-US" sz="9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ea"/>
                <a:cs typeface="+mn-ea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343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总结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8192" y="1992916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的风险本质：从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说错话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升级为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做错事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记错事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持续做错事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，核心来自行动能力、长期记忆与外部输入面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663603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工程落地要点：用纵深防御把风险关进笼子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最小权限与分级授权、注入隔离与记忆治理、预算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熔断与沙箱、全链路审计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29435" y="5215890"/>
            <a:ext cx="9316720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5" name="矩形: 单圆角 69"/>
          <p:cNvSpPr/>
          <p:nvPr/>
        </p:nvSpPr>
        <p:spPr>
          <a:xfrm>
            <a:off x="1045845" y="5407660"/>
            <a:ext cx="142748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5845" y="5484495"/>
            <a:ext cx="1231265" cy="646430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</a:rPr>
              <a:t>03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48192" y="5379720"/>
            <a:ext cx="791972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上线保障闭环：以治理与合规为边界、以评测红队与在线监控为抓手，做到可降级、可追责、可持续改进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TABLE_ENDDRAG_ORIGIN_RECT" val="889*404"/>
  <p:tag name="TABLE_ENDDRAG_RECT" val="37*131*889*404"/>
</p:tagLst>
</file>

<file path=ppt/tags/tag74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ysClr val="windowText" lastClr="000000"/>
    </a:dk1>
    <a:lt1>
      <a:sysClr val="window" lastClr="FFFFFF"/>
    </a:lt1>
    <a:dk2>
      <a:srgbClr val="9B1313"/>
    </a:dk2>
    <a:lt2>
      <a:srgbClr val="E7E6E6"/>
    </a:lt2>
    <a:accent1>
      <a:srgbClr val="9B1313"/>
    </a:accent1>
    <a:accent2>
      <a:srgbClr val="444444"/>
    </a:accent2>
    <a:accent3>
      <a:srgbClr val="A5A5A5"/>
    </a:accent3>
    <a:accent4>
      <a:srgbClr val="FFC000"/>
    </a:accent4>
    <a:accent5>
      <a:srgbClr val="294981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9723</Words>
  <Application>WPS 文字</Application>
  <PresentationFormat>宽屏</PresentationFormat>
  <Paragraphs>688</Paragraphs>
  <Slides>25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微软雅黑</vt:lpstr>
      <vt:lpstr>汉仪旗黑</vt:lpstr>
      <vt:lpstr>Microsoft Sans Serif</vt:lpstr>
      <vt:lpstr>微软雅黑</vt:lpstr>
      <vt:lpstr>汉仪旗黑-55简</vt:lpstr>
      <vt:lpstr>等线</vt:lpstr>
      <vt:lpstr>汉仪中黑KW</vt:lpstr>
      <vt:lpstr>汉仪中等线KW</vt:lpstr>
      <vt:lpstr>微软雅黑</vt:lpstr>
      <vt:lpstr>Cambria Math</vt:lpstr>
      <vt:lpstr>DejaVu Math TeX Gyre</vt:lpstr>
      <vt:lpstr>宋体</vt:lpstr>
      <vt:lpstr>等线</vt:lpstr>
      <vt:lpstr>Arial Unicode MS</vt:lpstr>
      <vt:lpstr>Calibri</vt:lpstr>
      <vt:lpstr>Helvetica Neue</vt:lpstr>
      <vt:lpstr>汉仪书宋二KW</vt:lpstr>
      <vt:lpstr>微软雅黑 Light</vt:lpstr>
      <vt:lpstr>Alibaba PuHuiTi</vt:lpstr>
      <vt:lpstr>Helvetica Neue Medium</vt:lpstr>
      <vt:lpstr>微软雅黑 Light</vt:lpstr>
      <vt:lpstr>思源黑体 CN Normal</vt:lpstr>
      <vt:lpstr>Kingsoft Math</vt:lpstr>
      <vt:lpstr>苹方-简</vt:lpstr>
      <vt:lpstr>Alibaba PuHuiTi</vt:lpstr>
      <vt:lpstr>思源黑体 CN Normal</vt:lpstr>
      <vt:lpstr>汉仪旗黑-55简</vt:lpstr>
      <vt:lpstr>DejaVuMathTeXGyre</vt:lpstr>
      <vt:lpstr>BatangChe</vt:lpstr>
      <vt:lpstr>Apple SD Gothic Neo</vt:lpstr>
      <vt:lpstr>Wingdings 3</vt:lpstr>
      <vt:lpstr>Wingdings 3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佐伯</cp:lastModifiedBy>
  <cp:revision>353</cp:revision>
  <dcterms:created xsi:type="dcterms:W3CDTF">2026-02-03T09:05:27Z</dcterms:created>
  <dcterms:modified xsi:type="dcterms:W3CDTF">2026-02-03T09:05:27Z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D97E62E77BD1431B2C367869D8BC4789_43</vt:lpwstr>
  </property>
</Properties>
</file>