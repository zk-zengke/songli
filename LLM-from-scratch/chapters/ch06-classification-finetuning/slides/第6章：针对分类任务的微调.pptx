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689" r:id="rId5"/>
    <p:sldId id="688" r:id="rId6"/>
    <p:sldId id="687" r:id="rId7"/>
    <p:sldId id="685" r:id="rId8"/>
    <p:sldId id="690" r:id="rId9"/>
    <p:sldId id="691" r:id="rId10"/>
    <p:sldId id="692" r:id="rId11"/>
    <p:sldId id="696" r:id="rId12"/>
    <p:sldId id="694" r:id="rId13"/>
    <p:sldId id="695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202"/>
    <a:srgbClr val="B10015"/>
    <a:srgbClr val="FFFFFF"/>
    <a:srgbClr val="FFBBCD"/>
    <a:srgbClr val="FFEEF2"/>
    <a:srgbClr val="FFEFF2"/>
    <a:srgbClr val="FFC0CD"/>
    <a:srgbClr val="FF005F"/>
    <a:srgbClr val="AC6E6E"/>
    <a:srgbClr val="FF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714" y="108"/>
      </p:cViewPr>
      <p:guideLst>
        <p:guide orient="horz" pos="227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73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5.jpeg"/><Relationship Id="rId7" Type="http://schemas.openxmlformats.org/officeDocument/2006/relationships/tags" Target="../tags/tag68.xml"/><Relationship Id="rId6" Type="http://schemas.openxmlformats.org/officeDocument/2006/relationships/image" Target="../media/image4.jpe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.jpe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1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2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475230" y="3161030"/>
            <a:ext cx="6861175" cy="2144395"/>
            <a:chOff x="3770" y="4978"/>
            <a:chExt cx="10805" cy="3377"/>
          </a:xfrm>
        </p:grpSpPr>
        <p:sp>
          <p:nvSpPr>
            <p:cNvPr id="6" name="矩形 5"/>
            <p:cNvSpPr/>
            <p:nvPr>
              <p:custDataLst>
                <p:tags r:id="rId13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6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章：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针对分类任务的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微调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4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9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不同类型的微调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85" y="1630045"/>
            <a:ext cx="8293735" cy="19735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4514215"/>
            <a:ext cx="10661650" cy="20389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0040" y="104457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指令微调</a:t>
            </a:r>
            <a:r>
              <a:rPr lang="en-US" altLang="zh-CN" sz="2400" b="1" kern="0" spc="-5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r>
              <a:rPr sz="2400" b="1" kern="0" spc="-2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Instruction Finetuning</a:t>
            </a:r>
            <a:r>
              <a:rPr lang="en-US" altLang="zh-CN" sz="2400" b="1" kern="0" spc="-5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endParaRPr lang="en-US" altLang="zh-CN" sz="2400" b="1" kern="0" spc="-50" dirty="0">
              <a:solidFill>
                <a:srgbClr val="C70202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7040" y="383476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分类微调</a:t>
            </a:r>
            <a:r>
              <a:rPr lang="en-US" altLang="zh-CN" sz="2400" b="1" kern="0" spc="-5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r>
              <a:rPr sz="2400" b="1" kern="0" spc="-2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Arial" panose="020B0604020202090204"/>
                <a:sym typeface="+mn-ea"/>
              </a:rPr>
              <a:t>Classification</a:t>
            </a:r>
            <a:r>
              <a:rPr lang="en-US" sz="2400" b="1" kern="0" spc="-2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Arial" panose="020B0604020202090204"/>
                <a:sym typeface="+mn-ea"/>
              </a:rPr>
              <a:t> </a:t>
            </a:r>
            <a:r>
              <a:rPr sz="2400" b="1" kern="0" spc="-2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Arial" panose="020B0604020202090204"/>
                <a:sym typeface="+mn-ea"/>
              </a:rPr>
              <a:t>Finetuning</a:t>
            </a:r>
            <a:r>
              <a:rPr lang="en-US" altLang="zh-CN" sz="2400" b="1" kern="0" spc="-5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</a:t>
            </a:r>
            <a:endParaRPr lang="en-US" altLang="zh-CN" sz="2400" b="1" kern="0" spc="-50" dirty="0">
              <a:solidFill>
                <a:srgbClr val="C70202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原始材料：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SMS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垃圾短信数据集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265" y="1184275"/>
            <a:ext cx="10016490" cy="44894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0265" y="5673725"/>
            <a:ext cx="10243185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Data balance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（数据平衡）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目的是让不同类别的样本数量尽量接近，比如把“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ham”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太多、“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spam”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太少的情况调整成两类差不多多。这样可以避免模型偷懒总猜“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ham”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，从而学到真正区分垃圾短信和正常短信的规律。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数据对齐：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Padding</a:t>
            </a:r>
            <a:endParaRPr lang="en-US" altLang="zh-CN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040" y="1058545"/>
            <a:ext cx="11522075" cy="156845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在训练模型时，同一个 </a:t>
            </a:r>
            <a:r>
              <a:rPr lang="en-US" altLang="zh-CN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batch </a:t>
            </a:r>
            <a:r>
              <a:rPr lang="zh-CN" altLang="en-US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里的句子长度往往不一样，但张量计算需要统一的形状。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Padding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（填充）</a:t>
            </a:r>
            <a:r>
              <a:rPr lang="zh-CN" altLang="en-US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就是把较短的序列在末尾补上特殊的填充符号（如 </a:t>
            </a:r>
            <a:r>
              <a:rPr lang="en-US" altLang="zh-CN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PAD token</a:t>
            </a:r>
            <a:r>
              <a:rPr lang="zh-CN" altLang="en-US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），让所有序列对齐到同一长度。</a:t>
            </a:r>
            <a:endParaRPr lang="zh-CN" altLang="en-US" sz="1600" i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i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这样</a:t>
            </a:r>
            <a:r>
              <a:rPr lang="en-US" altLang="zh-CN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GPU </a:t>
            </a:r>
            <a:r>
              <a:rPr lang="zh-CN" altLang="en-US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才能高效并行计算，同时我们会配合</a:t>
            </a:r>
            <a:r>
              <a:rPr lang="en-US" altLang="zh-CN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attention mask </a:t>
            </a:r>
            <a:r>
              <a:rPr lang="zh-CN" altLang="en-US" sz="1600" i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忽略这些填充位置，确保补出来的内容不会影响模型学习。</a:t>
            </a:r>
            <a:endParaRPr lang="zh-CN" altLang="en-US" sz="1600" i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515" y="2947035"/>
            <a:ext cx="9792970" cy="3316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数据批处理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1310" y="1159510"/>
            <a:ext cx="6055995" cy="47707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1406843"/>
            <a:ext cx="5080000" cy="4523105"/>
          </a:xfrm>
          <a:prstGeom prst="rect">
            <a:avLst/>
          </a:prstGeom>
        </p:spPr>
        <p:txBody>
          <a:bodyPr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左边是每条短信的原始文本，中间把文本分词并转换成一串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ID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，同时为了让同一批数据能组成规则的矩形矩阵，会把每条短信统一补齐到固定长度（例如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120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），空出来的位置用填充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（如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50256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）补上；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右边是对应的类别标签数组，其中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表示垃圾短信（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spam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），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0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表示非垃圾短信（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ham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这样做之后，模型就能一次并行处理一个批次（例如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8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条短信），既保证计算形状一致，又能用标签监督模型学会“垃圾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/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非垃圾”的区分规则。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6-7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添加分类头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Add a classification head</a:t>
            </a:r>
            <a:endParaRPr lang="en-US" altLang="zh-CN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0575" y="2681605"/>
            <a:ext cx="8475980" cy="39516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9425" y="1802765"/>
            <a:ext cx="1129538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比如把原本用于预测下一个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的词表投影层，替换为分类头，让模型直接输出“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spam/ham”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等类别的分数，从而把生成模型改造成分类模型。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79425" y="1004570"/>
            <a:ext cx="11069955" cy="829945"/>
            <a:chOff x="755" y="1582"/>
            <a:chExt cx="17433" cy="1307"/>
          </a:xfrm>
        </p:grpSpPr>
        <p:sp>
          <p:nvSpPr>
            <p:cNvPr id="17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原理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61" y="1582"/>
              <a:ext cx="13827" cy="1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zh-CN" altLang="en-US" sz="1600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当我们把预训练 </a:t>
              </a:r>
              <a:r>
                <a:rPr lang="en-US" altLang="zh-CN" sz="1600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GPT </a:t>
              </a:r>
              <a:r>
                <a:rPr lang="zh-CN" altLang="en-US" sz="1600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用于新任务时，常见做法是保留主体网络作为特征提取器，只把最顶端的输出头（</a:t>
              </a:r>
              <a:r>
                <a:rPr lang="en-US" altLang="zh-CN" sz="1600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head</a:t>
              </a:r>
              <a:r>
                <a:rPr lang="zh-CN" altLang="en-US" sz="1600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）换成任务需要的形式。</a:t>
              </a:r>
              <a:endParaRPr lang="zh-CN" altLang="en-US" sz="1600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冻结与解冻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Freezing and Thawing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295" y="1266190"/>
            <a:ext cx="3401060" cy="52870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809355" y="1266190"/>
            <a:ext cx="3077210" cy="11988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可训练（梯度开启）</a:t>
            </a:r>
            <a:endParaRPr lang="zh-CN" altLang="en-US" sz="1600" b="1" i="0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让模型的高层抽象能力根据具体任务进行适配与调整。</a:t>
            </a:r>
            <a:endParaRPr lang="zh-CN" altLang="en-US" sz="160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98345" y="4415790"/>
            <a:ext cx="3077845" cy="119888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r" fontAlgn="auto">
              <a:lnSpc>
                <a:spcPct val="150000"/>
              </a:lnSpc>
            </a:pPr>
            <a:r>
              <a:rPr lang="zh-CN" altLang="en-US" sz="1600" i="0">
                <a:solidFill>
                  <a:srgbClr val="C70202"/>
                </a:solidFill>
                <a:latin typeface="PingFang SC" panose="020B0400000000000000" charset="-122"/>
                <a:ea typeface="PingFang SC" panose="020B0400000000000000" charset="-122"/>
              </a:rPr>
              <a:t>冻结（参数固定）</a:t>
            </a:r>
            <a:endParaRPr lang="zh-CN" altLang="en-US" sz="1600" i="0">
              <a:solidFill>
                <a:srgbClr val="C7020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indent="0" algn="r" fontAlgn="auto">
              <a:lnSpc>
                <a:spcPct val="150000"/>
              </a:lnSpc>
            </a:pPr>
            <a:r>
              <a:rPr lang="zh-CN" altLang="en-US" sz="1600" i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</a:rPr>
              <a:t>保留模型已经学到的英语语法与句法知识。</a:t>
            </a:r>
            <a:endParaRPr lang="zh-CN" altLang="en-US" sz="1600" i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8295" y="1266190"/>
            <a:ext cx="5080000" cy="2676525"/>
          </a:xfrm>
          <a:prstGeom prst="rect">
            <a:avLst/>
          </a:prstGeom>
        </p:spPr>
        <p:txBody>
          <a:bodyPr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冻结（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Freezing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指先固定大部分预训练层的参数不更新，只训练新加的任务头（例如分类头），这样训练更快、也更不容易过拟合。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随后再逐步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解冻（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Thawing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部分或全部上层参数，用较小学习率继续训练，让模型在保留原有语言能力的同时，更好地适配新任务与新数据分布。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为什么选最后一个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Token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？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931035"/>
            <a:ext cx="10764520" cy="44862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96000" y="1083945"/>
            <a:ext cx="5570220" cy="299974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在分类任务里，我们常用“最后一个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token”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的表示来做预测，因为它在因果注意力下会逐步吸收前面所有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的信息，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等于把整句话的关键内容汇总到一个向量里。</a:t>
            </a:r>
            <a:endParaRPr lang="zh-CN" altLang="en-US" b="1" i="0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把这个向量接到分类头上，就能用一个“全句摘要”来判断类别，比如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spam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或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ham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从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Logits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到标签：做出最终判定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10360"/>
            <a:ext cx="11253470" cy="23221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9265" y="4392930"/>
            <a:ext cx="112541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模型会为每个类别输出一个</a:t>
            </a:r>
            <a:r>
              <a:rPr lang="zh-CN" altLang="en-US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原始分数（</a:t>
            </a:r>
            <a:r>
              <a:rPr lang="en-US" altLang="zh-CN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logits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），分数越大表示模型越倾向于该类别。</a:t>
            </a: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推理时我们通常使用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argmax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：在所有类别分数中找到最大值对应的索引，把它当作预测类别标签。</a:t>
            </a: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损失曲线与准确率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曲线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6815"/>
            <a:ext cx="4766310" cy="2606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" y="3856355"/>
            <a:ext cx="5112385" cy="26619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65420" y="1557655"/>
            <a:ext cx="6529070" cy="230695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训练集损失（实线）与验证集损失（虚线）在第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轮快速下降，随后下降幅度逐渐变小，并在第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5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轮左右趋于稳定。这说明模型在训练初期迅速学到了关键模式，后续进入细化调整阶段；同时验证损失同步下降且未明显反弹，表明模型不仅在训练数据上变好，也能在未见过的验证数据上保持良好的泛化能力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无明显过拟合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en-US" altLang="zh-CN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algn="just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65420" y="4218305"/>
            <a:ext cx="652907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60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训练集准确率（实线）与验证集准确率（虚线）在前几轮显著上升，随后逐渐趋于平稳，最终接近满分（约</a:t>
            </a:r>
            <a:r>
              <a:rPr lang="en-US" altLang="zh-CN" sz="160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1.0</a:t>
            </a:r>
            <a:r>
              <a:rPr lang="zh-CN" altLang="en-US" sz="160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）。两条曲线在整个训练过程中始终相距很近，说明模型在训练集和验证集上的表现一致，没有出现</a:t>
            </a:r>
            <a:r>
              <a:rPr lang="en-US" altLang="zh-CN" sz="160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“</a:t>
            </a:r>
            <a:r>
              <a:rPr lang="zh-CN" altLang="en-US" sz="160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训练集很好但验证集变差</a:t>
            </a:r>
            <a:r>
              <a:rPr lang="en-US" altLang="zh-CN" sz="160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”</a:t>
            </a:r>
            <a:r>
              <a:rPr lang="zh-CN" altLang="en-US" sz="160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的分叉现象，因此过拟合风险较低。</a:t>
            </a:r>
            <a:endParaRPr lang="zh-CN" altLang="en-US" sz="160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实战结果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900" y="907415"/>
            <a:ext cx="6917690" cy="26593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35" y="3829050"/>
            <a:ext cx="6917055" cy="26904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1602</Words>
  <Application>WPS 演示</Application>
  <PresentationFormat>宽屏</PresentationFormat>
  <Paragraphs>70</Paragraphs>
  <Slides>11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7" baseType="lpstr">
      <vt:lpstr>Arial</vt:lpstr>
      <vt:lpstr>宋体</vt:lpstr>
      <vt:lpstr>Wingdings</vt:lpstr>
      <vt:lpstr>Wingdings</vt:lpstr>
      <vt:lpstr>微软雅黑</vt:lpstr>
      <vt:lpstr>汉仪旗黑</vt:lpstr>
      <vt:lpstr>PingFang SC Semibold</vt:lpstr>
      <vt:lpstr>PingFang SC Regular</vt:lpstr>
      <vt:lpstr>汉仪旗黑-55简</vt:lpstr>
      <vt:lpstr>等线</vt:lpstr>
      <vt:lpstr>汉仪中等线KW</vt:lpstr>
      <vt:lpstr>-webkit-standard</vt:lpstr>
      <vt:lpstr>微软雅黑</vt:lpstr>
      <vt:lpstr>PingFang SC</vt:lpstr>
      <vt:lpstr>宋体</vt:lpstr>
      <vt:lpstr>Arial Unicode MS</vt:lpstr>
      <vt:lpstr>Calibri</vt:lpstr>
      <vt:lpstr>Helvetica Neue</vt:lpstr>
      <vt:lpstr>汉仪书宋二KW</vt:lpstr>
      <vt:lpstr>汉仪中黑KW</vt:lpstr>
      <vt:lpstr>Thonburi</vt:lpstr>
      <vt:lpstr>-webkit-standard</vt:lpstr>
      <vt:lpstr>汉仪旗黑-55简</vt:lpstr>
      <vt:lpstr>苹方-简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王皓平</cp:lastModifiedBy>
  <cp:revision>358</cp:revision>
  <dcterms:created xsi:type="dcterms:W3CDTF">2026-02-03T23:16:53Z</dcterms:created>
  <dcterms:modified xsi:type="dcterms:W3CDTF">2026-02-03T23:16:53Z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F7499C8C23F30796E58182691F92BEF9_43</vt:lpwstr>
  </property>
</Properties>
</file>