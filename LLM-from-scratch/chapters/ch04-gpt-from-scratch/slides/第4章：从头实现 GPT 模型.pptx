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660" r:id="rId5"/>
    <p:sldId id="661" r:id="rId6"/>
    <p:sldId id="662" r:id="rId7"/>
    <p:sldId id="663" r:id="rId8"/>
    <p:sldId id="664" r:id="rId9"/>
    <p:sldId id="665" r:id="rId10"/>
    <p:sldId id="666" r:id="rId11"/>
    <p:sldId id="667" r:id="rId12"/>
    <p:sldId id="668" r:id="rId13"/>
    <p:sldId id="669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202"/>
    <a:srgbClr val="B10015"/>
    <a:srgbClr val="FFFFFF"/>
    <a:srgbClr val="FFBBCD"/>
    <a:srgbClr val="FFEEF2"/>
    <a:srgbClr val="FFEFF2"/>
    <a:srgbClr val="FFC0CD"/>
    <a:srgbClr val="FF005F"/>
    <a:srgbClr val="AC6E6E"/>
    <a:srgbClr val="F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3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4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从头实现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GPT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模型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GPT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架构内部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0" y="907415"/>
            <a:ext cx="6289040" cy="5508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4-2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040" y="1122680"/>
            <a:ext cx="5210810" cy="507746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Generative Pre-trained Transformer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）是一种以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“预测下一个 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token”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为核心目标的深度神经网络。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它的整体结构可以理解为：把许多个完全相同的 “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Transformer Block”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按垂直方向一层层堆叠起来，形成一个深层网络。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以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“GPT-2 Small”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为例，模型大约包含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1.24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亿个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参数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，即模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型内部可学习的权重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，它们是一组可以被训练调整的数字，用来把输入表示逐步变换，最终输出对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下一个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token”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的概率预测。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extbox 20"/>
          <p:cNvSpPr/>
          <p:nvPr/>
        </p:nvSpPr>
        <p:spPr>
          <a:xfrm>
            <a:off x="248285" y="1174750"/>
            <a:ext cx="4897755" cy="8096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315" algn="l" rtl="0" eaLnBrk="0">
              <a:lnSpc>
                <a:spcPct val="85000"/>
              </a:lnSpc>
            </a:pPr>
            <a:endParaRPr sz="1800" kern="0" spc="-70" dirty="0">
              <a:solidFill>
                <a:srgbClr val="000000">
                  <a:alpha val="100000"/>
                </a:srgb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从文本到高维向量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From Text to High-Dimensional Vectors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6675" y="907415"/>
            <a:ext cx="6737985" cy="536765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880610" y="4803140"/>
            <a:ext cx="447675" cy="38354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8285" y="1065530"/>
            <a:ext cx="4897755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在进入模型计算之前，人类语言必须先被转换成机器能够处理的“几何表示”，也就是向量。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8920" y="2146300"/>
            <a:ext cx="4897755" cy="452310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（1）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分词（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Tokenization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把文本切分成一个个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，并用词表把每个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映射成整数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ID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（2）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嵌入（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Embedding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把这些整数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ID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查表转换成稠密向量，让离散的符号变成可计算的连续表示。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（3）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维度保持（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Dimension Preservation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以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GPT-2 Small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为例，每个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会对应一个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维的向量，因此整段输入在模型中的张量形状通常是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[Batch, Sequence, 768]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，并且这个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维的特征维度会在后续各层中始终保持不变，便于层与层之间稳定地传递信息。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数值稳定性：层归一化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Layer Normalization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0" y="1719580"/>
            <a:ext cx="6744970" cy="3780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1158875"/>
            <a:ext cx="4994910" cy="52622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在深度网络里，数据会一层一层往下传。随着层数变深，激活值的分布可能会不断漂移，变得忽大忽小，出现</a:t>
            </a:r>
            <a:r>
              <a:rPr lang="zh-CN" altLang="en-US" sz="16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梯度爆炸或梯度消失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等不稳定现象。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层归一化（</a:t>
            </a:r>
            <a:r>
              <a:rPr lang="en-US" altLang="zh-CN" sz="16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Layer Normalization</a:t>
            </a:r>
            <a:r>
              <a:rPr lang="zh-CN" altLang="en-US" sz="16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</a:t>
            </a:r>
            <a:r>
              <a:rPr lang="en-US" altLang="zh-CN" sz="16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LayerNorm</a:t>
            </a:r>
            <a:r>
              <a:rPr lang="zh-CN" altLang="en-US" sz="16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就像一个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稳定器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。它会在每一层的输出上做一次标准化处理：把数据重新居中并缩放，让这一层的输出分布更规整，通常会被调整到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均值接近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0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、方差接近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1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的范围。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这样做的好处是把内部信号维持在一个更容易训练的区间，让优化过程更稳定，减少发散风险，并帮助模型更快、更可靠地收敛。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4-5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激活函数：从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ReLU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到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GELU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425" y="1046480"/>
            <a:ext cx="11069955" cy="706755"/>
            <a:chOff x="755" y="1648"/>
            <a:chExt cx="17433" cy="1113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648"/>
              <a:ext cx="13827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激活函数决定了神经元在接收到输入后要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“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输出多少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”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，也可以理解为决定神经元是否被激活、以及激活的强度。</a:t>
              </a:r>
              <a:endParaRPr lang="zh-CN" altLang="en-US" sz="16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2000250"/>
            <a:ext cx="3007360" cy="20694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4316730"/>
            <a:ext cx="2977515" cy="2070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51350" y="1974215"/>
            <a:ext cx="7098030" cy="156845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ReLU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Rectified Linear Unit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是传统且常用的选择。它在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处有一个“硬阈值”：当输入小于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时，输出会被直接截断为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；当输入大于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时，输出等于输入本身。这样的好处是简单、高效，但缺点是负半轴完全没有输出，某些神经元可能长期落在负区间，梯度变成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，出现“死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ReLU”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的问题。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51350" y="4034790"/>
            <a:ext cx="7098030" cy="230695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GELU（Gaussian Error Linear Unit）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是大模型里更常见的标准做法。它的行为整体类似 ReLU，但不是硬切割，而是更平滑、带有“概率意义”的曲线过渡。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在接近 0 的小负值区域并不会完全归零，而是有一个轻微的下凹与连续变化，这使得负区间仍然可以产生非零梯度，让优化过程更细腻、更稳定。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4-8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前馈网络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FFN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2530"/>
            <a:ext cx="6175375" cy="5376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96000" y="907415"/>
            <a:ext cx="5289550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注意力层之后通常会接一个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前馈网络（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FeedForward Network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FFN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。它的特点是“逐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独立处理”，也就是说每个位置的向量只在自己的特征维度上做变换，不和其他位置直接交互，因此可以理解为一种局部的非线性加工模块。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3010535"/>
            <a:ext cx="5289550" cy="34150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（1）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扩张（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Expansion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把每个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维输入投影到更高维的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3072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维空间（约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4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倍）。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（2）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处理（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Processing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在高维空间里通过线性变换与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GELU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激活，让更复杂的特征被分离出来并形成非线性表达。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（3）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收缩（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Contraction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再把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3072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维投影回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维，恢复到主干通道的维度，方便继续传给下一层。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415" y="1014095"/>
            <a:ext cx="6511290" cy="56089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捷径连接</a:t>
            </a:r>
            <a:r>
              <a:rPr lang="en-US" altLang="zh-CN" sz="2400" b="1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Residual Connection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5415" y="1118553"/>
            <a:ext cx="5080000" cy="5262245"/>
          </a:xfrm>
          <a:prstGeom prst="rect">
            <a:avLst/>
          </a:prstGeom>
        </p:spPr>
        <p:txBody>
          <a:bodyPr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深层网络常见的困难之一是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“梯度消失”（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Vanishing Gradient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反向传播时，学习信号在层层传递过程中逐渐变弱，越靠前的层越难得到有效更新，训练就会变慢甚至不稳定。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捷径连接（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Shortcut Connection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），也叫残差连接（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Residual Connection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），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用一种很直接的方式缓解这个问题：把某一层的输入直接加到该层的输出上，也就是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x+Layer(x)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。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这样做相当于给信息和梯度提供了一条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直达通道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，让它们可以绕过复杂的非线性变换块，更顺畅地向前、向后传播。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即使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是网络很深，最前面的层也能收到足够强的更新信号，从而更稳定、更容易训练。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组装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Transformer Block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4895"/>
            <a:ext cx="4813935" cy="55587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39105" y="1064895"/>
            <a:ext cx="6167120" cy="48926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现在我们把前面介绍的组件（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LayerNorm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、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Attention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、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FFN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、残差连接）组合起来，形成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中最核心、反复堆叠的基本单元：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Transformer Block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注意力路径（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Attention Path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，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负责让不同位置的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彼此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交流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，根据上下文建立关联。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处理路径（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Processing Path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），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也就是前馈网络，让每个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在自己的特征空间里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独立思考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，进一步提炼和变换信息。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Transformer Block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的输入与输出向量形状保持一致。在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GPT-2 Small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中，这个维度是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768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，因此输入是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维，经过注意力与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FFN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后输出仍然是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4-15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完整的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GPT-2 Small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架构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4895"/>
            <a:ext cx="4813935" cy="55587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4-15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38470" y="1064895"/>
            <a:ext cx="6144895" cy="489267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GPT-2 Small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的整体结构可以分为三部分：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输入端（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Base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）、主干（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Body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）和输出端（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Head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）。</a:t>
            </a:r>
            <a:endParaRPr lang="zh-CN" altLang="en-US" sz="1600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·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输入端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，模型接收分词后的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，并将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embedding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与位置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embedding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相加，形成初始的输入表示。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·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进入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主干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后，数据会依次通过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12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个完全相同的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Transformer Block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；随着层数加深，表示会逐步变得更抽象、更具上下文信息，从而更好地捕捉语义与长距离依赖。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·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最后在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输出端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，模型先经过归一化层，再通过线性投影把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768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维的向量映射到整个词表大小的空间，最终得到一个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50,257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维的概率分布，用来表示“下一个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在词表中各词的预测概率。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文本生成：滑动窗口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3680" y="907415"/>
            <a:ext cx="6468110" cy="5723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3680" y="1550988"/>
            <a:ext cx="5080000" cy="4154170"/>
          </a:xfrm>
          <a:prstGeom prst="rect">
            <a:avLst/>
          </a:prstGeom>
        </p:spPr>
        <p:txBody>
          <a:bodyPr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模型的网络结构是固定的，但生成过程是动态的。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通过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自回归（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autoregressive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循环来写文本：先给定已有上下文作为输入，例如 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Hello, I am”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；模型根据这段上下文预测下一个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，比如预测为 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；然后把预测到的 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a”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追加回输入序列，形成新的上下文 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Hello, I am a”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；接着用这段更长的序列再次输入模型，继续预测下一个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每完成一次循环，上下文窗口就会新增一个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，模型也就一步一步把文本续写出来。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解码：从输出向量到文字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Decoding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36700"/>
            <a:ext cx="6705600" cy="42811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35495" y="1046480"/>
            <a:ext cx="4867275" cy="52622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把“数学输出”变成真正的文字，发生在模型的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解码头（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decoding head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里。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模型会为词表中的每个词输出一个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原始分数（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logits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，例如对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50,257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个词分别给出打分。接着通过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Softmax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，把这些分数归一化成概率分布，表示每个词作为“下一个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的可能性大小。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然后使用一种选择策略来决定最终输出，比如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贪心解码（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Greedy Decoding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会直接选取概率最高的那个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最后把选中的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ID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（例如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257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）查词表还原成字符串，得到对应的文字（例如 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3379</Words>
  <Application>WPS 演示</Application>
  <PresentationFormat>宽屏</PresentationFormat>
  <Paragraphs>114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微软雅黑</vt:lpstr>
      <vt:lpstr>汉仪旗黑</vt:lpstr>
      <vt:lpstr>PingFang SC Semibold</vt:lpstr>
      <vt:lpstr>PingFang SC Regular</vt:lpstr>
      <vt:lpstr>Arial</vt:lpstr>
      <vt:lpstr>汉仪旗黑-55简</vt:lpstr>
      <vt:lpstr>等线</vt:lpstr>
      <vt:lpstr>汉仪中等线KW</vt:lpstr>
      <vt:lpstr>微软雅黑</vt:lpstr>
      <vt:lpstr>宋体</vt:lpstr>
      <vt:lpstr>Arial Unicode MS</vt:lpstr>
      <vt:lpstr>Calibri</vt:lpstr>
      <vt:lpstr>Helvetica Neue</vt:lpstr>
      <vt:lpstr>汉仪书宋二KW</vt:lpstr>
      <vt:lpstr>汉仪中黑KW</vt:lpstr>
      <vt:lpstr>汉仪旗黑-55简</vt:lpstr>
      <vt:lpstr>-webkit-standard</vt:lpstr>
      <vt:lpstr>Thonburi</vt:lpstr>
      <vt:lpstr>-webkit-standard</vt:lpstr>
      <vt:lpstr>苹方-简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356</cp:revision>
  <dcterms:created xsi:type="dcterms:W3CDTF">2026-02-03T21:09:16Z</dcterms:created>
  <dcterms:modified xsi:type="dcterms:W3CDTF">2026-02-03T21:09:16Z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675FB8A5BE2C5112FC6382693A091802_43</vt:lpwstr>
  </property>
</Properties>
</file>