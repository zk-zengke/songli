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6" r:id="rId23"/>
    <p:sldId id="277" r:id="rId24"/>
    <p:sldId id="278" r:id="rId25"/>
    <p:sldId id="280" r:id="rId26"/>
    <p:sldId id="279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开场说明：本节课不是讲新知识，而是说明这门课怎么考、为什么这样考、如何完成四项考核。强调：本课程允许使用AI，但要求记录过程、进行验证并对结果负责。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提示学生：四项考核彼此相关。作业一对应LLM代码，作业二对应AI辅助编程，小测对应AI辅助分析，论文做综合呈现。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强调：本课程不是人工智能方向专业课，所以不要求训练大模型或掌握复杂算法，而是要求同学会用AI理解和解决网络工程学习中的问题。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教师可说明：课程论文占50分，是最终综合产出；另外三项是学习过程中的能力训练。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这一页很关键。明确告诉学生：用AI不是作弊，隐瞒AI使用、复制粘贴、不验证才是问题。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解释论文定位：不是传统综述，也不是简单心得，而是带证据的实践报告。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可以给学生建议：基础薄弱选方向A；有编程兴趣选B；对智能体感兴趣选C；对模型代码感兴趣选D。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说明选题范围，鼓励题目更小、更具体、更容易展示过程证据。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说明第三、四、五部分最重要；如果只有相关知识介绍和泛泛而谈，分数不会高。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教师可强调：最高分不是AI写得漂亮，而是过程真实、结果可验证、反思具体。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提醒学生：声明不扣分，隐瞒、虚构、复制粘贴反而会影响成绩。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作业一建议教师提前提供可运行notebook，避免学生浪费大量时间在环境配置。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强调：提交材料需包括截图，不能只写“我运行成功了”。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可以鼓励学生做简单但正确的工具，不鼓励做花哨但错误的网页。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教师可指定统一题目，比如子网计算器；也可开放选题。若班级基础不一致，建议设置推荐题和自选题。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强调：如果AI生成的子网计算结果错误，即使网页漂亮也不能拿高分。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小测不建议考闭卷概念题，而是考限时任务完成能力。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教师讲解示例题逻辑：能上外网IP但不能解析域名，通常指向DNS问题。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说明考试时会给出明确场景，不考大段背诵。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明确边界：允许AI辅助并不等于允许代写。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用这页结束评分说明，给学生可操作的努力方向。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可根据自己学校规定增删FAQ。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结束语：提醒学生从第一次作业开始就养成记录AI使用过程的习惯。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40680"/>
            <a:ext cx="12191695" cy="1417320"/>
          </a:xfrm>
          <a:prstGeom prst="rect">
            <a:avLst/>
          </a:prstGeom>
          <a:solidFill>
            <a:srgbClr val="1E3A8A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051560"/>
            <a:ext cx="8595360" cy="47548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人工智能</a:t>
            </a:r>
            <a:r>
              <a:rPr lang="zh-CN" alt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</a:t>
            </a:r>
            <a:r>
              <a:rPr lang="en-US" altLang="zh-CN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</a:t>
            </a:r>
            <a:r>
              <a:rPr 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77240" y="1664208"/>
            <a:ext cx="7498080" cy="53035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考核说明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257042"/>
            <a:ext cx="6217920" cy="34747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FE3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期末论文 · 两次作业 · 课堂小测</a:t>
            </a:r>
            <a:endParaRPr lang="en-US" sz="1800" dirty="0">
              <a:solidFill>
                <a:srgbClr val="CFE3FF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b="1" dirty="0">
                <a:solidFill>
                  <a:srgbClr val="D948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统一提交截止：本学期倒数第二周周日</a:t>
            </a:r>
            <a:endParaRPr lang="en-US" b="1" dirty="0">
              <a:solidFill>
                <a:srgbClr val="D94841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  <a:sym typeface="+mn-ea"/>
            </a:endParaRP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715000"/>
            <a:ext cx="9235440" cy="27432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6108192"/>
            <a:ext cx="3657600" cy="237744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DDE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\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今天要讲清楚的四件事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9418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本节课结束后，每位同学应明确：考什么、怎么做、怎么评分、如何合规使用 AI。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生成式人工智能课程考核说明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92024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2121408"/>
            <a:ext cx="347472" cy="34747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185416"/>
            <a:ext cx="347472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44168" y="2084832"/>
            <a:ext cx="1645920" cy="25603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期末课程论文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41832" y="2578608"/>
            <a:ext cx="2002536" cy="15087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围绕“AI 辅助网络工程学习与实践”完成一篇应用报告。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3502152" y="192024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2121408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2185416"/>
            <a:ext cx="347472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60520" y="2084832"/>
            <a:ext cx="1645920" cy="25603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作业一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758184" y="2578608"/>
            <a:ext cx="2002536" cy="15087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运行最小 LLM / 字符级语言模型，理解训练闭环。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318504" y="192024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19672" y="2121408"/>
            <a:ext cx="347472" cy="34747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2185416"/>
            <a:ext cx="347472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76872" y="2084832"/>
            <a:ext cx="1645920" cy="25603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作业二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74536" y="2578608"/>
            <a:ext cx="2002536" cy="15087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 AI 辅助完成一个网络工程小网页或小工具。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9134856" y="1920240"/>
            <a:ext cx="251460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36024" y="2121408"/>
            <a:ext cx="347472" cy="347472"/>
          </a:xfrm>
          <a:prstGeom prst="ellipse">
            <a:avLst/>
          </a:prstGeom>
          <a:solidFill>
            <a:srgbClr val="9B51E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36024" y="2185416"/>
            <a:ext cx="347472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793224" y="2084832"/>
            <a:ext cx="1645920" cy="25603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课堂小测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390888" y="2578608"/>
            <a:ext cx="2002536" cy="15087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限时完成 AI 辅助网络故障分析任务。（</a:t>
            </a:r>
            <a:r>
              <a:rPr lang="zh-CN" alt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时间待定</a:t>
            </a:r>
            <a:r>
              <a:rPr lang="en-US" altLang="zh-CN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）</a:t>
            </a:r>
            <a:endParaRPr lang="en-US" altLang="zh-CN" sz="1060" dirty="0">
              <a:solidFill>
                <a:srgbClr val="2B2F38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05840" y="4892040"/>
            <a:ext cx="10149840" cy="43891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核心要求：不是“谁让 AI 写得最多”，而是“谁能把 AI 用得清楚、可靠、和专业知识结合得好”。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课程目标与考核如何对应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9418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三类能力：理解原理、动手实践、场景应用。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生成式人工智能课程考核说明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508760"/>
            <a:ext cx="3175342" cy="658368"/>
          </a:xfrm>
          <a:prstGeom prst="rect">
            <a:avLst/>
          </a:prstGeom>
          <a:solidFill>
            <a:srgbClr val="2F80E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81912"/>
            <a:ext cx="3083902" cy="512064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课程目标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952582" y="1508760"/>
            <a:ext cx="2355899" cy="658368"/>
          </a:xfrm>
          <a:prstGeom prst="rect">
            <a:avLst/>
          </a:prstGeom>
          <a:solidFill>
            <a:srgbClr val="2F80E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98302" y="1581912"/>
            <a:ext cx="2264459" cy="512064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主要考核方式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308481" y="1508760"/>
            <a:ext cx="5121519" cy="658368"/>
          </a:xfrm>
          <a:prstGeom prst="rect">
            <a:avLst/>
          </a:prstGeom>
          <a:solidFill>
            <a:srgbClr val="2F80E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4201" y="1581912"/>
            <a:ext cx="5030079" cy="512064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学生应达到的水平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77240" y="2167128"/>
            <a:ext cx="317534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240280"/>
            <a:ext cx="3029038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讲清深度学习与生成式 AI 基本思路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3952582" y="2167128"/>
            <a:ext cx="235589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5734" y="2240280"/>
            <a:ext cx="2209595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 + 小测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308481" y="2167128"/>
            <a:ext cx="512151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1633" y="2240280"/>
            <a:ext cx="4975215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能用自己的话解释 token、loss、生成、验证等概念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77240" y="2825496"/>
            <a:ext cx="3175342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2898648"/>
            <a:ext cx="3029038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实践 LLM 代码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3952582" y="2825496"/>
            <a:ext cx="2355899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5734" y="2898648"/>
            <a:ext cx="2209595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作业一 + 论文可选方向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308481" y="2825496"/>
            <a:ext cx="5121519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1633" y="2898648"/>
            <a:ext cx="4975215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能跑通最小语言模型，理解“预测下一个 token”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77240" y="3483864"/>
            <a:ext cx="317534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557016"/>
            <a:ext cx="3029038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了解 Agent 系统代码与流程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3952582" y="3483864"/>
            <a:ext cx="235589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5734" y="3557016"/>
            <a:ext cx="2209595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作业二 + 小测 + 论文可选方向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308481" y="3483864"/>
            <a:ext cx="512151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1633" y="3557016"/>
            <a:ext cx="4975215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能画出 Agent 的任务流程，知道工具调用和人工验证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777240" y="4142232"/>
            <a:ext cx="3175342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" y="4215384"/>
            <a:ext cx="3029038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服务网络工程专业学习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3952582" y="4142232"/>
            <a:ext cx="2355899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5734" y="4215384"/>
            <a:ext cx="2209595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四项考核共同体现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6308481" y="4142232"/>
            <a:ext cx="5121519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1633" y="4215384"/>
            <a:ext cx="4975215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能把 AI 用到网络协议、排错、网页工具、学习报告中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总评成绩构成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9418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总分 100 分：期末论文为主，过程性任务支撑。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生成式人工智能课程考核说明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828800"/>
            <a:ext cx="5234940" cy="822960"/>
          </a:xfrm>
          <a:prstGeom prst="rect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993392"/>
            <a:ext cx="5198364" cy="38404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课程论文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03620" y="1828800"/>
            <a:ext cx="1570482" cy="822960"/>
          </a:xfrm>
          <a:prstGeom prst="rect">
            <a:avLst/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1908" y="1993392"/>
            <a:ext cx="1533906" cy="38404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作业一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74102" y="1828800"/>
            <a:ext cx="1570482" cy="822960"/>
          </a:xfrm>
          <a:prstGeom prst="rect">
            <a:avLst/>
          </a:prstGeom>
          <a:solidFill>
            <a:srgbClr val="F299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92390" y="1993392"/>
            <a:ext cx="1533906" cy="38404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作业二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244584" y="1828800"/>
            <a:ext cx="2093976" cy="822960"/>
          </a:xfrm>
          <a:prstGeom prst="rect">
            <a:avLst/>
          </a:prstGeom>
          <a:solidFill>
            <a:srgbClr val="9B51E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62872" y="1993392"/>
            <a:ext cx="2057400" cy="38404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课堂小测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20分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188720" y="3246120"/>
            <a:ext cx="2120153" cy="484632"/>
          </a:xfrm>
          <a:prstGeom prst="rect">
            <a:avLst/>
          </a:prstGeom>
          <a:solidFill>
            <a:srgbClr val="16213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3319272"/>
            <a:ext cx="2028713" cy="3383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08873" y="3246120"/>
            <a:ext cx="1156447" cy="484632"/>
          </a:xfrm>
          <a:prstGeom prst="rect">
            <a:avLst/>
          </a:prstGeom>
          <a:solidFill>
            <a:srgbClr val="16213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4593" y="3319272"/>
            <a:ext cx="1065007" cy="3383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65320" y="3246120"/>
            <a:ext cx="6553200" cy="484632"/>
          </a:xfrm>
          <a:prstGeom prst="rect">
            <a:avLst/>
          </a:prstGeom>
          <a:solidFill>
            <a:srgbClr val="16213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11040" y="3319272"/>
            <a:ext cx="6461760" cy="3383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关键词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188720" y="3730752"/>
            <a:ext cx="2120153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61872" y="3803904"/>
            <a:ext cx="1973849" cy="33832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课程论文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08873" y="3730752"/>
            <a:ext cx="1156447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2025" y="3803904"/>
            <a:ext cx="1010143" cy="33832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65320" y="3730752"/>
            <a:ext cx="65532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38472" y="3803904"/>
            <a:ext cx="6406896" cy="33832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综合报告：AI 辅助网络工程学习与实践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188720" y="4215384"/>
            <a:ext cx="2120153" cy="48463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61872" y="4288536"/>
            <a:ext cx="1973849" cy="33832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作业一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08873" y="4215384"/>
            <a:ext cx="1156447" cy="48463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2025" y="4288536"/>
            <a:ext cx="1010143" cy="33832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65320" y="4215384"/>
            <a:ext cx="6553200" cy="48463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38472" y="4288536"/>
            <a:ext cx="6406896" cy="33832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最小 LLM 代码实践：运行、观察、解释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188720" y="4700016"/>
            <a:ext cx="2120153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61872" y="4773168"/>
            <a:ext cx="1973849" cy="33832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作业二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08873" y="4700016"/>
            <a:ext cx="1156447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2025" y="4773168"/>
            <a:ext cx="1010143" cy="33832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465320" y="4700016"/>
            <a:ext cx="655320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38472" y="4773168"/>
            <a:ext cx="6406896" cy="33832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 Web Coding / 网络小工具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188720" y="5184648"/>
            <a:ext cx="2120153" cy="48463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61872" y="5257800"/>
            <a:ext cx="1973849" cy="33832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课堂小测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308873" y="5184648"/>
            <a:ext cx="1156447" cy="48463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2025" y="5257800"/>
            <a:ext cx="1010143" cy="33832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465320" y="5184648"/>
            <a:ext cx="6553200" cy="48463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38472" y="5257800"/>
            <a:ext cx="6406896" cy="33832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限时 AI 辅助网络故障分析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本课程允许使用 AI，但不是无条件“代写”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9418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评价重点是：会不会提问、会不会验证、会不会结合专业知识修正。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生成式人工智能课程考核说明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600200"/>
            <a:ext cx="10332720" cy="841248"/>
          </a:xfrm>
          <a:prstGeom prst="roundRect">
            <a:avLst>
              <a:gd name="adj" fmla="val 8696"/>
            </a:avLst>
          </a:prstGeom>
          <a:solidFill>
            <a:srgbClr val="EAF8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810512"/>
            <a:ext cx="1005840" cy="402336"/>
          </a:xfrm>
          <a:prstGeom prst="roundRect">
            <a:avLst>
              <a:gd name="adj" fmla="val 18182"/>
            </a:avLst>
          </a:prstGeom>
          <a:solidFill>
            <a:srgbClr val="27AE6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883664"/>
            <a:ext cx="1005840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1847088"/>
            <a:ext cx="8321040" cy="310896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 AI 解释概念、生成代码、辅助调试、整理思路、润色表达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2880360"/>
            <a:ext cx="10332720" cy="841248"/>
          </a:xfrm>
          <a:prstGeom prst="roundRect">
            <a:avLst>
              <a:gd name="adj" fmla="val 8696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3090672"/>
            <a:ext cx="1005840" cy="402336"/>
          </a:xfrm>
          <a:prstGeom prst="roundRect">
            <a:avLst>
              <a:gd name="adj" fmla="val 18182"/>
            </a:avLst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163824"/>
            <a:ext cx="1005840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3127248"/>
            <a:ext cx="8321040" cy="310896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保留关键提示词、运行截图、修改记录、验证过程和 AI 使用声明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4160520"/>
            <a:ext cx="10332720" cy="841248"/>
          </a:xfrm>
          <a:prstGeom prst="roundRect">
            <a:avLst>
              <a:gd name="adj" fmla="val 8696"/>
            </a:avLst>
          </a:prstGeom>
          <a:solidFill>
            <a:srgbClr val="FDECEC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4370832"/>
            <a:ext cx="1005840" cy="402336"/>
          </a:xfrm>
          <a:prstGeom prst="roundRect">
            <a:avLst>
              <a:gd name="adj" fmla="val 18182"/>
            </a:avLst>
          </a:prstGeom>
          <a:solidFill>
            <a:srgbClr val="EB575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443984"/>
            <a:ext cx="1005840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4407408"/>
            <a:ext cx="8321040" cy="310896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直接提交未经理解、未经修改、未经验证的 AI 生成内容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5623560"/>
            <a:ext cx="10241280" cy="310896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一句话：AI 可以帮你完成学习过程，但最终判断、修改和责任在你自己。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期末课程论文：不是空泛综述，而是应用报告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9418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主题：生成式人工智能辅助网络工程学习与实践。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生成式人工智能课程考核说明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10469880" cy="960120"/>
          </a:xfrm>
          <a:prstGeom prst="roundRect">
            <a:avLst>
              <a:gd name="adj" fmla="val 9524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46504"/>
            <a:ext cx="9921240" cy="219456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网络工程问题 + AI 辅助过程 + 实践结果 + 人工验证 + 反思改进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283464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3035808"/>
            <a:ext cx="347472" cy="34747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099816"/>
            <a:ext cx="347472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27048" y="2999232"/>
            <a:ext cx="1645920" cy="25603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选一个具体主题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24712" y="3493008"/>
            <a:ext cx="2002536" cy="7772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围绕网络协议、网络排错、网络工具、Agent 流程或 LLM 代码学习。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3611880" y="283464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13048" y="3035808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13048" y="3099816"/>
            <a:ext cx="347472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270248" y="2999232"/>
            <a:ext cx="1645920" cy="25603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 AI 参与过程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867912" y="3493008"/>
            <a:ext cx="2002536" cy="7772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展示提示词、追问、回答摘要、截图、代码修改与调试过程。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6355080" y="283464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56248" y="3035808"/>
            <a:ext cx="347472" cy="34747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3099816"/>
            <a:ext cx="347472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13448" y="2999232"/>
            <a:ext cx="1645920" cy="25603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给出可见成果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611112" y="3493008"/>
            <a:ext cx="2002536" cy="7772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网页、程序、流程图、运行结果、故障案例分析或学习报告。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9098280" y="2834640"/>
            <a:ext cx="22402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99448" y="3035808"/>
            <a:ext cx="347472" cy="347472"/>
          </a:xfrm>
          <a:prstGeom prst="ellipse">
            <a:avLst/>
          </a:prstGeom>
          <a:solidFill>
            <a:srgbClr val="9B51E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99448" y="3099816"/>
            <a:ext cx="347472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756648" y="2999232"/>
            <a:ext cx="1371600" cy="25603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进行人工验证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354312" y="3493008"/>
            <a:ext cx="1728216" cy="77724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 AI 可能出错之处，并说明你如何验证、修正和负责。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1051560" y="5285232"/>
            <a:ext cx="9875520" cy="27432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建议字数：3000—5000 字。重点看过程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课程论文可选方向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9418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建议选择自己熟悉或感兴趣的网络工程主题，难度从低到高自选。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生成式人工智能课程考核说明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50876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737360"/>
            <a:ext cx="457200" cy="45720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837944"/>
            <a:ext cx="457200" cy="13716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91640" y="1719072"/>
            <a:ext cx="3749040" cy="27432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辅助理解网络知识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2167128"/>
            <a:ext cx="3794760" cy="41148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TCP、DNS、NAT、DHCP、HTTP/HTTPS、OSI 模型等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6309360" y="150876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EAF8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1737360"/>
            <a:ext cx="457200" cy="4572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837944"/>
            <a:ext cx="457200" cy="13716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78040" y="1719072"/>
            <a:ext cx="3749040" cy="27432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辅助开发网络小工具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178040" y="2167128"/>
            <a:ext cx="3794760" cy="41148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子网计算器、端口查询、协议学习网页、排错流程图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822960" y="347472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FFF3E8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3703320"/>
            <a:ext cx="457200" cy="45720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803904"/>
            <a:ext cx="457200" cy="13716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91640" y="3685032"/>
            <a:ext cx="3749040" cy="27432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Agent 网络运维场景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91640" y="4133088"/>
            <a:ext cx="3794760" cy="41148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校园网故障问答、命令调用流程、诊断建议、人工确认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6309360" y="3474720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F3EAFF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3703320"/>
            <a:ext cx="457200" cy="45720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803904"/>
            <a:ext cx="457200" cy="13716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78040" y="3685032"/>
            <a:ext cx="3749040" cy="27432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代码学习与运行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78040" y="4133088"/>
            <a:ext cx="3794760" cy="41148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tiny GPT、字符级语言模型、Self-Attention 代码理解</a:t>
            </a:r>
            <a:endParaRPr lang="en-US" sz="1160" dirty="0"/>
          </a:p>
        </p:txBody>
      </p:sp>
      <p:sp>
        <p:nvSpPr>
          <p:cNvPr id="28" name="Text 26"/>
          <p:cNvSpPr/>
          <p:nvPr/>
        </p:nvSpPr>
        <p:spPr>
          <a:xfrm>
            <a:off x="1051560" y="5687568"/>
            <a:ext cx="10058400" cy="22860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选题越具体越好：不要写“人工智能的发展”，要写“AI 如何帮助我理解 DNS 解析并验证结果”。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论文题目示例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9418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题目要体现“网络工程 + AI 辅助 + 实践/分析”。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生成式人工智能课程考核说明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10058400" cy="31546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 AI 辅助理解 DNS 解析过程的实践报告</a:t>
            </a:r>
            <a:endParaRPr lang="en-US" sz="1450" dirty="0"/>
          </a:p>
          <a:p>
            <a:r>
              <a:rPr lang="en-US" sz="14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AI 辅助开发子网划分计算器的实践报告</a:t>
            </a:r>
            <a:endParaRPr lang="en-US" sz="1450" dirty="0"/>
          </a:p>
          <a:p>
            <a:r>
              <a:rPr lang="en-US" sz="14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Agent 辅助校园网络故障排查的流程设计与案例分析</a:t>
            </a:r>
            <a:endParaRPr lang="en-US" sz="1450" dirty="0"/>
          </a:p>
          <a:p>
            <a:r>
              <a:rPr lang="en-US" sz="14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 tiny GPT 理解大语言模型训练流程的实践报告</a:t>
            </a:r>
            <a:endParaRPr lang="en-US" sz="1450" dirty="0"/>
          </a:p>
          <a:p>
            <a:r>
              <a:rPr lang="en-US" sz="14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辅助学习 HTTP/HTTPS 工作机制的效果分析</a:t>
            </a:r>
            <a:endParaRPr lang="en-US" sz="1450" dirty="0"/>
          </a:p>
          <a:p>
            <a:r>
              <a:rPr lang="en-US" sz="14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AI 辅助完成网络协议学习网页的实践报告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005840" y="5166360"/>
            <a:ext cx="10149840" cy="685800"/>
          </a:xfrm>
          <a:prstGeom prst="roundRect">
            <a:avLst>
              <a:gd name="adj" fmla="val 10667"/>
            </a:avLst>
          </a:prstGeom>
          <a:solidFill>
            <a:srgbClr val="FFF3E8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5404104"/>
            <a:ext cx="9692640" cy="18288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zh-CN" altLang="en-US" sz="1350" b="1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禁止使用的</a:t>
            </a:r>
            <a:r>
              <a:rPr lang="en-US" sz="1350" b="1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题目：人工智能概论、ChatGPT 发展史、网络工程与人工智能综述 —— 太大、太空、难评分。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课程论文建议结构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9418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按照“问题—过程—成果—验证—反思”的顺序写。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生成式人工智能课程考核说明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298448"/>
            <a:ext cx="2171700" cy="548640"/>
          </a:xfrm>
          <a:prstGeom prst="rect">
            <a:avLst/>
          </a:prstGeom>
          <a:solidFill>
            <a:srgbClr val="2F80E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371600"/>
            <a:ext cx="2080260" cy="402336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部分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3040380" y="1298448"/>
            <a:ext cx="8252460" cy="548640"/>
          </a:xfrm>
          <a:prstGeom prst="rect">
            <a:avLst/>
          </a:prstGeom>
          <a:solidFill>
            <a:srgbClr val="2F80E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6100" y="1371600"/>
            <a:ext cx="8161020" cy="402336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写作要求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868680" y="1847088"/>
            <a:ext cx="21717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1920240"/>
            <a:ext cx="2025396" cy="4023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摘要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3040380" y="1847088"/>
            <a:ext cx="82524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13532" y="1920240"/>
            <a:ext cx="8106156" cy="4023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200 字左右：做了什么、用什么 AI、完成什么实践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868680" y="2395728"/>
            <a:ext cx="217170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2468880"/>
            <a:ext cx="2025396" cy="4023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一、选题背景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3040380" y="2395728"/>
            <a:ext cx="825246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13532" y="2468880"/>
            <a:ext cx="8106156" cy="4023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为什么选择这个网络工程主题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868680" y="2944368"/>
            <a:ext cx="21717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3017520"/>
            <a:ext cx="2025396" cy="4023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二、相关知识介绍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3040380" y="2944368"/>
            <a:ext cx="82524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13532" y="3017520"/>
            <a:ext cx="8106156" cy="4023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用自己的话整理必要的专业基础，不堆概念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868680" y="3493008"/>
            <a:ext cx="217170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3566160"/>
            <a:ext cx="2025396" cy="4023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三、AI 辅助过程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3040380" y="3493008"/>
            <a:ext cx="825246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13532" y="3566160"/>
            <a:ext cx="8106156" cy="4023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提示词、追问、AI 回答摘要、截图、调试记录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868680" y="4041648"/>
            <a:ext cx="21717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" y="4114800"/>
            <a:ext cx="2025396" cy="4023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四、实践成果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3040380" y="4041648"/>
            <a:ext cx="82524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13532" y="4114800"/>
            <a:ext cx="8106156" cy="4023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网页/代码/流程图/运行结果/案例分析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868680" y="4590288"/>
            <a:ext cx="217170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1832" y="4663440"/>
            <a:ext cx="2025396" cy="4023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五、结果分析与反思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3040380" y="4590288"/>
            <a:ext cx="8252460" cy="54864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13532" y="4663440"/>
            <a:ext cx="8106156" cy="4023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帮助、AI 错误、验证方法、专业边界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868680" y="5138928"/>
            <a:ext cx="21717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1832" y="5212080"/>
            <a:ext cx="2025396" cy="4023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附录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3040380" y="5138928"/>
            <a:ext cx="82524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13532" y="5212080"/>
            <a:ext cx="8106156" cy="40233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使用声明、关键提示词、代码或截图、参考资料</a:t>
            </a:r>
            <a:endParaRPr lang="en-US" sz="10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课程论文评分标准（50 分）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9418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评分看重“专业结合、过程证据、实践成果、验证反思”。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生成式人工智能课程考核说明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3268980" cy="585216"/>
          </a:xfrm>
          <a:prstGeom prst="rect">
            <a:avLst/>
          </a:prstGeom>
          <a:solidFill>
            <a:srgbClr val="16213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90472"/>
            <a:ext cx="3177540" cy="43891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评分项目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046220" y="1417320"/>
            <a:ext cx="990600" cy="585216"/>
          </a:xfrm>
          <a:prstGeom prst="rect">
            <a:avLst/>
          </a:prstGeom>
          <a:solidFill>
            <a:srgbClr val="16213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91940" y="1490472"/>
            <a:ext cx="899160" cy="43891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分值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36820" y="1417320"/>
            <a:ext cx="6438900" cy="585216"/>
          </a:xfrm>
          <a:prstGeom prst="rect">
            <a:avLst/>
          </a:prstGeom>
          <a:solidFill>
            <a:srgbClr val="16213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82540" y="1490472"/>
            <a:ext cx="6347460" cy="43891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具体要求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002536"/>
            <a:ext cx="32689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075688"/>
            <a:ext cx="3122676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选题与网络工程相关性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46220" y="2002536"/>
            <a:ext cx="9906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9372" y="2075688"/>
            <a:ext cx="844296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36820" y="2002536"/>
            <a:ext cx="64389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9972" y="2075688"/>
            <a:ext cx="6292596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选题明确，能体现网络工程专业特点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2587752"/>
            <a:ext cx="326898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2660904"/>
            <a:ext cx="3122676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使用过程记录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046220" y="2587752"/>
            <a:ext cx="99060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9372" y="2660904"/>
            <a:ext cx="844296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36820" y="2587752"/>
            <a:ext cx="643890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9972" y="2660904"/>
            <a:ext cx="6292596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有提示词、追问、截图或过程说明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" y="3172968"/>
            <a:ext cx="32689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246120"/>
            <a:ext cx="3122676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实践成果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046220" y="3172968"/>
            <a:ext cx="9906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9372" y="3246120"/>
            <a:ext cx="844296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36820" y="3172968"/>
            <a:ext cx="64389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09972" y="3246120"/>
            <a:ext cx="6292596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有网页、代码、流程图、运行结果或案例分析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77240" y="3758184"/>
            <a:ext cx="326898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" y="3831336"/>
            <a:ext cx="3122676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人工验证与错误识别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046220" y="3758184"/>
            <a:ext cx="99060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9372" y="3831336"/>
            <a:ext cx="844296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36820" y="3758184"/>
            <a:ext cx="643890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09972" y="3831336"/>
            <a:ext cx="6292596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能指出 AI 不足，并说明验证方法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77240" y="4343400"/>
            <a:ext cx="32689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" y="4416552"/>
            <a:ext cx="3122676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分析与反思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046220" y="4343400"/>
            <a:ext cx="9906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9372" y="4416552"/>
            <a:ext cx="844296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36820" y="4343400"/>
            <a:ext cx="64389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09972" y="4416552"/>
            <a:ext cx="6292596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能说明帮助、局限、风险与改进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77240" y="4928616"/>
            <a:ext cx="326898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0392" y="5001768"/>
            <a:ext cx="3122676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写作规范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046220" y="4928616"/>
            <a:ext cx="99060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9372" y="5001768"/>
            <a:ext cx="844296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036820" y="4928616"/>
            <a:ext cx="6438900" cy="585216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09972" y="5001768"/>
            <a:ext cx="6292596" cy="438912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结构完整，语言通顺，引用清楚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论文提交材料与 AI 使用声明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9418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所有论文必须说明 AI 如何参与、你如何验证。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生成式人工智能课程考核说明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50876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1709928"/>
            <a:ext cx="347472" cy="34747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1773936"/>
            <a:ext cx="347472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27048" y="1673352"/>
            <a:ext cx="1783080" cy="25603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提交论文正文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24712" y="2167128"/>
            <a:ext cx="2139696" cy="5943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3000—5000 字，PDF，结构完整。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3657600" y="150876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58768" y="1709928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58768" y="1773936"/>
            <a:ext cx="347472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15968" y="1673352"/>
            <a:ext cx="1783080" cy="25603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提交过程证据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913632" y="2167128"/>
            <a:ext cx="2139696" cy="5943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关键提示词、截图、代码、网页或运行结果。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446520" y="1508760"/>
            <a:ext cx="26517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47688" y="1709928"/>
            <a:ext cx="347472" cy="34747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7688" y="1773936"/>
            <a:ext cx="347472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04888" y="1673352"/>
            <a:ext cx="1783080" cy="25603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提交验证说明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702552" y="2167128"/>
            <a:ext cx="2139696" cy="5943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 AI 输出哪些地方需要核查，你如何判断。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9235440" y="1508760"/>
            <a:ext cx="20574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36608" y="1709928"/>
            <a:ext cx="347472" cy="347472"/>
          </a:xfrm>
          <a:prstGeom prst="ellipse">
            <a:avLst/>
          </a:prstGeom>
          <a:solidFill>
            <a:srgbClr val="9B51E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36608" y="1773936"/>
            <a:ext cx="347472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93808" y="1673352"/>
            <a:ext cx="1188720" cy="25603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附 AI 声明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491472" y="2167128"/>
            <a:ext cx="1545336" cy="5943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工具名称、主要用途、本人修改与验证方式。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1051560" y="3730752"/>
            <a:ext cx="10058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98448" y="3959352"/>
            <a:ext cx="2011680" cy="21031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使用声明示例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98448" y="4343400"/>
            <a:ext cx="9464040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本人在论文写作中使用生成式 AI 辅助学习、资料整理、代码生成和文字修改。本人已对 AI 生成内容进行阅读、判断、修改和验证，论文中的观点、实践结果和最终表达由本人负责。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作业一：LLM 最小代码实践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9418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目标：跑通一个小语言模型，理解 LLM 的基本训练闭环。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生成式人工智能课程考核说明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10652760" cy="914400"/>
          </a:xfrm>
          <a:prstGeom prst="roundRect">
            <a:avLst>
              <a:gd name="adj" fmla="val 8000"/>
            </a:avLst>
          </a:prstGeom>
          <a:solidFill>
            <a:srgbClr val="EAF8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37360"/>
            <a:ext cx="10149840" cy="22860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文本数据 → token / 字符编号 → 模型预测下一个 token → 计算 loss → 反向传播训练 → 生成文本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77240" y="2880360"/>
            <a:ext cx="246888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8408" y="3081528"/>
            <a:ext cx="347472" cy="34747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3145536"/>
            <a:ext cx="347472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35608" y="3044952"/>
            <a:ext cx="1600200" cy="25603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33272" y="3538728"/>
            <a:ext cx="1956816" cy="6858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运行教师提供的字符级语言模型或 tiny GPT notebook。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3520440" y="2880360"/>
            <a:ext cx="246888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21608" y="3081528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21608" y="3145536"/>
            <a:ext cx="347472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78808" y="3044952"/>
            <a:ext cx="1600200" cy="25603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776472" y="3538728"/>
            <a:ext cx="1956816" cy="6858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记录训练前后生成文本、loss 变化和运行截图。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6263640" y="2880360"/>
            <a:ext cx="246888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4808" y="3081528"/>
            <a:ext cx="347472" cy="34747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4808" y="3145536"/>
            <a:ext cx="347472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22008" y="3044952"/>
            <a:ext cx="1600200" cy="25603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修改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19672" y="3538728"/>
            <a:ext cx="1956816" cy="6858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至少修改一个参数：batch_size、block_size、n_embd、max_iters、learning_rate。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9006840" y="2880360"/>
            <a:ext cx="246888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08008" y="3081528"/>
            <a:ext cx="347472" cy="347472"/>
          </a:xfrm>
          <a:prstGeom prst="ellipse">
            <a:avLst/>
          </a:prstGeom>
          <a:solidFill>
            <a:srgbClr val="9B51E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08008" y="3145536"/>
            <a:ext cx="347472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65208" y="3044952"/>
            <a:ext cx="1600200" cy="25603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262872" y="3538728"/>
            <a:ext cx="1956816" cy="68580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用自己的话说明 token、loss、next-token prediction。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914400" y="5513832"/>
            <a:ext cx="10287000" cy="24688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预计完成时间：约 2 小时。重点不是模型效果，而是理解训练流程。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作业一提交内容与评分（15 分）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9418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提交一个简短实践报告：运行证据 + 参数对比 + 概念解释。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生成式人工智能课程考核说明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508760"/>
            <a:ext cx="3092824" cy="621792"/>
          </a:xfrm>
          <a:prstGeom prst="rect">
            <a:avLst/>
          </a:prstGeom>
          <a:solidFill>
            <a:srgbClr val="27AE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81912"/>
            <a:ext cx="3001384" cy="47548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评分项目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15784" y="1508760"/>
            <a:ext cx="1030941" cy="621792"/>
          </a:xfrm>
          <a:prstGeom prst="rect">
            <a:avLst/>
          </a:prstGeom>
          <a:solidFill>
            <a:srgbClr val="27AE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61504" y="1581912"/>
            <a:ext cx="939501" cy="47548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46725" y="1508760"/>
            <a:ext cx="6391835" cy="621792"/>
          </a:xfrm>
          <a:prstGeom prst="rect">
            <a:avLst/>
          </a:prstGeom>
          <a:solidFill>
            <a:srgbClr val="27AE6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92445" y="1581912"/>
            <a:ext cx="6300395" cy="47548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130552"/>
            <a:ext cx="309282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203704"/>
            <a:ext cx="2946520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成功运行代码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15784" y="2130552"/>
            <a:ext cx="1030941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88936" y="2203704"/>
            <a:ext cx="884637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46725" y="2130552"/>
            <a:ext cx="6391835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9877" y="2203704"/>
            <a:ext cx="6245531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能运行教师提供的 notebook 或脚本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2752344"/>
            <a:ext cx="3092824" cy="62179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2825496"/>
            <a:ext cx="2946520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参数修改与对比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15784" y="2752344"/>
            <a:ext cx="1030941" cy="62179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88936" y="2825496"/>
            <a:ext cx="884637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46725" y="2752344"/>
            <a:ext cx="6391835" cy="62179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9877" y="2825496"/>
            <a:ext cx="6245531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至少修改一个参数并观察变化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3374136"/>
            <a:ext cx="309282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3447288"/>
            <a:ext cx="2946520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结果记录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15784" y="3374136"/>
            <a:ext cx="1030941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88936" y="3447288"/>
            <a:ext cx="884637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46725" y="3374136"/>
            <a:ext cx="6391835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9877" y="3447288"/>
            <a:ext cx="6245531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 loss、生成文本、截图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3995928"/>
            <a:ext cx="3092824" cy="62179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4069080"/>
            <a:ext cx="2946520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基本概念理解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915784" y="3995928"/>
            <a:ext cx="1030941" cy="62179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88936" y="4069080"/>
            <a:ext cx="884637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46725" y="3995928"/>
            <a:ext cx="6391835" cy="62179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9877" y="4069080"/>
            <a:ext cx="6245531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能解释 token、loss、next-token prediction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2960" y="4617720"/>
            <a:ext cx="309282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" y="4690872"/>
            <a:ext cx="2946520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报告表达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15784" y="4617720"/>
            <a:ext cx="1030941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88936" y="4690872"/>
            <a:ext cx="884637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46725" y="4617720"/>
            <a:ext cx="6391835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9877" y="4690872"/>
            <a:ext cx="6245531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语言清楚，结构完整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143000" y="5349240"/>
            <a:ext cx="9875520" cy="502920"/>
          </a:xfrm>
          <a:prstGeom prst="roundRect">
            <a:avLst>
              <a:gd name="adj" fmla="val 14545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25880" y="5541264"/>
            <a:ext cx="9509760" cy="11887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不要提交“大模型原理综述”。本作业看的是：你是否真的跑过代码、观察过结果、理解过关键概念。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作业二：AI 辅助 Web Coding / 网络工程小工具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9418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目标：用 AI 辅助完成一个能运行、能展示、和网络工程有关的小工具。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生成式人工智能课程考核说明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50876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1709928"/>
            <a:ext cx="347472" cy="34747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1773936"/>
            <a:ext cx="347472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27048" y="1673352"/>
            <a:ext cx="1737360" cy="25603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提出需求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24712" y="2167128"/>
            <a:ext cx="2093976" cy="7315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用清楚提示词说明功能、输入、输出、界面和限制。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3657600" y="150876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58768" y="1709928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58768" y="1773936"/>
            <a:ext cx="347472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15968" y="1673352"/>
            <a:ext cx="1737360" cy="25603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生成代码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913632" y="2167128"/>
            <a:ext cx="2093976" cy="7315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可以用 AI 生成 HTML/CSS/JavaScript 或简单 Python。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446520" y="1508760"/>
            <a:ext cx="26060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47688" y="1709928"/>
            <a:ext cx="347472" cy="347472"/>
          </a:xfrm>
          <a:prstGeom prst="ellipse">
            <a:avLst/>
          </a:prstGeom>
          <a:solidFill>
            <a:srgbClr val="F299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7688" y="1773936"/>
            <a:ext cx="347472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04888" y="1673352"/>
            <a:ext cx="1737360" cy="25603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运行调试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702552" y="2167128"/>
            <a:ext cx="2093976" cy="7315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自己运行，记录报错、修改和追问过程。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9235440" y="1508760"/>
            <a:ext cx="20574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36608" y="1709928"/>
            <a:ext cx="347472" cy="347472"/>
          </a:xfrm>
          <a:prstGeom prst="ellipse">
            <a:avLst/>
          </a:prstGeom>
          <a:solidFill>
            <a:srgbClr val="9B51E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36608" y="1773936"/>
            <a:ext cx="347472" cy="10972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93808" y="1673352"/>
            <a:ext cx="1188720" cy="25603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验证专业正确性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491472" y="2167128"/>
            <a:ext cx="1545336" cy="73152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检查工具输出是否符合网络工程知识。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868680" y="372110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4187952"/>
            <a:ext cx="9875520" cy="21031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推荐形式：单文件网页（HTML + CSS + JavaScript），便于运行、提交和课堂展示。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43000" y="5349240"/>
            <a:ext cx="9875520" cy="25603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预计完成时间：约 2 小时。允许 AI 辅助，但必须保留提示词与修改记录。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作业二推荐选题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9418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优先选择结果容易验证、和网络工程基础紧密相关的题目。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生成式人工智能课程考核说明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325880"/>
            <a:ext cx="104698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325880"/>
            <a:ext cx="109728" cy="585216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499616"/>
            <a:ext cx="2286000" cy="146304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子网划分计算器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3520440" y="1490472"/>
            <a:ext cx="7360920" cy="15544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 IP、CIDR、子网数量，输出网络地址/广播地址/可用主机范围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868680" y="2194560"/>
            <a:ext cx="104698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194560"/>
            <a:ext cx="109728" cy="585216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2368296"/>
            <a:ext cx="2286000" cy="146304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OSI 七层模型交互网页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3520440" y="2359152"/>
            <a:ext cx="7360920" cy="15544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点击每一层显示功能、协议、设备，并对照 TCP/IP 模型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68680" y="3063240"/>
            <a:ext cx="104698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063240"/>
            <a:ext cx="109728" cy="585216"/>
          </a:xfrm>
          <a:prstGeom prst="rect">
            <a:avLst/>
          </a:prstGeom>
          <a:solidFill>
            <a:srgbClr val="F299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236976"/>
            <a:ext cx="2286000" cy="146304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DNS 解析流程可视化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3520440" y="3227832"/>
            <a:ext cx="7360920" cy="15544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展示浏览器缓存、本地 DNS、根/TLD/权威服务器流程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868680" y="3931920"/>
            <a:ext cx="104698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3931920"/>
            <a:ext cx="109728" cy="585216"/>
          </a:xfrm>
          <a:prstGeom prst="rect">
            <a:avLst/>
          </a:prstGeom>
          <a:solidFill>
            <a:srgbClr val="9B51E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105656"/>
            <a:ext cx="2286000" cy="146304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网络故障排查流程图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3520440" y="4096512"/>
            <a:ext cx="7360920" cy="15544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 ping、DNS、网关、防火墙等步骤给出排查建议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868680" y="4800600"/>
            <a:ext cx="104698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800600"/>
            <a:ext cx="109728" cy="585216"/>
          </a:xfrm>
          <a:prstGeom prst="rect">
            <a:avLst/>
          </a:prstGeom>
          <a:solidFill>
            <a:srgbClr val="2D9CD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43000" y="4974336"/>
            <a:ext cx="2286000" cy="146304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端口与协议查询工具</a:t>
            </a:r>
            <a:endParaRPr lang="en-US" sz="1230" dirty="0"/>
          </a:p>
        </p:txBody>
      </p:sp>
      <p:sp>
        <p:nvSpPr>
          <p:cNvPr id="27" name="Text 25"/>
          <p:cNvSpPr/>
          <p:nvPr/>
        </p:nvSpPr>
        <p:spPr>
          <a:xfrm>
            <a:off x="3520440" y="4965192"/>
            <a:ext cx="7360920" cy="15544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输入端口号，输出常见协议、用途和安全注意事项</a:t>
            </a:r>
            <a:endParaRPr lang="en-US" sz="11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作业二提交内容与评分（15 分）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9418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看功能能否运行，也看 AI 使用过程和专业验证。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生成式人工智能课程考核说明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3092824" cy="621792"/>
          </a:xfrm>
          <a:prstGeom prst="rect">
            <a:avLst/>
          </a:prstGeom>
          <a:solidFill>
            <a:srgbClr val="F299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90472"/>
            <a:ext cx="3001384" cy="47548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评分项目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15784" y="1417320"/>
            <a:ext cx="1030941" cy="621792"/>
          </a:xfrm>
          <a:prstGeom prst="rect">
            <a:avLst/>
          </a:prstGeom>
          <a:solidFill>
            <a:srgbClr val="F299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61504" y="1490472"/>
            <a:ext cx="939501" cy="47548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46725" y="1417320"/>
            <a:ext cx="6391835" cy="621792"/>
          </a:xfrm>
          <a:prstGeom prst="rect">
            <a:avLst/>
          </a:prstGeom>
          <a:solidFill>
            <a:srgbClr val="F299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92445" y="1490472"/>
            <a:ext cx="6300395" cy="47548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039112"/>
            <a:ext cx="309282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112264"/>
            <a:ext cx="2946520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功能完成度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15784" y="2039112"/>
            <a:ext cx="1030941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88936" y="2112264"/>
            <a:ext cx="884637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46725" y="2039112"/>
            <a:ext cx="6391835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9877" y="2112264"/>
            <a:ext cx="6245531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网页或工具能正常运行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2660904"/>
            <a:ext cx="3092824" cy="62179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2734056"/>
            <a:ext cx="2946520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网络工程相关性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15784" y="2660904"/>
            <a:ext cx="1030941" cy="62179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88936" y="2734056"/>
            <a:ext cx="884637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46725" y="2660904"/>
            <a:ext cx="6391835" cy="62179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9877" y="2734056"/>
            <a:ext cx="6245531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内容与网络工程知识密切相关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3282696"/>
            <a:ext cx="309282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3355848"/>
            <a:ext cx="2946520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使用过程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15784" y="3282696"/>
            <a:ext cx="1030941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88936" y="3355848"/>
            <a:ext cx="884637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46725" y="3282696"/>
            <a:ext cx="6391835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9877" y="3355848"/>
            <a:ext cx="6245531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有提示词、追问和调试记录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3904488"/>
            <a:ext cx="3092824" cy="62179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3977640"/>
            <a:ext cx="2946520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自主修改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915784" y="3904488"/>
            <a:ext cx="1030941" cy="62179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88936" y="3977640"/>
            <a:ext cx="884637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46725" y="3904488"/>
            <a:ext cx="6391835" cy="621792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9877" y="3977640"/>
            <a:ext cx="6245531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不是完全复制 AI，能说明自己改了什么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2960" y="4526280"/>
            <a:ext cx="309282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" y="4599432"/>
            <a:ext cx="2946520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展示与说明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15784" y="4526280"/>
            <a:ext cx="1030941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88936" y="4599432"/>
            <a:ext cx="884637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46725" y="4526280"/>
            <a:ext cx="6391835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9877" y="4599432"/>
            <a:ext cx="6245531" cy="475488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截图清楚，说明完整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60120" y="5321808"/>
            <a:ext cx="10241280" cy="566928"/>
          </a:xfrm>
          <a:prstGeom prst="roundRect">
            <a:avLst>
              <a:gd name="adj" fmla="val 12903"/>
            </a:avLst>
          </a:prstGeom>
          <a:solidFill>
            <a:srgbClr val="FFF3E8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5532120"/>
            <a:ext cx="9829800" cy="13716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提交材料：源代码 + 运行截图 + AI 提示词记录 + 至少一次修改或调试过程 + 800 字左右说明。</a:t>
            </a:r>
            <a:endParaRPr lang="en-US" sz="12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课堂小测：限时 AI 技能应用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9418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一节课内完成：用 AI 辅助分析一个网络工程问题，并进行人工判断。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生成式人工智能课程考核说明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10469880" cy="658368"/>
          </a:xfrm>
          <a:prstGeom prst="roundRect">
            <a:avLst>
              <a:gd name="adj" fmla="val 11111"/>
            </a:avLst>
          </a:prstGeom>
          <a:solidFill>
            <a:srgbClr val="F3EAFF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655064"/>
            <a:ext cx="9921240" cy="16459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允许使用 AI，但必须提交：最终答案 + 提示词 + 你对 AI 输出的判断与修改。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8680" y="2697480"/>
            <a:ext cx="32461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852928"/>
            <a:ext cx="2880360" cy="13716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 判断故障原因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1051560" y="3127248"/>
            <a:ext cx="2880360" cy="12801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基于现象做出最可能判断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4526280" y="2697480"/>
            <a:ext cx="32461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852928"/>
            <a:ext cx="2880360" cy="13716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 给出排查流程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4709160" y="3127248"/>
            <a:ext cx="2880360" cy="12801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按网络连通性、网关、DNS、服务端等顺序分析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8183880" y="2697480"/>
            <a:ext cx="32461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852928"/>
            <a:ext cx="2880360" cy="13716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 写出检测命令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8366760" y="3127248"/>
            <a:ext cx="2880360" cy="12801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 ping、ipconfig、nslookup、tracert 等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1143000" y="4023360"/>
            <a:ext cx="45720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4178808"/>
            <a:ext cx="4206240" cy="13716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 通俗解释问题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1325880" y="4453128"/>
            <a:ext cx="4206240" cy="12801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把技术结论讲给普通用户听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6446520" y="4023360"/>
            <a:ext cx="457200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4178808"/>
            <a:ext cx="4206240" cy="13716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 评估 AI 可靠性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6629400" y="4453128"/>
            <a:ext cx="4206240" cy="128016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说明哪些结论需要验证，验证依据是什么</a:t>
            </a:r>
            <a:endParaRPr lang="en-US" sz="9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课堂小测样题：DNS 故障分析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9418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下面是示例题型，正式小测可能使用 A/B/C/D 卷。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生成式人工智能课程考核说明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353312"/>
            <a:ext cx="53035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627632"/>
            <a:ext cx="1828800" cy="20116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已知现象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05840" y="2057400"/>
            <a:ext cx="4754880" cy="29260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1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电脑已连接校园网 Wi-Fi</a:t>
            </a:r>
            <a:endParaRPr lang="en-US" sz="1150" dirty="0"/>
          </a:p>
          <a:p>
            <a:r>
              <a:rPr lang="en-US" sz="11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浏览器访问 www.baidu.com 失败</a:t>
            </a:r>
            <a:endParaRPr lang="en-US" sz="1150" dirty="0"/>
          </a:p>
          <a:p>
            <a:r>
              <a:rPr lang="en-US" sz="11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ping 192.168.1.1 成功</a:t>
            </a:r>
            <a:endParaRPr lang="en-US" sz="1150" dirty="0"/>
          </a:p>
          <a:p>
            <a:r>
              <a:rPr lang="en-US" sz="11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ping 8.8.8.8 成功</a:t>
            </a:r>
            <a:endParaRPr lang="en-US" sz="1150" dirty="0"/>
          </a:p>
          <a:p>
            <a:r>
              <a:rPr lang="en-US" sz="11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ping www.baidu.com 失败</a:t>
            </a:r>
            <a:endParaRPr lang="en-US" sz="1150" dirty="0"/>
          </a:p>
          <a:p>
            <a:r>
              <a:rPr lang="en-US" sz="115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DNS 服务器地址为空或异常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46520" y="1353312"/>
            <a:ext cx="4983480" cy="4251960"/>
          </a:xfrm>
          <a:prstGeom prst="roundRect">
            <a:avLst>
              <a:gd name="adj" fmla="val 1720"/>
            </a:avLst>
          </a:prstGeom>
          <a:solidFill>
            <a:srgbClr val="EAF3FF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627632"/>
            <a:ext cx="1828800" cy="20116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需要完成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720840" y="2057400"/>
            <a:ext cx="4343400" cy="256032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21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判断最可能的故障原因</a:t>
            </a:r>
            <a:endParaRPr lang="en-US" sz="1210" dirty="0"/>
          </a:p>
          <a:p>
            <a:r>
              <a:rPr lang="en-US" sz="121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画出故障排查流程</a:t>
            </a:r>
            <a:endParaRPr lang="en-US" sz="1210" dirty="0"/>
          </a:p>
          <a:p>
            <a:r>
              <a:rPr lang="en-US" sz="121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写出建议执行的 3 条网络命令</a:t>
            </a:r>
            <a:endParaRPr lang="en-US" sz="1210" dirty="0"/>
          </a:p>
          <a:p>
            <a:r>
              <a:rPr lang="en-US" sz="121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向普通用户解释这个问题</a:t>
            </a:r>
            <a:endParaRPr lang="en-US" sz="1210" dirty="0"/>
          </a:p>
          <a:p>
            <a:r>
              <a:rPr lang="en-US" sz="121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说明如何判断 AI 回答是否可靠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914400" y="5870448"/>
            <a:ext cx="10287000" cy="201168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标准判断方向：能 ping 通 IP，但域名失败，重点怀疑 DNS 配置异常。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课堂小测评分标准（20 分）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9418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评分看“判断是否准确、流程是否清楚、是否会验证 AI”。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生成式人工智能课程考核说明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3092824" cy="658368"/>
          </a:xfrm>
          <a:prstGeom prst="rect">
            <a:avLst/>
          </a:prstGeom>
          <a:solidFill>
            <a:srgbClr val="9B51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90472"/>
            <a:ext cx="3001384" cy="512064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评分项目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15784" y="1417320"/>
            <a:ext cx="1030941" cy="658368"/>
          </a:xfrm>
          <a:prstGeom prst="rect">
            <a:avLst/>
          </a:prstGeom>
          <a:solidFill>
            <a:srgbClr val="9B51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61504" y="1490472"/>
            <a:ext cx="939501" cy="512064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46725" y="1417320"/>
            <a:ext cx="6391835" cy="658368"/>
          </a:xfrm>
          <a:prstGeom prst="rect">
            <a:avLst/>
          </a:prstGeom>
          <a:solidFill>
            <a:srgbClr val="9B51E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92445" y="1490472"/>
            <a:ext cx="6300395" cy="512064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要求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075688"/>
            <a:ext cx="3092824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148840"/>
            <a:ext cx="2946520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故障判断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15784" y="2075688"/>
            <a:ext cx="1030941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88936" y="2148840"/>
            <a:ext cx="884637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46725" y="2075688"/>
            <a:ext cx="6391835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9877" y="2148840"/>
            <a:ext cx="6245531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能判断 DNS 异常等主要原因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2734056"/>
            <a:ext cx="3092824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2807208"/>
            <a:ext cx="2946520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排查逻辑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15784" y="2734056"/>
            <a:ext cx="1030941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88936" y="2807208"/>
            <a:ext cx="884637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46725" y="2734056"/>
            <a:ext cx="6391835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9877" y="2807208"/>
            <a:ext cx="6245531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能按连通性、网关、外网、DNS 的顺序分析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3392424"/>
            <a:ext cx="3092824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3465576"/>
            <a:ext cx="2946520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命令使用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15784" y="3392424"/>
            <a:ext cx="1030941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88936" y="3465576"/>
            <a:ext cx="884637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46725" y="3392424"/>
            <a:ext cx="6391835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9877" y="3465576"/>
            <a:ext cx="6245531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能写出合适的网络检测命令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4050792"/>
            <a:ext cx="3092824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4123944"/>
            <a:ext cx="2946520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使用记录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915784" y="4050792"/>
            <a:ext cx="1030941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88936" y="4123944"/>
            <a:ext cx="884637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46725" y="4050792"/>
            <a:ext cx="6391835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19877" y="4123944"/>
            <a:ext cx="6245531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有提示词和 AI 输出摘要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2960" y="4709160"/>
            <a:ext cx="3092824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" y="4782312"/>
            <a:ext cx="2946520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判断与反思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15784" y="4709160"/>
            <a:ext cx="1030941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88936" y="4782312"/>
            <a:ext cx="884637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46725" y="4709160"/>
            <a:ext cx="6391835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9877" y="4782312"/>
            <a:ext cx="6245531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能说明 AI 回答是否可靠、是否需要人工验证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14400" y="5440680"/>
            <a:ext cx="10287000" cy="438912"/>
          </a:xfrm>
          <a:prstGeom prst="roundRect">
            <a:avLst>
              <a:gd name="adj" fmla="val 14583"/>
            </a:avLst>
          </a:prstGeom>
          <a:solidFill>
            <a:srgbClr val="F3EAFF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43000" y="5605272"/>
            <a:ext cx="9784080" cy="100584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小测不要求答案很长；要求逻辑清楚、命令正确、能指出 AI 回答的依据与风险。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提交规范与诚信要求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9418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本课程考察“会用 AI”，也考察“能负责”。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生成式人工智能课程考核说明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417320"/>
            <a:ext cx="4983480" cy="4160520"/>
          </a:xfrm>
          <a:prstGeom prst="roundRect">
            <a:avLst>
              <a:gd name="adj" fmla="val 1758"/>
            </a:avLst>
          </a:prstGeom>
          <a:solidFill>
            <a:srgbClr val="EAF8F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19072"/>
            <a:ext cx="1828800" cy="22860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应该做到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143000" y="2194560"/>
            <a:ext cx="4343400" cy="256032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22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所有作业和论文需按规定格式提交</a:t>
            </a:r>
            <a:endParaRPr lang="en-US" sz="1220" dirty="0"/>
          </a:p>
          <a:p>
            <a:r>
              <a:rPr lang="en-US" sz="122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代码、截图、提示词、说明文档要能对应</a:t>
            </a:r>
            <a:endParaRPr lang="en-US" sz="1220" dirty="0"/>
          </a:p>
          <a:p>
            <a:r>
              <a:rPr lang="en-US" sz="122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引用教材、网页、AI 输出时要说明来源</a:t>
            </a:r>
            <a:endParaRPr lang="en-US" sz="1220" dirty="0"/>
          </a:p>
          <a:p>
            <a:r>
              <a:rPr lang="en-US" sz="122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小组讨论可以，但个人提交内容必须体现个人工作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4983480" cy="4160520"/>
          </a:xfrm>
          <a:prstGeom prst="roundRect">
            <a:avLst>
              <a:gd name="adj" fmla="val 1758"/>
            </a:avLst>
          </a:prstGeom>
          <a:solidFill>
            <a:srgbClr val="FDECEC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719072"/>
            <a:ext cx="1828800" cy="22860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不能这样做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629400" y="2194560"/>
            <a:ext cx="4343400" cy="256032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22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不要提交未经运行的代码</a:t>
            </a:r>
            <a:endParaRPr lang="en-US" sz="1220" dirty="0"/>
          </a:p>
          <a:p>
            <a:r>
              <a:rPr lang="en-US" sz="122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不要提交无法复现的截图</a:t>
            </a:r>
            <a:endParaRPr lang="en-US" sz="1220" dirty="0"/>
          </a:p>
          <a:p>
            <a:r>
              <a:rPr lang="en-US" sz="122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不要把 AI 生成内容原样当作个人分析</a:t>
            </a:r>
            <a:endParaRPr lang="en-US" sz="1220" dirty="0"/>
          </a:p>
          <a:p>
            <a:r>
              <a:rPr lang="en-US" sz="122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不要伪造提示词、运行结果或修改记录</a:t>
            </a:r>
            <a:endParaRPr lang="en-US" sz="12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怎样拿到高分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9418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高分作品通常不是最复杂，而是最清楚、最真实、最可验证。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生成式人工智能课程考核说明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325880"/>
            <a:ext cx="102870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472184"/>
            <a:ext cx="274320" cy="27432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536192"/>
            <a:ext cx="274320" cy="7315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600200" y="1490472"/>
            <a:ext cx="2011680" cy="13716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选题小而具体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3703320" y="1490472"/>
            <a:ext cx="7040880" cy="1371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比如 DNS 解析、子网计算、端口查询，而不是“AI 与网络工程”。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914400" y="2167128"/>
            <a:ext cx="10287000" cy="566928"/>
          </a:xfrm>
          <a:prstGeom prst="roundRect">
            <a:avLst>
              <a:gd name="adj" fmla="val 96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2313432"/>
            <a:ext cx="274320" cy="27432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377440"/>
            <a:ext cx="274320" cy="7315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600200" y="2331720"/>
            <a:ext cx="2011680" cy="13716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保留过程证据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3703320" y="2331720"/>
            <a:ext cx="7040880" cy="1371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提示词、追问、调试截图、运行结果要能证明你做过。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914400" y="3008376"/>
            <a:ext cx="102870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" y="3154680"/>
            <a:ext cx="274320" cy="27432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218688"/>
            <a:ext cx="274320" cy="7315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600200" y="3172968"/>
            <a:ext cx="2011680" cy="13716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能指出 AI 错误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3703320" y="3172968"/>
            <a:ext cx="7040880" cy="1371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不是完全相信 AI，而是能发现问题并修正。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914400" y="3849624"/>
            <a:ext cx="10287000" cy="566928"/>
          </a:xfrm>
          <a:prstGeom prst="roundRect">
            <a:avLst>
              <a:gd name="adj" fmla="val 96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3000" y="3995928"/>
            <a:ext cx="274320" cy="27432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4059936"/>
            <a:ext cx="274320" cy="7315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600200" y="4014216"/>
            <a:ext cx="2011680" cy="13716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和专业知识结合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3703320" y="4014216"/>
            <a:ext cx="7040880" cy="1371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网络工程概念、命令、协议、流程要准确。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914400" y="4690872"/>
            <a:ext cx="102870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43000" y="4837176"/>
            <a:ext cx="274320" cy="274320"/>
          </a:xfrm>
          <a:prstGeom prst="ellipse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4901184"/>
            <a:ext cx="274320" cy="7315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600200" y="4855464"/>
            <a:ext cx="2011680" cy="13716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表达清楚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3703320" y="4855464"/>
            <a:ext cx="7040880" cy="13716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结论明确，结构完整，图表和截图服务于说明。</a:t>
            </a:r>
            <a:endParaRPr lang="en-US" sz="10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1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常见问题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94183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提前说清楚，减少后续误解。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109728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12700">
            <a:solidFill>
              <a:srgbClr val="E3E7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565392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生成式人工智能课程考核说明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064240" y="6547104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3880821" cy="658368"/>
          </a:xfrm>
          <a:prstGeom prst="rect">
            <a:avLst/>
          </a:prstGeom>
          <a:solidFill>
            <a:srgbClr val="2F80E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90472"/>
            <a:ext cx="3789381" cy="512064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4658061" y="1417320"/>
            <a:ext cx="6817659" cy="658368"/>
          </a:xfrm>
          <a:prstGeom prst="rect">
            <a:avLst/>
          </a:prstGeom>
          <a:solidFill>
            <a:srgbClr val="2F80E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3781" y="1490472"/>
            <a:ext cx="6726219" cy="512064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777240" y="2075688"/>
            <a:ext cx="3880821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2148840"/>
            <a:ext cx="3734517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不会写复杂代码怎么办？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4658061" y="2075688"/>
            <a:ext cx="681765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1213" y="2148840"/>
            <a:ext cx="6671355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本课程不要求复杂工程，要求能运行、能解释、能验证。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777240" y="2734056"/>
            <a:ext cx="3880821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2807208"/>
            <a:ext cx="3734517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能不能用 AI 写论文？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4658061" y="2734056"/>
            <a:ext cx="6817659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1213" y="2807208"/>
            <a:ext cx="6671355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可以辅助整理和润色，但必须记录、修改、验证，并对内容负责。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777240" y="3392424"/>
            <a:ext cx="3880821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465576"/>
            <a:ext cx="3734517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论文和作业能不能做同一主题？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4658061" y="3392424"/>
            <a:ext cx="681765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1213" y="3465576"/>
            <a:ext cx="6671355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可以相关，但论文必须有更完整的过程、分析和反思。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777240" y="4050792"/>
            <a:ext cx="3880821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4123944"/>
            <a:ext cx="3734517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小测是否闭卷？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4658061" y="4050792"/>
            <a:ext cx="6817659" cy="6583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1213" y="4123944"/>
            <a:ext cx="6671355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小测允许使用 AI，但限时完成并提交提示词和判断过程。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777240" y="4709160"/>
            <a:ext cx="3880821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4782312"/>
            <a:ext cx="3734517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是否一定要做 Agent 代码？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4658061" y="4709160"/>
            <a:ext cx="681765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1213" y="4782312"/>
            <a:ext cx="6671355" cy="512064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2B2F3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不一定。需要了解 Agent 流程，能力强的同学可作为论文或作业方向。</a:t>
            </a:r>
            <a:endParaRPr lang="en-US" sz="107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13232" y="1600200"/>
            <a:ext cx="109728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828800"/>
            <a:ext cx="2606040" cy="310896"/>
          </a:xfrm>
          <a:prstGeom prst="roundRect">
            <a:avLst>
              <a:gd name="adj" fmla="val 17647"/>
            </a:avLst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1874520"/>
            <a:ext cx="2459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484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统一提交规则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2267712"/>
            <a:ext cx="5166360" cy="3246120"/>
          </a:xfrm>
          <a:prstGeom prst="roundRect">
            <a:avLst>
              <a:gd name="adj" fmla="val 1690"/>
            </a:avLst>
          </a:prstGeom>
          <a:solidFill>
            <a:srgbClr val="F9FBFD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0" y="2267712"/>
            <a:ext cx="4892040" cy="3246120"/>
          </a:xfrm>
          <a:prstGeom prst="roundRect">
            <a:avLst>
              <a:gd name="adj" fmla="val 1690"/>
            </a:avLst>
          </a:prstGeom>
          <a:solidFill>
            <a:srgbClr val="F9FBFD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542032"/>
            <a:ext cx="4526280" cy="1417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40" b="1" dirty="0">
                <a:solidFill>
                  <a:srgbClr val="34A3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44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提交时间：统一截止为本学期倒数第二周周日 23:59。</a:t>
            </a:r>
            <a:r>
              <a:rPr lang="en-US" sz="144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
</a:t>
            </a:r>
            <a:r>
              <a:rPr lang="en-US" sz="1440" b="1" dirty="0">
                <a:solidFill>
                  <a:srgbClr val="34A3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44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文件命名：课程名_学号_姓名_作业名称（</a:t>
            </a:r>
            <a:r>
              <a:rPr lang="zh-CN" altLang="en-US" sz="144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课程论文</a:t>
            </a:r>
            <a:r>
              <a:rPr lang="en-US" altLang="zh-CN" sz="144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</a:t>
            </a:r>
            <a:r>
              <a:rPr lang="zh-CN" altLang="en-US" sz="144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作业一</a:t>
            </a:r>
            <a:r>
              <a:rPr lang="en-US" altLang="zh-CN" sz="144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</a:t>
            </a:r>
            <a:r>
              <a:rPr lang="zh-CN" altLang="en-US" sz="144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作业二</a:t>
            </a:r>
            <a:r>
              <a:rPr lang="en-US" altLang="zh-CN" sz="144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）</a:t>
            </a:r>
            <a:r>
              <a:rPr lang="en-US" sz="144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r>
              <a:rPr lang="en-US" sz="144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
</a:t>
            </a:r>
            <a:r>
              <a:rPr lang="en-US" sz="1440" b="1" dirty="0">
                <a:solidFill>
                  <a:srgbClr val="34A3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44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提交格式：正文一律 PDF；代码/Notebook/数据/截图，</a:t>
            </a:r>
            <a:r>
              <a:rPr lang="zh-CN" altLang="en-US" sz="144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如果有的话</a:t>
            </a:r>
            <a:r>
              <a:rPr lang="en-US" altLang="zh-CN" sz="144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</a:t>
            </a:r>
            <a:r>
              <a:rPr lang="zh-CN" altLang="en-US" sz="144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提供在线代码平台</a:t>
            </a:r>
            <a:r>
              <a:rPr lang="en-US" altLang="zh-CN" sz="144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</a:t>
            </a:r>
            <a:r>
              <a:rPr lang="zh-CN" altLang="en-US" sz="144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如</a:t>
            </a:r>
            <a:r>
              <a:rPr lang="en-US" altLang="zh-CN" sz="144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github）</a:t>
            </a:r>
            <a:r>
              <a:rPr lang="zh-CN" altLang="en-US" sz="144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地址</a:t>
            </a:r>
            <a:r>
              <a:rPr lang="en-US" altLang="zh-CN" sz="144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altLang="zh-CN" sz="1440" dirty="0">
              <a:solidFill>
                <a:srgbClr val="263746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73952" y="2542032"/>
            <a:ext cx="411480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40" b="1" dirty="0">
                <a:solidFill>
                  <a:srgbClr val="34A3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44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使用说明：必须附“AI 使用声明”，写明工具、用途、关键提示词、人工核验方式。</a:t>
            </a:r>
            <a:r>
              <a:rPr lang="en-US" sz="144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
</a:t>
            </a:r>
            <a:r>
              <a:rPr lang="en-US" sz="1440" b="1" dirty="0">
                <a:solidFill>
                  <a:srgbClr val="34A3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44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学术要求：严禁整篇照搬 AI 输出、严禁互相复制、严禁虚构数据或图表。</a:t>
            </a:r>
            <a:r>
              <a:rPr lang="en-US" sz="1440" dirty="0">
                <a:solidFill>
                  <a:srgbClr val="00000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
</a:t>
            </a:r>
            <a:r>
              <a:rPr lang="en-US" sz="1440" b="1" dirty="0">
                <a:solidFill>
                  <a:srgbClr val="34A3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44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结果可核验：涉及数据分析、平台搭建、Agent 评测的任务，必须提供过程证据。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1115568" y="4681728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 b="1" dirty="0">
                <a:solidFill>
                  <a:srgbClr val="34A3A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</a:t>
            </a:r>
            <a:r>
              <a:rPr lang="en-US" sz="1380" dirty="0">
                <a:solidFill>
                  <a:srgbClr val="26374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逾期规则建议：超过 24 小时扣 20%，超过 72 小时原则上不收；特殊情况需提前说明。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6382512" y="4828032"/>
            <a:ext cx="4206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/>
        </p:nvSpPr>
        <p:spPr>
          <a:xfrm>
            <a:off x="10927080" y="6437376"/>
            <a:ext cx="731520" cy="164592"/>
          </a:xfrm>
          <a:prstGeom prst="rect">
            <a:avLst/>
          </a:prstGeom>
        </p:spPr>
        <p:txBody>
          <a:bodyPr/>
          <a:lstStyle>
            <a:lvl1pPr>
              <a:defRPr sz="950">
                <a:solidFill>
                  <a:srgbClr val="7B8794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234440"/>
            <a:ext cx="8229600" cy="43891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这门课最终考什么？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96112" y="2103120"/>
            <a:ext cx="10241280" cy="32004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DEB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不是考你能否“让 AI 替你完成任务”，而是考你能否把 AI 作为学习和实践工具：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97180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2F80E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300984"/>
            <a:ext cx="1645920" cy="16459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提出清楚问题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081528" y="297180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27AE6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18688" y="3300984"/>
            <a:ext cx="1645920" cy="16459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理解关键原理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294376" y="297180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299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31536" y="3300984"/>
            <a:ext cx="1645920" cy="16459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运行基础代码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07224" y="297180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9B51E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44384" y="3300984"/>
            <a:ext cx="1645920" cy="16459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完成小型实践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720072" y="297180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2D9CD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57232" y="3300984"/>
            <a:ext cx="1645920" cy="164592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验证结果可靠性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5193792"/>
            <a:ext cx="10241280" cy="27432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请从现在开始保存你的提示词、运行截图、调试记录和思考过程。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5897880"/>
            <a:ext cx="2286000" cy="274320"/>
          </a:xfrm>
          <a:prstGeom prst="rect">
            <a:avLst/>
          </a:prstGeom>
          <a:noFill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FD7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谢谢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5499</Words>
  <Application>WPS 文字</Application>
  <PresentationFormat>On-screen Show (16:9)</PresentationFormat>
  <Paragraphs>784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2" baseType="lpstr">
      <vt:lpstr>Arial</vt:lpstr>
      <vt:lpstr>宋体</vt:lpstr>
      <vt:lpstr>Wingdings</vt:lpstr>
      <vt:lpstr>Noto Sans CJK SC</vt:lpstr>
      <vt:lpstr>苹方-简</vt:lpstr>
      <vt:lpstr>Noto Sans CJK SC</vt:lpstr>
      <vt:lpstr>Noto Sans CJK SC</vt:lpstr>
      <vt:lpstr>微软雅黑</vt:lpstr>
      <vt:lpstr>汉仪旗黑</vt:lpstr>
      <vt:lpstr>宋体</vt:lpstr>
      <vt:lpstr>Arial Unicode MS</vt:lpstr>
      <vt:lpstr>Noto Sans CJK SC</vt:lpstr>
      <vt:lpstr>Calibri</vt:lpstr>
      <vt:lpstr>Helvetica Neue</vt:lpstr>
      <vt:lpstr>汉仪书宋二KW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生成式人工智能课程考核说明</dc:title>
  <dc:creator>OpenAI</dc:creator>
  <dc:subject>生成式人工智能课程考核说明</dc:subject>
  <cp:lastModifiedBy>Alchemy</cp:lastModifiedBy>
  <cp:revision>4</cp:revision>
  <dcterms:created xsi:type="dcterms:W3CDTF">2026-04-30T02:39:49Z</dcterms:created>
  <dcterms:modified xsi:type="dcterms:W3CDTF">2026-04-30T02:39:49Z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AA75FBCCBFD4182704FBEE69151CEF17_42</vt:lpwstr>
  </property>
  <property fmtid="{D5CDD505-2E9C-101B-9397-08002B2CF9AE}" pid="3" name="KSOProductBuildVer">
    <vt:lpwstr>2052-12.1.25869.25869</vt:lpwstr>
  </property>
</Properties>
</file>